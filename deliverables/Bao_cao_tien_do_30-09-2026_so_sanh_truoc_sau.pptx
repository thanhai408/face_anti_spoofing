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de97ae47514d3c" /><Relationship Type="http://schemas.openxmlformats.org/officeDocument/2006/relationships/extended-properties" Target="/docProps/app.xml" Id="Rb22c15d5de7c4c04" /><Relationship Type="http://schemas.openxmlformats.org/officeDocument/2006/relationships/officeDocument" Target="/ppt/presentation.xml" Id="R51fed99d93444a36" /></Relationships>
</file>

<file path=ppt/presentation.xml><?xml version="1.0" encoding="utf-8"?>
<p:presentation xmlns:p="http://schemas.openxmlformats.org/presentationml/2006/main">
  <p:sldMasterIdLst>
    <p:sldMasterId xmlns:r="http://schemas.openxmlformats.org/officeDocument/2006/relationships" id="2147483648" r:id="R6af8cb1d07794a76"/>
  </p:sldMasterIdLst>
  <p:notesMasterIdLst>
    <p:notesMasterId xmlns:r="http://schemas.openxmlformats.org/officeDocument/2006/relationships" r:id="R7dae7c754a3c4142"/>
  </p:notesMasterIdLst>
  <p:sldIdLst>
    <p:sldId xmlns:r="http://schemas.openxmlformats.org/officeDocument/2006/relationships" id="256" r:id="R3eb1fcc950b841d0"/>
    <p:sldId xmlns:r="http://schemas.openxmlformats.org/officeDocument/2006/relationships" id="257" r:id="R81d1a17f2c534389"/>
    <p:sldId xmlns:r="http://schemas.openxmlformats.org/officeDocument/2006/relationships" id="258" r:id="Rcb0ca72f7fc64d96"/>
    <p:sldId xmlns:r="http://schemas.openxmlformats.org/officeDocument/2006/relationships" id="259" r:id="R1c3603f0746541d7"/>
    <p:sldId xmlns:r="http://schemas.openxmlformats.org/officeDocument/2006/relationships" id="260" r:id="Rb413c57798f04dd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d52a38c8434112" /><Relationship Type="http://schemas.openxmlformats.org/officeDocument/2006/relationships/slideMaster" Target="/ppt/slideMasters/slideMaster1.xml" Id="R6af8cb1d07794a76" /><Relationship Type="http://schemas.openxmlformats.org/officeDocument/2006/relationships/notesMaster" Target="/ppt/notesMasters/notesMaster1.xml" Id="R7dae7c754a3c4142" /><Relationship Type="http://schemas.openxmlformats.org/officeDocument/2006/relationships/presProps" Target="/ppt/presProps.xml" Id="Rfc7cf2da0c5f4ed7" /><Relationship Type="http://schemas.openxmlformats.org/officeDocument/2006/relationships/tableStyles" Target="/ppt/tableStyles.xml" Id="R69ed0fd2876d48d0" /><Relationship Type="http://schemas.openxmlformats.org/officeDocument/2006/relationships/slide" Target="/ppt/slides/slide1.xml" Id="R3eb1fcc950b841d0" /><Relationship Type="http://schemas.openxmlformats.org/officeDocument/2006/relationships/slide" Target="/ppt/slides/slide2.xml" Id="R81d1a17f2c534389" /><Relationship Type="http://schemas.openxmlformats.org/officeDocument/2006/relationships/slide" Target="/ppt/slides/slide3.xml" Id="Rcb0ca72f7fc64d96" /><Relationship Type="http://schemas.openxmlformats.org/officeDocument/2006/relationships/slide" Target="/ppt/slides/slide4.xml" Id="R1c3603f0746541d7" /><Relationship Type="http://schemas.openxmlformats.org/officeDocument/2006/relationships/slide" Target="/ppt/slides/slide5.xml" Id="Rb413c57798f04d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4031252bc244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1df8ed64ac4c25" /><Relationship Type="http://schemas.openxmlformats.org/officeDocument/2006/relationships/notesMaster" Target="/ppt/notesMasters/notesMaster1.xml" Id="R7bf07452582d4f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b492108e9d43e2" /><Relationship Type="http://schemas.openxmlformats.org/officeDocument/2006/relationships/notesMaster" Target="/ppt/notesMasters/notesMaster1.xml" Id="R39d4c5f9b61343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a5d0bf1d0542c8" /><Relationship Type="http://schemas.openxmlformats.org/officeDocument/2006/relationships/notesMaster" Target="/ppt/notesMasters/notesMaster1.xml" Id="Rdcba3b230abc45a1"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e5502fbc3c4c90" /><Relationship Type="http://schemas.openxmlformats.org/officeDocument/2006/relationships/notesMaster" Target="/ppt/notesMasters/notesMaster1.xml" Id="R2d1e8322909141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144aa3e4344954" /><Relationship Type="http://schemas.openxmlformats.org/officeDocument/2006/relationships/notesMaster" Target="/ppt/notesMasters/notesMaster1.xml" Id="Re33a0f75432047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Đợt công việc này tổng hợp yêu cầu bổ sung video và huấn luyện lại vừa hoàn thành. Có 30 video thật và 26 video giả mới, khoảng 1,58 GB. Nhãn thư mục A MOV là Fake sau khi sếp di chuyển trên Drive. Em kiểm tra kích thước và SHA256. Em giữ nguyên bộ ảnh cũ 24.221 PNG, tạo bộ trích lại riêng và đánh giá hai model trên cùng dữ liệu. Model mới nạp qua Flask test client, các route health, analyze, tạo/gửi/xóa session hoạt động trên 4 ảnh JPEG mẫu. Đây là kiểm tra tích hợp nội bộ, chưa đo HTTP qua mạng hay camera trực tiếp. Model mới giữ riêng làm ứng viên, chưa thay model API hiện tại.</a:t>
            </a:r>
          </a:p>
          <a:p xmlns:a="http://schemas.openxmlformats.org/drawingml/2006/main">
            <a:r>
              <a:t>Nguồn: dataset/retrain-20260930/manifest.json; outputs/retrain-20260930/evaluation.json; training.csv; continuous_runtime_comparison.json; api_smoke.json; report.md. Kiểm kê ảnh cũ: dataset/fake và dataset/real, split ngày 15/9.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sánh theo mốc thời gian: bộ trước 15/9 có 24.221 ảnh, train 18.153, validation 2.721, test 3.347. Bộ sau 30/9 là bộ trích lại riêng sau khi bổ sung 56 video, gồm ảnh từ cả nguồn video cũ và mới, tổng 7.029: train 4.113, validation 1.028, test 1.473, hồi quy riêng 415. Trước đó 5 video hồi quy nằm trong test cũ, chưa có tập hồi quy riêng. Em không cộng lại 415 vào bộ trước. Em chưa dùng toàn bộ cache 24.221 ảnh rồi nối thêm ảnh mới. Giữ nguyên cache gốc, trích từ video tối đa 100 khung/video, cách nhau ít nhất 0,2 giây và kiểm tra chất lượng, nên số ảnh sau nhỏ hơn. Bộ sau có 2.165 ảnh từ 28 video nguồn cũ (1.750 train + 415 hồi quy) và 4.864 từ 56 video Drive (2.363 train + 1.028 validation + 1.473 test). Loại 6 video nguồn cũ chưa rõ mã người. 28 video cũ lấy mẫu 2.774 khung, loại 609 (134 không mặt, 270 nhiều mặt, 205 chất lượng). Trước dùng 33 video, thư mục gốc hiện có 34 MP4. Video thanh_real_432025 chưa có trong split trước nhưng có trong lần trích lại. 23 video nguồn cũ ở train sau gồm 18 video train trước, 4 validation trước, 1 video trên. Validation mới B/Thu, test mới Nga/Phúc, mã người theo thư mục do nhóm cung cấp, chưa xác minh độc lập danh tính. Cả hai lần train chạy 19 epoch, chọn epoch 11.</a:t>
            </a:r>
          </a:p>
          <a:p xmlns:a="http://schemas.openxmlformats.org/drawingml/2006/main">
            <a:r>
              <a:t>Nguồn: outputs/retrain-20260915/split.json; dataset/retrain-20260930/manifest.json; outputs/retrain-20260930/configuration.json, evaluation.json, history.json, training.csv; dataset/fake, dataset/real; frames.npz.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cột là model ngày 15/9 và ngày 30/9, cùng đánh giá trên các tập của bộ sau 30/9. P/R/F1 và accuracy dùng cùng test mới 1.473 ảnh, 720 giả và 753 thật. F1 macro 72,00% và 97,76% là phép đánh giá lại cùng test mới, không phải kết quả trên hai test lịch sử khác nhau. Kết quả lịch sử model 15/9 trên test cũ 3.347 ảnh là F1 macro 96,79%, accuracy 96,86%. Không so trực tiếp điểm lịch sử với điểm test mới để kết luận cải thiện vì khác ảnh, người và cách trích. Loss ở bảng là đánh giá trên tập train/validation/test của bộ sau, chế độ suy luận, không augmentation. Loss train đang huấn luyện ở epoch 11 của model mới là 0,13709, khác loss đánh giá train 0,04635. Chọn nhãn theo điểm lớn nhất, chưa áp dụng ngưỡng 0,8 và quy tắc temporal API. Macro cho hai lớp trọng số bằng nhau. Ảnh thật bị nhận thành giả 0 ở cả hai model. Model cũ SHA256 2c681bb5647db86783ca16a85c125ee73150812be9414bcb85635453dbba159e. Model mới SHA256 fb1945fcf2832a843b1b94830d969fa95ce5aa57f31e47ce8110aae80741209b.</a:t>
            </a:r>
          </a:p>
          <a:p xmlns:a="http://schemas.openxmlformats.org/drawingml/2006/main">
            <a:r>
              <a:t>Nguồn: outputs/retrain-20260915/evaluation.json; outputs/retrain-20260930/evaluation.json; dataset/retrain-20260930/manifest.json.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Phát lại 12 giây đầu của 16 video test, tối đa 5 khung/giây, tổng 942 khung. Dùng resize/JPEG SDK cạnh tối đa 960, chất lượng 90, decode một lần, đưa cùng pixels vào hai Pipeline. YuNet, lọc chất lượng và TemporalDecision chạy lại, lịch sử riêng từng clip và model. Trước 484 đúng, 173 sai, 285 chưa kết luận/bị loại. Sau 741 đúng, 0 sai, 201 chưa kết luận/bị loại. Coverage 69,75% lên 78,66%. Không coi 0 quyết định sai là API chính xác 100% vì 201 khung chưa kết luận và chỉ thử hai mã người. Đây là offline, không qua HTTP và camera thật. Kiểm tra API riêng bằng Flask test client dùng 4 ảnh JPEG, xác minh tương thích route/state, không đo độ chính xác độc lập hay tốc độ mạng. Bên phải: accuracy phân loại 415 ảnh mặt hợp lệ từ 5 video cũ, giảm 93,01% xuống 82,65%, không đại diện toàn bộ 24.221 ảnh cũ. Giả thành thật 27/261 lên 35/261, thật thành giả 2/154 lên 37/154. Đây là hồi quy theo video, người có thể trùng train.</a:t>
            </a:r>
          </a:p>
          <a:p xmlns:a="http://schemas.openxmlformats.org/drawingml/2006/main">
            <a:r>
              <a:t>Nguồn: dataset/retrain-20260930/manifest.json; outputs/retrain-20260930/evaluation.json; training.csv; continuous_runtime_comparison.json; api_smoke.json; report.md. Kiểm kê ảnh cũ: dataset/fake và dataset/real, split ngày 15/9.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luận: model cải thiện trên dữ liệu test mới đã thử, nhưng chưa tốt hơn đồng đều trên dữ liệu cũ và mới. Giữ model ứng viên riêng, chưa thay API. Giới hạn 100 khung/video có thể bỏ qua biến thiên hữu ích, chưa chứng minh là nguyên nhân suy giảm hồi quy. Thí nghiệm tiếp theo cần rà cách lấy mẫu, cân bằng điều kiện quay cũ/mới trong train/validation, chọn checkpoint theo validation và đánh giá trên test độc lập mới. Không train nhiều lần và chọn theo test đã xem. Test chỉ có hai mã người. Thật mới H.264/MP4, giả mới HEVC/MOV, khác cách quay/độ phân giải, nên còn nguy cơ model học dấu hiệu nguồn dữ liệu. Thu cả thật/giả cùng thiết bị, ghi kiểu tấn công, thêm người mới. Điểm softmax cao hoặc kết quả test này không chứng minh hết overfit. Camera/API qua mạng và tốc độ end-to-end chưa được đánh giá trong lần train này.</a:t>
            </a:r>
          </a:p>
          <a:p xmlns:a="http://schemas.openxmlformats.org/drawingml/2006/main">
            <a:r>
              <a:t>Nguồn: dataset/retrain-20260930/manifest.json; outputs/retrain-20260930/evaluation.json; training.csv; continuous_runtime_comparison.json; api_smoke.json; report.md. Kiểm kê ảnh cũ: dataset/fake và dataset/real, split ngày 15/9.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c16dbdeb0049d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a30b17a8d44704" /><Relationship Type="http://schemas.openxmlformats.org/officeDocument/2006/relationships/slideLayout" Target="/ppt/slideLayouts/slideLayout1.xml" Id="Rcfd67304110047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fd67304110047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18f1fdc088045c9" /><Relationship Type="http://schemas.openxmlformats.org/officeDocument/2006/relationships/notesSlide" Target="/ppt/notesSlides/notesSlide1.xml" Id="R532dec8a462f432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31073f984b34ca7" /><Relationship Type="http://schemas.openxmlformats.org/officeDocument/2006/relationships/notesSlide" Target="/ppt/notesSlides/notesSlide2.xml" Id="Rcf3a4a2864ba49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87569ba8c584c94" /><Relationship Type="http://schemas.openxmlformats.org/officeDocument/2006/relationships/notesSlide" Target="/ppt/notesSlides/notesSlide3.xml" Id="R9f103e08822b4e0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4634738f8764a84" /><Relationship Type="http://schemas.openxmlformats.org/officeDocument/2006/relationships/notesSlide" Target="/ppt/notesSlides/notesSlide4.xml" Id="Rc3a8365447ad44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b11a94b0baa45c0" /><Relationship Type="http://schemas.openxmlformats.org/officeDocument/2006/relationships/notesSlide" Target="/ppt/notesSlides/notesSlide5.xml" Id="Ra2587c5b1c664419" /></Relationships>
</file>

<file path=ppt/slides/slide1.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6EFFD3F-8C60-4522-A1F5-A5B11B32DA40}"/>
              </a:ext>
            </a:extLst>
          </p:cNvPr>
          <p:cNvSpPr>
            <a:spLocks xmlns:a="http://schemas.openxmlformats.org/drawingml/2006/main" noGrp="1"/>
          </p:cNvSpPr>
          <p:nvPr/>
        </p:nvSpPr>
        <p:spPr>
          <a:xfrm xmlns:a="http://schemas.openxmlformats.org/drawingml/2006/main">
            <a:off x="609600" y="4095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2F5FA"/>
                </a:solidFill>
                <a:latin typeface="Arial"/>
                <a:ea typeface="Arial"/>
                <a:cs typeface="Arial"/>
              </a:defRPr>
            </a:pPr>
            <a:r>
              <a:rPr sz="3300" b="1">
                <a:solidFill>
                  <a:srgbClr val="F2F5FA"/>
                </a:solidFill>
                <a:latin typeface="Arial"/>
                <a:ea typeface="Arial"/>
                <a:cs typeface="Arial"/>
              </a:rPr>
              <a:t>Báo cáo tiến độ</a:t>
            </a:r>
          </a:p>
        </p:txBody>
      </p:sp>
      <p:sp>
        <p:nvSpPr>
          <p:cNvPr id="2" name="">
            <a:extLst xmlns:a="http://schemas.openxmlformats.org/drawingml/2006/main">
              <a:ext uri="{FF2B5EF4-FFF2-40B4-BE49-F238E27FC236}">
                <a16:creationId xmlns:a16="http://schemas.microsoft.com/office/drawing/2014/main" id="{96C93A4C-D6B0-41F0-9007-67B99AC96936}"/>
              </a:ext>
            </a:extLst>
          </p:cNvPr>
          <p:cNvSpPr>
            <a:spLocks xmlns:a="http://schemas.openxmlformats.org/drawingml/2006/main" noGrp="1"/>
          </p:cNvSpPr>
          <p:nvPr/>
        </p:nvSpPr>
        <p:spPr>
          <a:xfrm xmlns:a="http://schemas.openxmlformats.org/drawingml/2006/main">
            <a:off x="10991850" y="634365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BC9DA"/>
                </a:solidFill>
                <a:latin typeface="Arial"/>
                <a:ea typeface="Arial"/>
                <a:cs typeface="Arial"/>
              </a:defRPr>
            </a:pPr>
            <a:r>
              <a:rPr sz="1500" b="0">
                <a:solidFill>
                  <a:srgbClr val="BBC9DA"/>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42A73F56-059F-48DD-9D34-887535D4715C}"/>
              </a:ext>
            </a:extLst>
          </p:cNvPr>
          <p:cNvSpPr>
            <a:spLocks xmlns:a="http://schemas.openxmlformats.org/drawingml/2006/main" noGrp="1"/>
          </p:cNvSpPr>
          <p:nvPr/>
        </p:nvSpPr>
        <p:spPr>
          <a:xfrm xmlns:a="http://schemas.openxmlformats.org/drawingml/2006/main">
            <a:off x="609600" y="1362075"/>
            <a:ext cx="109728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78C7FF"/>
                </a:solidFill>
                <a:latin typeface="Arial"/>
                <a:ea typeface="Arial"/>
                <a:cs typeface="Arial"/>
              </a:defRPr>
            </a:pPr>
            <a:r>
              <a:rPr sz="4050" b="1">
                <a:solidFill>
                  <a:srgbClr val="78C7FF"/>
                </a:solidFill>
                <a:latin typeface="Arial"/>
                <a:ea typeface="Arial"/>
                <a:cs typeface="Arial"/>
              </a:rPr>
              <a:t>Bổ sung dữ liệu và</a:t>
            </a:r>
          </a:p>
          <a:p xmlns:a="http://schemas.openxmlformats.org/drawingml/2006/main">
            <a:pPr>
              <a:buNone/>
              <a:defRPr sz="4050" b="1">
                <a:solidFill>
                  <a:srgbClr val="78C7FF"/>
                </a:solidFill>
                <a:latin typeface="Arial"/>
                <a:ea typeface="Arial"/>
                <a:cs typeface="Arial"/>
              </a:defRPr>
            </a:pPr>
            <a:r>
              <a:rPr sz="4050" b="1">
                <a:solidFill>
                  <a:srgbClr val="78C7FF"/>
                </a:solidFill>
                <a:latin typeface="Arial"/>
                <a:ea typeface="Arial"/>
                <a:cs typeface="Arial"/>
              </a:rPr>
              <a:t>huấn luyện lại model</a:t>
            </a:r>
          </a:p>
        </p:txBody>
      </p:sp>
      <p:sp>
        <p:nvSpPr>
          <p:cNvPr id="4" name="">
            <a:extLst xmlns:a="http://schemas.openxmlformats.org/drawingml/2006/main">
              <a:ext uri="{FF2B5EF4-FFF2-40B4-BE49-F238E27FC236}">
                <a16:creationId xmlns:a16="http://schemas.microsoft.com/office/drawing/2014/main" id="{5106C207-5997-49AE-8035-4D5D80BDCC93}"/>
              </a:ext>
            </a:extLst>
          </p:cNvPr>
          <p:cNvSpPr>
            <a:spLocks xmlns:a="http://schemas.openxmlformats.org/drawingml/2006/main" noGrp="1"/>
          </p:cNvSpPr>
          <p:nvPr/>
        </p:nvSpPr>
        <p:spPr>
          <a:xfrm xmlns:a="http://schemas.openxmlformats.org/drawingml/2006/main">
            <a:off x="609600" y="27813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BBC9DA"/>
                </a:solidFill>
                <a:latin typeface="Arial"/>
                <a:ea typeface="Arial"/>
                <a:cs typeface="Arial"/>
              </a:defRPr>
            </a:pPr>
            <a:r>
              <a:rPr sz="2025" b="0">
                <a:solidFill>
                  <a:srgbClr val="BBC9DA"/>
                </a:solidFill>
                <a:latin typeface="Arial"/>
                <a:ea typeface="Arial"/>
                <a:cs typeface="Arial"/>
              </a:rPr>
              <a:t>Dự án chống giả mạo khuôn mặt · 30/09/2026</a:t>
            </a:r>
          </a:p>
        </p:txBody>
      </p:sp>
      <p:sp>
        <p:nvSpPr>
          <p:cNvPr id="5" name="">
            <a:extLst xmlns:a="http://schemas.openxmlformats.org/drawingml/2006/main">
              <a:ext uri="{FF2B5EF4-FFF2-40B4-BE49-F238E27FC236}">
                <a16:creationId xmlns:a16="http://schemas.microsoft.com/office/drawing/2014/main" id="{7CEE926D-FCD5-4420-B6A0-34A124EA072E}"/>
              </a:ext>
            </a:extLst>
          </p:cNvPr>
          <p:cNvSpPr>
            <a:spLocks xmlns:a="http://schemas.openxmlformats.org/drawingml/2006/main" noGrp="1"/>
          </p:cNvSpPr>
          <p:nvPr/>
        </p:nvSpPr>
        <p:spPr>
          <a:xfrm xmlns:a="http://schemas.openxmlformats.org/drawingml/2006/main">
            <a:off x="609600" y="3781425"/>
            <a:ext cx="109728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200"/>
              </a:spcAft>
              <a:buChar char="•"/>
              <a:defRPr sz="2175">
                <a:solidFill>
                  <a:srgbClr val="BBC9DA"/>
                </a:solidFill>
                <a:latin typeface="Arial"/>
                <a:ea typeface="Arial"/>
                <a:cs typeface="Arial"/>
              </a:defRPr>
            </a:pPr>
            <a:r>
              <a:rPr sz="2175">
                <a:solidFill>
                  <a:srgbClr val="BBC9DA"/>
                </a:solidFill>
                <a:latin typeface="Arial"/>
                <a:ea typeface="Arial"/>
                <a:cs typeface="Arial"/>
              </a:rPr>
              <a:t>Em đã tải đủ 56 video mới từ Google Drive.</a:t>
            </a:r>
          </a:p>
          <a:p xmlns:a="http://schemas.openxmlformats.org/drawingml/2006/main">
            <a:pPr marL="228600" indent="-114300">
              <a:spcAft>
                <a:spcPts val="1200"/>
              </a:spcAft>
              <a:buChar char="•"/>
              <a:defRPr sz="2175">
                <a:solidFill>
                  <a:srgbClr val="BBC9DA"/>
                </a:solidFill>
                <a:latin typeface="Arial"/>
                <a:ea typeface="Arial"/>
                <a:cs typeface="Arial"/>
              </a:defRPr>
            </a:pPr>
            <a:r>
              <a:rPr sz="2175">
                <a:solidFill>
                  <a:srgbClr val="BBC9DA"/>
                </a:solidFill>
                <a:latin typeface="Arial"/>
                <a:ea typeface="Arial"/>
                <a:cs typeface="Arial"/>
              </a:rPr>
              <a:t>Em đã rà nhãn và trích lại ảnh từ video cũ, mới.</a:t>
            </a:r>
          </a:p>
          <a:p xmlns:a="http://schemas.openxmlformats.org/drawingml/2006/main">
            <a:pPr marL="228600" indent="-114300">
              <a:spcAft>
                <a:spcPts val="1200"/>
              </a:spcAft>
              <a:buChar char="•"/>
              <a:defRPr sz="2175">
                <a:solidFill>
                  <a:srgbClr val="BBC9DA"/>
                </a:solidFill>
                <a:latin typeface="Arial"/>
                <a:ea typeface="Arial"/>
                <a:cs typeface="Arial"/>
              </a:defRPr>
            </a:pPr>
            <a:r>
              <a:rPr sz="2175">
                <a:solidFill>
                  <a:srgbClr val="BBC9DA"/>
                </a:solidFill>
                <a:latin typeface="Arial"/>
                <a:ea typeface="Arial"/>
                <a:cs typeface="Arial"/>
              </a:rPr>
              <a:t>Em đã train lại và kiểm tra tích hợp model với API nội bộ.</a:t>
            </a:r>
          </a:p>
        </p:txBody>
      </p:sp>
    </p:spTree>
    <p:extLst>
      <p:ext uri="{BB962C8B-B14F-4D97-AF65-F5344CB8AC3E}">
        <p14:creationId xmlns:p14="http://schemas.microsoft.com/office/powerpoint/2010/main" val="1247525229"/>
      </p:ext>
    </p:extLst>
  </p:cSld>
</p:sld>
</file>

<file path=ppt/slides/slide2.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13D5636-49A5-4DA1-A167-A41888A26363}"/>
              </a:ext>
            </a:extLst>
          </p:cNvPr>
          <p:cNvSpPr>
            <a:spLocks xmlns:a="http://schemas.openxmlformats.org/drawingml/2006/main" noGrp="1"/>
          </p:cNvSpPr>
          <p:nvPr/>
        </p:nvSpPr>
        <p:spPr>
          <a:xfrm xmlns:a="http://schemas.openxmlformats.org/drawingml/2006/main">
            <a:off x="609600" y="4095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2F5FA"/>
                </a:solidFill>
                <a:latin typeface="Arial"/>
                <a:ea typeface="Arial"/>
                <a:cs typeface="Arial"/>
              </a:defRPr>
            </a:pPr>
            <a:r>
              <a:rPr sz="3300" b="1">
                <a:solidFill>
                  <a:srgbClr val="F2F5FA"/>
                </a:solidFill>
                <a:latin typeface="Arial"/>
                <a:ea typeface="Arial"/>
                <a:cs typeface="Arial"/>
              </a:rPr>
              <a:t>Dữ liệu trước và sau bổ sung video</a:t>
            </a:r>
          </a:p>
        </p:txBody>
      </p:sp>
      <p:sp>
        <p:nvSpPr>
          <p:cNvPr id="2" name="">
            <a:extLst xmlns:a="http://schemas.openxmlformats.org/drawingml/2006/main">
              <a:ext uri="{FF2B5EF4-FFF2-40B4-BE49-F238E27FC236}">
                <a16:creationId xmlns:a16="http://schemas.microsoft.com/office/drawing/2014/main" id="{159BBAB1-0B5A-4E3C-8E65-C2826D3B7FF1}"/>
              </a:ext>
            </a:extLst>
          </p:cNvPr>
          <p:cNvSpPr>
            <a:spLocks xmlns:a="http://schemas.openxmlformats.org/drawingml/2006/main" noGrp="1"/>
          </p:cNvSpPr>
          <p:nvPr/>
        </p:nvSpPr>
        <p:spPr>
          <a:xfrm xmlns:a="http://schemas.openxmlformats.org/drawingml/2006/main">
            <a:off x="10991850" y="634365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BC9DA"/>
                </a:solidFill>
                <a:latin typeface="Arial"/>
                <a:ea typeface="Arial"/>
                <a:cs typeface="Arial"/>
              </a:defRPr>
            </a:pPr>
            <a:r>
              <a:rPr sz="1500" b="0">
                <a:solidFill>
                  <a:srgbClr val="BBC9DA"/>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63AC77E2-F446-4B3D-94F7-E56F3C3D065F}"/>
              </a:ext>
            </a:extLst>
          </p:cNvPr>
          <p:cNvSpPr>
            <a:spLocks xmlns:a="http://schemas.openxmlformats.org/drawingml/2006/main" noGrp="1"/>
          </p:cNvSpPr>
          <p:nvPr/>
        </p:nvSpPr>
        <p:spPr>
          <a:xfrm xmlns:a="http://schemas.openxmlformats.org/drawingml/2006/main">
            <a:off x="609600" y="1162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78C7FF"/>
                </a:solidFill>
                <a:latin typeface="Arial"/>
                <a:ea typeface="Arial"/>
                <a:cs typeface="Arial"/>
              </a:defRPr>
            </a:pPr>
            <a:r>
              <a:rPr sz="1950" b="0">
                <a:solidFill>
                  <a:srgbClr val="78C7FF"/>
                </a:solidFill>
                <a:latin typeface="Arial"/>
                <a:ea typeface="Arial"/>
                <a:cs typeface="Arial"/>
              </a:rPr>
              <a:t>Trước bổ sung: 15/9. Sau bổ sung và trích lại: 30/9.</a:t>
            </a:r>
          </a:p>
        </p:txBody>
      </p:sp>
      <p:graphicFrame>
        <p:nvGraphicFramePr>
          <p:cNvPr id="14" name=""/>
          <p:cNvGraphicFramePr/>
          <p:nvPr/>
        </p:nvGraphicFramePr>
        <p:xfrm>
          <a:off xmlns:a="http://schemas.openxmlformats.org/drawingml/2006/main" x="609600" y="1828800"/>
          <a:ext xmlns:a="http://schemas.openxmlformats.org/drawingml/2006/main" cx="6819900" cy="3200400"/>
        </p:xfrm>
        <a:graphic xmlns:a="http://schemas.openxmlformats.org/drawingml/2006/main">
          <a:graphicData uri="http://schemas.openxmlformats.org/drawingml/2006/table">
            <a:tbl>
              <a:tblPr firstRow="1" bandRow="0"/>
              <a:tblGrid>
                <a:gridCol w="3238500"/>
                <a:gridCol w="1485900"/>
                <a:gridCol w="2095500"/>
              </a:tblGrid>
              <a:tr h="533400">
                <a:tc>
                  <a:txBody>
                    <a:bodyPr>
                      <a:noAutofit/>
                    </a:bodyPr>
                    <a:lstStyle/>
                    <a:p>
                      <a:r>
                        <a:rPr sz="1950" b="1">
                          <a:solidFill>
                            <a:srgbClr val="78C7FF"/>
                          </a:solidFill>
                          <a:latin typeface="Arial"/>
                          <a:ea typeface="Arial"/>
                          <a:cs typeface="Arial"/>
                        </a:rPr>
                        <a:t>Tập</a:t>
                      </a:r>
                    </a:p>
                  </a:txBody>
                  <a:tcPr marL="152400" marR="114300" marT="38100" marB="38100" anchor="ctr">
                    <a:solidFill>
                      <a:srgbClr val="203A54"/>
                    </a:solidFill>
                  </a:tcPr>
                </a:tc>
                <a:tc>
                  <a:txBody>
                    <a:bodyPr>
                      <a:noAutofit/>
                    </a:bodyPr>
                    <a:lstStyle/>
                    <a:p>
                      <a:r>
                        <a:rPr sz="1950" b="1">
                          <a:solidFill>
                            <a:srgbClr val="78C7FF"/>
                          </a:solidFill>
                          <a:latin typeface="Arial"/>
                          <a:ea typeface="Arial"/>
                          <a:cs typeface="Arial"/>
                        </a:rPr>
                        <a:t>Trước</a:t>
                      </a:r>
                    </a:p>
                  </a:txBody>
                  <a:tcPr marL="152400" marR="114300" marT="38100" marB="38100" anchor="ctr">
                    <a:solidFill>
                      <a:srgbClr val="203A54"/>
                    </a:solidFill>
                  </a:tcPr>
                </a:tc>
                <a:tc>
                  <a:txBody>
                    <a:bodyPr>
                      <a:noAutofit/>
                    </a:bodyPr>
                    <a:lstStyle/>
                    <a:p>
                      <a:r>
                        <a:rPr sz="1950" b="1">
                          <a:solidFill>
                            <a:srgbClr val="78C7FF"/>
                          </a:solidFill>
                          <a:latin typeface="Arial"/>
                          <a:ea typeface="Arial"/>
                          <a:cs typeface="Arial"/>
                        </a:rPr>
                        <a:t>Sau</a:t>
                      </a:r>
                    </a:p>
                  </a:txBody>
                  <a:tcPr marL="152400" marR="114300" marT="38100" marB="38100" anchor="ctr">
                    <a:solidFill>
                      <a:srgbClr val="203A54"/>
                    </a:solidFill>
                  </a:tcPr>
                </a:tc>
              </a:tr>
              <a:tr h="533400">
                <a:tc>
                  <a:txBody>
                    <a:bodyPr>
                      <a:noAutofit/>
                    </a:bodyPr>
                    <a:lstStyle/>
                    <a:p>
                      <a:r>
                        <a:rPr sz="1950" b="0">
                          <a:solidFill>
                            <a:srgbClr val="F2F5FA"/>
                          </a:solidFill>
                          <a:latin typeface="Arial"/>
                          <a:ea typeface="Arial"/>
                          <a:cs typeface="Arial"/>
                        </a:rPr>
                        <a:t>Train</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18.153</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4.113</a:t>
                      </a:r>
                    </a:p>
                  </a:txBody>
                  <a:tcPr marL="152400" marR="114300" marT="38100" marB="38100" anchor="ctr">
                    <a:solidFill>
                      <a:srgbClr val="101B2B"/>
                    </a:solidFill>
                  </a:tcPr>
                </a:tc>
              </a:tr>
              <a:tr h="533400">
                <a:tc>
                  <a:txBody>
                    <a:bodyPr>
                      <a:noAutofit/>
                    </a:bodyPr>
                    <a:lstStyle/>
                    <a:p>
                      <a:r>
                        <a:rPr sz="1950" b="0">
                          <a:solidFill>
                            <a:srgbClr val="F2F5FA"/>
                          </a:solidFill>
                          <a:latin typeface="Arial"/>
                          <a:ea typeface="Arial"/>
                          <a:cs typeface="Arial"/>
                        </a:rPr>
                        <a:t>Validation</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2.721</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1.028</a:t>
                      </a:r>
                    </a:p>
                  </a:txBody>
                  <a:tcPr marL="152400" marR="114300" marT="38100" marB="38100" anchor="ctr">
                    <a:solidFill>
                      <a:srgbClr val="101B2B"/>
                    </a:solidFill>
                  </a:tcPr>
                </a:tc>
              </a:tr>
              <a:tr h="533400">
                <a:tc>
                  <a:txBody>
                    <a:bodyPr>
                      <a:noAutofit/>
                    </a:bodyPr>
                    <a:lstStyle/>
                    <a:p>
                      <a:r>
                        <a:rPr sz="1950" b="0">
                          <a:solidFill>
                            <a:srgbClr val="F2F5FA"/>
                          </a:solidFill>
                          <a:latin typeface="Arial"/>
                          <a:ea typeface="Arial"/>
                          <a:cs typeface="Arial"/>
                        </a:rPr>
                        <a:t>Test</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3.347</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1.473</a:t>
                      </a:r>
                    </a:p>
                  </a:txBody>
                  <a:tcPr marL="152400" marR="114300" marT="38100" marB="38100" anchor="ctr">
                    <a:solidFill>
                      <a:srgbClr val="101B2B"/>
                    </a:solidFill>
                  </a:tcPr>
                </a:tc>
              </a:tr>
              <a:tr h="533400">
                <a:tc>
                  <a:txBody>
                    <a:bodyPr>
                      <a:noAutofit/>
                    </a:bodyPr>
                    <a:lstStyle/>
                    <a:p>
                      <a:r>
                        <a:rPr sz="1950" b="0">
                          <a:solidFill>
                            <a:srgbClr val="F2F5FA"/>
                          </a:solidFill>
                          <a:latin typeface="Arial"/>
                          <a:ea typeface="Arial"/>
                          <a:cs typeface="Arial"/>
                        </a:rPr>
                        <a:t>Hồi quy riêng</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Chưa tách</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415</a:t>
                      </a:r>
                    </a:p>
                  </a:txBody>
                  <a:tcPr marL="152400" marR="114300" marT="38100" marB="38100" anchor="ctr">
                    <a:solidFill>
                      <a:srgbClr val="101B2B"/>
                    </a:solidFill>
                  </a:tcPr>
                </a:tc>
              </a:tr>
              <a:tr h="533400">
                <a:tc>
                  <a:txBody>
                    <a:bodyPr>
                      <a:noAutofit/>
                    </a:bodyPr>
                    <a:lstStyle/>
                    <a:p>
                      <a:r>
                        <a:rPr sz="1950" b="1">
                          <a:solidFill>
                            <a:srgbClr val="65D6AA"/>
                          </a:solidFill>
                          <a:latin typeface="Arial"/>
                          <a:ea typeface="Arial"/>
                          <a:cs typeface="Arial"/>
                        </a:rPr>
                        <a:t>Tổng ảnh của bộ</a:t>
                      </a:r>
                    </a:p>
                  </a:txBody>
                  <a:tcPr marL="152400" marR="114300" marT="38100" marB="38100" anchor="ctr">
                    <a:solidFill>
                      <a:srgbClr val="101B2B"/>
                    </a:solidFill>
                  </a:tcPr>
                </a:tc>
                <a:tc>
                  <a:txBody>
                    <a:bodyPr>
                      <a:noAutofit/>
                    </a:bodyPr>
                    <a:lstStyle/>
                    <a:p>
                      <a:r>
                        <a:rPr sz="1950" b="1">
                          <a:solidFill>
                            <a:srgbClr val="65D6AA"/>
                          </a:solidFill>
                          <a:latin typeface="Arial"/>
                          <a:ea typeface="Arial"/>
                          <a:cs typeface="Arial"/>
                        </a:rPr>
                        <a:t>24.221</a:t>
                      </a:r>
                    </a:p>
                  </a:txBody>
                  <a:tcPr marL="152400" marR="114300" marT="38100" marB="38100" anchor="ctr">
                    <a:solidFill>
                      <a:srgbClr val="101B2B"/>
                    </a:solidFill>
                  </a:tcPr>
                </a:tc>
                <a:tc>
                  <a:txBody>
                    <a:bodyPr>
                      <a:noAutofit/>
                    </a:bodyPr>
                    <a:lstStyle/>
                    <a:p>
                      <a:r>
                        <a:rPr sz="1950" b="1">
                          <a:solidFill>
                            <a:srgbClr val="65D6AA"/>
                          </a:solidFill>
                          <a:latin typeface="Arial"/>
                          <a:ea typeface="Arial"/>
                          <a:cs typeface="Arial"/>
                        </a:rPr>
                        <a:t>7.029</a:t>
                      </a:r>
                    </a:p>
                  </a:txBody>
                  <a:tcPr marL="152400" marR="114300" marT="38100" marB="38100" anchor="ctr">
                    <a:solidFill>
                      <a:srgbClr val="101B2B"/>
                    </a:solidFill>
                  </a:tcPr>
                </a:tc>
              </a:tr>
            </a:tbl>
          </a:graphicData>
        </a:graphic>
      </p:graphicFrame>
      <p:sp>
        <p:nvSpPr>
          <p:cNvPr id="5" name="">
            <a:extLst xmlns:a="http://schemas.openxmlformats.org/drawingml/2006/main">
              <a:ext uri="{FF2B5EF4-FFF2-40B4-BE49-F238E27FC236}">
                <a16:creationId xmlns:a16="http://schemas.microsoft.com/office/drawing/2014/main" id="{D9C5D58C-D96E-492C-8797-C25E0107250A}"/>
              </a:ext>
            </a:extLst>
          </p:cNvPr>
          <p:cNvSpPr>
            <a:spLocks xmlns:a="http://schemas.openxmlformats.org/drawingml/2006/main" noGrp="1"/>
          </p:cNvSpPr>
          <p:nvPr/>
        </p:nvSpPr>
        <p:spPr>
          <a:xfrm xmlns:a="http://schemas.openxmlformats.org/drawingml/2006/main">
            <a:off x="8001000" y="1847850"/>
            <a:ext cx="3581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65D6AA"/>
                </a:solidFill>
                <a:latin typeface="Arial"/>
                <a:ea typeface="Arial"/>
                <a:cs typeface="Arial"/>
              </a:defRPr>
            </a:pPr>
            <a:r>
              <a:rPr sz="3600" b="1">
                <a:solidFill>
                  <a:srgbClr val="65D6AA"/>
                </a:solidFill>
                <a:latin typeface="Arial"/>
                <a:ea typeface="Arial"/>
                <a:cs typeface="Arial"/>
              </a:rPr>
              <a:t>56 video mới</a:t>
            </a:r>
          </a:p>
        </p:txBody>
      </p:sp>
      <p:sp>
        <p:nvSpPr>
          <p:cNvPr id="6" name="">
            <a:extLst xmlns:a="http://schemas.openxmlformats.org/drawingml/2006/main">
              <a:ext uri="{FF2B5EF4-FFF2-40B4-BE49-F238E27FC236}">
                <a16:creationId xmlns:a16="http://schemas.microsoft.com/office/drawing/2014/main" id="{1BF01439-DC22-4F5C-9756-887AC5A0B6C5}"/>
              </a:ext>
            </a:extLst>
          </p:cNvPr>
          <p:cNvSpPr>
            <a:spLocks xmlns:a="http://schemas.openxmlformats.org/drawingml/2006/main" noGrp="1"/>
          </p:cNvSpPr>
          <p:nvPr/>
        </p:nvSpPr>
        <p:spPr>
          <a:xfrm xmlns:a="http://schemas.openxmlformats.org/drawingml/2006/main">
            <a:off x="8001000" y="2686050"/>
            <a:ext cx="3581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F2F5FA"/>
                </a:solidFill>
                <a:latin typeface="Arial"/>
                <a:ea typeface="Arial"/>
                <a:cs typeface="Arial"/>
              </a:defRPr>
            </a:pPr>
            <a:r>
              <a:rPr sz="2175" b="1">
                <a:solidFill>
                  <a:srgbClr val="F2F5FA"/>
                </a:solidFill>
                <a:latin typeface="Arial"/>
                <a:ea typeface="Arial"/>
                <a:cs typeface="Arial"/>
              </a:rPr>
              <a:t>Bộ sau gồm ảnh từ</a:t>
            </a:r>
          </a:p>
          <a:p xmlns:a="http://schemas.openxmlformats.org/drawingml/2006/main">
            <a:pPr>
              <a:buNone/>
              <a:defRPr sz="2175" b="1">
                <a:solidFill>
                  <a:srgbClr val="F2F5FA"/>
                </a:solidFill>
                <a:latin typeface="Arial"/>
                <a:ea typeface="Arial"/>
                <a:cs typeface="Arial"/>
              </a:defRPr>
            </a:pPr>
            <a:r>
              <a:rPr sz="2175" b="1">
                <a:solidFill>
                  <a:srgbClr val="F2F5FA"/>
                </a:solidFill>
                <a:latin typeface="Arial"/>
                <a:ea typeface="Arial"/>
                <a:cs typeface="Arial"/>
              </a:rPr>
              <a:t>video cũ và mới</a:t>
            </a:r>
          </a:p>
        </p:txBody>
      </p:sp>
      <p:sp>
        <p:nvSpPr>
          <p:cNvPr id="7" name="">
            <a:extLst xmlns:a="http://schemas.openxmlformats.org/drawingml/2006/main">
              <a:ext uri="{FF2B5EF4-FFF2-40B4-BE49-F238E27FC236}">
                <a16:creationId xmlns:a16="http://schemas.microsoft.com/office/drawing/2014/main" id="{EAC4A576-CE56-4DDF-AE13-EA928E7E3604}"/>
              </a:ext>
            </a:extLst>
          </p:cNvPr>
          <p:cNvSpPr>
            <a:spLocks xmlns:a="http://schemas.openxmlformats.org/drawingml/2006/main" noGrp="1"/>
          </p:cNvSpPr>
          <p:nvPr/>
        </p:nvSpPr>
        <p:spPr>
          <a:xfrm xmlns:a="http://schemas.openxmlformats.org/drawingml/2006/main">
            <a:off x="8001000" y="3762375"/>
            <a:ext cx="35814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BBC9DA"/>
                </a:solidFill>
                <a:latin typeface="Arial"/>
                <a:ea typeface="Arial"/>
                <a:cs typeface="Arial"/>
              </a:defRPr>
            </a:pPr>
            <a:r>
              <a:rPr sz="2025" b="0">
                <a:solidFill>
                  <a:srgbClr val="BBC9DA"/>
                </a:solidFill>
                <a:latin typeface="Arial"/>
                <a:ea typeface="Arial"/>
                <a:cs typeface="Arial"/>
              </a:rPr>
              <a:t>Tối đa 100 khung/video.</a:t>
            </a:r>
          </a:p>
          <a:p xmlns:a="http://schemas.openxmlformats.org/drawingml/2006/main">
            <a:pPr>
              <a:buNone/>
              <a:defRPr sz="2025" b="0">
                <a:solidFill>
                  <a:srgbClr val="BBC9DA"/>
                </a:solidFill>
                <a:latin typeface="Arial"/>
                <a:ea typeface="Arial"/>
                <a:cs typeface="Arial"/>
              </a:defRPr>
            </a:pPr>
            <a:r>
              <a:rPr sz="2025" b="0">
                <a:solidFill>
                  <a:srgbClr val="BBC9DA"/>
                </a:solidFill>
                <a:latin typeface="Arial"/>
                <a:ea typeface="Arial"/>
                <a:cs typeface="Arial"/>
              </a:rPr>
              <a:t>Chạy 19 epoch.</a:t>
            </a:r>
          </a:p>
          <a:p xmlns:a="http://schemas.openxmlformats.org/drawingml/2006/main">
            <a:pPr>
              <a:buNone/>
              <a:defRPr sz="2025" b="0">
                <a:solidFill>
                  <a:srgbClr val="BBC9DA"/>
                </a:solidFill>
                <a:latin typeface="Arial"/>
                <a:ea typeface="Arial"/>
                <a:cs typeface="Arial"/>
              </a:defRPr>
            </a:pPr>
            <a:r>
              <a:rPr sz="2025" b="0">
                <a:solidFill>
                  <a:srgbClr val="BBC9DA"/>
                </a:solidFill>
                <a:latin typeface="Arial"/>
                <a:ea typeface="Arial"/>
                <a:cs typeface="Arial"/>
              </a:rPr>
              <a:t>Chọn epoch 11.</a:t>
            </a:r>
          </a:p>
        </p:txBody>
      </p:sp>
      <p:sp>
        <p:nvSpPr>
          <p:cNvPr id="8" name="">
            <a:extLst xmlns:a="http://schemas.openxmlformats.org/drawingml/2006/main">
              <a:ext uri="{FF2B5EF4-FFF2-40B4-BE49-F238E27FC236}">
                <a16:creationId xmlns:a16="http://schemas.microsoft.com/office/drawing/2014/main" id="{94C459B6-3ACB-4485-A83D-3D5AE288BDCD}"/>
              </a:ext>
            </a:extLst>
          </p:cNvPr>
          <p:cNvSpPr>
            <a:spLocks xmlns:a="http://schemas.openxmlformats.org/drawingml/2006/main" noGrp="1"/>
          </p:cNvSpPr>
          <p:nvPr/>
        </p:nvSpPr>
        <p:spPr>
          <a:xfrm xmlns:a="http://schemas.openxmlformats.org/drawingml/2006/main">
            <a:off x="609600" y="56578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BBC9DA"/>
                </a:solidFill>
                <a:latin typeface="Arial"/>
                <a:ea typeface="Arial"/>
                <a:cs typeface="Arial"/>
              </a:defRPr>
            </a:pPr>
            <a:r>
              <a:rPr sz="1875" b="0">
                <a:solidFill>
                  <a:srgbClr val="BBC9DA"/>
                </a:solidFill>
                <a:latin typeface="Arial"/>
                <a:ea typeface="Arial"/>
                <a:cs typeface="Arial"/>
              </a:rPr>
              <a:t>Bộ sau: 2.165 ảnh từ video cũ + 4.864 ảnh từ video mới.</a:t>
            </a:r>
          </a:p>
          <a:p xmlns:a="http://schemas.openxmlformats.org/drawingml/2006/main">
            <a:pPr>
              <a:buNone/>
              <a:defRPr sz="1875" b="0">
                <a:solidFill>
                  <a:srgbClr val="BBC9DA"/>
                </a:solidFill>
                <a:latin typeface="Arial"/>
                <a:ea typeface="Arial"/>
                <a:cs typeface="Arial"/>
              </a:defRPr>
            </a:pPr>
            <a:r>
              <a:rPr sz="1875" b="0">
                <a:solidFill>
                  <a:srgbClr val="BBC9DA"/>
                </a:solidFill>
                <a:latin typeface="Arial"/>
                <a:ea typeface="Arial"/>
                <a:cs typeface="Arial"/>
              </a:rPr>
              <a:t>24.221 ảnh gốc vẫn còn. Lần train sau chưa dùng hết bộ ảnh cũ.</a:t>
            </a:r>
          </a:p>
        </p:txBody>
      </p:sp>
    </p:spTree>
    <p:extLst>
      <p:ext uri="{BB962C8B-B14F-4D97-AF65-F5344CB8AC3E}">
        <p14:creationId xmlns:p14="http://schemas.microsoft.com/office/powerpoint/2010/main" val="171552217"/>
      </p:ext>
    </p:extLst>
  </p:cSld>
</p:sld>
</file>

<file path=ppt/slides/slide3.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09F00D-EF38-4DCC-800A-70E0A3BE678A}"/>
              </a:ext>
            </a:extLst>
          </p:cNvPr>
          <p:cNvSpPr>
            <a:spLocks xmlns:a="http://schemas.openxmlformats.org/drawingml/2006/main" noGrp="1"/>
          </p:cNvSpPr>
          <p:nvPr/>
        </p:nvSpPr>
        <p:spPr>
          <a:xfrm xmlns:a="http://schemas.openxmlformats.org/drawingml/2006/main">
            <a:off x="609600" y="4095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2F5FA"/>
                </a:solidFill>
                <a:latin typeface="Arial"/>
                <a:ea typeface="Arial"/>
                <a:cs typeface="Arial"/>
              </a:defRPr>
            </a:pPr>
            <a:r>
              <a:rPr sz="3300" b="1">
                <a:solidFill>
                  <a:srgbClr val="F2F5FA"/>
                </a:solidFill>
                <a:latin typeface="Arial"/>
                <a:ea typeface="Arial"/>
                <a:cs typeface="Arial"/>
              </a:rPr>
              <a:t>So sánh hai model trên cùng dữ liệu</a:t>
            </a:r>
          </a:p>
        </p:txBody>
      </p:sp>
      <p:sp>
        <p:nvSpPr>
          <p:cNvPr id="2" name="">
            <a:extLst xmlns:a="http://schemas.openxmlformats.org/drawingml/2006/main">
              <a:ext uri="{FF2B5EF4-FFF2-40B4-BE49-F238E27FC236}">
                <a16:creationId xmlns:a16="http://schemas.microsoft.com/office/drawing/2014/main" id="{322A32DC-1E91-4A81-9B73-B4FDA8C5DBEA}"/>
              </a:ext>
            </a:extLst>
          </p:cNvPr>
          <p:cNvSpPr>
            <a:spLocks xmlns:a="http://schemas.openxmlformats.org/drawingml/2006/main" noGrp="1"/>
          </p:cNvSpPr>
          <p:nvPr/>
        </p:nvSpPr>
        <p:spPr>
          <a:xfrm xmlns:a="http://schemas.openxmlformats.org/drawingml/2006/main">
            <a:off x="10991850" y="634365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BC9DA"/>
                </a:solidFill>
                <a:latin typeface="Arial"/>
                <a:ea typeface="Arial"/>
                <a:cs typeface="Arial"/>
              </a:defRPr>
            </a:pPr>
            <a:r>
              <a:rPr sz="1500" b="0">
                <a:solidFill>
                  <a:srgbClr val="BBC9DA"/>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FFEE5C20-6E45-4A9E-B178-1E4971B44949}"/>
              </a:ext>
            </a:extLst>
          </p:cNvPr>
          <p:cNvSpPr>
            <a:spLocks xmlns:a="http://schemas.openxmlformats.org/drawingml/2006/main" noGrp="1"/>
          </p:cNvSpPr>
          <p:nvPr/>
        </p:nvSpPr>
        <p:spPr>
          <a:xfrm xmlns:a="http://schemas.openxmlformats.org/drawingml/2006/main">
            <a:off x="609600" y="11620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78C7FF"/>
                </a:solidFill>
                <a:latin typeface="Arial"/>
                <a:ea typeface="Arial"/>
                <a:cs typeface="Arial"/>
              </a:defRPr>
            </a:pPr>
            <a:r>
              <a:rPr sz="1950" b="0">
                <a:solidFill>
                  <a:srgbClr val="78C7FF"/>
                </a:solidFill>
                <a:latin typeface="Arial"/>
                <a:ea typeface="Arial"/>
                <a:cs typeface="Arial"/>
              </a:rPr>
              <a:t>Hai model cùng test 30/9: 1.473 ảnh, 16 video, 2 mã người</a:t>
            </a:r>
          </a:p>
        </p:txBody>
      </p:sp>
      <p:graphicFrame>
        <p:nvGraphicFramePr>
          <p:cNvPr id="12" name=""/>
          <p:cNvGraphicFramePr/>
          <p:nvPr/>
        </p:nvGraphicFramePr>
        <p:xfrm>
          <a:off xmlns:a="http://schemas.openxmlformats.org/drawingml/2006/main" x="609600" y="1685925"/>
          <a:ext xmlns:a="http://schemas.openxmlformats.org/drawingml/2006/main" cx="10972800" cy="3962400"/>
        </p:xfrm>
        <a:graphic xmlns:a="http://schemas.openxmlformats.org/drawingml/2006/main">
          <a:graphicData uri="http://schemas.openxmlformats.org/drawingml/2006/table">
            <a:tbl>
              <a:tblPr firstRow="1" bandRow="0"/>
              <a:tblGrid>
                <a:gridCol w="4953000"/>
                <a:gridCol w="3009900"/>
                <a:gridCol w="3009900"/>
              </a:tblGrid>
              <a:tr h="495300">
                <a:tc>
                  <a:txBody>
                    <a:bodyPr>
                      <a:noAutofit/>
                    </a:bodyPr>
                    <a:lstStyle/>
                    <a:p>
                      <a:r>
                        <a:rPr sz="1950" b="1">
                          <a:solidFill>
                            <a:srgbClr val="78C7FF"/>
                          </a:solidFill>
                          <a:latin typeface="Arial"/>
                          <a:ea typeface="Arial"/>
                          <a:cs typeface="Arial"/>
                        </a:rPr>
                        <a:t>Chỉ số</a:t>
                      </a:r>
                    </a:p>
                  </a:txBody>
                  <a:tcPr marL="152400" marR="114300" marT="38100" marB="38100" anchor="ctr">
                    <a:solidFill>
                      <a:srgbClr val="203A54"/>
                    </a:solidFill>
                  </a:tcPr>
                </a:tc>
                <a:tc>
                  <a:txBody>
                    <a:bodyPr>
                      <a:noAutofit/>
                    </a:bodyPr>
                    <a:lstStyle/>
                    <a:p>
                      <a:r>
                        <a:rPr sz="1950" b="1">
                          <a:solidFill>
                            <a:srgbClr val="78C7FF"/>
                          </a:solidFill>
                          <a:latin typeface="Arial"/>
                          <a:ea typeface="Arial"/>
                          <a:cs typeface="Arial"/>
                        </a:rPr>
                        <a:t>Model 15/9</a:t>
                      </a:r>
                    </a:p>
                  </a:txBody>
                  <a:tcPr marL="152400" marR="114300" marT="38100" marB="38100" anchor="ctr">
                    <a:solidFill>
                      <a:srgbClr val="203A54"/>
                    </a:solidFill>
                  </a:tcPr>
                </a:tc>
                <a:tc>
                  <a:txBody>
                    <a:bodyPr>
                      <a:noAutofit/>
                    </a:bodyPr>
                    <a:lstStyle/>
                    <a:p>
                      <a:r>
                        <a:rPr sz="1950" b="1">
                          <a:solidFill>
                            <a:srgbClr val="78C7FF"/>
                          </a:solidFill>
                          <a:latin typeface="Arial"/>
                          <a:ea typeface="Arial"/>
                          <a:cs typeface="Arial"/>
                        </a:rPr>
                        <a:t>Model 30/9</a:t>
                      </a:r>
                    </a:p>
                  </a:txBody>
                  <a:tcPr marL="152400" marR="114300" marT="38100" marB="38100" anchor="ctr">
                    <a:solidFill>
                      <a:srgbClr val="203A54"/>
                    </a:solidFill>
                  </a:tcPr>
                </a:tc>
              </a:tr>
              <a:tr h="495300">
                <a:tc>
                  <a:txBody>
                    <a:bodyPr>
                      <a:noAutofit/>
                    </a:bodyPr>
                    <a:lstStyle/>
                    <a:p>
                      <a:r>
                        <a:rPr sz="1950" b="0">
                          <a:solidFill>
                            <a:srgbClr val="F2F5FA"/>
                          </a:solidFill>
                          <a:latin typeface="Arial"/>
                          <a:ea typeface="Arial"/>
                          <a:cs typeface="Arial"/>
                        </a:rPr>
                        <a:t>Precision macro</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83,23%</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97,90%</a:t>
                      </a:r>
                    </a:p>
                  </a:txBody>
                  <a:tcPr marL="152400" marR="114300" marT="38100" marB="38100" anchor="ctr">
                    <a:solidFill>
                      <a:srgbClr val="101B2B"/>
                    </a:solidFill>
                  </a:tcPr>
                </a:tc>
              </a:tr>
              <a:tr h="495300">
                <a:tc>
                  <a:txBody>
                    <a:bodyPr>
                      <a:noAutofit/>
                    </a:bodyPr>
                    <a:lstStyle/>
                    <a:p>
                      <a:r>
                        <a:rPr sz="1950" b="0">
                          <a:solidFill>
                            <a:srgbClr val="F2F5FA"/>
                          </a:solidFill>
                          <a:latin typeface="Arial"/>
                          <a:ea typeface="Arial"/>
                          <a:cs typeface="Arial"/>
                        </a:rPr>
                        <a:t>Recall macro</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73,61%</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97,71%</a:t>
                      </a:r>
                    </a:p>
                  </a:txBody>
                  <a:tcPr marL="152400" marR="114300" marT="38100" marB="38100" anchor="ctr">
                    <a:solidFill>
                      <a:srgbClr val="101B2B"/>
                    </a:solidFill>
                  </a:tcPr>
                </a:tc>
              </a:tr>
              <a:tr h="495300">
                <a:tc>
                  <a:txBody>
                    <a:bodyPr>
                      <a:noAutofit/>
                    </a:bodyPr>
                    <a:lstStyle/>
                    <a:p>
                      <a:r>
                        <a:rPr sz="1950" b="1">
                          <a:solidFill>
                            <a:srgbClr val="65D6AA"/>
                          </a:solidFill>
                          <a:latin typeface="Arial"/>
                          <a:ea typeface="Arial"/>
                          <a:cs typeface="Arial"/>
                        </a:rPr>
                        <a:t>F1 macro</a:t>
                      </a:r>
                    </a:p>
                  </a:txBody>
                  <a:tcPr marL="152400" marR="114300" marT="38100" marB="38100" anchor="ctr">
                    <a:solidFill>
                      <a:srgbClr val="101B2B"/>
                    </a:solidFill>
                  </a:tcPr>
                </a:tc>
                <a:tc>
                  <a:txBody>
                    <a:bodyPr>
                      <a:noAutofit/>
                    </a:bodyPr>
                    <a:lstStyle/>
                    <a:p>
                      <a:r>
                        <a:rPr sz="1950" b="1">
                          <a:solidFill>
                            <a:srgbClr val="65D6AA"/>
                          </a:solidFill>
                          <a:latin typeface="Arial"/>
                          <a:ea typeface="Arial"/>
                          <a:cs typeface="Arial"/>
                        </a:rPr>
                        <a:t>72,00%</a:t>
                      </a:r>
                    </a:p>
                  </a:txBody>
                  <a:tcPr marL="152400" marR="114300" marT="38100" marB="38100" anchor="ctr">
                    <a:solidFill>
                      <a:srgbClr val="101B2B"/>
                    </a:solidFill>
                  </a:tcPr>
                </a:tc>
                <a:tc>
                  <a:txBody>
                    <a:bodyPr>
                      <a:noAutofit/>
                    </a:bodyPr>
                    <a:lstStyle/>
                    <a:p>
                      <a:r>
                        <a:rPr sz="1950" b="1">
                          <a:solidFill>
                            <a:srgbClr val="65D6AA"/>
                          </a:solidFill>
                          <a:latin typeface="Arial"/>
                          <a:ea typeface="Arial"/>
                          <a:cs typeface="Arial"/>
                        </a:rPr>
                        <a:t>97,76%</a:t>
                      </a:r>
                    </a:p>
                  </a:txBody>
                  <a:tcPr marL="152400" marR="114300" marT="38100" marB="38100" anchor="ctr">
                    <a:solidFill>
                      <a:srgbClr val="101B2B"/>
                    </a:solidFill>
                  </a:tcPr>
                </a:tc>
              </a:tr>
              <a:tr h="495300">
                <a:tc>
                  <a:txBody>
                    <a:bodyPr>
                      <a:noAutofit/>
                    </a:bodyPr>
                    <a:lstStyle/>
                    <a:p>
                      <a:r>
                        <a:rPr sz="1950" b="0">
                          <a:solidFill>
                            <a:srgbClr val="F2F5FA"/>
                          </a:solidFill>
                          <a:latin typeface="Arial"/>
                          <a:ea typeface="Arial"/>
                          <a:cs typeface="Arial"/>
                        </a:rPr>
                        <a:t>Accuracy test</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74,20%</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97,76%</a:t>
                      </a:r>
                    </a:p>
                  </a:txBody>
                  <a:tcPr marL="152400" marR="114300" marT="38100" marB="38100" anchor="ctr">
                    <a:solidFill>
                      <a:srgbClr val="101B2B"/>
                    </a:solidFill>
                  </a:tcPr>
                </a:tc>
              </a:tr>
              <a:tr h="495300">
                <a:tc>
                  <a:txBody>
                    <a:bodyPr>
                      <a:noAutofit/>
                    </a:bodyPr>
                    <a:lstStyle/>
                    <a:p>
                      <a:r>
                        <a:rPr sz="1950" b="0">
                          <a:solidFill>
                            <a:srgbClr val="F2F5FA"/>
                          </a:solidFill>
                          <a:latin typeface="Arial"/>
                          <a:ea typeface="Arial"/>
                          <a:cs typeface="Arial"/>
                        </a:rPr>
                        <a:t>Loss train (đánh giá)</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0,76877</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0,04635</a:t>
                      </a:r>
                    </a:p>
                  </a:txBody>
                  <a:tcPr marL="152400" marR="114300" marT="38100" marB="38100" anchor="ctr">
                    <a:solidFill>
                      <a:srgbClr val="101B2B"/>
                    </a:solidFill>
                  </a:tcPr>
                </a:tc>
              </a:tr>
              <a:tr h="495300">
                <a:tc>
                  <a:txBody>
                    <a:bodyPr>
                      <a:noAutofit/>
                    </a:bodyPr>
                    <a:lstStyle/>
                    <a:p>
                      <a:r>
                        <a:rPr sz="1950" b="0">
                          <a:solidFill>
                            <a:srgbClr val="F2F5FA"/>
                          </a:solidFill>
                          <a:latin typeface="Arial"/>
                          <a:ea typeface="Arial"/>
                          <a:cs typeface="Arial"/>
                        </a:rPr>
                        <a:t>Loss validation (đánh giá)</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3,49280</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0,02771</a:t>
                      </a:r>
                    </a:p>
                  </a:txBody>
                  <a:tcPr marL="152400" marR="114300" marT="38100" marB="38100" anchor="ctr">
                    <a:solidFill>
                      <a:srgbClr val="101B2B"/>
                    </a:solidFill>
                  </a:tcPr>
                </a:tc>
              </a:tr>
              <a:tr h="495300">
                <a:tc>
                  <a:txBody>
                    <a:bodyPr>
                      <a:noAutofit/>
                    </a:bodyPr>
                    <a:lstStyle/>
                    <a:p>
                      <a:r>
                        <a:rPr sz="1950" b="0">
                          <a:solidFill>
                            <a:srgbClr val="F2F5FA"/>
                          </a:solidFill>
                          <a:latin typeface="Arial"/>
                          <a:ea typeface="Arial"/>
                          <a:cs typeface="Arial"/>
                        </a:rPr>
                        <a:t>Loss test (đánh giá)</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1,16455</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0,05610</a:t>
                      </a:r>
                    </a:p>
                  </a:txBody>
                  <a:tcPr marL="152400" marR="114300" marT="38100" marB="38100" anchor="ctr">
                    <a:solidFill>
                      <a:srgbClr val="101B2B"/>
                    </a:solidFill>
                  </a:tcPr>
                </a:tc>
              </a:tr>
            </a:tbl>
          </a:graphicData>
        </a:graphic>
      </p:graphicFrame>
      <p:sp>
        <p:nvSpPr>
          <p:cNvPr id="5" name="">
            <a:extLst xmlns:a="http://schemas.openxmlformats.org/drawingml/2006/main">
              <a:ext uri="{FF2B5EF4-FFF2-40B4-BE49-F238E27FC236}">
                <a16:creationId xmlns:a16="http://schemas.microsoft.com/office/drawing/2014/main" id="{435317D4-77DF-4BBE-927E-722DDD1AC57C}"/>
              </a:ext>
            </a:extLst>
          </p:cNvPr>
          <p:cNvSpPr>
            <a:spLocks xmlns:a="http://schemas.openxmlformats.org/drawingml/2006/main" noGrp="1"/>
          </p:cNvSpPr>
          <p:nvPr/>
        </p:nvSpPr>
        <p:spPr>
          <a:xfrm xmlns:a="http://schemas.openxmlformats.org/drawingml/2006/main">
            <a:off x="609600" y="57340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65D6AA"/>
                </a:solidFill>
                <a:latin typeface="Arial"/>
                <a:ea typeface="Arial"/>
                <a:cs typeface="Arial"/>
              </a:defRPr>
            </a:pPr>
            <a:r>
              <a:rPr sz="2025" b="1">
                <a:solidFill>
                  <a:srgbClr val="65D6AA"/>
                </a:solidFill>
                <a:latin typeface="Arial"/>
                <a:ea typeface="Arial"/>
                <a:cs typeface="Arial"/>
              </a:rPr>
              <a:t>Ảnh giả bị nhận thành thật: trước 380/720, sau 33/720</a:t>
            </a:r>
          </a:p>
        </p:txBody>
      </p:sp>
      <p:sp>
        <p:nvSpPr>
          <p:cNvPr id="6" name="">
            <a:extLst xmlns:a="http://schemas.openxmlformats.org/drawingml/2006/main">
              <a:ext uri="{FF2B5EF4-FFF2-40B4-BE49-F238E27FC236}">
                <a16:creationId xmlns:a16="http://schemas.microsoft.com/office/drawing/2014/main" id="{D8AFAA26-2C33-414C-BD05-7211650FE0BA}"/>
              </a:ext>
            </a:extLst>
          </p:cNvPr>
          <p:cNvSpPr>
            <a:spLocks xmlns:a="http://schemas.openxmlformats.org/drawingml/2006/main" noGrp="1"/>
          </p:cNvSpPr>
          <p:nvPr/>
        </p:nvSpPr>
        <p:spPr>
          <a:xfrm xmlns:a="http://schemas.openxmlformats.org/drawingml/2006/main">
            <a:off x="609600" y="6115050"/>
            <a:ext cx="1047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BBC9DA"/>
                </a:solidFill>
                <a:latin typeface="Arial"/>
                <a:ea typeface="Arial"/>
                <a:cs typeface="Arial"/>
              </a:defRPr>
            </a:pPr>
            <a:r>
              <a:rPr sz="1800" b="0">
                <a:solidFill>
                  <a:srgbClr val="BBC9DA"/>
                </a:solidFill>
                <a:latin typeface="Arial"/>
                <a:ea typeface="Arial"/>
                <a:cs typeface="Arial"/>
              </a:rPr>
              <a:t>Ảnh mặt hợp lệ, chọn nhãn theo điểm cao nhất. P/R/F1 là macro.</a:t>
            </a:r>
          </a:p>
          <a:p xmlns:a="http://schemas.openxmlformats.org/drawingml/2006/main">
            <a:pPr>
              <a:buNone/>
              <a:defRPr sz="1800" b="0">
                <a:solidFill>
                  <a:srgbClr val="BBC9DA"/>
                </a:solidFill>
                <a:latin typeface="Arial"/>
                <a:ea typeface="Arial"/>
                <a:cs typeface="Arial"/>
              </a:defRPr>
            </a:pPr>
            <a:r>
              <a:rPr sz="1800" b="0">
                <a:solidFill>
                  <a:srgbClr val="BBC9DA"/>
                </a:solidFill>
                <a:latin typeface="Arial"/>
                <a:ea typeface="Arial"/>
                <a:cs typeface="Arial"/>
              </a:rPr>
              <a:t>Loss đánh giá trên cùng ảnh gốc của từng tập, không augmentation.</a:t>
            </a:r>
          </a:p>
        </p:txBody>
      </p:sp>
    </p:spTree>
    <p:extLst>
      <p:ext uri="{BB962C8B-B14F-4D97-AF65-F5344CB8AC3E}">
        <p14:creationId xmlns:p14="http://schemas.microsoft.com/office/powerpoint/2010/main" val="1315604507"/>
      </p:ext>
    </p:extLst>
  </p:cSld>
</p:sld>
</file>

<file path=ppt/slides/slide4.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13A75DE-14A8-4CDD-8758-7138E5D9D3A9}"/>
              </a:ext>
            </a:extLst>
          </p:cNvPr>
          <p:cNvSpPr>
            <a:spLocks xmlns:a="http://schemas.openxmlformats.org/drawingml/2006/main" noGrp="1"/>
          </p:cNvSpPr>
          <p:nvPr/>
        </p:nvSpPr>
        <p:spPr>
          <a:xfrm xmlns:a="http://schemas.openxmlformats.org/drawingml/2006/main">
            <a:off x="609600" y="4095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2F5FA"/>
                </a:solidFill>
                <a:latin typeface="Arial"/>
                <a:ea typeface="Arial"/>
                <a:cs typeface="Arial"/>
              </a:defRPr>
            </a:pPr>
            <a:r>
              <a:rPr sz="3300" b="1">
                <a:solidFill>
                  <a:srgbClr val="F2F5FA"/>
                </a:solidFill>
                <a:latin typeface="Arial"/>
                <a:ea typeface="Arial"/>
                <a:cs typeface="Arial"/>
              </a:rPr>
              <a:t>Phát lại pipeline và kiểm tra hồi quy</a:t>
            </a:r>
          </a:p>
        </p:txBody>
      </p:sp>
      <p:sp>
        <p:nvSpPr>
          <p:cNvPr id="2" name="">
            <a:extLst xmlns:a="http://schemas.openxmlformats.org/drawingml/2006/main">
              <a:ext uri="{FF2B5EF4-FFF2-40B4-BE49-F238E27FC236}">
                <a16:creationId xmlns:a16="http://schemas.microsoft.com/office/drawing/2014/main" id="{448C59BE-CE0C-4453-847B-0ED7971F9B2D}"/>
              </a:ext>
            </a:extLst>
          </p:cNvPr>
          <p:cNvSpPr>
            <a:spLocks xmlns:a="http://schemas.openxmlformats.org/drawingml/2006/main" noGrp="1"/>
          </p:cNvSpPr>
          <p:nvPr/>
        </p:nvSpPr>
        <p:spPr>
          <a:xfrm xmlns:a="http://schemas.openxmlformats.org/drawingml/2006/main">
            <a:off x="10991850" y="634365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BC9DA"/>
                </a:solidFill>
                <a:latin typeface="Arial"/>
                <a:ea typeface="Arial"/>
                <a:cs typeface="Arial"/>
              </a:defRPr>
            </a:pPr>
            <a:r>
              <a:rPr sz="1500" b="0">
                <a:solidFill>
                  <a:srgbClr val="BBC9DA"/>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76979EED-F1A9-4AF7-8368-767E1B0B0A25}"/>
              </a:ext>
            </a:extLst>
          </p:cNvPr>
          <p:cNvSpPr>
            <a:spLocks xmlns:a="http://schemas.openxmlformats.org/drawingml/2006/main" noGrp="1"/>
          </p:cNvSpPr>
          <p:nvPr/>
        </p:nvSpPr>
        <p:spPr>
          <a:xfrm xmlns:a="http://schemas.openxmlformats.org/drawingml/2006/main">
            <a:off x="609600" y="1162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78C7FF"/>
                </a:solidFill>
                <a:latin typeface="Arial"/>
                <a:ea typeface="Arial"/>
                <a:cs typeface="Arial"/>
              </a:defRPr>
            </a:pPr>
            <a:r>
              <a:rPr sz="1950" b="0">
                <a:solidFill>
                  <a:srgbClr val="78C7FF"/>
                </a:solidFill>
                <a:latin typeface="Arial"/>
                <a:ea typeface="Arial"/>
                <a:cs typeface="Arial"/>
              </a:rPr>
              <a:t>Phát lại offline 942 khung của 16 video test mới</a:t>
            </a:r>
          </a:p>
        </p:txBody>
      </p:sp>
      <p:graphicFrame>
        <p:nvGraphicFramePr>
          <p:cNvPr id="15" name=""/>
          <p:cNvGraphicFramePr/>
          <p:nvPr/>
        </p:nvGraphicFramePr>
        <p:xfrm>
          <a:off xmlns:a="http://schemas.openxmlformats.org/drawingml/2006/main" x="609600" y="1819275"/>
          <a:ext xmlns:a="http://schemas.openxmlformats.org/drawingml/2006/main" cx="6819900" cy="2362200"/>
        </p:xfrm>
        <a:graphic xmlns:a="http://schemas.openxmlformats.org/drawingml/2006/main">
          <a:graphicData uri="http://schemas.openxmlformats.org/drawingml/2006/table">
            <a:tbl>
              <a:tblPr firstRow="1" bandRow="0"/>
              <a:tblGrid>
                <a:gridCol w="3848100"/>
                <a:gridCol w="1485900"/>
                <a:gridCol w="1485900"/>
              </a:tblGrid>
              <a:tr h="590550">
                <a:tc>
                  <a:txBody>
                    <a:bodyPr>
                      <a:noAutofit/>
                    </a:bodyPr>
                    <a:lstStyle/>
                    <a:p>
                      <a:r>
                        <a:rPr sz="1950" b="1">
                          <a:solidFill>
                            <a:srgbClr val="78C7FF"/>
                          </a:solidFill>
                          <a:latin typeface="Arial"/>
                          <a:ea typeface="Arial"/>
                          <a:cs typeface="Arial"/>
                        </a:rPr>
                        <a:t>Kết quả</a:t>
                      </a:r>
                    </a:p>
                  </a:txBody>
                  <a:tcPr marL="152400" marR="114300" marT="38100" marB="38100" anchor="ctr">
                    <a:solidFill>
                      <a:srgbClr val="203A54"/>
                    </a:solidFill>
                  </a:tcPr>
                </a:tc>
                <a:tc>
                  <a:txBody>
                    <a:bodyPr>
                      <a:noAutofit/>
                    </a:bodyPr>
                    <a:lstStyle/>
                    <a:p>
                      <a:r>
                        <a:rPr sz="1950" b="1">
                          <a:solidFill>
                            <a:srgbClr val="78C7FF"/>
                          </a:solidFill>
                          <a:latin typeface="Arial"/>
                          <a:ea typeface="Arial"/>
                          <a:cs typeface="Arial"/>
                        </a:rPr>
                        <a:t>Trước</a:t>
                      </a:r>
                    </a:p>
                  </a:txBody>
                  <a:tcPr marL="152400" marR="114300" marT="38100" marB="38100" anchor="ctr">
                    <a:solidFill>
                      <a:srgbClr val="203A54"/>
                    </a:solidFill>
                  </a:tcPr>
                </a:tc>
                <a:tc>
                  <a:txBody>
                    <a:bodyPr>
                      <a:noAutofit/>
                    </a:bodyPr>
                    <a:lstStyle/>
                    <a:p>
                      <a:r>
                        <a:rPr sz="1950" b="1">
                          <a:solidFill>
                            <a:srgbClr val="78C7FF"/>
                          </a:solidFill>
                          <a:latin typeface="Arial"/>
                          <a:ea typeface="Arial"/>
                          <a:cs typeface="Arial"/>
                        </a:rPr>
                        <a:t>Sau</a:t>
                      </a:r>
                    </a:p>
                  </a:txBody>
                  <a:tcPr marL="152400" marR="114300" marT="38100" marB="38100" anchor="ctr">
                    <a:solidFill>
                      <a:srgbClr val="203A54"/>
                    </a:solidFill>
                  </a:tcPr>
                </a:tc>
              </a:tr>
              <a:tr h="590550">
                <a:tc>
                  <a:txBody>
                    <a:bodyPr>
                      <a:noAutofit/>
                    </a:bodyPr>
                    <a:lstStyle/>
                    <a:p>
                      <a:r>
                        <a:rPr sz="1950" b="0">
                          <a:solidFill>
                            <a:srgbClr val="F2F5FA"/>
                          </a:solidFill>
                          <a:latin typeface="Arial"/>
                          <a:ea typeface="Arial"/>
                          <a:cs typeface="Arial"/>
                        </a:rPr>
                        <a:t>Kết luận đúng</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484</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741</a:t>
                      </a:r>
                    </a:p>
                  </a:txBody>
                  <a:tcPr marL="152400" marR="114300" marT="38100" marB="38100" anchor="ctr">
                    <a:solidFill>
                      <a:srgbClr val="101B2B"/>
                    </a:solidFill>
                  </a:tcPr>
                </a:tc>
              </a:tr>
              <a:tr h="590550">
                <a:tc>
                  <a:txBody>
                    <a:bodyPr>
                      <a:noAutofit/>
                    </a:bodyPr>
                    <a:lstStyle/>
                    <a:p>
                      <a:r>
                        <a:rPr sz="1950" b="0">
                          <a:solidFill>
                            <a:srgbClr val="F2F5FA"/>
                          </a:solidFill>
                          <a:latin typeface="Arial"/>
                          <a:ea typeface="Arial"/>
                          <a:cs typeface="Arial"/>
                        </a:rPr>
                        <a:t>Kết luận sai</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173</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0</a:t>
                      </a:r>
                    </a:p>
                  </a:txBody>
                  <a:tcPr marL="152400" marR="114300" marT="38100" marB="38100" anchor="ctr">
                    <a:solidFill>
                      <a:srgbClr val="101B2B"/>
                    </a:solidFill>
                  </a:tcPr>
                </a:tc>
              </a:tr>
              <a:tr h="590550">
                <a:tc>
                  <a:txBody>
                    <a:bodyPr>
                      <a:noAutofit/>
                    </a:bodyPr>
                    <a:lstStyle/>
                    <a:p>
                      <a:r>
                        <a:rPr sz="1950" b="0">
                          <a:solidFill>
                            <a:srgbClr val="F2F5FA"/>
                          </a:solidFill>
                          <a:latin typeface="Arial"/>
                          <a:ea typeface="Arial"/>
                          <a:cs typeface="Arial"/>
                        </a:rPr>
                        <a:t>Chưa kết luận / bị loại</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285</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201</a:t>
                      </a:r>
                    </a:p>
                  </a:txBody>
                  <a:tcPr marL="152400" marR="114300" marT="38100" marB="38100" anchor="ctr">
                    <a:solidFill>
                      <a:srgbClr val="101B2B"/>
                    </a:solidFill>
                  </a:tcPr>
                </a:tc>
              </a:tr>
            </a:tbl>
          </a:graphicData>
        </a:graphic>
      </p:graphicFrame>
      <p:sp>
        <p:nvSpPr>
          <p:cNvPr id="5" name="">
            <a:extLst xmlns:a="http://schemas.openxmlformats.org/drawingml/2006/main">
              <a:ext uri="{FF2B5EF4-FFF2-40B4-BE49-F238E27FC236}">
                <a16:creationId xmlns:a16="http://schemas.microsoft.com/office/drawing/2014/main" id="{A93DDA40-5AD9-4900-96CE-38B49EE0EC3B}"/>
              </a:ext>
            </a:extLst>
          </p:cNvPr>
          <p:cNvSpPr>
            <a:spLocks xmlns:a="http://schemas.openxmlformats.org/drawingml/2006/main" noGrp="1"/>
          </p:cNvSpPr>
          <p:nvPr/>
        </p:nvSpPr>
        <p:spPr>
          <a:xfrm xmlns:a="http://schemas.openxmlformats.org/drawingml/2006/main">
            <a:off x="8001000" y="1828800"/>
            <a:ext cx="35814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F2F5FA"/>
                </a:solidFill>
                <a:latin typeface="Arial"/>
                <a:ea typeface="Arial"/>
                <a:cs typeface="Arial"/>
              </a:defRPr>
            </a:pPr>
            <a:r>
              <a:rPr sz="2250" b="1">
                <a:solidFill>
                  <a:srgbClr val="F2F5FA"/>
                </a:solidFill>
                <a:latin typeface="Arial"/>
                <a:ea typeface="Arial"/>
                <a:cs typeface="Arial"/>
              </a:rPr>
              <a:t>Accuracy 415 ảnh</a:t>
            </a:r>
          </a:p>
          <a:p xmlns:a="http://schemas.openxmlformats.org/drawingml/2006/main">
            <a:pPr>
              <a:buNone/>
              <a:defRPr sz="2250" b="1">
                <a:solidFill>
                  <a:srgbClr val="F2F5FA"/>
                </a:solidFill>
                <a:latin typeface="Arial"/>
                <a:ea typeface="Arial"/>
                <a:cs typeface="Arial"/>
              </a:defRPr>
            </a:pPr>
            <a:r>
              <a:rPr sz="2250" b="1">
                <a:solidFill>
                  <a:srgbClr val="F2F5FA"/>
                </a:solidFill>
                <a:latin typeface="Arial"/>
                <a:ea typeface="Arial"/>
                <a:cs typeface="Arial"/>
              </a:rPr>
              <a:t>hồi quy (5 video)</a:t>
            </a:r>
          </a:p>
        </p:txBody>
      </p:sp>
      <p:sp>
        <p:nvSpPr>
          <p:cNvPr id="6" name="">
            <a:extLst xmlns:a="http://schemas.openxmlformats.org/drawingml/2006/main">
              <a:ext uri="{FF2B5EF4-FFF2-40B4-BE49-F238E27FC236}">
                <a16:creationId xmlns:a16="http://schemas.microsoft.com/office/drawing/2014/main" id="{6DA84AEE-F36C-4D98-A8A9-46536ACB2C1D}"/>
              </a:ext>
            </a:extLst>
          </p:cNvPr>
          <p:cNvSpPr>
            <a:spLocks xmlns:a="http://schemas.openxmlformats.org/drawingml/2006/main" noGrp="1"/>
          </p:cNvSpPr>
          <p:nvPr/>
        </p:nvSpPr>
        <p:spPr>
          <a:xfrm xmlns:a="http://schemas.openxmlformats.org/drawingml/2006/main">
            <a:off x="8001000" y="2933700"/>
            <a:ext cx="3581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BBC9DA"/>
                </a:solidFill>
                <a:latin typeface="Arial"/>
                <a:ea typeface="Arial"/>
                <a:cs typeface="Arial"/>
              </a:defRPr>
            </a:pPr>
            <a:r>
              <a:rPr sz="2325" b="0">
                <a:solidFill>
                  <a:srgbClr val="BBC9DA"/>
                </a:solidFill>
                <a:latin typeface="Arial"/>
                <a:ea typeface="Arial"/>
                <a:cs typeface="Arial"/>
              </a:rPr>
              <a:t>Trước: 93,01%</a:t>
            </a:r>
          </a:p>
        </p:txBody>
      </p:sp>
      <p:sp>
        <p:nvSpPr>
          <p:cNvPr id="7" name="">
            <a:extLst xmlns:a="http://schemas.openxmlformats.org/drawingml/2006/main">
              <a:ext uri="{FF2B5EF4-FFF2-40B4-BE49-F238E27FC236}">
                <a16:creationId xmlns:a16="http://schemas.microsoft.com/office/drawing/2014/main" id="{8DF64980-4CB8-44C9-87B9-2421851589B1}"/>
              </a:ext>
            </a:extLst>
          </p:cNvPr>
          <p:cNvSpPr>
            <a:spLocks xmlns:a="http://schemas.openxmlformats.org/drawingml/2006/main" noGrp="1"/>
          </p:cNvSpPr>
          <p:nvPr/>
        </p:nvSpPr>
        <p:spPr>
          <a:xfrm xmlns:a="http://schemas.openxmlformats.org/drawingml/2006/main">
            <a:off x="8001000" y="3543300"/>
            <a:ext cx="3581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FFCB79"/>
                </a:solidFill>
                <a:latin typeface="Arial"/>
                <a:ea typeface="Arial"/>
                <a:cs typeface="Arial"/>
              </a:defRPr>
            </a:pPr>
            <a:r>
              <a:rPr sz="3225" b="1">
                <a:solidFill>
                  <a:srgbClr val="FFCB79"/>
                </a:solidFill>
                <a:latin typeface="Arial"/>
                <a:ea typeface="Arial"/>
                <a:cs typeface="Arial"/>
              </a:rPr>
              <a:t>Sau: 82,65%</a:t>
            </a:r>
          </a:p>
        </p:txBody>
      </p:sp>
      <p:sp>
        <p:nvSpPr>
          <p:cNvPr id="8" name="">
            <a:extLst xmlns:a="http://schemas.openxmlformats.org/drawingml/2006/main">
              <a:ext uri="{FF2B5EF4-FFF2-40B4-BE49-F238E27FC236}">
                <a16:creationId xmlns:a16="http://schemas.microsoft.com/office/drawing/2014/main" id="{CB430666-7C4F-4197-90F5-B88050C58014}"/>
              </a:ext>
            </a:extLst>
          </p:cNvPr>
          <p:cNvSpPr>
            <a:spLocks xmlns:a="http://schemas.openxmlformats.org/drawingml/2006/main" noGrp="1"/>
          </p:cNvSpPr>
          <p:nvPr/>
        </p:nvSpPr>
        <p:spPr>
          <a:xfrm xmlns:a="http://schemas.openxmlformats.org/drawingml/2006/main">
            <a:off x="609600" y="45243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F2F5FA"/>
                </a:solidFill>
                <a:latin typeface="Arial"/>
                <a:ea typeface="Arial"/>
                <a:cs typeface="Arial"/>
              </a:defRPr>
            </a:pPr>
            <a:r>
              <a:rPr sz="2400" b="1">
                <a:solidFill>
                  <a:srgbClr val="F2F5FA"/>
                </a:solidFill>
                <a:latin typeface="Arial"/>
                <a:ea typeface="Arial"/>
                <a:cs typeface="Arial"/>
              </a:rPr>
              <a:t>Phát lại trên video mới có nhiều kết luận đúng hơn.</a:t>
            </a:r>
          </a:p>
          <a:p xmlns:a="http://schemas.openxmlformats.org/drawingml/2006/main">
            <a:pPr>
              <a:buNone/>
              <a:defRPr sz="2400" b="1">
                <a:solidFill>
                  <a:srgbClr val="F2F5FA"/>
                </a:solidFill>
                <a:latin typeface="Arial"/>
                <a:ea typeface="Arial"/>
                <a:cs typeface="Arial"/>
              </a:defRPr>
            </a:pPr>
            <a:r>
              <a:rPr sz="2400" b="1">
                <a:solidFill>
                  <a:srgbClr val="F2F5FA"/>
                </a:solidFill>
                <a:latin typeface="Arial"/>
                <a:ea typeface="Arial"/>
                <a:cs typeface="Arial"/>
              </a:rPr>
              <a:t>Accuracy trên ảnh hồi quy cũ giảm sau lần train này.</a:t>
            </a:r>
          </a:p>
        </p:txBody>
      </p:sp>
      <p:sp>
        <p:nvSpPr>
          <p:cNvPr id="9" name="">
            <a:extLst xmlns:a="http://schemas.openxmlformats.org/drawingml/2006/main">
              <a:ext uri="{FF2B5EF4-FFF2-40B4-BE49-F238E27FC236}">
                <a16:creationId xmlns:a16="http://schemas.microsoft.com/office/drawing/2014/main" id="{C51D9F85-5E65-4190-9645-384983FAE691}"/>
              </a:ext>
            </a:extLst>
          </p:cNvPr>
          <p:cNvSpPr>
            <a:spLocks xmlns:a="http://schemas.openxmlformats.org/drawingml/2006/main" noGrp="1"/>
          </p:cNvSpPr>
          <p:nvPr/>
        </p:nvSpPr>
        <p:spPr>
          <a:xfrm xmlns:a="http://schemas.openxmlformats.org/drawingml/2006/main">
            <a:off x="609600" y="5734050"/>
            <a:ext cx="10477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BBC9DA"/>
                </a:solidFill>
                <a:latin typeface="Arial"/>
                <a:ea typeface="Arial"/>
                <a:cs typeface="Arial"/>
              </a:defRPr>
            </a:pPr>
            <a:r>
              <a:rPr sz="1800" b="0">
                <a:solidFill>
                  <a:srgbClr val="BBC9DA"/>
                </a:solidFill>
                <a:latin typeface="Arial"/>
                <a:ea typeface="Arial"/>
                <a:cs typeface="Arial"/>
              </a:rPr>
              <a:t>Phát lại offline qua JPEG và pipeline, chưa đo tốc độ HTTP/camera.</a:t>
            </a:r>
          </a:p>
          <a:p xmlns:a="http://schemas.openxmlformats.org/drawingml/2006/main">
            <a:pPr>
              <a:buNone/>
              <a:defRPr sz="1800" b="0">
                <a:solidFill>
                  <a:srgbClr val="BBC9DA"/>
                </a:solidFill>
                <a:latin typeface="Arial"/>
                <a:ea typeface="Arial"/>
                <a:cs typeface="Arial"/>
              </a:defRPr>
            </a:pPr>
            <a:r>
              <a:rPr sz="1800" b="0">
                <a:solidFill>
                  <a:srgbClr val="BBC9DA"/>
                </a:solidFill>
                <a:latin typeface="Arial"/>
                <a:ea typeface="Arial"/>
                <a:cs typeface="Arial"/>
              </a:rPr>
              <a:t>201 khung chưa kết luận hoặc bị loại không được tính là đúng.</a:t>
            </a:r>
          </a:p>
        </p:txBody>
      </p:sp>
    </p:spTree>
    <p:extLst>
      <p:ext uri="{BB962C8B-B14F-4D97-AF65-F5344CB8AC3E}">
        <p14:creationId xmlns:p14="http://schemas.microsoft.com/office/powerpoint/2010/main" val="505298868"/>
      </p:ext>
    </p:extLst>
  </p:cSld>
</p:sld>
</file>

<file path=ppt/slides/slide5.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B534EDD-1EAA-4DEF-BB4C-99A5468C6E4A}"/>
              </a:ext>
            </a:extLst>
          </p:cNvPr>
          <p:cNvSpPr>
            <a:spLocks xmlns:a="http://schemas.openxmlformats.org/drawingml/2006/main" noGrp="1"/>
          </p:cNvSpPr>
          <p:nvPr/>
        </p:nvSpPr>
        <p:spPr>
          <a:xfrm xmlns:a="http://schemas.openxmlformats.org/drawingml/2006/main">
            <a:off x="609600" y="4095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2F5FA"/>
                </a:solidFill>
                <a:latin typeface="Arial"/>
                <a:ea typeface="Arial"/>
                <a:cs typeface="Arial"/>
              </a:defRPr>
            </a:pPr>
            <a:r>
              <a:rPr sz="3300" b="1">
                <a:solidFill>
                  <a:srgbClr val="F2F5FA"/>
                </a:solidFill>
                <a:latin typeface="Arial"/>
                <a:ea typeface="Arial"/>
                <a:cs typeface="Arial"/>
              </a:rPr>
              <a:t>Kết luận và bước tiếp theo</a:t>
            </a:r>
          </a:p>
        </p:txBody>
      </p:sp>
      <p:sp>
        <p:nvSpPr>
          <p:cNvPr id="2" name="">
            <a:extLst xmlns:a="http://schemas.openxmlformats.org/drawingml/2006/main">
              <a:ext uri="{FF2B5EF4-FFF2-40B4-BE49-F238E27FC236}">
                <a16:creationId xmlns:a16="http://schemas.microsoft.com/office/drawing/2014/main" id="{40C31FB9-1AFD-4651-8F65-BCBA4DCA304F}"/>
              </a:ext>
            </a:extLst>
          </p:cNvPr>
          <p:cNvSpPr>
            <a:spLocks xmlns:a="http://schemas.openxmlformats.org/drawingml/2006/main" noGrp="1"/>
          </p:cNvSpPr>
          <p:nvPr/>
        </p:nvSpPr>
        <p:spPr>
          <a:xfrm xmlns:a="http://schemas.openxmlformats.org/drawingml/2006/main">
            <a:off x="10991850" y="634365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BC9DA"/>
                </a:solidFill>
                <a:latin typeface="Arial"/>
                <a:ea typeface="Arial"/>
                <a:cs typeface="Arial"/>
              </a:defRPr>
            </a:pPr>
            <a:r>
              <a:rPr sz="1500" b="0">
                <a:solidFill>
                  <a:srgbClr val="BBC9DA"/>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79F24D11-DB31-45F8-A198-CE657F80A1E0}"/>
              </a:ext>
            </a:extLst>
          </p:cNvPr>
          <p:cNvSpPr>
            <a:spLocks xmlns:a="http://schemas.openxmlformats.org/drawingml/2006/main" noGrp="1"/>
          </p:cNvSpPr>
          <p:nvPr/>
        </p:nvSpPr>
        <p:spPr>
          <a:xfrm xmlns:a="http://schemas.openxmlformats.org/drawingml/2006/main">
            <a:off x="609600" y="13144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65D6AA"/>
                </a:solidFill>
                <a:latin typeface="Arial"/>
                <a:ea typeface="Arial"/>
                <a:cs typeface="Arial"/>
              </a:defRPr>
            </a:pPr>
            <a:r>
              <a:rPr sz="2625" b="1">
                <a:solidFill>
                  <a:srgbClr val="65D6AA"/>
                </a:solidFill>
                <a:latin typeface="Arial"/>
                <a:ea typeface="Arial"/>
                <a:cs typeface="Arial"/>
              </a:rPr>
              <a:t>Model cải thiện rõ trên dữ liệu mới.</a:t>
            </a:r>
          </a:p>
          <a:p xmlns:a="http://schemas.openxmlformats.org/drawingml/2006/main">
            <a:pPr>
              <a:buNone/>
              <a:defRPr sz="2625" b="1">
                <a:solidFill>
                  <a:srgbClr val="65D6AA"/>
                </a:solidFill>
                <a:latin typeface="Arial"/>
                <a:ea typeface="Arial"/>
                <a:cs typeface="Arial"/>
              </a:defRPr>
            </a:pPr>
            <a:r>
              <a:rPr sz="2625" b="1">
                <a:solidFill>
                  <a:srgbClr val="65D6AA"/>
                </a:solidFill>
                <a:latin typeface="Arial"/>
                <a:ea typeface="Arial"/>
                <a:cs typeface="Arial"/>
              </a:rPr>
              <a:t>Cần khắc phục suy giảm trên ảnh hồi quy cũ.</a:t>
            </a:r>
          </a:p>
        </p:txBody>
      </p:sp>
      <p:sp>
        <p:nvSpPr>
          <p:cNvPr id="4" name="">
            <a:extLst xmlns:a="http://schemas.openxmlformats.org/drawingml/2006/main">
              <a:ext uri="{FF2B5EF4-FFF2-40B4-BE49-F238E27FC236}">
                <a16:creationId xmlns:a16="http://schemas.microsoft.com/office/drawing/2014/main" id="{1F57CCEF-CBCD-4175-A8FD-71E7EDEFF63C}"/>
              </a:ext>
            </a:extLst>
          </p:cNvPr>
          <p:cNvSpPr>
            <a:spLocks xmlns:a="http://schemas.openxmlformats.org/drawingml/2006/main" noGrp="1"/>
          </p:cNvSpPr>
          <p:nvPr/>
        </p:nvSpPr>
        <p:spPr>
          <a:xfrm xmlns:a="http://schemas.openxmlformats.org/drawingml/2006/main">
            <a:off x="609600" y="2686050"/>
            <a:ext cx="109728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200"/>
              </a:spcAft>
              <a:buChar char="•"/>
              <a:defRPr sz="2100">
                <a:solidFill>
                  <a:srgbClr val="BBC9DA"/>
                </a:solidFill>
                <a:latin typeface="Arial"/>
                <a:ea typeface="Arial"/>
                <a:cs typeface="Arial"/>
              </a:defRPr>
            </a:pPr>
            <a:r>
              <a:rPr sz="2100">
                <a:solidFill>
                  <a:srgbClr val="BBC9DA"/>
                </a:solidFill>
                <a:latin typeface="Arial"/>
                <a:ea typeface="Arial"/>
                <a:cs typeface="Arial"/>
              </a:rPr>
              <a:t>Em giữ model mới làm bản ứng viên, chưa thay model API hiện tại.</a:t>
            </a:r>
          </a:p>
          <a:p xmlns:a="http://schemas.openxmlformats.org/drawingml/2006/main">
            <a:pPr marL="228600" indent="-114300">
              <a:spcAft>
                <a:spcPts val="1200"/>
              </a:spcAft>
              <a:buChar char="•"/>
              <a:defRPr sz="2100">
                <a:solidFill>
                  <a:srgbClr val="BBC9DA"/>
                </a:solidFill>
                <a:latin typeface="Arial"/>
                <a:ea typeface="Arial"/>
                <a:cs typeface="Arial"/>
              </a:defRPr>
            </a:pPr>
            <a:r>
              <a:rPr sz="2100">
                <a:solidFill>
                  <a:srgbClr val="BBC9DA"/>
                </a:solidFill>
                <a:latin typeface="Arial"/>
                <a:ea typeface="Arial"/>
                <a:cs typeface="Arial"/>
              </a:rPr>
              <a:t>Rà số khung/video, cân bằng cũ/mới và bổ sung validation.</a:t>
            </a:r>
          </a:p>
          <a:p xmlns:a="http://schemas.openxmlformats.org/drawingml/2006/main">
            <a:pPr marL="228600" indent="-114300">
              <a:spcAft>
                <a:spcPts val="1200"/>
              </a:spcAft>
              <a:buChar char="•"/>
              <a:defRPr sz="2100">
                <a:solidFill>
                  <a:srgbClr val="BBC9DA"/>
                </a:solidFill>
                <a:latin typeface="Arial"/>
                <a:ea typeface="Arial"/>
                <a:cs typeface="Arial"/>
              </a:defRPr>
            </a:pPr>
            <a:r>
              <a:rPr sz="2100">
                <a:solidFill>
                  <a:srgbClr val="BBC9DA"/>
                </a:solidFill>
                <a:latin typeface="Arial"/>
                <a:ea typeface="Arial"/>
                <a:cs typeface="Arial"/>
              </a:rPr>
              <a:t>Thu thật và giả bằng cùng thiết bị, ghi rõ kiểu giả mạo.</a:t>
            </a:r>
          </a:p>
          <a:p xmlns:a="http://schemas.openxmlformats.org/drawingml/2006/main">
            <a:pPr marL="228600" indent="-114300">
              <a:spcAft>
                <a:spcPts val="1200"/>
              </a:spcAft>
              <a:buChar char="•"/>
              <a:defRPr sz="2100">
                <a:solidFill>
                  <a:srgbClr val="BBC9DA"/>
                </a:solidFill>
                <a:latin typeface="Arial"/>
                <a:ea typeface="Arial"/>
                <a:cs typeface="Arial"/>
              </a:defRPr>
            </a:pPr>
            <a:r>
              <a:rPr sz="2100">
                <a:solidFill>
                  <a:srgbClr val="BBC9DA"/>
                </a:solidFill>
                <a:latin typeface="Arial"/>
                <a:ea typeface="Arial"/>
                <a:cs typeface="Arial"/>
              </a:rPr>
              <a:t>Thêm người test độc lập và thử toàn bộ luồng camera qua API.</a:t>
            </a:r>
          </a:p>
        </p:txBody>
      </p:sp>
      <p:sp>
        <p:nvSpPr>
          <p:cNvPr id="5" name="">
            <a:extLst xmlns:a="http://schemas.openxmlformats.org/drawingml/2006/main">
              <a:ext uri="{FF2B5EF4-FFF2-40B4-BE49-F238E27FC236}">
                <a16:creationId xmlns:a16="http://schemas.microsoft.com/office/drawing/2014/main" id="{74452499-98E2-4830-A0D3-D870DF4FE67A}"/>
              </a:ext>
            </a:extLst>
          </p:cNvPr>
          <p:cNvSpPr>
            <a:spLocks xmlns:a="http://schemas.openxmlformats.org/drawingml/2006/main" noGrp="1"/>
          </p:cNvSpPr>
          <p:nvPr/>
        </p:nvSpPr>
        <p:spPr>
          <a:xfrm xmlns:a="http://schemas.openxmlformats.org/drawingml/2006/main">
            <a:off x="609600" y="5753100"/>
            <a:ext cx="10477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FFCB79"/>
                </a:solidFill>
                <a:latin typeface="Arial"/>
                <a:ea typeface="Arial"/>
                <a:cs typeface="Arial"/>
              </a:defRPr>
            </a:pPr>
            <a:r>
              <a:rPr sz="1875" b="0">
                <a:solidFill>
                  <a:srgbClr val="FFCB79"/>
                </a:solidFill>
                <a:latin typeface="Arial"/>
                <a:ea typeface="Arial"/>
                <a:cs typeface="Arial"/>
              </a:rPr>
              <a:t>Giới hạn: test mới chỉ có 2 mã người.</a:t>
            </a:r>
          </a:p>
          <a:p xmlns:a="http://schemas.openxmlformats.org/drawingml/2006/main">
            <a:pPr>
              <a:buNone/>
              <a:defRPr sz="1875" b="0">
                <a:solidFill>
                  <a:srgbClr val="FFCB79"/>
                </a:solidFill>
                <a:latin typeface="Arial"/>
                <a:ea typeface="Arial"/>
                <a:cs typeface="Arial"/>
              </a:defRPr>
            </a:pPr>
            <a:r>
              <a:rPr sz="1875" b="0">
                <a:solidFill>
                  <a:srgbClr val="FFCB79"/>
                </a:solidFill>
                <a:latin typeface="Arial"/>
                <a:ea typeface="Arial"/>
                <a:cs typeface="Arial"/>
              </a:rPr>
              <a:t>Video thật và giả còn khác cách quay, codec và định dạng.</a:t>
            </a:r>
          </a:p>
        </p:txBody>
      </p:sp>
    </p:spTree>
    <p:extLst>
      <p:ext uri="{BB962C8B-B14F-4D97-AF65-F5344CB8AC3E}">
        <p14:creationId xmlns:p14="http://schemas.microsoft.com/office/powerpoint/2010/main" val="5630673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2026-09-30T13:35:10.3230000Z</dcterms:created>
  <dcterms:modified xsi:type="dcterms:W3CDTF">2026-09-30T13:35:10.3230000Z</dcterms:modified>
</coreProperties>
</file>