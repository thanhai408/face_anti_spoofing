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213f0136fc4a19" /><Relationship Type="http://schemas.openxmlformats.org/officeDocument/2006/relationships/extended-properties" Target="/docProps/app.xml" Id="Rca3d2b16ffd44966" /><Relationship Type="http://schemas.openxmlformats.org/officeDocument/2006/relationships/officeDocument" Target="/ppt/presentation.xml" Id="Rc15b259e7c97471c" /></Relationships>
</file>

<file path=ppt/presentation.xml><?xml version="1.0" encoding="utf-8"?>
<p:presentation xmlns:p="http://schemas.openxmlformats.org/presentationml/2006/main">
  <p:sldMasterIdLst>
    <p:sldMasterId xmlns:r="http://schemas.openxmlformats.org/officeDocument/2006/relationships" id="2147483648" r:id="R638158bb91fc4ce3"/>
  </p:sldMasterIdLst>
  <p:notesMasterIdLst>
    <p:notesMasterId xmlns:r="http://schemas.openxmlformats.org/officeDocument/2006/relationships" r:id="R7dcad933f37d4734"/>
  </p:notesMasterIdLst>
  <p:sldIdLst>
    <p:sldId xmlns:r="http://schemas.openxmlformats.org/officeDocument/2006/relationships" id="256" r:id="R79492075653942ff"/>
    <p:sldId xmlns:r="http://schemas.openxmlformats.org/officeDocument/2006/relationships" id="257" r:id="R2b8781838da84a31"/>
    <p:sldId xmlns:r="http://schemas.openxmlformats.org/officeDocument/2006/relationships" id="258" r:id="R220de723e41845da"/>
    <p:sldId xmlns:r="http://schemas.openxmlformats.org/officeDocument/2006/relationships" id="259" r:id="R561985b329844e1f"/>
    <p:sldId xmlns:r="http://schemas.openxmlformats.org/officeDocument/2006/relationships" id="260" r:id="R5bb730b149b14f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3fb0cd975646a2" /><Relationship Type="http://schemas.openxmlformats.org/officeDocument/2006/relationships/slideMaster" Target="/ppt/slideMasters/slideMaster1.xml" Id="R638158bb91fc4ce3" /><Relationship Type="http://schemas.openxmlformats.org/officeDocument/2006/relationships/notesMaster" Target="/ppt/notesMasters/notesMaster1.xml" Id="R7dcad933f37d4734" /><Relationship Type="http://schemas.openxmlformats.org/officeDocument/2006/relationships/presProps" Target="/ppt/presProps.xml" Id="R33bfbbefb39945d3" /><Relationship Type="http://schemas.openxmlformats.org/officeDocument/2006/relationships/tableStyles" Target="/ppt/tableStyles.xml" Id="Rb8bb54d1ff064703" /><Relationship Type="http://schemas.openxmlformats.org/officeDocument/2006/relationships/slide" Target="/ppt/slides/slide1.xml" Id="R79492075653942ff" /><Relationship Type="http://schemas.openxmlformats.org/officeDocument/2006/relationships/slide" Target="/ppt/slides/slide2.xml" Id="R2b8781838da84a31" /><Relationship Type="http://schemas.openxmlformats.org/officeDocument/2006/relationships/slide" Target="/ppt/slides/slide3.xml" Id="R220de723e41845da" /><Relationship Type="http://schemas.openxmlformats.org/officeDocument/2006/relationships/slide" Target="/ppt/slides/slide4.xml" Id="R561985b329844e1f" /><Relationship Type="http://schemas.openxmlformats.org/officeDocument/2006/relationships/slide" Target="/ppt/slides/slide5.xml" Id="R5bb730b149b14f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d4b337eb9a4d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a78f341c624ba0" /><Relationship Type="http://schemas.openxmlformats.org/officeDocument/2006/relationships/notesMaster" Target="/ppt/notesMasters/notesMaster1.xml" Id="R596156ee17da4a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399795df404753" /><Relationship Type="http://schemas.openxmlformats.org/officeDocument/2006/relationships/notesMaster" Target="/ppt/notesMasters/notesMaster1.xml" Id="R755c3746c0a840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e5141ddda14b3e" /><Relationship Type="http://schemas.openxmlformats.org/officeDocument/2006/relationships/notesMaster" Target="/ppt/notesMasters/notesMaster1.xml" Id="Rf7879bf387f645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381c45509c4632" /><Relationship Type="http://schemas.openxmlformats.org/officeDocument/2006/relationships/notesMaster" Target="/ppt/notesMasters/notesMaster1.xml" Id="Raba6e1e37dbc44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f60777378540ce" /><Relationship Type="http://schemas.openxmlformats.org/officeDocument/2006/relationships/notesMaster" Target="/ppt/notesMasters/notesMaster1.xml" Id="R883f15f6e0e64f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tuần, em tập trung test API chống giả mạo và chia công việc cho ba thành viên. Tuyên phụ trách nghiên cứu bài báo. Thắng phụ trách bổ sung dữ liệu. Thành viên còn lại xây dựng ứng dụng nhận diện danh tính. File báo cáo ứng dụng không nêu rõ họ tên nên phần tổng hợp không tự gán tên. Kết quả test API trước đó là thử cục bộ, chưa đồng nghĩa triển khai công khai hoặc đã tích hợp với ứng dụng của thành viên. Nguồn: yêu cầu trực tiếp của người dùng; docs/API.md và outputs/api-benchmark-20260923.json; ba báo cáo người dùng gửi.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báo cáo của Tuyên, bạn đã tìm hiểu hai bài: Revisiting Face Forgery Detection: From Facial Representation to Forgery Detection và Face Forgery Detection With CLIP-Enhanced Multi-Encoder Distillation. Báo cáo phân tích đặc trưng chuyên biệt cho khuôn mặt, mô hình hai nhánh, độ tin cậy và hướng distillation từ CLIP. Đây là tổng hợp nghiên cứu của thành viên, chưa phải kỹ thuật đã đưa vào API hiện tại. Hai bài tập trung face forgery/deepfake, nên cần đánh giá mức phù hợp với bài toán tấn công bằng ảnh in hoặc video phát lại của nhóm. Không dùng số liệu paper làm kết quả của dự án. Nguồn: C:/Users/ASUS/Downloads/tài liệu đồ án/TUAN2_HE180882_NguyenHoangTuyen.pptx, slide 3–20.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báo cáo của Thắng, bạn bổ sung 56 video từ 8 mã người, nâng dữ liệu từ 16 lên 72 video, từ 4 lên 12 mã người, và từ 1.590 lên 3.894 ảnh crop hợp lệ. Phân chia train/validation/test lần lượt 2.088/739/1.067 ảnh. Bạn báo cáo huấn luyện MobileNetV3-Small và so sánh đối chứng trên hai tập test cố định. Đây là kết quả trong nhánh công việc của Thắng, chưa khẳng định model này đã thay thế model CNN của API hiện tại. Báo cáo nêu giới hạn test có 3 mã người, fake mới đều MOV và real mới đều MP4, chưa có nhãn kiểu tấn công hay mã thiết bị. Các số liệu do thành viên cung cấp, chưa kiểm chứng độc lập bằng dữ liệu và mã nguồn trong lần tổng hợp này. Nguồn: C:/Users/ASUS/Downloads/tài liệu đồ án/Week2-NguyenChienThang-HE186312.pptx,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Báo cáo ứng dụng trình bày pipeline InsightFace với SCRFD để phát hiện và căn chỉnh mặt về 112 x 112, ArcFace để lấy vector 512 chiều, và Linear SVM để phân loại danh tính. Báo cáo cũng mô tả xử lý video bằng OpenCV, suy luận CUDA và gán nhãn Unknown cho người lạ. Không đưa các tuyên bố trên 80 FPS, 98,2% hay khắc phục triệt để overfit vào slide tổng hợp vì chưa có mã nguồn, log và điều kiện thử để xác minh. Nhận diện danh tính là chức năng của ứng dụng này; tích hợp chống giả mạo vẫn là bước tiếp theo. Nguồn: C:/Users/ASUS/Downloads/tài liệu đồ án/HE-THONG-NHAN-DIEN-KHUON-MAT-THOI-GIAN-THUC-TREN-GPU (1).pptx.pptx,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đã hoàn thành phần test API và tổ chức công việc theo ba hướng. Các phần việc hiện được tổng hợp từ báo cáo riêng của thành viên; chưa có bằng chứng đã ghép thành một hệ thống hoàn chỉnh. Bước tiếp theo là kiểm tra dữ liệu/model mới, phối hợp nối API với ứng dụng nhận diện danh tính và kiểm thử toàn bộ luồng trên cùng khung hình. Phần nghiên cứu bài báo cung cấp hướng tham khảo, cần chọn kỹ thuật phù hợp trước khi áp dụng. Nguồn: yêu cầu người dùng, docs/API.md và ba báo cáo đính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0a215aabf54e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eeab541f824622" /><Relationship Type="http://schemas.openxmlformats.org/officeDocument/2006/relationships/slideLayout" Target="/ppt/slideLayouts/slideLayout1.xml" Id="Ra3a46b62534748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a46b62534748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5d0560055947b4" /><Relationship Type="http://schemas.openxmlformats.org/officeDocument/2006/relationships/notesSlide" Target="/ppt/notesSlides/notesSlide1.xml" Id="R6bfb02fcd1b749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a1c83e651a1424b" /><Relationship Type="http://schemas.openxmlformats.org/officeDocument/2006/relationships/notesSlide" Target="/ppt/notesSlides/notesSlide2.xml" Id="R826e8c9071e248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908b78bb8f42ca" /><Relationship Type="http://schemas.openxmlformats.org/officeDocument/2006/relationships/notesSlide" Target="/ppt/notesSlides/notesSlide3.xml" Id="R1844c6dbb9f64f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6191f3d641d4dff" /><Relationship Type="http://schemas.openxmlformats.org/officeDocument/2006/relationships/notesSlide" Target="/ppt/notesSlides/notesSlide4.xml" Id="R65232fad89e043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7e53b5dad84c26" /><Relationship Type="http://schemas.openxmlformats.org/officeDocument/2006/relationships/notesSlide" Target="/ppt/notesSlides/notesSlide5.xml" Id="Rd4842ffe2c024985" /></Relationships>
</file>

<file path=ppt/slides/slide1.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5592945-3F7C-49DF-97F9-C666709AA7AA}"/>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Công việc em thực hiện</a:t>
            </a:r>
          </a:p>
        </p:txBody>
      </p:sp>
      <p:sp>
        <p:nvSpPr>
          <p:cNvPr id="2" name="">
            <a:extLst xmlns:a="http://schemas.openxmlformats.org/drawingml/2006/main">
              <a:ext uri="{FF2B5EF4-FFF2-40B4-BE49-F238E27FC236}">
                <a16:creationId xmlns:a16="http://schemas.microsoft.com/office/drawing/2014/main" id="{844C6F6F-EECC-4C64-A9BE-DE9D72A8AAF1}"/>
              </a:ext>
            </a:extLst>
          </p:cNvPr>
          <p:cNvSpPr>
            <a:spLocks xmlns:a="http://schemas.openxmlformats.org/drawingml/2006/main" noGrp="1"/>
          </p:cNvSpPr>
          <p:nvPr/>
        </p:nvSpPr>
        <p:spPr>
          <a:xfrm xmlns:a="http://schemas.openxmlformats.org/drawingml/2006/main">
            <a:off x="609600" y="13620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C7FF"/>
                </a:solidFill>
                <a:latin typeface="Arial"/>
                <a:ea typeface="Arial"/>
                <a:cs typeface="Arial"/>
              </a:defRPr>
            </a:pPr>
            <a:r>
              <a:rPr sz="1875" b="1">
                <a:solidFill>
                  <a:srgbClr val="78C7FF"/>
                </a:solidFill>
                <a:latin typeface="Arial"/>
                <a:ea typeface="Arial"/>
                <a:cs typeface="Arial"/>
              </a:rPr>
              <a:t>TEST API VÀ PHÂN CÔNG CÔNG VIỆC</a:t>
            </a:r>
          </a:p>
        </p:txBody>
      </p:sp>
      <p:sp>
        <p:nvSpPr>
          <p:cNvPr id="3" name="">
            <a:extLst xmlns:a="http://schemas.openxmlformats.org/drawingml/2006/main">
              <a:ext uri="{FF2B5EF4-FFF2-40B4-BE49-F238E27FC236}">
                <a16:creationId xmlns:a16="http://schemas.microsoft.com/office/drawing/2014/main" id="{2E810F40-16E0-4D7B-8DF7-813B1150D7F9}"/>
              </a:ext>
            </a:extLst>
          </p:cNvPr>
          <p:cNvSpPr>
            <a:spLocks xmlns:a="http://schemas.openxmlformats.org/drawingml/2006/main" noGrp="1"/>
          </p:cNvSpPr>
          <p:nvPr/>
        </p:nvSpPr>
        <p:spPr>
          <a:xfrm xmlns:a="http://schemas.openxmlformats.org/drawingml/2006/main">
            <a:off x="609600" y="6381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6D8"/>
                </a:solidFill>
                <a:latin typeface="Arial"/>
                <a:ea typeface="Arial"/>
                <a:cs typeface="Arial"/>
              </a:defRPr>
            </a:pPr>
            <a:r>
              <a:rPr sz="1275" b="0">
                <a:solidFill>
                  <a:srgbClr val="B7C6D8"/>
                </a:solidFill>
                <a:latin typeface="Arial"/>
                <a:ea typeface="Arial"/>
                <a:cs typeface="Arial"/>
              </a:rPr>
              <a:t>BÁO CÁO TUẦN 2</a:t>
            </a:r>
          </a:p>
        </p:txBody>
      </p:sp>
      <p:sp>
        <p:nvSpPr>
          <p:cNvPr id="4" name="">
            <a:extLst xmlns:a="http://schemas.openxmlformats.org/drawingml/2006/main">
              <a:ext uri="{FF2B5EF4-FFF2-40B4-BE49-F238E27FC236}">
                <a16:creationId xmlns:a16="http://schemas.microsoft.com/office/drawing/2014/main" id="{B42DF417-8A3D-42B5-A892-9C22EA9CB724}"/>
              </a:ext>
            </a:extLst>
          </p:cNvPr>
          <p:cNvSpPr>
            <a:spLocks xmlns:a="http://schemas.openxmlformats.org/drawingml/2006/main" noGrp="1"/>
          </p:cNvSpPr>
          <p:nvPr/>
        </p:nvSpPr>
        <p:spPr>
          <a:xfrm xmlns:a="http://schemas.openxmlformats.org/drawingml/2006/main">
            <a:off x="111442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7C6D8"/>
                </a:solidFill>
                <a:latin typeface="Arial"/>
                <a:ea typeface="Arial"/>
                <a:cs typeface="Arial"/>
              </a:defRPr>
            </a:pPr>
            <a:r>
              <a:rPr sz="1350" b="0">
                <a:solidFill>
                  <a:srgbClr val="B7C6D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5724949-A156-4597-85E2-286329F11645}"/>
              </a:ext>
            </a:extLst>
          </p:cNvPr>
          <p:cNvSpPr>
            <a:spLocks xmlns:a="http://schemas.openxmlformats.org/drawingml/2006/main" noGrp="1"/>
          </p:cNvSpPr>
          <p:nvPr/>
        </p:nvSpPr>
        <p:spPr>
          <a:xfrm xmlns:a="http://schemas.openxmlformats.org/drawingml/2006/main">
            <a:off x="609600" y="2114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Test API chống giả mạo</a:t>
            </a:r>
          </a:p>
        </p:txBody>
      </p:sp>
      <p:sp>
        <p:nvSpPr>
          <p:cNvPr id="6" name="">
            <a:extLst xmlns:a="http://schemas.openxmlformats.org/drawingml/2006/main">
              <a:ext uri="{FF2B5EF4-FFF2-40B4-BE49-F238E27FC236}">
                <a16:creationId xmlns:a16="http://schemas.microsoft.com/office/drawing/2014/main" id="{79174501-425A-4D5C-A266-F91FE33E17C7}"/>
              </a:ext>
            </a:extLst>
          </p:cNvPr>
          <p:cNvSpPr>
            <a:spLocks xmlns:a="http://schemas.openxmlformats.org/drawingml/2006/main" noGrp="1"/>
          </p:cNvSpPr>
          <p:nvPr/>
        </p:nvSpPr>
        <p:spPr>
          <a:xfrm xmlns:a="http://schemas.openxmlformats.org/drawingml/2006/main">
            <a:off x="609600" y="26765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7C6D8"/>
                </a:solidFill>
                <a:latin typeface="Arial"/>
                <a:ea typeface="Arial"/>
                <a:cs typeface="Arial"/>
              </a:defRPr>
            </a:pPr>
            <a:r>
              <a:rPr sz="2100" b="0">
                <a:solidFill>
                  <a:srgbClr val="B7C6D8"/>
                </a:solidFill>
                <a:latin typeface="Arial"/>
                <a:ea typeface="Arial"/>
                <a:cs typeface="Arial"/>
              </a:rPr>
              <a:t>Em chạy thử API trên máy và kiểm tra kết quả phản hồi.</a:t>
            </a:r>
          </a:p>
        </p:txBody>
      </p:sp>
      <p:sp>
        <p:nvSpPr>
          <p:cNvPr id="7" name="">
            <a:extLst xmlns:a="http://schemas.openxmlformats.org/drawingml/2006/main">
              <a:ext uri="{FF2B5EF4-FFF2-40B4-BE49-F238E27FC236}">
                <a16:creationId xmlns:a16="http://schemas.microsoft.com/office/drawing/2014/main" id="{74DD8AAD-D78A-4DE7-A149-6485BE21EAC8}"/>
              </a:ext>
            </a:extLst>
          </p:cNvPr>
          <p:cNvSpPr>
            <a:spLocks xmlns:a="http://schemas.openxmlformats.org/drawingml/2006/main" noGrp="1"/>
          </p:cNvSpPr>
          <p:nvPr/>
        </p:nvSpPr>
        <p:spPr>
          <a:xfrm xmlns:a="http://schemas.openxmlformats.org/drawingml/2006/main">
            <a:off x="609600" y="37147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Em phân công 3 thành viên</a:t>
            </a:r>
          </a:p>
        </p:txBody>
      </p:sp>
      <p:sp>
        <p:nvSpPr>
          <p:cNvPr id="8" name="">
            <a:extLst xmlns:a="http://schemas.openxmlformats.org/drawingml/2006/main">
              <a:ext uri="{FF2B5EF4-FFF2-40B4-BE49-F238E27FC236}">
                <a16:creationId xmlns:a16="http://schemas.microsoft.com/office/drawing/2014/main" id="{95E91EAF-93E1-4F39-9142-5D8C0B2D1FDA}"/>
              </a:ext>
            </a:extLst>
          </p:cNvPr>
          <p:cNvSpPr>
            <a:spLocks xmlns:a="http://schemas.openxmlformats.org/drawingml/2006/main" noGrp="1"/>
          </p:cNvSpPr>
          <p:nvPr/>
        </p:nvSpPr>
        <p:spPr>
          <a:xfrm xmlns:a="http://schemas.openxmlformats.org/drawingml/2006/main">
            <a:off x="609600" y="4391025"/>
            <a:ext cx="4333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78C7FF"/>
                </a:solidFill>
                <a:latin typeface="Arial"/>
                <a:ea typeface="Arial"/>
                <a:cs typeface="Arial"/>
              </a:defRPr>
            </a:pPr>
            <a:r>
              <a:rPr sz="2100" b="1">
                <a:solidFill>
                  <a:srgbClr val="78C7FF"/>
                </a:solidFill>
                <a:latin typeface="Arial"/>
                <a:ea typeface="Arial"/>
                <a:cs typeface="Arial"/>
              </a:rPr>
              <a:t>Nguyễn Hoàng Tuyên</a:t>
            </a:r>
          </a:p>
        </p:txBody>
      </p:sp>
      <p:sp>
        <p:nvSpPr>
          <p:cNvPr id="9" name="">
            <a:extLst xmlns:a="http://schemas.openxmlformats.org/drawingml/2006/main">
              <a:ext uri="{FF2B5EF4-FFF2-40B4-BE49-F238E27FC236}">
                <a16:creationId xmlns:a16="http://schemas.microsoft.com/office/drawing/2014/main" id="{6E7698AB-2264-4E03-8CCC-F4394367C5AA}"/>
              </a:ext>
            </a:extLst>
          </p:cNvPr>
          <p:cNvSpPr>
            <a:spLocks xmlns:a="http://schemas.openxmlformats.org/drawingml/2006/main" noGrp="1"/>
          </p:cNvSpPr>
          <p:nvPr/>
        </p:nvSpPr>
        <p:spPr>
          <a:xfrm xmlns:a="http://schemas.openxmlformats.org/drawingml/2006/main">
            <a:off x="5210175" y="4391025"/>
            <a:ext cx="6372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2F5FA"/>
                </a:solidFill>
                <a:latin typeface="Arial"/>
                <a:ea typeface="Arial"/>
                <a:cs typeface="Arial"/>
              </a:defRPr>
            </a:pPr>
            <a:r>
              <a:rPr sz="2100" b="0">
                <a:solidFill>
                  <a:srgbClr val="F2F5FA"/>
                </a:solidFill>
                <a:latin typeface="Arial"/>
                <a:ea typeface="Arial"/>
                <a:cs typeface="Arial"/>
              </a:rPr>
              <a:t>Tìm và tổng hợp các bài báo.</a:t>
            </a:r>
          </a:p>
        </p:txBody>
      </p:sp>
      <p:sp>
        <p:nvSpPr>
          <p:cNvPr id="10" name="">
            <a:extLst xmlns:a="http://schemas.openxmlformats.org/drawingml/2006/main">
              <a:ext uri="{FF2B5EF4-FFF2-40B4-BE49-F238E27FC236}">
                <a16:creationId xmlns:a16="http://schemas.microsoft.com/office/drawing/2014/main" id="{6206F35E-A21D-4AC8-878F-2E42F30953DF}"/>
              </a:ext>
            </a:extLst>
          </p:cNvPr>
          <p:cNvSpPr>
            <a:spLocks xmlns:a="http://schemas.openxmlformats.org/drawingml/2006/main" noGrp="1"/>
          </p:cNvSpPr>
          <p:nvPr/>
        </p:nvSpPr>
        <p:spPr>
          <a:xfrm xmlns:a="http://schemas.openxmlformats.org/drawingml/2006/main">
            <a:off x="609600" y="4933950"/>
            <a:ext cx="4333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78C7FF"/>
                </a:solidFill>
                <a:latin typeface="Arial"/>
                <a:ea typeface="Arial"/>
                <a:cs typeface="Arial"/>
              </a:defRPr>
            </a:pPr>
            <a:r>
              <a:rPr sz="2100" b="1">
                <a:solidFill>
                  <a:srgbClr val="78C7FF"/>
                </a:solidFill>
                <a:latin typeface="Arial"/>
                <a:ea typeface="Arial"/>
                <a:cs typeface="Arial"/>
              </a:rPr>
              <a:t>Nguyễn Chiến Thắng</a:t>
            </a:r>
          </a:p>
        </p:txBody>
      </p:sp>
      <p:sp>
        <p:nvSpPr>
          <p:cNvPr id="11" name="">
            <a:extLst xmlns:a="http://schemas.openxmlformats.org/drawingml/2006/main">
              <a:ext uri="{FF2B5EF4-FFF2-40B4-BE49-F238E27FC236}">
                <a16:creationId xmlns:a16="http://schemas.microsoft.com/office/drawing/2014/main" id="{58619E6F-D063-4CF3-9E07-61A0CF7C44AF}"/>
              </a:ext>
            </a:extLst>
          </p:cNvPr>
          <p:cNvSpPr>
            <a:spLocks xmlns:a="http://schemas.openxmlformats.org/drawingml/2006/main" noGrp="1"/>
          </p:cNvSpPr>
          <p:nvPr/>
        </p:nvSpPr>
        <p:spPr>
          <a:xfrm xmlns:a="http://schemas.openxmlformats.org/drawingml/2006/main">
            <a:off x="5210175" y="4933950"/>
            <a:ext cx="6372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2F5FA"/>
                </a:solidFill>
                <a:latin typeface="Arial"/>
                <a:ea typeface="Arial"/>
                <a:cs typeface="Arial"/>
              </a:defRPr>
            </a:pPr>
            <a:r>
              <a:rPr sz="2100" b="0">
                <a:solidFill>
                  <a:srgbClr val="F2F5FA"/>
                </a:solidFill>
                <a:latin typeface="Arial"/>
                <a:ea typeface="Arial"/>
                <a:cs typeface="Arial"/>
              </a:rPr>
              <a:t>Tìm thêm dữ liệu, huấn luyện lại.</a:t>
            </a:r>
          </a:p>
        </p:txBody>
      </p:sp>
      <p:sp>
        <p:nvSpPr>
          <p:cNvPr id="12" name="">
            <a:extLst xmlns:a="http://schemas.openxmlformats.org/drawingml/2006/main">
              <a:ext uri="{FF2B5EF4-FFF2-40B4-BE49-F238E27FC236}">
                <a16:creationId xmlns:a16="http://schemas.microsoft.com/office/drawing/2014/main" id="{F2A80CE2-3AAF-448A-A274-14FF5651E308}"/>
              </a:ext>
            </a:extLst>
          </p:cNvPr>
          <p:cNvSpPr>
            <a:spLocks xmlns:a="http://schemas.openxmlformats.org/drawingml/2006/main" noGrp="1"/>
          </p:cNvSpPr>
          <p:nvPr/>
        </p:nvSpPr>
        <p:spPr>
          <a:xfrm xmlns:a="http://schemas.openxmlformats.org/drawingml/2006/main">
            <a:off x="609600" y="5476875"/>
            <a:ext cx="4333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78C7FF"/>
                </a:solidFill>
                <a:latin typeface="Arial"/>
                <a:ea typeface="Arial"/>
                <a:cs typeface="Arial"/>
              </a:defRPr>
            </a:pPr>
            <a:r>
              <a:rPr sz="2100" b="1">
                <a:solidFill>
                  <a:srgbClr val="78C7FF"/>
                </a:solidFill>
                <a:latin typeface="Arial"/>
                <a:ea typeface="Arial"/>
                <a:cs typeface="Arial"/>
              </a:rPr>
              <a:t>Thành viên làm ứng dụng</a:t>
            </a:r>
          </a:p>
        </p:txBody>
      </p:sp>
      <p:sp>
        <p:nvSpPr>
          <p:cNvPr id="13" name="">
            <a:extLst xmlns:a="http://schemas.openxmlformats.org/drawingml/2006/main">
              <a:ext uri="{FF2B5EF4-FFF2-40B4-BE49-F238E27FC236}">
                <a16:creationId xmlns:a16="http://schemas.microsoft.com/office/drawing/2014/main" id="{01BBCBD5-C838-4168-8330-869FF4F57D68}"/>
              </a:ext>
            </a:extLst>
          </p:cNvPr>
          <p:cNvSpPr>
            <a:spLocks xmlns:a="http://schemas.openxmlformats.org/drawingml/2006/main" noGrp="1"/>
          </p:cNvSpPr>
          <p:nvPr/>
        </p:nvSpPr>
        <p:spPr>
          <a:xfrm xmlns:a="http://schemas.openxmlformats.org/drawingml/2006/main">
            <a:off x="5210175" y="5476875"/>
            <a:ext cx="6372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2F5FA"/>
                </a:solidFill>
                <a:latin typeface="Arial"/>
                <a:ea typeface="Arial"/>
                <a:cs typeface="Arial"/>
              </a:defRPr>
            </a:pPr>
            <a:r>
              <a:rPr sz="2100" b="0">
                <a:solidFill>
                  <a:srgbClr val="F2F5FA"/>
                </a:solidFill>
                <a:latin typeface="Arial"/>
                <a:ea typeface="Arial"/>
                <a:cs typeface="Arial"/>
              </a:rPr>
              <a:t>Xây dựng ứng dụng nhận diện khuôn mặt.</a:t>
            </a:r>
          </a:p>
        </p:txBody>
      </p:sp>
    </p:spTree>
    <p:extLst>
      <p:ext uri="{BB962C8B-B14F-4D97-AF65-F5344CB8AC3E}">
        <p14:creationId xmlns:p14="http://schemas.microsoft.com/office/powerpoint/2010/main" val="49459557"/>
      </p:ext>
    </p:extLst>
  </p:cSld>
</p:sld>
</file>

<file path=ppt/slides/slide2.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0174EEB-8842-47FE-A832-444EF8BD3C74}"/>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Tìm hiểu các bài báo</a:t>
            </a:r>
          </a:p>
        </p:txBody>
      </p:sp>
      <p:sp>
        <p:nvSpPr>
          <p:cNvPr id="2" name="">
            <a:extLst xmlns:a="http://schemas.openxmlformats.org/drawingml/2006/main">
              <a:ext uri="{FF2B5EF4-FFF2-40B4-BE49-F238E27FC236}">
                <a16:creationId xmlns:a16="http://schemas.microsoft.com/office/drawing/2014/main" id="{6A5B6EE2-4E56-4C98-AF63-3B23B0676332}"/>
              </a:ext>
            </a:extLst>
          </p:cNvPr>
          <p:cNvSpPr>
            <a:spLocks xmlns:a="http://schemas.openxmlformats.org/drawingml/2006/main" noGrp="1"/>
          </p:cNvSpPr>
          <p:nvPr/>
        </p:nvSpPr>
        <p:spPr>
          <a:xfrm xmlns:a="http://schemas.openxmlformats.org/drawingml/2006/main">
            <a:off x="609600" y="13620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C7FF"/>
                </a:solidFill>
                <a:latin typeface="Arial"/>
                <a:ea typeface="Arial"/>
                <a:cs typeface="Arial"/>
              </a:defRPr>
            </a:pPr>
            <a:r>
              <a:rPr sz="1875" b="1">
                <a:solidFill>
                  <a:srgbClr val="78C7FF"/>
                </a:solidFill>
                <a:latin typeface="Arial"/>
                <a:ea typeface="Arial"/>
                <a:cs typeface="Arial"/>
              </a:rPr>
              <a:t>NGUYỄN HOÀNG TUYÊN</a:t>
            </a:r>
          </a:p>
        </p:txBody>
      </p:sp>
      <p:sp>
        <p:nvSpPr>
          <p:cNvPr id="3" name="">
            <a:extLst xmlns:a="http://schemas.openxmlformats.org/drawingml/2006/main">
              <a:ext uri="{FF2B5EF4-FFF2-40B4-BE49-F238E27FC236}">
                <a16:creationId xmlns:a16="http://schemas.microsoft.com/office/drawing/2014/main" id="{F910BF0A-F14B-40C9-9458-5C339475C75A}"/>
              </a:ext>
            </a:extLst>
          </p:cNvPr>
          <p:cNvSpPr>
            <a:spLocks xmlns:a="http://schemas.openxmlformats.org/drawingml/2006/main" noGrp="1"/>
          </p:cNvSpPr>
          <p:nvPr/>
        </p:nvSpPr>
        <p:spPr>
          <a:xfrm xmlns:a="http://schemas.openxmlformats.org/drawingml/2006/main">
            <a:off x="609600" y="6381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6D8"/>
                </a:solidFill>
                <a:latin typeface="Arial"/>
                <a:ea typeface="Arial"/>
                <a:cs typeface="Arial"/>
              </a:defRPr>
            </a:pPr>
            <a:r>
              <a:rPr sz="1275" b="0">
                <a:solidFill>
                  <a:srgbClr val="B7C6D8"/>
                </a:solidFill>
                <a:latin typeface="Arial"/>
                <a:ea typeface="Arial"/>
                <a:cs typeface="Arial"/>
              </a:rPr>
              <a:t>BÁO CÁO TUẦN 2</a:t>
            </a:r>
          </a:p>
        </p:txBody>
      </p:sp>
      <p:sp>
        <p:nvSpPr>
          <p:cNvPr id="4" name="">
            <a:extLst xmlns:a="http://schemas.openxmlformats.org/drawingml/2006/main">
              <a:ext uri="{FF2B5EF4-FFF2-40B4-BE49-F238E27FC236}">
                <a16:creationId xmlns:a16="http://schemas.microsoft.com/office/drawing/2014/main" id="{3CFD32A0-EA22-405B-B8CB-34E55FFB9CB0}"/>
              </a:ext>
            </a:extLst>
          </p:cNvPr>
          <p:cNvSpPr>
            <a:spLocks xmlns:a="http://schemas.openxmlformats.org/drawingml/2006/main" noGrp="1"/>
          </p:cNvSpPr>
          <p:nvPr/>
        </p:nvSpPr>
        <p:spPr>
          <a:xfrm xmlns:a="http://schemas.openxmlformats.org/drawingml/2006/main">
            <a:off x="111442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7C6D8"/>
                </a:solidFill>
                <a:latin typeface="Arial"/>
                <a:ea typeface="Arial"/>
                <a:cs typeface="Arial"/>
              </a:defRPr>
            </a:pPr>
            <a:r>
              <a:rPr sz="1350" b="0">
                <a:solidFill>
                  <a:srgbClr val="B7C6D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8EAD9721-F0B0-4D7E-86F0-CFD39C4B9431}"/>
              </a:ext>
            </a:extLst>
          </p:cNvPr>
          <p:cNvSpPr>
            <a:spLocks xmlns:a="http://schemas.openxmlformats.org/drawingml/2006/main" noGrp="1"/>
          </p:cNvSpPr>
          <p:nvPr/>
        </p:nvSpPr>
        <p:spPr>
          <a:xfrm xmlns:a="http://schemas.openxmlformats.org/drawingml/2006/main">
            <a:off x="609600" y="21336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Bài 1: Học đặc trưng chuyên biệt cho khuôn mặt</a:t>
            </a:r>
          </a:p>
        </p:txBody>
      </p:sp>
      <p:sp>
        <p:nvSpPr>
          <p:cNvPr id="6" name="">
            <a:extLst xmlns:a="http://schemas.openxmlformats.org/drawingml/2006/main">
              <a:ext uri="{FF2B5EF4-FFF2-40B4-BE49-F238E27FC236}">
                <a16:creationId xmlns:a16="http://schemas.microsoft.com/office/drawing/2014/main" id="{920809A9-FD51-4B0F-995A-46EB340C1F71}"/>
              </a:ext>
            </a:extLst>
          </p:cNvPr>
          <p:cNvSpPr>
            <a:spLocks xmlns:a="http://schemas.openxmlformats.org/drawingml/2006/main" noGrp="1"/>
          </p:cNvSpPr>
          <p:nvPr/>
        </p:nvSpPr>
        <p:spPr>
          <a:xfrm xmlns:a="http://schemas.openxmlformats.org/drawingml/2006/main">
            <a:off x="609600" y="26955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7C6D8"/>
                </a:solidFill>
                <a:latin typeface="Arial"/>
                <a:ea typeface="Arial"/>
                <a:cs typeface="Arial"/>
              </a:defRPr>
            </a:pPr>
            <a:r>
              <a:rPr sz="2100" b="0">
                <a:solidFill>
                  <a:srgbClr val="B7C6D8"/>
                </a:solidFill>
                <a:latin typeface="Arial"/>
                <a:ea typeface="Arial"/>
                <a:cs typeface="Arial"/>
              </a:rPr>
              <a:t>Tìm hiểu cách học từ mặt thật và lựa chọn ngưỡng phân loại.</a:t>
            </a:r>
          </a:p>
        </p:txBody>
      </p:sp>
      <p:sp>
        <p:nvSpPr>
          <p:cNvPr id="7" name="">
            <a:extLst xmlns:a="http://schemas.openxmlformats.org/drawingml/2006/main">
              <a:ext uri="{FF2B5EF4-FFF2-40B4-BE49-F238E27FC236}">
                <a16:creationId xmlns:a16="http://schemas.microsoft.com/office/drawing/2014/main" id="{2A498917-76DD-490D-AC2D-B0900835D349}"/>
              </a:ext>
            </a:extLst>
          </p:cNvPr>
          <p:cNvSpPr>
            <a:spLocks xmlns:a="http://schemas.openxmlformats.org/drawingml/2006/main" noGrp="1"/>
          </p:cNvSpPr>
          <p:nvPr/>
        </p:nvSpPr>
        <p:spPr>
          <a:xfrm xmlns:a="http://schemas.openxmlformats.org/drawingml/2006/main">
            <a:off x="609600" y="37623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Bài 2: Truyền kiến thức từ CLIP sang model nhận diện</a:t>
            </a:r>
          </a:p>
        </p:txBody>
      </p:sp>
      <p:sp>
        <p:nvSpPr>
          <p:cNvPr id="8" name="">
            <a:extLst xmlns:a="http://schemas.openxmlformats.org/drawingml/2006/main">
              <a:ext uri="{FF2B5EF4-FFF2-40B4-BE49-F238E27FC236}">
                <a16:creationId xmlns:a16="http://schemas.microsoft.com/office/drawing/2014/main" id="{216A2899-1822-4996-A61E-4230F530C8F8}"/>
              </a:ext>
            </a:extLst>
          </p:cNvPr>
          <p:cNvSpPr>
            <a:spLocks xmlns:a="http://schemas.openxmlformats.org/drawingml/2006/main" noGrp="1"/>
          </p:cNvSpPr>
          <p:nvPr/>
        </p:nvSpPr>
        <p:spPr>
          <a:xfrm xmlns:a="http://schemas.openxmlformats.org/drawingml/2006/main">
            <a:off x="609600" y="43243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7C6D8"/>
                </a:solidFill>
                <a:latin typeface="Arial"/>
                <a:ea typeface="Arial"/>
                <a:cs typeface="Arial"/>
              </a:defRPr>
            </a:pPr>
            <a:r>
              <a:rPr sz="2100" b="0">
                <a:solidFill>
                  <a:srgbClr val="B7C6D8"/>
                </a:solidFill>
                <a:latin typeface="Arial"/>
                <a:ea typeface="Arial"/>
                <a:cs typeface="Arial"/>
              </a:rPr>
              <a:t>Tìm hiểu cách mô hình thầy hướng dẫn mô hình trò học dấu hiệu giả mạo.</a:t>
            </a:r>
          </a:p>
        </p:txBody>
      </p:sp>
      <p:sp>
        <p:nvSpPr>
          <p:cNvPr id="9" name="">
            <a:extLst xmlns:a="http://schemas.openxmlformats.org/drawingml/2006/main">
              <a:ext uri="{FF2B5EF4-FFF2-40B4-BE49-F238E27FC236}">
                <a16:creationId xmlns:a16="http://schemas.microsoft.com/office/drawing/2014/main" id="{430E3A84-EA7A-49ED-9997-BCB4A5E4F412}"/>
              </a:ext>
            </a:extLst>
          </p:cNvPr>
          <p:cNvSpPr>
            <a:spLocks xmlns:a="http://schemas.openxmlformats.org/drawingml/2006/main" noGrp="1"/>
          </p:cNvSpPr>
          <p:nvPr/>
        </p:nvSpPr>
        <p:spPr>
          <a:xfrm xmlns:a="http://schemas.openxmlformats.org/drawingml/2006/main">
            <a:off x="609600" y="55435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5D6AA"/>
                </a:solidFill>
                <a:latin typeface="Arial"/>
                <a:ea typeface="Arial"/>
                <a:cs typeface="Arial"/>
              </a:defRPr>
            </a:pPr>
            <a:r>
              <a:rPr sz="2175" b="1">
                <a:solidFill>
                  <a:srgbClr val="65D6AA"/>
                </a:solidFill>
                <a:latin typeface="Arial"/>
                <a:ea typeface="Arial"/>
                <a:cs typeface="Arial"/>
              </a:rPr>
              <a:t>Kết quả: tổng hợp 2 bài báo và đề xuất hướng áp dụng.</a:t>
            </a:r>
          </a:p>
        </p:txBody>
      </p:sp>
    </p:spTree>
    <p:extLst>
      <p:ext uri="{BB962C8B-B14F-4D97-AF65-F5344CB8AC3E}">
        <p14:creationId xmlns:p14="http://schemas.microsoft.com/office/powerpoint/2010/main" val="771925919"/>
      </p:ext>
    </p:extLst>
  </p:cSld>
</p:sld>
</file>

<file path=ppt/slides/slide3.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9ED8D7A-2491-4930-B755-3C9A2D6A2C18}"/>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Bổ sung dữ liệu và huấn luyện lại</a:t>
            </a:r>
          </a:p>
        </p:txBody>
      </p:sp>
      <p:sp>
        <p:nvSpPr>
          <p:cNvPr id="2" name="">
            <a:extLst xmlns:a="http://schemas.openxmlformats.org/drawingml/2006/main">
              <a:ext uri="{FF2B5EF4-FFF2-40B4-BE49-F238E27FC236}">
                <a16:creationId xmlns:a16="http://schemas.microsoft.com/office/drawing/2014/main" id="{AFFB902B-BC6A-4363-9FA3-6FB1A09517B6}"/>
              </a:ext>
            </a:extLst>
          </p:cNvPr>
          <p:cNvSpPr>
            <a:spLocks xmlns:a="http://schemas.openxmlformats.org/drawingml/2006/main" noGrp="1"/>
          </p:cNvSpPr>
          <p:nvPr/>
        </p:nvSpPr>
        <p:spPr>
          <a:xfrm xmlns:a="http://schemas.openxmlformats.org/drawingml/2006/main">
            <a:off x="609600" y="13620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C7FF"/>
                </a:solidFill>
                <a:latin typeface="Arial"/>
                <a:ea typeface="Arial"/>
                <a:cs typeface="Arial"/>
              </a:defRPr>
            </a:pPr>
            <a:r>
              <a:rPr sz="1875" b="1">
                <a:solidFill>
                  <a:srgbClr val="78C7FF"/>
                </a:solidFill>
                <a:latin typeface="Arial"/>
                <a:ea typeface="Arial"/>
                <a:cs typeface="Arial"/>
              </a:rPr>
              <a:t>NGUYỄN CHIẾN THẮNG</a:t>
            </a:r>
          </a:p>
        </p:txBody>
      </p:sp>
      <p:sp>
        <p:nvSpPr>
          <p:cNvPr id="3" name="">
            <a:extLst xmlns:a="http://schemas.openxmlformats.org/drawingml/2006/main">
              <a:ext uri="{FF2B5EF4-FFF2-40B4-BE49-F238E27FC236}">
                <a16:creationId xmlns:a16="http://schemas.microsoft.com/office/drawing/2014/main" id="{E56F70D0-D8DC-4C49-8625-93CFC2CA62D1}"/>
              </a:ext>
            </a:extLst>
          </p:cNvPr>
          <p:cNvSpPr>
            <a:spLocks xmlns:a="http://schemas.openxmlformats.org/drawingml/2006/main" noGrp="1"/>
          </p:cNvSpPr>
          <p:nvPr/>
        </p:nvSpPr>
        <p:spPr>
          <a:xfrm xmlns:a="http://schemas.openxmlformats.org/drawingml/2006/main">
            <a:off x="609600" y="6381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6D8"/>
                </a:solidFill>
                <a:latin typeface="Arial"/>
                <a:ea typeface="Arial"/>
                <a:cs typeface="Arial"/>
              </a:defRPr>
            </a:pPr>
            <a:r>
              <a:rPr sz="1275" b="0">
                <a:solidFill>
                  <a:srgbClr val="B7C6D8"/>
                </a:solidFill>
                <a:latin typeface="Arial"/>
                <a:ea typeface="Arial"/>
                <a:cs typeface="Arial"/>
              </a:rPr>
              <a:t>BÁO CÁO TUẦN 2</a:t>
            </a:r>
          </a:p>
        </p:txBody>
      </p:sp>
      <p:sp>
        <p:nvSpPr>
          <p:cNvPr id="4" name="">
            <a:extLst xmlns:a="http://schemas.openxmlformats.org/drawingml/2006/main">
              <a:ext uri="{FF2B5EF4-FFF2-40B4-BE49-F238E27FC236}">
                <a16:creationId xmlns:a16="http://schemas.microsoft.com/office/drawing/2014/main" id="{1BA66C34-A62A-452F-808A-16A6872A15FF}"/>
              </a:ext>
            </a:extLst>
          </p:cNvPr>
          <p:cNvSpPr>
            <a:spLocks xmlns:a="http://schemas.openxmlformats.org/drawingml/2006/main" noGrp="1"/>
          </p:cNvSpPr>
          <p:nvPr/>
        </p:nvSpPr>
        <p:spPr>
          <a:xfrm xmlns:a="http://schemas.openxmlformats.org/drawingml/2006/main">
            <a:off x="111442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7C6D8"/>
                </a:solidFill>
                <a:latin typeface="Arial"/>
                <a:ea typeface="Arial"/>
                <a:cs typeface="Arial"/>
              </a:defRPr>
            </a:pPr>
            <a:r>
              <a:rPr sz="1350" b="0">
                <a:solidFill>
                  <a:srgbClr val="B7C6D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3C0A8BD1-06F4-4918-8EDE-8095D6D2A9BB}"/>
              </a:ext>
            </a:extLst>
          </p:cNvPr>
          <p:cNvSpPr>
            <a:spLocks xmlns:a="http://schemas.openxmlformats.org/drawingml/2006/main" noGrp="1"/>
          </p:cNvSpPr>
          <p:nvPr/>
        </p:nvSpPr>
        <p:spPr>
          <a:xfrm xmlns:a="http://schemas.openxmlformats.org/drawingml/2006/main">
            <a:off x="609600" y="2114550"/>
            <a:ext cx="561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65D6AA"/>
                </a:solidFill>
                <a:latin typeface="Arial"/>
                <a:ea typeface="Arial"/>
                <a:cs typeface="Arial"/>
              </a:defRPr>
            </a:pPr>
            <a:r>
              <a:rPr sz="4275" b="1">
                <a:solidFill>
                  <a:srgbClr val="65D6AA"/>
                </a:solidFill>
                <a:latin typeface="Arial"/>
                <a:ea typeface="Arial"/>
                <a:cs typeface="Arial"/>
              </a:rPr>
              <a:t>56 video mới</a:t>
            </a:r>
          </a:p>
        </p:txBody>
      </p:sp>
      <p:sp>
        <p:nvSpPr>
          <p:cNvPr id="6" name="">
            <a:extLst xmlns:a="http://schemas.openxmlformats.org/drawingml/2006/main">
              <a:ext uri="{FF2B5EF4-FFF2-40B4-BE49-F238E27FC236}">
                <a16:creationId xmlns:a16="http://schemas.microsoft.com/office/drawing/2014/main" id="{80692B9C-8AD1-490F-A9AB-60C3FBEE5871}"/>
              </a:ext>
            </a:extLst>
          </p:cNvPr>
          <p:cNvSpPr>
            <a:spLocks xmlns:a="http://schemas.openxmlformats.org/drawingml/2006/main" noGrp="1"/>
          </p:cNvSpPr>
          <p:nvPr/>
        </p:nvSpPr>
        <p:spPr>
          <a:xfrm xmlns:a="http://schemas.openxmlformats.org/drawingml/2006/main">
            <a:off x="6572250" y="2266950"/>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78C7FF"/>
                </a:solidFill>
                <a:latin typeface="Arial"/>
                <a:ea typeface="Arial"/>
                <a:cs typeface="Arial"/>
              </a:defRPr>
            </a:pPr>
            <a:r>
              <a:rPr sz="2700" b="1">
                <a:solidFill>
                  <a:srgbClr val="78C7FF"/>
                </a:solidFill>
                <a:latin typeface="Arial"/>
                <a:ea typeface="Arial"/>
                <a:cs typeface="Arial"/>
              </a:rPr>
              <a:t>Từ 8 mã người mới</a:t>
            </a:r>
          </a:p>
        </p:txBody>
      </p:sp>
      <p:sp>
        <p:nvSpPr>
          <p:cNvPr id="7" name="">
            <a:extLst xmlns:a="http://schemas.openxmlformats.org/drawingml/2006/main">
              <a:ext uri="{FF2B5EF4-FFF2-40B4-BE49-F238E27FC236}">
                <a16:creationId xmlns:a16="http://schemas.microsoft.com/office/drawing/2014/main" id="{F7D01D23-86BD-43E5-BC12-B3416ACC214F}"/>
              </a:ext>
            </a:extLst>
          </p:cNvPr>
          <p:cNvSpPr>
            <a:spLocks xmlns:a="http://schemas.openxmlformats.org/drawingml/2006/main" noGrp="1"/>
          </p:cNvSpPr>
          <p:nvPr/>
        </p:nvSpPr>
        <p:spPr>
          <a:xfrm xmlns:a="http://schemas.openxmlformats.org/drawingml/2006/main">
            <a:off x="609600" y="34766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Bộ dữ liệu sau bổ sung</a:t>
            </a:r>
          </a:p>
        </p:txBody>
      </p:sp>
      <p:sp>
        <p:nvSpPr>
          <p:cNvPr id="8" name="">
            <a:extLst xmlns:a="http://schemas.openxmlformats.org/drawingml/2006/main">
              <a:ext uri="{FF2B5EF4-FFF2-40B4-BE49-F238E27FC236}">
                <a16:creationId xmlns:a16="http://schemas.microsoft.com/office/drawing/2014/main" id="{B72349C2-EE1B-406C-93F7-82278EF62C51}"/>
              </a:ext>
            </a:extLst>
          </p:cNvPr>
          <p:cNvSpPr>
            <a:spLocks xmlns:a="http://schemas.openxmlformats.org/drawingml/2006/main" noGrp="1"/>
          </p:cNvSpPr>
          <p:nvPr/>
        </p:nvSpPr>
        <p:spPr>
          <a:xfrm xmlns:a="http://schemas.openxmlformats.org/drawingml/2006/main">
            <a:off x="609600" y="40481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7C6D8"/>
                </a:solidFill>
                <a:latin typeface="Arial"/>
                <a:ea typeface="Arial"/>
                <a:cs typeface="Arial"/>
              </a:defRPr>
            </a:pPr>
            <a:r>
              <a:rPr sz="2325" b="0">
                <a:solidFill>
                  <a:srgbClr val="B7C6D8"/>
                </a:solidFill>
                <a:latin typeface="Arial"/>
                <a:ea typeface="Arial"/>
                <a:cs typeface="Arial"/>
              </a:rPr>
              <a:t>72 video, 12 mã người, 3.894 ảnh mặt hợp lệ.</a:t>
            </a:r>
          </a:p>
        </p:txBody>
      </p:sp>
      <p:sp>
        <p:nvSpPr>
          <p:cNvPr id="9" name="">
            <a:extLst xmlns:a="http://schemas.openxmlformats.org/drawingml/2006/main">
              <a:ext uri="{FF2B5EF4-FFF2-40B4-BE49-F238E27FC236}">
                <a16:creationId xmlns:a16="http://schemas.microsoft.com/office/drawing/2014/main" id="{EC7942C3-F096-476C-8366-C53179551FBA}"/>
              </a:ext>
            </a:extLst>
          </p:cNvPr>
          <p:cNvSpPr>
            <a:spLocks xmlns:a="http://schemas.openxmlformats.org/drawingml/2006/main" noGrp="1"/>
          </p:cNvSpPr>
          <p:nvPr/>
        </p:nvSpPr>
        <p:spPr>
          <a:xfrm xmlns:a="http://schemas.openxmlformats.org/drawingml/2006/main">
            <a:off x="609600" y="48672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2F5FA"/>
                </a:solidFill>
                <a:latin typeface="Arial"/>
                <a:ea typeface="Arial"/>
                <a:cs typeface="Arial"/>
              </a:defRPr>
            </a:pPr>
            <a:r>
              <a:rPr sz="2175" b="0">
                <a:solidFill>
                  <a:srgbClr val="F2F5FA"/>
                </a:solidFill>
                <a:latin typeface="Arial"/>
                <a:ea typeface="Arial"/>
                <a:cs typeface="Arial"/>
              </a:rPr>
              <a:t>Đã huấn luyện lại MobileNetV3-Small và so sánh trên tập test cố định.</a:t>
            </a:r>
          </a:p>
        </p:txBody>
      </p:sp>
      <p:sp>
        <p:nvSpPr>
          <p:cNvPr id="10" name="">
            <a:extLst xmlns:a="http://schemas.openxmlformats.org/drawingml/2006/main">
              <a:ext uri="{FF2B5EF4-FFF2-40B4-BE49-F238E27FC236}">
                <a16:creationId xmlns:a16="http://schemas.microsoft.com/office/drawing/2014/main" id="{15F5BD97-58EE-4EBE-854E-987E3007BD7F}"/>
              </a:ext>
            </a:extLst>
          </p:cNvPr>
          <p:cNvSpPr>
            <a:spLocks xmlns:a="http://schemas.openxmlformats.org/drawingml/2006/main" noGrp="1"/>
          </p:cNvSpPr>
          <p:nvPr/>
        </p:nvSpPr>
        <p:spPr>
          <a:xfrm xmlns:a="http://schemas.openxmlformats.org/drawingml/2006/main">
            <a:off x="609600" y="5800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7C6D8"/>
                </a:solidFill>
                <a:latin typeface="Arial"/>
                <a:ea typeface="Arial"/>
                <a:cs typeface="Arial"/>
              </a:defRPr>
            </a:pPr>
            <a:r>
              <a:rPr sz="1875" b="0">
                <a:solidFill>
                  <a:srgbClr val="B7C6D8"/>
                </a:solidFill>
                <a:latin typeface="Arial"/>
                <a:ea typeface="Arial"/>
                <a:cs typeface="Arial"/>
              </a:rPr>
              <a:t>Cần kiểm tra thêm: tập test mới chỉ có 3 mã người.</a:t>
            </a:r>
          </a:p>
        </p:txBody>
      </p:sp>
    </p:spTree>
    <p:extLst>
      <p:ext uri="{BB962C8B-B14F-4D97-AF65-F5344CB8AC3E}">
        <p14:creationId xmlns:p14="http://schemas.microsoft.com/office/powerpoint/2010/main" val="595286558"/>
      </p:ext>
    </p:extLst>
  </p:cSld>
</p:sld>
</file>

<file path=ppt/slides/slide4.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0C93484-72D8-4323-B6EB-F6F9ECA62790}"/>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Ứng dụng nhận diện khuôn mặt</a:t>
            </a:r>
          </a:p>
        </p:txBody>
      </p:sp>
      <p:sp>
        <p:nvSpPr>
          <p:cNvPr id="2" name="">
            <a:extLst xmlns:a="http://schemas.openxmlformats.org/drawingml/2006/main">
              <a:ext uri="{FF2B5EF4-FFF2-40B4-BE49-F238E27FC236}">
                <a16:creationId xmlns:a16="http://schemas.microsoft.com/office/drawing/2014/main" id="{9BE34B64-E97E-4380-99F8-6D734C905125}"/>
              </a:ext>
            </a:extLst>
          </p:cNvPr>
          <p:cNvSpPr>
            <a:spLocks xmlns:a="http://schemas.openxmlformats.org/drawingml/2006/main" noGrp="1"/>
          </p:cNvSpPr>
          <p:nvPr/>
        </p:nvSpPr>
        <p:spPr>
          <a:xfrm xmlns:a="http://schemas.openxmlformats.org/drawingml/2006/main">
            <a:off x="609600" y="13620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C7FF"/>
                </a:solidFill>
                <a:latin typeface="Arial"/>
                <a:ea typeface="Arial"/>
                <a:cs typeface="Arial"/>
              </a:defRPr>
            </a:pPr>
            <a:r>
              <a:rPr sz="1875" b="1">
                <a:solidFill>
                  <a:srgbClr val="78C7FF"/>
                </a:solidFill>
                <a:latin typeface="Arial"/>
                <a:ea typeface="Arial"/>
                <a:cs typeface="Arial"/>
              </a:rPr>
              <a:t>NHÁNH XÂY DỰNG ỨNG DỤNG</a:t>
            </a:r>
          </a:p>
        </p:txBody>
      </p:sp>
      <p:sp>
        <p:nvSpPr>
          <p:cNvPr id="3" name="">
            <a:extLst xmlns:a="http://schemas.openxmlformats.org/drawingml/2006/main">
              <a:ext uri="{FF2B5EF4-FFF2-40B4-BE49-F238E27FC236}">
                <a16:creationId xmlns:a16="http://schemas.microsoft.com/office/drawing/2014/main" id="{3E6408E1-D750-4AF4-8AB0-94D4DA23A39A}"/>
              </a:ext>
            </a:extLst>
          </p:cNvPr>
          <p:cNvSpPr>
            <a:spLocks xmlns:a="http://schemas.openxmlformats.org/drawingml/2006/main" noGrp="1"/>
          </p:cNvSpPr>
          <p:nvPr/>
        </p:nvSpPr>
        <p:spPr>
          <a:xfrm xmlns:a="http://schemas.openxmlformats.org/drawingml/2006/main">
            <a:off x="609600" y="6381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6D8"/>
                </a:solidFill>
                <a:latin typeface="Arial"/>
                <a:ea typeface="Arial"/>
                <a:cs typeface="Arial"/>
              </a:defRPr>
            </a:pPr>
            <a:r>
              <a:rPr sz="1275" b="0">
                <a:solidFill>
                  <a:srgbClr val="B7C6D8"/>
                </a:solidFill>
                <a:latin typeface="Arial"/>
                <a:ea typeface="Arial"/>
                <a:cs typeface="Arial"/>
              </a:rPr>
              <a:t>BÁO CÁO TUẦN 2</a:t>
            </a:r>
          </a:p>
        </p:txBody>
      </p:sp>
      <p:sp>
        <p:nvSpPr>
          <p:cNvPr id="4" name="">
            <a:extLst xmlns:a="http://schemas.openxmlformats.org/drawingml/2006/main">
              <a:ext uri="{FF2B5EF4-FFF2-40B4-BE49-F238E27FC236}">
                <a16:creationId xmlns:a16="http://schemas.microsoft.com/office/drawing/2014/main" id="{93F5948B-E144-403D-B1D7-DB28CD8E306A}"/>
              </a:ext>
            </a:extLst>
          </p:cNvPr>
          <p:cNvSpPr>
            <a:spLocks xmlns:a="http://schemas.openxmlformats.org/drawingml/2006/main" noGrp="1"/>
          </p:cNvSpPr>
          <p:nvPr/>
        </p:nvSpPr>
        <p:spPr>
          <a:xfrm xmlns:a="http://schemas.openxmlformats.org/drawingml/2006/main">
            <a:off x="111442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7C6D8"/>
                </a:solidFill>
                <a:latin typeface="Arial"/>
                <a:ea typeface="Arial"/>
                <a:cs typeface="Arial"/>
              </a:defRPr>
            </a:pPr>
            <a:r>
              <a:rPr sz="1350" b="0">
                <a:solidFill>
                  <a:srgbClr val="B7C6D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BE9619B1-AD39-4664-B568-339DDFB004C0}"/>
              </a:ext>
            </a:extLst>
          </p:cNvPr>
          <p:cNvSpPr>
            <a:spLocks xmlns:a="http://schemas.openxmlformats.org/drawingml/2006/main" noGrp="1"/>
          </p:cNvSpPr>
          <p:nvPr/>
        </p:nvSpPr>
        <p:spPr>
          <a:xfrm xmlns:a="http://schemas.openxmlformats.org/drawingml/2006/main">
            <a:off x="609600" y="20955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Tìm và căn chỉnh khuôn mặt</a:t>
            </a:r>
          </a:p>
        </p:txBody>
      </p:sp>
      <p:sp>
        <p:nvSpPr>
          <p:cNvPr id="6" name="">
            <a:extLst xmlns:a="http://schemas.openxmlformats.org/drawingml/2006/main">
              <a:ext uri="{FF2B5EF4-FFF2-40B4-BE49-F238E27FC236}">
                <a16:creationId xmlns:a16="http://schemas.microsoft.com/office/drawing/2014/main" id="{008A9FA1-7D56-4DF4-82C2-B1CE7E917674}"/>
              </a:ext>
            </a:extLst>
          </p:cNvPr>
          <p:cNvSpPr>
            <a:spLocks xmlns:a="http://schemas.openxmlformats.org/drawingml/2006/main" noGrp="1"/>
          </p:cNvSpPr>
          <p:nvPr/>
        </p:nvSpPr>
        <p:spPr>
          <a:xfrm xmlns:a="http://schemas.openxmlformats.org/drawingml/2006/main">
            <a:off x="609600" y="26574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7C6D8"/>
                </a:solidFill>
                <a:latin typeface="Arial"/>
                <a:ea typeface="Arial"/>
                <a:cs typeface="Arial"/>
              </a:defRPr>
            </a:pPr>
            <a:r>
              <a:rPr sz="2100" b="0">
                <a:solidFill>
                  <a:srgbClr val="B7C6D8"/>
                </a:solidFill>
                <a:latin typeface="Arial"/>
                <a:ea typeface="Arial"/>
                <a:cs typeface="Arial"/>
              </a:rPr>
              <a:t>Dùng SCRFD xác định vị trí mặt và các điểm mốc.</a:t>
            </a:r>
          </a:p>
        </p:txBody>
      </p:sp>
      <p:sp>
        <p:nvSpPr>
          <p:cNvPr id="7" name="">
            <a:extLst xmlns:a="http://schemas.openxmlformats.org/drawingml/2006/main">
              <a:ext uri="{FF2B5EF4-FFF2-40B4-BE49-F238E27FC236}">
                <a16:creationId xmlns:a16="http://schemas.microsoft.com/office/drawing/2014/main" id="{D513A0D1-5245-4312-A591-CEF63D58CD18}"/>
              </a:ext>
            </a:extLst>
          </p:cNvPr>
          <p:cNvSpPr>
            <a:spLocks xmlns:a="http://schemas.openxmlformats.org/drawingml/2006/main" noGrp="1"/>
          </p:cNvSpPr>
          <p:nvPr/>
        </p:nvSpPr>
        <p:spPr>
          <a:xfrm xmlns:a="http://schemas.openxmlformats.org/drawingml/2006/main">
            <a:off x="609600" y="35623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Nhận diện người đã đăng ký</a:t>
            </a:r>
          </a:p>
        </p:txBody>
      </p:sp>
      <p:sp>
        <p:nvSpPr>
          <p:cNvPr id="8" name="">
            <a:extLst xmlns:a="http://schemas.openxmlformats.org/drawingml/2006/main">
              <a:ext uri="{FF2B5EF4-FFF2-40B4-BE49-F238E27FC236}">
                <a16:creationId xmlns:a16="http://schemas.microsoft.com/office/drawing/2014/main" id="{BA6C9618-8F26-4F05-8550-72328704FFC6}"/>
              </a:ext>
            </a:extLst>
          </p:cNvPr>
          <p:cNvSpPr>
            <a:spLocks xmlns:a="http://schemas.openxmlformats.org/drawingml/2006/main" noGrp="1"/>
          </p:cNvSpPr>
          <p:nvPr/>
        </p:nvSpPr>
        <p:spPr>
          <a:xfrm xmlns:a="http://schemas.openxmlformats.org/drawingml/2006/main">
            <a:off x="609600" y="41243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7C6D8"/>
                </a:solidFill>
                <a:latin typeface="Arial"/>
                <a:ea typeface="Arial"/>
                <a:cs typeface="Arial"/>
              </a:defRPr>
            </a:pPr>
            <a:r>
              <a:rPr sz="2100" b="0">
                <a:solidFill>
                  <a:srgbClr val="B7C6D8"/>
                </a:solidFill>
                <a:latin typeface="Arial"/>
                <a:ea typeface="Arial"/>
                <a:cs typeface="Arial"/>
              </a:rPr>
              <a:t>Dùng ArcFace lấy đặc trưng, kết hợp SVM để phân loại danh tính.</a:t>
            </a:r>
          </a:p>
        </p:txBody>
      </p:sp>
      <p:sp>
        <p:nvSpPr>
          <p:cNvPr id="9" name="">
            <a:extLst xmlns:a="http://schemas.openxmlformats.org/drawingml/2006/main">
              <a:ext uri="{FF2B5EF4-FFF2-40B4-BE49-F238E27FC236}">
                <a16:creationId xmlns:a16="http://schemas.microsoft.com/office/drawing/2014/main" id="{9ACD8AEA-A0F2-4DEE-9F52-21C837C5635B}"/>
              </a:ext>
            </a:extLst>
          </p:cNvPr>
          <p:cNvSpPr>
            <a:spLocks xmlns:a="http://schemas.openxmlformats.org/drawingml/2006/main" noGrp="1"/>
          </p:cNvSpPr>
          <p:nvPr/>
        </p:nvSpPr>
        <p:spPr>
          <a:xfrm xmlns:a="http://schemas.openxmlformats.org/drawingml/2006/main">
            <a:off x="609600" y="50292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Xử lý camera trên GPU</a:t>
            </a:r>
          </a:p>
        </p:txBody>
      </p:sp>
      <p:sp>
        <p:nvSpPr>
          <p:cNvPr id="10" name="">
            <a:extLst xmlns:a="http://schemas.openxmlformats.org/drawingml/2006/main">
              <a:ext uri="{FF2B5EF4-FFF2-40B4-BE49-F238E27FC236}">
                <a16:creationId xmlns:a16="http://schemas.microsoft.com/office/drawing/2014/main" id="{1DF72481-4774-4D1A-BCD7-A6AA7ABF58FB}"/>
              </a:ext>
            </a:extLst>
          </p:cNvPr>
          <p:cNvSpPr>
            <a:spLocks xmlns:a="http://schemas.openxmlformats.org/drawingml/2006/main" noGrp="1"/>
          </p:cNvSpPr>
          <p:nvPr/>
        </p:nvSpPr>
        <p:spPr>
          <a:xfrm xmlns:a="http://schemas.openxmlformats.org/drawingml/2006/main">
            <a:off x="609600" y="55911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7C6D8"/>
                </a:solidFill>
                <a:latin typeface="Arial"/>
                <a:ea typeface="Arial"/>
                <a:cs typeface="Arial"/>
              </a:defRPr>
            </a:pPr>
            <a:r>
              <a:rPr sz="2100" b="0">
                <a:solidFill>
                  <a:srgbClr val="B7C6D8"/>
                </a:solidFill>
                <a:latin typeface="Arial"/>
                <a:ea typeface="Arial"/>
                <a:cs typeface="Arial"/>
              </a:rPr>
              <a:t>Báo cáo mô tả nhận diện thời gian thực và gán nhãn người lạ.</a:t>
            </a:r>
          </a:p>
        </p:txBody>
      </p:sp>
    </p:spTree>
    <p:extLst>
      <p:ext uri="{BB962C8B-B14F-4D97-AF65-F5344CB8AC3E}">
        <p14:creationId xmlns:p14="http://schemas.microsoft.com/office/powerpoint/2010/main" val="1936655867"/>
      </p:ext>
    </p:extLst>
  </p:cSld>
</p:sld>
</file>

<file path=ppt/slides/slide5.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95B80EE-98D3-413E-B46F-F1E151DA35F2}"/>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Tổng hợp và kế hoạch tiếp theo</a:t>
            </a:r>
          </a:p>
        </p:txBody>
      </p:sp>
      <p:sp>
        <p:nvSpPr>
          <p:cNvPr id="2" name="">
            <a:extLst xmlns:a="http://schemas.openxmlformats.org/drawingml/2006/main">
              <a:ext uri="{FF2B5EF4-FFF2-40B4-BE49-F238E27FC236}">
                <a16:creationId xmlns:a16="http://schemas.microsoft.com/office/drawing/2014/main" id="{0D5F72A4-2027-47E2-80FA-668369A38BA5}"/>
              </a:ext>
            </a:extLst>
          </p:cNvPr>
          <p:cNvSpPr>
            <a:spLocks xmlns:a="http://schemas.openxmlformats.org/drawingml/2006/main" noGrp="1"/>
          </p:cNvSpPr>
          <p:nvPr/>
        </p:nvSpPr>
        <p:spPr>
          <a:xfrm xmlns:a="http://schemas.openxmlformats.org/drawingml/2006/main">
            <a:off x="609600" y="13620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C7FF"/>
                </a:solidFill>
                <a:latin typeface="Arial"/>
                <a:ea typeface="Arial"/>
                <a:cs typeface="Arial"/>
              </a:defRPr>
            </a:pPr>
            <a:r>
              <a:rPr sz="1875" b="1">
                <a:solidFill>
                  <a:srgbClr val="78C7FF"/>
                </a:solidFill>
                <a:latin typeface="Arial"/>
                <a:ea typeface="Arial"/>
                <a:cs typeface="Arial"/>
              </a:rPr>
              <a:t>KẾT NỐI CÁC PHẦN VIỆC CỦA NHÓM</a:t>
            </a:r>
          </a:p>
        </p:txBody>
      </p:sp>
      <p:sp>
        <p:nvSpPr>
          <p:cNvPr id="3" name="">
            <a:extLst xmlns:a="http://schemas.openxmlformats.org/drawingml/2006/main">
              <a:ext uri="{FF2B5EF4-FFF2-40B4-BE49-F238E27FC236}">
                <a16:creationId xmlns:a16="http://schemas.microsoft.com/office/drawing/2014/main" id="{EC7AEFC0-EBF6-4088-A928-B4F0B4BA6BB4}"/>
              </a:ext>
            </a:extLst>
          </p:cNvPr>
          <p:cNvSpPr>
            <a:spLocks xmlns:a="http://schemas.openxmlformats.org/drawingml/2006/main" noGrp="1"/>
          </p:cNvSpPr>
          <p:nvPr/>
        </p:nvSpPr>
        <p:spPr>
          <a:xfrm xmlns:a="http://schemas.openxmlformats.org/drawingml/2006/main">
            <a:off x="609600" y="6381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6D8"/>
                </a:solidFill>
                <a:latin typeface="Arial"/>
                <a:ea typeface="Arial"/>
                <a:cs typeface="Arial"/>
              </a:defRPr>
            </a:pPr>
            <a:r>
              <a:rPr sz="1275" b="0">
                <a:solidFill>
                  <a:srgbClr val="B7C6D8"/>
                </a:solidFill>
                <a:latin typeface="Arial"/>
                <a:ea typeface="Arial"/>
                <a:cs typeface="Arial"/>
              </a:rPr>
              <a:t>BÁO CÁO TUẦN 2</a:t>
            </a:r>
          </a:p>
        </p:txBody>
      </p:sp>
      <p:sp>
        <p:nvSpPr>
          <p:cNvPr id="4" name="">
            <a:extLst xmlns:a="http://schemas.openxmlformats.org/drawingml/2006/main">
              <a:ext uri="{FF2B5EF4-FFF2-40B4-BE49-F238E27FC236}">
                <a16:creationId xmlns:a16="http://schemas.microsoft.com/office/drawing/2014/main" id="{53A50446-7DB1-4B0B-8E84-B94250D00311}"/>
              </a:ext>
            </a:extLst>
          </p:cNvPr>
          <p:cNvSpPr>
            <a:spLocks xmlns:a="http://schemas.openxmlformats.org/drawingml/2006/main" noGrp="1"/>
          </p:cNvSpPr>
          <p:nvPr/>
        </p:nvSpPr>
        <p:spPr>
          <a:xfrm xmlns:a="http://schemas.openxmlformats.org/drawingml/2006/main">
            <a:off x="111442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7C6D8"/>
                </a:solidFill>
                <a:latin typeface="Arial"/>
                <a:ea typeface="Arial"/>
                <a:cs typeface="Arial"/>
              </a:defRPr>
            </a:pPr>
            <a:r>
              <a:rPr sz="1350" b="0">
                <a:solidFill>
                  <a:srgbClr val="B7C6D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DF241D8A-08A2-4F04-BA12-DA43077D38E3}"/>
              </a:ext>
            </a:extLst>
          </p:cNvPr>
          <p:cNvSpPr>
            <a:spLocks xmlns:a="http://schemas.openxmlformats.org/drawingml/2006/main" noGrp="1"/>
          </p:cNvSpPr>
          <p:nvPr/>
        </p:nvSpPr>
        <p:spPr>
          <a:xfrm xmlns:a="http://schemas.openxmlformats.org/drawingml/2006/main">
            <a:off x="609600" y="21050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Kết quả tuần này</a:t>
            </a:r>
          </a:p>
        </p:txBody>
      </p:sp>
      <p:sp>
        <p:nvSpPr>
          <p:cNvPr id="6" name="">
            <a:extLst xmlns:a="http://schemas.openxmlformats.org/drawingml/2006/main">
              <a:ext uri="{FF2B5EF4-FFF2-40B4-BE49-F238E27FC236}">
                <a16:creationId xmlns:a16="http://schemas.microsoft.com/office/drawing/2014/main" id="{9A595780-E0FF-4988-93E4-AA995E40A3E1}"/>
              </a:ext>
            </a:extLst>
          </p:cNvPr>
          <p:cNvSpPr>
            <a:spLocks xmlns:a="http://schemas.openxmlformats.org/drawingml/2006/main" noGrp="1"/>
          </p:cNvSpPr>
          <p:nvPr/>
        </p:nvSpPr>
        <p:spPr>
          <a:xfrm xmlns:a="http://schemas.openxmlformats.org/drawingml/2006/main">
            <a:off x="609600" y="26670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7C6D8"/>
                </a:solidFill>
                <a:latin typeface="Arial"/>
                <a:ea typeface="Arial"/>
                <a:cs typeface="Arial"/>
              </a:defRPr>
            </a:pPr>
            <a:r>
              <a:rPr sz="2100" b="0">
                <a:solidFill>
                  <a:srgbClr val="B7C6D8"/>
                </a:solidFill>
                <a:latin typeface="Arial"/>
                <a:ea typeface="Arial"/>
                <a:cs typeface="Arial"/>
              </a:rPr>
              <a:t>Em đã test API và nhận báo cáo của 3 thành viên.</a:t>
            </a:r>
          </a:p>
          <a:p xmlns:a="http://schemas.openxmlformats.org/drawingml/2006/main">
            <a:pPr>
              <a:defRPr sz="2100" b="0">
                <a:solidFill>
                  <a:srgbClr val="B7C6D8"/>
                </a:solidFill>
                <a:latin typeface="Arial"/>
                <a:ea typeface="Arial"/>
                <a:cs typeface="Arial"/>
              </a:defRPr>
            </a:pPr>
            <a:r>
              <a:rPr sz="2100" b="0">
                <a:solidFill>
                  <a:srgbClr val="B7C6D8"/>
                </a:solidFill>
                <a:latin typeface="Arial"/>
                <a:ea typeface="Arial"/>
                <a:cs typeface="Arial"/>
              </a:rPr>
              <a:t>Nhóm có tài liệu nghiên cứu, dữ liệu bổ sung và hướng triển khai ứng dụng.</a:t>
            </a:r>
          </a:p>
        </p:txBody>
      </p:sp>
      <p:sp>
        <p:nvSpPr>
          <p:cNvPr id="7" name="">
            <a:extLst xmlns:a="http://schemas.openxmlformats.org/drawingml/2006/main">
              <a:ext uri="{FF2B5EF4-FFF2-40B4-BE49-F238E27FC236}">
                <a16:creationId xmlns:a16="http://schemas.microsoft.com/office/drawing/2014/main" id="{682B55B7-0841-4D18-AD89-0862B5D1A77E}"/>
              </a:ext>
            </a:extLst>
          </p:cNvPr>
          <p:cNvSpPr>
            <a:spLocks xmlns:a="http://schemas.openxmlformats.org/drawingml/2006/main" noGrp="1"/>
          </p:cNvSpPr>
          <p:nvPr/>
        </p:nvSpPr>
        <p:spPr>
          <a:xfrm xmlns:a="http://schemas.openxmlformats.org/drawingml/2006/main">
            <a:off x="609600" y="4019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Công việc tiếp theo</a:t>
            </a:r>
          </a:p>
        </p:txBody>
      </p:sp>
      <p:sp>
        <p:nvSpPr>
          <p:cNvPr id="8" name="">
            <a:extLst xmlns:a="http://schemas.openxmlformats.org/drawingml/2006/main">
              <a:ext uri="{FF2B5EF4-FFF2-40B4-BE49-F238E27FC236}">
                <a16:creationId xmlns:a16="http://schemas.microsoft.com/office/drawing/2014/main" id="{BC3603B1-146A-4766-ABD5-A0E93322DEE7}"/>
              </a:ext>
            </a:extLst>
          </p:cNvPr>
          <p:cNvSpPr>
            <a:spLocks xmlns:a="http://schemas.openxmlformats.org/drawingml/2006/main" noGrp="1"/>
          </p:cNvSpPr>
          <p:nvPr/>
        </p:nvSpPr>
        <p:spPr>
          <a:xfrm xmlns:a="http://schemas.openxmlformats.org/drawingml/2006/main">
            <a:off x="609600" y="4629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7C6D8"/>
                </a:solidFill>
                <a:latin typeface="Arial"/>
                <a:ea typeface="Arial"/>
                <a:cs typeface="Arial"/>
              </a:defRPr>
            </a:pPr>
            <a:r>
              <a:rPr sz="2100" b="0">
                <a:solidFill>
                  <a:srgbClr val="B7C6D8"/>
                </a:solidFill>
                <a:latin typeface="Arial"/>
                <a:ea typeface="Arial"/>
                <a:cs typeface="Arial"/>
              </a:rPr>
              <a:t>1. Rà soát dữ liệu và kết quả huấn luyện của thành viên.</a:t>
            </a:r>
          </a:p>
        </p:txBody>
      </p:sp>
      <p:sp>
        <p:nvSpPr>
          <p:cNvPr id="9" name="">
            <a:extLst xmlns:a="http://schemas.openxmlformats.org/drawingml/2006/main">
              <a:ext uri="{FF2B5EF4-FFF2-40B4-BE49-F238E27FC236}">
                <a16:creationId xmlns:a16="http://schemas.microsoft.com/office/drawing/2014/main" id="{E6405AD8-CD1A-4BDE-AAFA-44723E3790E3}"/>
              </a:ext>
            </a:extLst>
          </p:cNvPr>
          <p:cNvSpPr>
            <a:spLocks xmlns:a="http://schemas.openxmlformats.org/drawingml/2006/main" noGrp="1"/>
          </p:cNvSpPr>
          <p:nvPr/>
        </p:nvSpPr>
        <p:spPr>
          <a:xfrm xmlns:a="http://schemas.openxmlformats.org/drawingml/2006/main">
            <a:off x="609600" y="5143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7C6D8"/>
                </a:solidFill>
                <a:latin typeface="Arial"/>
                <a:ea typeface="Arial"/>
                <a:cs typeface="Arial"/>
              </a:defRPr>
            </a:pPr>
            <a:r>
              <a:rPr sz="2100" b="0">
                <a:solidFill>
                  <a:srgbClr val="B7C6D8"/>
                </a:solidFill>
                <a:latin typeface="Arial"/>
                <a:ea typeface="Arial"/>
                <a:cs typeface="Arial"/>
              </a:rPr>
              <a:t>2. Ghép API chống giả mạo vào ứng dụng nhận diện danh tính.</a:t>
            </a:r>
          </a:p>
        </p:txBody>
      </p:sp>
      <p:sp>
        <p:nvSpPr>
          <p:cNvPr id="10" name="">
            <a:extLst xmlns:a="http://schemas.openxmlformats.org/drawingml/2006/main">
              <a:ext uri="{FF2B5EF4-FFF2-40B4-BE49-F238E27FC236}">
                <a16:creationId xmlns:a16="http://schemas.microsoft.com/office/drawing/2014/main" id="{49774614-8342-4AB5-B602-4679864490C7}"/>
              </a:ext>
            </a:extLst>
          </p:cNvPr>
          <p:cNvSpPr>
            <a:spLocks xmlns:a="http://schemas.openxmlformats.org/drawingml/2006/main" noGrp="1"/>
          </p:cNvSpPr>
          <p:nvPr/>
        </p:nvSpPr>
        <p:spPr>
          <a:xfrm xmlns:a="http://schemas.openxmlformats.org/drawingml/2006/main">
            <a:off x="609600" y="5657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65D6AA"/>
                </a:solidFill>
                <a:latin typeface="Arial"/>
                <a:ea typeface="Arial"/>
                <a:cs typeface="Arial"/>
              </a:defRPr>
            </a:pPr>
            <a:r>
              <a:rPr sz="2100" b="0">
                <a:solidFill>
                  <a:srgbClr val="65D6AA"/>
                </a:solidFill>
                <a:latin typeface="Arial"/>
                <a:ea typeface="Arial"/>
                <a:cs typeface="Arial"/>
              </a:rPr>
              <a:t>3. Test chung bằng camera với người thật, ảnh in và video phát lại.</a:t>
            </a:r>
          </a:p>
        </p:txBody>
      </p:sp>
    </p:spTree>
    <p:extLst>
      <p:ext uri="{BB962C8B-B14F-4D97-AF65-F5344CB8AC3E}">
        <p14:creationId xmlns:p14="http://schemas.microsoft.com/office/powerpoint/2010/main" val="16310144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2026-09-26T15:52:09.9450000Z</dcterms:created>
  <dcterms:modified xsi:type="dcterms:W3CDTF">2026-09-26T15:52:09.9450000Z</dcterms:modified>
</coreProperties>
</file>