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a8331d052e54229" /><Relationship Type="http://schemas.openxmlformats.org/officeDocument/2006/relationships/extended-properties" Target="/docProps/app.xml" Id="Rb1629a805b5249af" /><Relationship Type="http://schemas.openxmlformats.org/officeDocument/2006/relationships/officeDocument" Target="/ppt/presentation.xml" Id="Ra80bbd04feda4f27" /></Relationships>
</file>

<file path=ppt/presentation.xml><?xml version="1.0" encoding="utf-8"?>
<p:presentation xmlns:p="http://schemas.openxmlformats.org/presentationml/2006/main">
  <p:sldMasterIdLst>
    <p:sldMasterId xmlns:r="http://schemas.openxmlformats.org/officeDocument/2006/relationships" id="2147483648" r:id="R76742c6c6d134c1f"/>
  </p:sldMasterIdLst>
  <p:notesMasterIdLst>
    <p:notesMasterId xmlns:r="http://schemas.openxmlformats.org/officeDocument/2006/relationships" r:id="R2f48c46b0d244f54"/>
  </p:notesMasterIdLst>
  <p:sldIdLst>
    <p:sldId xmlns:r="http://schemas.openxmlformats.org/officeDocument/2006/relationships" id="256" r:id="R42d73ce07bb84786"/>
    <p:sldId xmlns:r="http://schemas.openxmlformats.org/officeDocument/2006/relationships" id="257" r:id="R05829b5ccb804630"/>
    <p:sldId xmlns:r="http://schemas.openxmlformats.org/officeDocument/2006/relationships" id="258" r:id="R9d32f24d38594544"/>
    <p:sldId xmlns:r="http://schemas.openxmlformats.org/officeDocument/2006/relationships" id="259" r:id="Ra65292c57e0041db"/>
    <p:sldId xmlns:r="http://schemas.openxmlformats.org/officeDocument/2006/relationships" id="260" r:id="R0d7c0d90d69c481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e6db6645a674e06" /><Relationship Type="http://schemas.openxmlformats.org/officeDocument/2006/relationships/slideMaster" Target="/ppt/slideMasters/slideMaster1.xml" Id="R76742c6c6d134c1f" /><Relationship Type="http://schemas.openxmlformats.org/officeDocument/2006/relationships/notesMaster" Target="/ppt/notesMasters/notesMaster1.xml" Id="R2f48c46b0d244f54" /><Relationship Type="http://schemas.openxmlformats.org/officeDocument/2006/relationships/presProps" Target="/ppt/presProps.xml" Id="R9a3a6996db474f16" /><Relationship Type="http://schemas.openxmlformats.org/officeDocument/2006/relationships/tableStyles" Target="/ppt/tableStyles.xml" Id="Rc2e7252c471b412b" /><Relationship Type="http://schemas.openxmlformats.org/officeDocument/2006/relationships/slide" Target="/ppt/slides/slide1.xml" Id="R42d73ce07bb84786" /><Relationship Type="http://schemas.openxmlformats.org/officeDocument/2006/relationships/slide" Target="/ppt/slides/slide2.xml" Id="R05829b5ccb804630" /><Relationship Type="http://schemas.openxmlformats.org/officeDocument/2006/relationships/slide" Target="/ppt/slides/slide3.xml" Id="R9d32f24d38594544" /><Relationship Type="http://schemas.openxmlformats.org/officeDocument/2006/relationships/slide" Target="/ppt/slides/slide4.xml" Id="Ra65292c57e0041db" /><Relationship Type="http://schemas.openxmlformats.org/officeDocument/2006/relationships/slide" Target="/ppt/slides/slide5.xml" Id="R0d7c0d90d69c481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810ddea3c514d8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baf5593b4634bdd" /><Relationship Type="http://schemas.openxmlformats.org/officeDocument/2006/relationships/notesMaster" Target="/ppt/notesMasters/notesMaster1.xml" Id="R61de6c5388c44695" /></Relationships>
</file>

<file path=ppt/notesSlides/_rels/notesSlide2.xml.rels>&#65279;<?xml version="1.0" encoding="utf-8"?><Relationships xmlns="http://schemas.openxmlformats.org/package/2006/relationships"><Relationship Type="http://schemas.openxmlformats.org/officeDocument/2006/relationships/slide" Target="/ppt/slides/slide2.xml" Id="R01a1108c71f74b9e" /><Relationship Type="http://schemas.openxmlformats.org/officeDocument/2006/relationships/notesMaster" Target="/ppt/notesMasters/notesMaster1.xml" Id="Rea159f510e4441d8" /></Relationships>
</file>

<file path=ppt/notesSlides/_rels/notesSlide3.xml.rels>&#65279;<?xml version="1.0" encoding="utf-8"?><Relationships xmlns="http://schemas.openxmlformats.org/package/2006/relationships"><Relationship Type="http://schemas.openxmlformats.org/officeDocument/2006/relationships/slide" Target="/ppt/slides/slide3.xml" Id="Rb1859b90cf6543b3" /><Relationship Type="http://schemas.openxmlformats.org/officeDocument/2006/relationships/notesMaster" Target="/ppt/notesMasters/notesMaster1.xml" Id="R73a5bb49d3ed4437" /></Relationships>
</file>

<file path=ppt/notesSlides/_rels/notesSlide4.xml.rels>&#65279;<?xml version="1.0" encoding="utf-8"?><Relationships xmlns="http://schemas.openxmlformats.org/package/2006/relationships"><Relationship Type="http://schemas.openxmlformats.org/officeDocument/2006/relationships/slide" Target="/ppt/slides/slide4.xml" Id="Re94de814c6854f39" /><Relationship Type="http://schemas.openxmlformats.org/officeDocument/2006/relationships/notesMaster" Target="/ppt/notesMasters/notesMaster1.xml" Id="R1d782bdf4e274a25" /></Relationships>
</file>

<file path=ppt/notesSlides/_rels/notesSlide5.xml.rels>&#65279;<?xml version="1.0" encoding="utf-8"?><Relationships xmlns="http://schemas.openxmlformats.org/package/2006/relationships"><Relationship Type="http://schemas.openxmlformats.org/officeDocument/2006/relationships/slide" Target="/ppt/slides/slide5.xml" Id="R9b82d32893824216" /><Relationship Type="http://schemas.openxmlformats.org/officeDocument/2006/relationships/notesMaster" Target="/ppt/notesMasters/notesMaster1.xml" Id="R3f1d95b0e60c42d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Báo cáo này chỉ tổng hợp lần gộp dữ liệu và train ngày 01/10. Trước là model ngày 30/9 khi chưa dùng toàn bộ cache cũ. Sau là model train từ đầu bằng bộ gộp. Không dùng model ngày 15/9 làm baseline cho bảng này. So cả hai model trên cùng bộ test đã khóa. Đây là benchmark phát triển đã được xem trước, chưa chứng minh khả năng tổng quát hóa trên người/điều kiện hoàn toàn mới.</a:t>
            </a:r>
          </a:p>
          <a:p xmlns:a="http://schemas.openxmlformats.org/drawingml/2006/main">
            <a:r>
              <a:t>Nguồn: dataset/merged-20261001/manifest.json; outputs/merged-20261001/evaluation.json; training.csv; anchor_comparison.json; continuous_runtime_comparison.json; api_smoke.json; report.md. Baseline: outputs/retrain-20260930/liveness.h5 và evaluation.json.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Bộ trước có 7029 ảnh: train4113, validation1028, testmới1473, testcũriêng415. Bộ sau có 28957 ảnh sau chất lượng/dedup. Rà tất cả24221cachecũ, giữ 24032; loại189 gồm158lóa và31thiếu nét. 56videoDrive lấy mẫu mỗi&gt;=.2giây, không giới hạn100khung. Chỉ mở rộng khoảng65khung ứng viên so trước, phần tăng chính là dùng lại cachecũ. Giữ ranh giới23train/5val/5test video cũ ngày15/9. Val mớiB/Thu, test mớiNga/Phuc. Testvideo cũ nằm trong testchung bằng cachecũ, không cộng415ảnhanchor vào tổng bộ sau. 415anchor được kiểm tra bổ sung riêng để so đúng báo cáo trước. Dữ liệu cũ kiểm tra chất lượng crop, không có fullframe/landmarks để áp đủ gateAPI. Sáu video chung chung có unknownidentity; dữ liệu cũ táchvideo, có người trùng. Nguồn mới táchmãngười cung cấp. Gộp vẫn giữ validation/test ngoài train.</a:t>
            </a:r>
          </a:p>
          <a:p xmlns:a="http://schemas.openxmlformats.org/drawingml/2006/main">
            <a:r>
              <a:t>Nguồn: dataset/merged-20261001/manifest.json; outputs/merged-20261001/evaluation.json; training.csv; anchor_comparison.json; continuous_runtime_comparison.json; api_smoke.json; report.md. Baseline: outputs/retrain-20260930/liveness.h5 và evaluation.json.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Baseline là model30/9 SHA fb1945fcf2832a843b1b94830d969fa95ce5aa57f31e47ce8110aae80741209b. Candidate 6b6851d7b8e6497a18e4644b700f22c01f969337c3f18ff955052796764c5b08. Cả hai được đánh giá lại trên các tập của bộgộp, không so testlịch sử khácnhau. P/R/F1 vàaccuracy ở bảng lấy testchung, gồm cacheoldheldout và newNgaPhuc. Loss là cleancrossentropy inference khôngaugmentation/nonweighted, khác trainweightedaugmentedloss tại epoch được chọn (0.14022283256053925). Modeltrước đã học nguồn4video của validationold trong30/9, nên valbefore cóphơinhiễm nguồn, khônglàtestđộc lập. Checkpoint modelmới chỉchọn bằng val, max50epoch,patience8,Adam1e-4,batch32,seed42,class/video-balanced weights.</a:t>
            </a:r>
          </a:p>
          <a:p xmlns:a="http://schemas.openxmlformats.org/drawingml/2006/main">
            <a:r>
              <a:t>Nguồn: dataset/merged-20261001/manifest.json; outputs/merged-20261001/evaluation.json; training.csv; anchor_comparison.json; continuous_runtime_comparison.json; api_smoke.json; report.md. Baseline: outputs/retrain-20260930/liveness.h5 và evaluation.json.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Nguồncũ test 3343 ảnh,5video;nguồn mới 1513ảnh,16video. HàngAccuracy415ảnhcũ là đúng anchor ngày30/9,khác nhómcacheoldtest rộng hơn. Anchor1473mới cũng kiểm tra trongreportchi tiết. Replay942khung: trước đúng741,sai0,chưakếtluận201;sau đúng622,sai16,chưakếtluận304. Không tínhchưakếtluậnlàđúng. Replay first12s của16videomới,5FPS,JPEGSDK,cùngpixels vàhistoryriêng. 4 JPEGFlasktestclient kiểmroute/modelhash/imagehash,state;khôngđánhgiálivenessđộc lập. KhôngđoHTTPnetwork/cameraFPS.</a:t>
            </a:r>
          </a:p>
          <a:p xmlns:a="http://schemas.openxmlformats.org/drawingml/2006/main">
            <a:r>
              <a:t>Nguồn: dataset/merged-20261001/manifest.json; outputs/merged-20261001/evaluation.json; training.csv; anchor_comparison.json; continuous_runtime_comparison.json; api_smoke.json; report.md. Baseline: outputs/retrain-20260930/liveness.h5 và evaluation.json.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Việc gộp tăng dữ liệu cũ thực sự được dùng, còn độ chính xác phải đọc theo kết quả trước/sau cùng test vàtừngnguồn. Modeltrước là30/9chưa gộp,modelsau là01/10gộp. Các testđãđược xemvàảnhhưởngquyếtđịnhgộp, nênbenchmarkpháttriển,khôngcoilàfinalholdoutmới. Ngườioldtrain/test cóoverlap;6genericnamesunknownidentity. Drive thật/giả cònkháccodec/cáchquay, nênacquisitionbias. Nhiềukhungcùngvideo tươngquan, F1ảnhkhácF1video vàtemporalAPI. Kếtquảkhôngchứngminhhếtoverfit. Thêmmới độc lậpvàngữcảnhquayđểxácminhtrướcdùngxácthực. Modeltrước/originalgiữriêng; modelmớisẵn sànggọiqua tham số--model, chưa tựthay serverđangchạy.</a:t>
            </a:r>
          </a:p>
          <a:p xmlns:a="http://schemas.openxmlformats.org/drawingml/2006/main">
            <a:r>
              <a:t>Nguồn: dataset/merged-20261001/manifest.json; outputs/merged-20261001/evaluation.json; training.csv; anchor_comparison.json; continuous_runtime_comparison.json; api_smoke.json; report.md. Baseline: outputs/retrain-20260930/liveness.h5 và evaluation.json.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7b805c4597248a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234b37a79634335" /><Relationship Type="http://schemas.openxmlformats.org/officeDocument/2006/relationships/slideLayout" Target="/ppt/slideLayouts/slideLayout1.xml" Id="R47b4b827f4b2491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7b4b827f4b2491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8f146734bb34c61" /><Relationship Type="http://schemas.openxmlformats.org/officeDocument/2006/relationships/notesSlide" Target="/ppt/notesSlides/notesSlide1.xml" Id="R152e134e7ac24d0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1a1e4830d3048fc" /><Relationship Type="http://schemas.openxmlformats.org/officeDocument/2006/relationships/notesSlide" Target="/ppt/notesSlides/notesSlide2.xml" Id="R37019cd0e4e54dc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bce179063694fee" /><Relationship Type="http://schemas.openxmlformats.org/officeDocument/2006/relationships/notesSlide" Target="/ppt/notesSlides/notesSlide3.xml" Id="R20dce31f7c3a475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fb4c318b35b433d" /><Relationship Type="http://schemas.openxmlformats.org/officeDocument/2006/relationships/notesSlide" Target="/ppt/notesSlides/notesSlide4.xml" Id="R26b94083f4ba49a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21b33bc578d4dae" /><Relationship Type="http://schemas.openxmlformats.org/officeDocument/2006/relationships/notesSlide" Target="/ppt/notesSlides/notesSlide5.xml" Id="R7228a26bcd074d89" /></Relationships>
</file>

<file path=ppt/slides/slide1.xml><?xml version="1.0" encoding="utf-8"?>
<p:sld xmlns:p="http://schemas.openxmlformats.org/presentationml/2006/main">
  <p:cSld>
    <p:bg>
      <p:bgPr>
        <a:solidFill xmlns:a="http://schemas.openxmlformats.org/drawingml/2006/main">
          <a:srgbClr val="101B2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6EFFD3F-8C60-4522-A1F5-A5B11B32DA40}"/>
              </a:ext>
            </a:extLst>
          </p:cNvPr>
          <p:cNvSpPr>
            <a:spLocks xmlns:a="http://schemas.openxmlformats.org/drawingml/2006/main" noGrp="1"/>
          </p:cNvSpPr>
          <p:nvPr/>
        </p:nvSpPr>
        <p:spPr>
          <a:xfrm xmlns:a="http://schemas.openxmlformats.org/drawingml/2006/main">
            <a:off x="609600" y="40957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F2F5FA"/>
                </a:solidFill>
                <a:latin typeface="Arial"/>
                <a:ea typeface="Arial"/>
                <a:cs typeface="Arial"/>
              </a:defRPr>
            </a:pPr>
            <a:r>
              <a:rPr sz="3300" b="1">
                <a:solidFill>
                  <a:srgbClr val="F2F5FA"/>
                </a:solidFill>
                <a:latin typeface="Arial"/>
                <a:ea typeface="Arial"/>
                <a:cs typeface="Arial"/>
              </a:rPr>
              <a:t>Báo cáo tiến độ</a:t>
            </a:r>
          </a:p>
        </p:txBody>
      </p:sp>
      <p:sp>
        <p:nvSpPr>
          <p:cNvPr id="2" name="">
            <a:extLst xmlns:a="http://schemas.openxmlformats.org/drawingml/2006/main">
              <a:ext uri="{FF2B5EF4-FFF2-40B4-BE49-F238E27FC236}">
                <a16:creationId xmlns:a16="http://schemas.microsoft.com/office/drawing/2014/main" id="{96C93A4C-D6B0-41F0-9007-67B99AC96936}"/>
              </a:ext>
            </a:extLst>
          </p:cNvPr>
          <p:cNvSpPr>
            <a:spLocks xmlns:a="http://schemas.openxmlformats.org/drawingml/2006/main" noGrp="1"/>
          </p:cNvSpPr>
          <p:nvPr/>
        </p:nvSpPr>
        <p:spPr>
          <a:xfrm xmlns:a="http://schemas.openxmlformats.org/drawingml/2006/main">
            <a:off x="10991850" y="6343650"/>
            <a:ext cx="590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BBC9DA"/>
                </a:solidFill>
                <a:latin typeface="Arial"/>
                <a:ea typeface="Arial"/>
                <a:cs typeface="Arial"/>
              </a:defRPr>
            </a:pPr>
            <a:r>
              <a:rPr sz="1500" b="0">
                <a:solidFill>
                  <a:srgbClr val="BBC9DA"/>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42A73F56-059F-48DD-9D34-887535D4715C}"/>
              </a:ext>
            </a:extLst>
          </p:cNvPr>
          <p:cNvSpPr>
            <a:spLocks xmlns:a="http://schemas.openxmlformats.org/drawingml/2006/main" noGrp="1"/>
          </p:cNvSpPr>
          <p:nvPr/>
        </p:nvSpPr>
        <p:spPr>
          <a:xfrm xmlns:a="http://schemas.openxmlformats.org/drawingml/2006/main">
            <a:off x="609600" y="1362075"/>
            <a:ext cx="109728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050" b="1">
                <a:solidFill>
                  <a:srgbClr val="78C7FF"/>
                </a:solidFill>
                <a:latin typeface="Arial"/>
                <a:ea typeface="Arial"/>
                <a:cs typeface="Arial"/>
              </a:defRPr>
            </a:pPr>
            <a:r>
              <a:rPr sz="4050" b="1">
                <a:solidFill>
                  <a:srgbClr val="78C7FF"/>
                </a:solidFill>
                <a:latin typeface="Arial"/>
                <a:ea typeface="Arial"/>
                <a:cs typeface="Arial"/>
              </a:rPr>
              <a:t>Gộp dữ liệu và</a:t>
            </a:r>
          </a:p>
          <a:p xmlns:a="http://schemas.openxmlformats.org/drawingml/2006/main">
            <a:pPr>
              <a:buNone/>
              <a:defRPr sz="4050" b="1">
                <a:solidFill>
                  <a:srgbClr val="78C7FF"/>
                </a:solidFill>
                <a:latin typeface="Arial"/>
                <a:ea typeface="Arial"/>
                <a:cs typeface="Arial"/>
              </a:defRPr>
            </a:pPr>
            <a:r>
              <a:rPr sz="4050" b="1">
                <a:solidFill>
                  <a:srgbClr val="78C7FF"/>
                </a:solidFill>
                <a:latin typeface="Arial"/>
                <a:ea typeface="Arial"/>
                <a:cs typeface="Arial"/>
              </a:rPr>
              <a:t>huấn luyện lại model</a:t>
            </a:r>
          </a:p>
        </p:txBody>
      </p:sp>
      <p:sp>
        <p:nvSpPr>
          <p:cNvPr id="4" name="">
            <a:extLst xmlns:a="http://schemas.openxmlformats.org/drawingml/2006/main">
              <a:ext uri="{FF2B5EF4-FFF2-40B4-BE49-F238E27FC236}">
                <a16:creationId xmlns:a16="http://schemas.microsoft.com/office/drawing/2014/main" id="{5106C207-5997-49AE-8035-4D5D80BDCC93}"/>
              </a:ext>
            </a:extLst>
          </p:cNvPr>
          <p:cNvSpPr>
            <a:spLocks xmlns:a="http://schemas.openxmlformats.org/drawingml/2006/main" noGrp="1"/>
          </p:cNvSpPr>
          <p:nvPr/>
        </p:nvSpPr>
        <p:spPr>
          <a:xfrm xmlns:a="http://schemas.openxmlformats.org/drawingml/2006/main">
            <a:off x="609600" y="27813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BBC9DA"/>
                </a:solidFill>
                <a:latin typeface="Arial"/>
                <a:ea typeface="Arial"/>
                <a:cs typeface="Arial"/>
              </a:defRPr>
            </a:pPr>
            <a:r>
              <a:rPr sz="2025" b="0">
                <a:solidFill>
                  <a:srgbClr val="BBC9DA"/>
                </a:solidFill>
                <a:latin typeface="Arial"/>
                <a:ea typeface="Arial"/>
                <a:cs typeface="Arial"/>
              </a:rPr>
              <a:t>Dự án chống giả mạo khuôn mặt · 01/10/2026</a:t>
            </a:r>
          </a:p>
        </p:txBody>
      </p:sp>
      <p:sp>
        <p:nvSpPr>
          <p:cNvPr id="5" name="">
            <a:extLst xmlns:a="http://schemas.openxmlformats.org/drawingml/2006/main">
              <a:ext uri="{FF2B5EF4-FFF2-40B4-BE49-F238E27FC236}">
                <a16:creationId xmlns:a16="http://schemas.microsoft.com/office/drawing/2014/main" id="{7CEE926D-FCD5-4420-B6A0-34A124EA072E}"/>
              </a:ext>
            </a:extLst>
          </p:cNvPr>
          <p:cNvSpPr>
            <a:spLocks xmlns:a="http://schemas.openxmlformats.org/drawingml/2006/main" noGrp="1"/>
          </p:cNvSpPr>
          <p:nvPr/>
        </p:nvSpPr>
        <p:spPr>
          <a:xfrm xmlns:a="http://schemas.openxmlformats.org/drawingml/2006/main">
            <a:off x="609600" y="3781425"/>
            <a:ext cx="109728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28600" indent="-114300">
              <a:spcAft>
                <a:spcPts val="1200"/>
              </a:spcAft>
              <a:buChar char="•"/>
              <a:defRPr sz="2175">
                <a:solidFill>
                  <a:srgbClr val="BBC9DA"/>
                </a:solidFill>
                <a:latin typeface="Arial"/>
                <a:ea typeface="Arial"/>
                <a:cs typeface="Arial"/>
              </a:defRPr>
            </a:pPr>
            <a:r>
              <a:rPr sz="2175">
                <a:solidFill>
                  <a:srgbClr val="BBC9DA"/>
                </a:solidFill>
                <a:latin typeface="Arial"/>
                <a:ea typeface="Arial"/>
                <a:cs typeface="Arial"/>
              </a:rPr>
              <a:t>Em đã rà toàn bộ 24.221 ảnh cũ và 56 video mới.</a:t>
            </a:r>
          </a:p>
          <a:p xmlns:a="http://schemas.openxmlformats.org/drawingml/2006/main">
            <a:pPr marL="228600" indent="-114300">
              <a:spcAft>
                <a:spcPts val="1200"/>
              </a:spcAft>
              <a:buChar char="•"/>
              <a:defRPr sz="2175">
                <a:solidFill>
                  <a:srgbClr val="BBC9DA"/>
                </a:solidFill>
                <a:latin typeface="Arial"/>
                <a:ea typeface="Arial"/>
                <a:cs typeface="Arial"/>
              </a:defRPr>
            </a:pPr>
            <a:r>
              <a:rPr sz="2175">
                <a:solidFill>
                  <a:srgbClr val="BBC9DA"/>
                </a:solidFill>
                <a:latin typeface="Arial"/>
                <a:ea typeface="Arial"/>
                <a:cs typeface="Arial"/>
              </a:rPr>
              <a:t>Em đã gộp dữ liệu rồi giữ riêng validation và test.</a:t>
            </a:r>
          </a:p>
          <a:p xmlns:a="http://schemas.openxmlformats.org/drawingml/2006/main">
            <a:pPr marL="228600" indent="-114300">
              <a:spcAft>
                <a:spcPts val="1200"/>
              </a:spcAft>
              <a:buChar char="•"/>
              <a:defRPr sz="2175">
                <a:solidFill>
                  <a:srgbClr val="BBC9DA"/>
                </a:solidFill>
                <a:latin typeface="Arial"/>
                <a:ea typeface="Arial"/>
                <a:cs typeface="Arial"/>
              </a:defRPr>
            </a:pPr>
            <a:r>
              <a:rPr sz="2175">
                <a:solidFill>
                  <a:srgbClr val="BBC9DA"/>
                </a:solidFill>
                <a:latin typeface="Arial"/>
                <a:ea typeface="Arial"/>
                <a:cs typeface="Arial"/>
              </a:rPr>
              <a:t>Em đã train lại và so sánh với model 30/9 trước gộp.</a:t>
            </a:r>
          </a:p>
        </p:txBody>
      </p:sp>
    </p:spTree>
    <p:extLst>
      <p:ext uri="{BB962C8B-B14F-4D97-AF65-F5344CB8AC3E}">
        <p14:creationId xmlns:p14="http://schemas.microsoft.com/office/powerpoint/2010/main" val="1247525229"/>
      </p:ext>
    </p:extLst>
  </p:cSld>
</p:sld>
</file>

<file path=ppt/slides/slide2.xml><?xml version="1.0" encoding="utf-8"?>
<p:sld xmlns:p="http://schemas.openxmlformats.org/presentationml/2006/main">
  <p:cSld>
    <p:bg>
      <p:bgPr>
        <a:solidFill xmlns:a="http://schemas.openxmlformats.org/drawingml/2006/main">
          <a:srgbClr val="101B2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13D5636-49A5-4DA1-A167-A41888A26363}"/>
              </a:ext>
            </a:extLst>
          </p:cNvPr>
          <p:cNvSpPr>
            <a:spLocks xmlns:a="http://schemas.openxmlformats.org/drawingml/2006/main" noGrp="1"/>
          </p:cNvSpPr>
          <p:nvPr/>
        </p:nvSpPr>
        <p:spPr>
          <a:xfrm xmlns:a="http://schemas.openxmlformats.org/drawingml/2006/main">
            <a:off x="609600" y="40957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F2F5FA"/>
                </a:solidFill>
                <a:latin typeface="Arial"/>
                <a:ea typeface="Arial"/>
                <a:cs typeface="Arial"/>
              </a:defRPr>
            </a:pPr>
            <a:r>
              <a:rPr sz="3300" b="1">
                <a:solidFill>
                  <a:srgbClr val="F2F5FA"/>
                </a:solidFill>
                <a:latin typeface="Arial"/>
                <a:ea typeface="Arial"/>
                <a:cs typeface="Arial"/>
              </a:rPr>
              <a:t>Dữ liệu trước và sau gộp</a:t>
            </a:r>
          </a:p>
        </p:txBody>
      </p:sp>
      <p:sp>
        <p:nvSpPr>
          <p:cNvPr id="2" name="">
            <a:extLst xmlns:a="http://schemas.openxmlformats.org/drawingml/2006/main">
              <a:ext uri="{FF2B5EF4-FFF2-40B4-BE49-F238E27FC236}">
                <a16:creationId xmlns:a16="http://schemas.microsoft.com/office/drawing/2014/main" id="{159BBAB1-0B5A-4E3C-8E65-C2826D3B7FF1}"/>
              </a:ext>
            </a:extLst>
          </p:cNvPr>
          <p:cNvSpPr>
            <a:spLocks xmlns:a="http://schemas.openxmlformats.org/drawingml/2006/main" noGrp="1"/>
          </p:cNvSpPr>
          <p:nvPr/>
        </p:nvSpPr>
        <p:spPr>
          <a:xfrm xmlns:a="http://schemas.openxmlformats.org/drawingml/2006/main">
            <a:off x="10991850" y="6343650"/>
            <a:ext cx="590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BBC9DA"/>
                </a:solidFill>
                <a:latin typeface="Arial"/>
                <a:ea typeface="Arial"/>
                <a:cs typeface="Arial"/>
              </a:defRPr>
            </a:pPr>
            <a:r>
              <a:rPr sz="1500" b="0">
                <a:solidFill>
                  <a:srgbClr val="BBC9DA"/>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63AC77E2-F446-4B3D-94F7-E56F3C3D065F}"/>
              </a:ext>
            </a:extLst>
          </p:cNvPr>
          <p:cNvSpPr>
            <a:spLocks xmlns:a="http://schemas.openxmlformats.org/drawingml/2006/main" noGrp="1"/>
          </p:cNvSpPr>
          <p:nvPr/>
        </p:nvSpPr>
        <p:spPr>
          <a:xfrm xmlns:a="http://schemas.openxmlformats.org/drawingml/2006/main">
            <a:off x="609600" y="11620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78C7FF"/>
                </a:solidFill>
                <a:latin typeface="Arial"/>
                <a:ea typeface="Arial"/>
                <a:cs typeface="Arial"/>
              </a:defRPr>
            </a:pPr>
            <a:r>
              <a:rPr sz="1950" b="0">
                <a:solidFill>
                  <a:srgbClr val="78C7FF"/>
                </a:solidFill>
                <a:latin typeface="Arial"/>
                <a:ea typeface="Arial"/>
                <a:cs typeface="Arial"/>
              </a:rPr>
              <a:t>Trước: bộ 30/9. Sau: bộ gộp 01/10 gồm cả nguồn cũ và mới.</a:t>
            </a:r>
          </a:p>
        </p:txBody>
      </p:sp>
      <p:graphicFrame>
        <p:nvGraphicFramePr>
          <p:cNvPr id="14" name=""/>
          <p:cNvGraphicFramePr/>
          <p:nvPr/>
        </p:nvGraphicFramePr>
        <p:xfrm>
          <a:off xmlns:a="http://schemas.openxmlformats.org/drawingml/2006/main" x="609600" y="1828800"/>
          <a:ext xmlns:a="http://schemas.openxmlformats.org/drawingml/2006/main" cx="6819900" cy="3200400"/>
        </p:xfrm>
        <a:graphic xmlns:a="http://schemas.openxmlformats.org/drawingml/2006/main">
          <a:graphicData uri="http://schemas.openxmlformats.org/drawingml/2006/table">
            <a:tbl>
              <a:tblPr firstRow="1" bandRow="0"/>
              <a:tblGrid>
                <a:gridCol w="3238500"/>
                <a:gridCol w="1485900"/>
                <a:gridCol w="2095500"/>
              </a:tblGrid>
              <a:tr h="533400">
                <a:tc>
                  <a:txBody>
                    <a:bodyPr>
                      <a:noAutofit/>
                    </a:bodyPr>
                    <a:lstStyle/>
                    <a:p>
                      <a:r>
                        <a:rPr sz="1950" b="1">
                          <a:solidFill>
                            <a:srgbClr val="78C7FF"/>
                          </a:solidFill>
                          <a:latin typeface="Arial"/>
                          <a:ea typeface="Arial"/>
                          <a:cs typeface="Arial"/>
                        </a:rPr>
                        <a:t>Tập</a:t>
                      </a:r>
                    </a:p>
                  </a:txBody>
                  <a:tcPr marL="152400" marR="114300" marT="38100" marB="38100" anchor="ctr">
                    <a:solidFill>
                      <a:srgbClr val="203A54"/>
                    </a:solidFill>
                  </a:tcPr>
                </a:tc>
                <a:tc>
                  <a:txBody>
                    <a:bodyPr>
                      <a:noAutofit/>
                    </a:bodyPr>
                    <a:lstStyle/>
                    <a:p>
                      <a:r>
                        <a:rPr sz="1950" b="1">
                          <a:solidFill>
                            <a:srgbClr val="78C7FF"/>
                          </a:solidFill>
                          <a:latin typeface="Arial"/>
                          <a:ea typeface="Arial"/>
                          <a:cs typeface="Arial"/>
                        </a:rPr>
                        <a:t>Trước</a:t>
                      </a:r>
                    </a:p>
                  </a:txBody>
                  <a:tcPr marL="152400" marR="114300" marT="38100" marB="38100" anchor="ctr">
                    <a:solidFill>
                      <a:srgbClr val="203A54"/>
                    </a:solidFill>
                  </a:tcPr>
                </a:tc>
                <a:tc>
                  <a:txBody>
                    <a:bodyPr>
                      <a:noAutofit/>
                    </a:bodyPr>
                    <a:lstStyle/>
                    <a:p>
                      <a:r>
                        <a:rPr sz="1950" b="1">
                          <a:solidFill>
                            <a:srgbClr val="78C7FF"/>
                          </a:solidFill>
                          <a:latin typeface="Arial"/>
                          <a:ea typeface="Arial"/>
                          <a:cs typeface="Arial"/>
                        </a:rPr>
                        <a:t>Sau</a:t>
                      </a:r>
                    </a:p>
                  </a:txBody>
                  <a:tcPr marL="152400" marR="114300" marT="38100" marB="38100" anchor="ctr">
                    <a:solidFill>
                      <a:srgbClr val="203A54"/>
                    </a:solidFill>
                  </a:tcPr>
                </a:tc>
              </a:tr>
              <a:tr h="533400">
                <a:tc>
                  <a:txBody>
                    <a:bodyPr>
                      <a:noAutofit/>
                    </a:bodyPr>
                    <a:lstStyle/>
                    <a:p>
                      <a:r>
                        <a:rPr sz="1950" b="0">
                          <a:solidFill>
                            <a:srgbClr val="F2F5FA"/>
                          </a:solidFill>
                          <a:latin typeface="Arial"/>
                          <a:ea typeface="Arial"/>
                          <a:cs typeface="Arial"/>
                        </a:rPr>
                        <a:t>Train</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4.113</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20.404</a:t>
                      </a:r>
                    </a:p>
                  </a:txBody>
                  <a:tcPr marL="152400" marR="114300" marT="38100" marB="38100" anchor="ctr">
                    <a:solidFill>
                      <a:srgbClr val="101B2B"/>
                    </a:solidFill>
                  </a:tcPr>
                </a:tc>
              </a:tr>
              <a:tr h="533400">
                <a:tc>
                  <a:txBody>
                    <a:bodyPr>
                      <a:noAutofit/>
                    </a:bodyPr>
                    <a:lstStyle/>
                    <a:p>
                      <a:r>
                        <a:rPr sz="1950" b="0">
                          <a:solidFill>
                            <a:srgbClr val="F2F5FA"/>
                          </a:solidFill>
                          <a:latin typeface="Arial"/>
                          <a:ea typeface="Arial"/>
                          <a:cs typeface="Arial"/>
                        </a:rPr>
                        <a:t>Validation</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1.028</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3.697</a:t>
                      </a:r>
                    </a:p>
                  </a:txBody>
                  <a:tcPr marL="152400" marR="114300" marT="38100" marB="38100" anchor="ctr">
                    <a:solidFill>
                      <a:srgbClr val="101B2B"/>
                    </a:solidFill>
                  </a:tcPr>
                </a:tc>
              </a:tr>
              <a:tr h="533400">
                <a:tc>
                  <a:txBody>
                    <a:bodyPr>
                      <a:noAutofit/>
                    </a:bodyPr>
                    <a:lstStyle/>
                    <a:p>
                      <a:r>
                        <a:rPr sz="1950" b="0">
                          <a:solidFill>
                            <a:srgbClr val="F2F5FA"/>
                          </a:solidFill>
                          <a:latin typeface="Arial"/>
                          <a:ea typeface="Arial"/>
                          <a:cs typeface="Arial"/>
                        </a:rPr>
                        <a:t>Test chung</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1.473</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4.856</a:t>
                      </a:r>
                    </a:p>
                  </a:txBody>
                  <a:tcPr marL="152400" marR="114300" marT="38100" marB="38100" anchor="ctr">
                    <a:solidFill>
                      <a:srgbClr val="101B2B"/>
                    </a:solidFill>
                  </a:tcPr>
                </a:tc>
              </a:tr>
              <a:tr h="533400">
                <a:tc>
                  <a:txBody>
                    <a:bodyPr>
                      <a:noAutofit/>
                    </a:bodyPr>
                    <a:lstStyle/>
                    <a:p>
                      <a:r>
                        <a:rPr sz="1950" b="0">
                          <a:solidFill>
                            <a:srgbClr val="F2F5FA"/>
                          </a:solidFill>
                          <a:latin typeface="Arial"/>
                          <a:ea typeface="Arial"/>
                          <a:cs typeface="Arial"/>
                        </a:rPr>
                        <a:t>Test video cũ riêng</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415</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Đã gộp</a:t>
                      </a:r>
                    </a:p>
                  </a:txBody>
                  <a:tcPr marL="152400" marR="114300" marT="38100" marB="38100" anchor="ctr">
                    <a:solidFill>
                      <a:srgbClr val="101B2B"/>
                    </a:solidFill>
                  </a:tcPr>
                </a:tc>
              </a:tr>
              <a:tr h="533400">
                <a:tc>
                  <a:txBody>
                    <a:bodyPr>
                      <a:noAutofit/>
                    </a:bodyPr>
                    <a:lstStyle/>
                    <a:p>
                      <a:r>
                        <a:rPr sz="1950" b="1">
                          <a:solidFill>
                            <a:srgbClr val="65D6AA"/>
                          </a:solidFill>
                          <a:latin typeface="Arial"/>
                          <a:ea typeface="Arial"/>
                          <a:cs typeface="Arial"/>
                        </a:rPr>
                        <a:t>Tổng ảnh của bộ</a:t>
                      </a:r>
                    </a:p>
                  </a:txBody>
                  <a:tcPr marL="152400" marR="114300" marT="38100" marB="38100" anchor="ctr">
                    <a:solidFill>
                      <a:srgbClr val="101B2B"/>
                    </a:solidFill>
                  </a:tcPr>
                </a:tc>
                <a:tc>
                  <a:txBody>
                    <a:bodyPr>
                      <a:noAutofit/>
                    </a:bodyPr>
                    <a:lstStyle/>
                    <a:p>
                      <a:r>
                        <a:rPr sz="1950" b="1">
                          <a:solidFill>
                            <a:srgbClr val="65D6AA"/>
                          </a:solidFill>
                          <a:latin typeface="Arial"/>
                          <a:ea typeface="Arial"/>
                          <a:cs typeface="Arial"/>
                        </a:rPr>
                        <a:t>7.029</a:t>
                      </a:r>
                    </a:p>
                  </a:txBody>
                  <a:tcPr marL="152400" marR="114300" marT="38100" marB="38100" anchor="ctr">
                    <a:solidFill>
                      <a:srgbClr val="101B2B"/>
                    </a:solidFill>
                  </a:tcPr>
                </a:tc>
                <a:tc>
                  <a:txBody>
                    <a:bodyPr>
                      <a:noAutofit/>
                    </a:bodyPr>
                    <a:lstStyle/>
                    <a:p>
                      <a:r>
                        <a:rPr sz="1950" b="1">
                          <a:solidFill>
                            <a:srgbClr val="65D6AA"/>
                          </a:solidFill>
                          <a:latin typeface="Arial"/>
                          <a:ea typeface="Arial"/>
                          <a:cs typeface="Arial"/>
                        </a:rPr>
                        <a:t>28.957</a:t>
                      </a:r>
                    </a:p>
                  </a:txBody>
                  <a:tcPr marL="152400" marR="114300" marT="38100" marB="38100" anchor="ctr">
                    <a:solidFill>
                      <a:srgbClr val="101B2B"/>
                    </a:solidFill>
                  </a:tcPr>
                </a:tc>
              </a:tr>
            </a:tbl>
          </a:graphicData>
        </a:graphic>
      </p:graphicFrame>
      <p:sp>
        <p:nvSpPr>
          <p:cNvPr id="5" name="">
            <a:extLst xmlns:a="http://schemas.openxmlformats.org/drawingml/2006/main">
              <a:ext uri="{FF2B5EF4-FFF2-40B4-BE49-F238E27FC236}">
                <a16:creationId xmlns:a16="http://schemas.microsoft.com/office/drawing/2014/main" id="{D9C5D58C-D96E-492C-8797-C25E0107250A}"/>
              </a:ext>
            </a:extLst>
          </p:cNvPr>
          <p:cNvSpPr>
            <a:spLocks xmlns:a="http://schemas.openxmlformats.org/drawingml/2006/main" noGrp="1"/>
          </p:cNvSpPr>
          <p:nvPr/>
        </p:nvSpPr>
        <p:spPr>
          <a:xfrm xmlns:a="http://schemas.openxmlformats.org/drawingml/2006/main">
            <a:off x="8001000" y="1847850"/>
            <a:ext cx="3581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65D6AA"/>
                </a:solidFill>
                <a:latin typeface="Arial"/>
                <a:ea typeface="Arial"/>
                <a:cs typeface="Arial"/>
              </a:defRPr>
            </a:pPr>
            <a:r>
              <a:rPr sz="3600" b="1">
                <a:solidFill>
                  <a:srgbClr val="65D6AA"/>
                </a:solidFill>
                <a:latin typeface="Arial"/>
                <a:ea typeface="Arial"/>
                <a:cs typeface="Arial"/>
              </a:rPr>
              <a:t>28.957 ảnh</a:t>
            </a:r>
          </a:p>
        </p:txBody>
      </p:sp>
      <p:sp>
        <p:nvSpPr>
          <p:cNvPr id="6" name="">
            <a:extLst xmlns:a="http://schemas.openxmlformats.org/drawingml/2006/main">
              <a:ext uri="{FF2B5EF4-FFF2-40B4-BE49-F238E27FC236}">
                <a16:creationId xmlns:a16="http://schemas.microsoft.com/office/drawing/2014/main" id="{1BF01439-DC22-4F5C-9756-887AC5A0B6C5}"/>
              </a:ext>
            </a:extLst>
          </p:cNvPr>
          <p:cNvSpPr>
            <a:spLocks xmlns:a="http://schemas.openxmlformats.org/drawingml/2006/main" noGrp="1"/>
          </p:cNvSpPr>
          <p:nvPr/>
        </p:nvSpPr>
        <p:spPr>
          <a:xfrm xmlns:a="http://schemas.openxmlformats.org/drawingml/2006/main">
            <a:off x="8001000" y="2686050"/>
            <a:ext cx="3581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F2F5FA"/>
                </a:solidFill>
                <a:latin typeface="Arial"/>
                <a:ea typeface="Arial"/>
                <a:cs typeface="Arial"/>
              </a:defRPr>
            </a:pPr>
            <a:r>
              <a:rPr sz="2175" b="1">
                <a:solidFill>
                  <a:srgbClr val="F2F5FA"/>
                </a:solidFill>
                <a:latin typeface="Arial"/>
                <a:ea typeface="Arial"/>
                <a:cs typeface="Arial"/>
              </a:rPr>
              <a:t>Bộ sau có cả</a:t>
            </a:r>
          </a:p>
          <a:p xmlns:a="http://schemas.openxmlformats.org/drawingml/2006/main">
            <a:pPr>
              <a:buNone/>
              <a:defRPr sz="2175" b="1">
                <a:solidFill>
                  <a:srgbClr val="F2F5FA"/>
                </a:solidFill>
                <a:latin typeface="Arial"/>
                <a:ea typeface="Arial"/>
                <a:cs typeface="Arial"/>
              </a:defRPr>
            </a:pPr>
            <a:r>
              <a:rPr sz="2175" b="1">
                <a:solidFill>
                  <a:srgbClr val="F2F5FA"/>
                </a:solidFill>
                <a:latin typeface="Arial"/>
                <a:ea typeface="Arial"/>
                <a:cs typeface="Arial"/>
              </a:rPr>
              <a:t>ảnh cũ và mới</a:t>
            </a:r>
          </a:p>
        </p:txBody>
      </p:sp>
      <p:sp>
        <p:nvSpPr>
          <p:cNvPr id="7" name="">
            <a:extLst xmlns:a="http://schemas.openxmlformats.org/drawingml/2006/main">
              <a:ext uri="{FF2B5EF4-FFF2-40B4-BE49-F238E27FC236}">
                <a16:creationId xmlns:a16="http://schemas.microsoft.com/office/drawing/2014/main" id="{EAC4A576-CE56-4DDF-AE13-EA928E7E3604}"/>
              </a:ext>
            </a:extLst>
          </p:cNvPr>
          <p:cNvSpPr>
            <a:spLocks xmlns:a="http://schemas.openxmlformats.org/drawingml/2006/main" noGrp="1"/>
          </p:cNvSpPr>
          <p:nvPr/>
        </p:nvSpPr>
        <p:spPr>
          <a:xfrm xmlns:a="http://schemas.openxmlformats.org/drawingml/2006/main">
            <a:off x="8001000" y="3762375"/>
            <a:ext cx="35814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BBC9DA"/>
                </a:solidFill>
                <a:latin typeface="Arial"/>
                <a:ea typeface="Arial"/>
                <a:cs typeface="Arial"/>
              </a:defRPr>
            </a:pPr>
            <a:r>
              <a:rPr sz="2025" b="0">
                <a:solidFill>
                  <a:srgbClr val="BBC9DA"/>
                </a:solidFill>
                <a:latin typeface="Arial"/>
                <a:ea typeface="Arial"/>
                <a:cs typeface="Arial"/>
              </a:rPr>
              <a:t>Chạy 12 epoch.</a:t>
            </a:r>
          </a:p>
          <a:p xmlns:a="http://schemas.openxmlformats.org/drawingml/2006/main">
            <a:pPr>
              <a:buNone/>
              <a:defRPr sz="2025" b="0">
                <a:solidFill>
                  <a:srgbClr val="BBC9DA"/>
                </a:solidFill>
                <a:latin typeface="Arial"/>
                <a:ea typeface="Arial"/>
                <a:cs typeface="Arial"/>
              </a:defRPr>
            </a:pPr>
            <a:r>
              <a:rPr sz="2025" b="0">
                <a:solidFill>
                  <a:srgbClr val="BBC9DA"/>
                </a:solidFill>
                <a:latin typeface="Arial"/>
                <a:ea typeface="Arial"/>
                <a:cs typeface="Arial"/>
              </a:rPr>
              <a:t>Chọn epoch 4.</a:t>
            </a:r>
          </a:p>
          <a:p xmlns:a="http://schemas.openxmlformats.org/drawingml/2006/main">
            <a:pPr>
              <a:buNone/>
              <a:defRPr sz="2025" b="0">
                <a:solidFill>
                  <a:srgbClr val="BBC9DA"/>
                </a:solidFill>
                <a:latin typeface="Arial"/>
                <a:ea typeface="Arial"/>
                <a:cs typeface="Arial"/>
              </a:defRPr>
            </a:pPr>
            <a:r>
              <a:rPr sz="2025" b="0">
                <a:solidFill>
                  <a:srgbClr val="BBC9DA"/>
                </a:solidFill>
                <a:latin typeface="Arial"/>
                <a:ea typeface="Arial"/>
                <a:cs typeface="Arial"/>
              </a:rPr>
              <a:t>Chọn theo validation loss.</a:t>
            </a:r>
          </a:p>
        </p:txBody>
      </p:sp>
      <p:sp>
        <p:nvSpPr>
          <p:cNvPr id="8" name="">
            <a:extLst xmlns:a="http://schemas.openxmlformats.org/drawingml/2006/main">
              <a:ext uri="{FF2B5EF4-FFF2-40B4-BE49-F238E27FC236}">
                <a16:creationId xmlns:a16="http://schemas.microsoft.com/office/drawing/2014/main" id="{94C459B6-3ACB-4485-A83D-3D5AE288BDCD}"/>
              </a:ext>
            </a:extLst>
          </p:cNvPr>
          <p:cNvSpPr>
            <a:spLocks xmlns:a="http://schemas.openxmlformats.org/drawingml/2006/main" noGrp="1"/>
          </p:cNvSpPr>
          <p:nvPr/>
        </p:nvSpPr>
        <p:spPr>
          <a:xfrm xmlns:a="http://schemas.openxmlformats.org/drawingml/2006/main">
            <a:off x="609600" y="5657850"/>
            <a:ext cx="1047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BBC9DA"/>
                </a:solidFill>
                <a:latin typeface="Arial"/>
                <a:ea typeface="Arial"/>
                <a:cs typeface="Arial"/>
              </a:defRPr>
            </a:pPr>
            <a:r>
              <a:rPr sz="1875" b="0">
                <a:solidFill>
                  <a:srgbClr val="BBC9DA"/>
                </a:solidFill>
                <a:latin typeface="Arial"/>
                <a:ea typeface="Arial"/>
                <a:cs typeface="Arial"/>
              </a:rPr>
              <a:t>Bộ sau: 24.032 ảnh cũ + 4.925 ảnh video mới.</a:t>
            </a:r>
          </a:p>
          <a:p xmlns:a="http://schemas.openxmlformats.org/drawingml/2006/main">
            <a:pPr>
              <a:buNone/>
              <a:defRPr sz="1875" b="0">
                <a:solidFill>
                  <a:srgbClr val="BBC9DA"/>
                </a:solidFill>
                <a:latin typeface="Arial"/>
                <a:ea typeface="Arial"/>
                <a:cs typeface="Arial"/>
              </a:defRPr>
            </a:pPr>
            <a:r>
              <a:rPr sz="1875" b="0">
                <a:solidFill>
                  <a:srgbClr val="BBC9DA"/>
                </a:solidFill>
                <a:latin typeface="Arial"/>
                <a:ea typeface="Arial"/>
                <a:cs typeface="Arial"/>
              </a:rPr>
              <a:t>Rà toàn bộ ảnh cũ, bỏ giới hạn 100 khung/video cho nguồn mới.</a:t>
            </a:r>
          </a:p>
        </p:txBody>
      </p:sp>
    </p:spTree>
    <p:extLst>
      <p:ext uri="{BB962C8B-B14F-4D97-AF65-F5344CB8AC3E}">
        <p14:creationId xmlns:p14="http://schemas.microsoft.com/office/powerpoint/2010/main" val="171552217"/>
      </p:ext>
    </p:extLst>
  </p:cSld>
</p:sld>
</file>

<file path=ppt/slides/slide3.xml><?xml version="1.0" encoding="utf-8"?>
<p:sld xmlns:p="http://schemas.openxmlformats.org/presentationml/2006/main">
  <p:cSld>
    <p:bg>
      <p:bgPr>
        <a:solidFill xmlns:a="http://schemas.openxmlformats.org/drawingml/2006/main">
          <a:srgbClr val="101B2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509F00D-EF38-4DCC-800A-70E0A3BE678A}"/>
              </a:ext>
            </a:extLst>
          </p:cNvPr>
          <p:cNvSpPr>
            <a:spLocks xmlns:a="http://schemas.openxmlformats.org/drawingml/2006/main" noGrp="1"/>
          </p:cNvSpPr>
          <p:nvPr/>
        </p:nvSpPr>
        <p:spPr>
          <a:xfrm xmlns:a="http://schemas.openxmlformats.org/drawingml/2006/main">
            <a:off x="609600" y="40957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F2F5FA"/>
                </a:solidFill>
                <a:latin typeface="Arial"/>
                <a:ea typeface="Arial"/>
                <a:cs typeface="Arial"/>
              </a:defRPr>
            </a:pPr>
            <a:r>
              <a:rPr sz="3300" b="1">
                <a:solidFill>
                  <a:srgbClr val="F2F5FA"/>
                </a:solidFill>
                <a:latin typeface="Arial"/>
                <a:ea typeface="Arial"/>
                <a:cs typeface="Arial"/>
              </a:rPr>
              <a:t>Kết quả trước và sau gộp</a:t>
            </a:r>
          </a:p>
        </p:txBody>
      </p:sp>
      <p:sp>
        <p:nvSpPr>
          <p:cNvPr id="2" name="">
            <a:extLst xmlns:a="http://schemas.openxmlformats.org/drawingml/2006/main">
              <a:ext uri="{FF2B5EF4-FFF2-40B4-BE49-F238E27FC236}">
                <a16:creationId xmlns:a16="http://schemas.microsoft.com/office/drawing/2014/main" id="{322A32DC-1E91-4A81-9B73-B4FDA8C5DBEA}"/>
              </a:ext>
            </a:extLst>
          </p:cNvPr>
          <p:cNvSpPr>
            <a:spLocks xmlns:a="http://schemas.openxmlformats.org/drawingml/2006/main" noGrp="1"/>
          </p:cNvSpPr>
          <p:nvPr/>
        </p:nvSpPr>
        <p:spPr>
          <a:xfrm xmlns:a="http://schemas.openxmlformats.org/drawingml/2006/main">
            <a:off x="10991850" y="6343650"/>
            <a:ext cx="590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BBC9DA"/>
                </a:solidFill>
                <a:latin typeface="Arial"/>
                <a:ea typeface="Arial"/>
                <a:cs typeface="Arial"/>
              </a:defRPr>
            </a:pPr>
            <a:r>
              <a:rPr sz="1500" b="0">
                <a:solidFill>
                  <a:srgbClr val="BBC9DA"/>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FFEE5C20-6E45-4A9E-B178-1E4971B44949}"/>
              </a:ext>
            </a:extLst>
          </p:cNvPr>
          <p:cNvSpPr>
            <a:spLocks xmlns:a="http://schemas.openxmlformats.org/drawingml/2006/main" noGrp="1"/>
          </p:cNvSpPr>
          <p:nvPr/>
        </p:nvSpPr>
        <p:spPr>
          <a:xfrm xmlns:a="http://schemas.openxmlformats.org/drawingml/2006/main">
            <a:off x="609600" y="1162050"/>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78C7FF"/>
                </a:solidFill>
                <a:latin typeface="Arial"/>
                <a:ea typeface="Arial"/>
                <a:cs typeface="Arial"/>
              </a:defRPr>
            </a:pPr>
            <a:r>
              <a:rPr sz="1950" b="0">
                <a:solidFill>
                  <a:srgbClr val="78C7FF"/>
                </a:solidFill>
                <a:latin typeface="Arial"/>
                <a:ea typeface="Arial"/>
                <a:cs typeface="Arial"/>
              </a:rPr>
              <a:t>Hai model cùng test chung: 4.856 ảnh từ 21 video.</a:t>
            </a:r>
          </a:p>
        </p:txBody>
      </p:sp>
      <p:graphicFrame>
        <p:nvGraphicFramePr>
          <p:cNvPr id="12" name=""/>
          <p:cNvGraphicFramePr/>
          <p:nvPr/>
        </p:nvGraphicFramePr>
        <p:xfrm>
          <a:off xmlns:a="http://schemas.openxmlformats.org/drawingml/2006/main" x="609600" y="1685925"/>
          <a:ext xmlns:a="http://schemas.openxmlformats.org/drawingml/2006/main" cx="10972800" cy="3962400"/>
        </p:xfrm>
        <a:graphic xmlns:a="http://schemas.openxmlformats.org/drawingml/2006/main">
          <a:graphicData uri="http://schemas.openxmlformats.org/drawingml/2006/table">
            <a:tbl>
              <a:tblPr firstRow="1" bandRow="0"/>
              <a:tblGrid>
                <a:gridCol w="4953000"/>
                <a:gridCol w="3009900"/>
                <a:gridCol w="3009900"/>
              </a:tblGrid>
              <a:tr h="495300">
                <a:tc>
                  <a:txBody>
                    <a:bodyPr>
                      <a:noAutofit/>
                    </a:bodyPr>
                    <a:lstStyle/>
                    <a:p>
                      <a:r>
                        <a:rPr sz="1950" b="1">
                          <a:solidFill>
                            <a:srgbClr val="78C7FF"/>
                          </a:solidFill>
                          <a:latin typeface="Arial"/>
                          <a:ea typeface="Arial"/>
                          <a:cs typeface="Arial"/>
                        </a:rPr>
                        <a:t>Chỉ số</a:t>
                      </a:r>
                    </a:p>
                  </a:txBody>
                  <a:tcPr marL="152400" marR="114300" marT="38100" marB="38100" anchor="ctr">
                    <a:solidFill>
                      <a:srgbClr val="203A54"/>
                    </a:solidFill>
                  </a:tcPr>
                </a:tc>
                <a:tc>
                  <a:txBody>
                    <a:bodyPr>
                      <a:noAutofit/>
                    </a:bodyPr>
                    <a:lstStyle/>
                    <a:p>
                      <a:r>
                        <a:rPr sz="1950" b="1">
                          <a:solidFill>
                            <a:srgbClr val="78C7FF"/>
                          </a:solidFill>
                          <a:latin typeface="Arial"/>
                          <a:ea typeface="Arial"/>
                          <a:cs typeface="Arial"/>
                        </a:rPr>
                        <a:t>Trước (30/9)</a:t>
                      </a:r>
                    </a:p>
                  </a:txBody>
                  <a:tcPr marL="152400" marR="114300" marT="38100" marB="38100" anchor="ctr">
                    <a:solidFill>
                      <a:srgbClr val="203A54"/>
                    </a:solidFill>
                  </a:tcPr>
                </a:tc>
                <a:tc>
                  <a:txBody>
                    <a:bodyPr>
                      <a:noAutofit/>
                    </a:bodyPr>
                    <a:lstStyle/>
                    <a:p>
                      <a:r>
                        <a:rPr sz="1950" b="1">
                          <a:solidFill>
                            <a:srgbClr val="78C7FF"/>
                          </a:solidFill>
                          <a:latin typeface="Arial"/>
                          <a:ea typeface="Arial"/>
                          <a:cs typeface="Arial"/>
                        </a:rPr>
                        <a:t>Sau (01/10)</a:t>
                      </a:r>
                    </a:p>
                  </a:txBody>
                  <a:tcPr marL="152400" marR="114300" marT="38100" marB="38100" anchor="ctr">
                    <a:solidFill>
                      <a:srgbClr val="203A54"/>
                    </a:solidFill>
                  </a:tcPr>
                </a:tc>
              </a:tr>
              <a:tr h="495300">
                <a:tc>
                  <a:txBody>
                    <a:bodyPr>
                      <a:noAutofit/>
                    </a:bodyPr>
                    <a:lstStyle/>
                    <a:p>
                      <a:r>
                        <a:rPr sz="1950" b="0">
                          <a:solidFill>
                            <a:srgbClr val="F2F5FA"/>
                          </a:solidFill>
                          <a:latin typeface="Arial"/>
                          <a:ea typeface="Arial"/>
                          <a:cs typeface="Arial"/>
                        </a:rPr>
                        <a:t>Precision macro</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91,84%</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90,22%</a:t>
                      </a:r>
                    </a:p>
                  </a:txBody>
                  <a:tcPr marL="152400" marR="114300" marT="38100" marB="38100" anchor="ctr">
                    <a:solidFill>
                      <a:srgbClr val="101B2B"/>
                    </a:solidFill>
                  </a:tcPr>
                </a:tc>
              </a:tr>
              <a:tr h="495300">
                <a:tc>
                  <a:txBody>
                    <a:bodyPr>
                      <a:noAutofit/>
                    </a:bodyPr>
                    <a:lstStyle/>
                    <a:p>
                      <a:r>
                        <a:rPr sz="1950" b="0">
                          <a:solidFill>
                            <a:srgbClr val="F2F5FA"/>
                          </a:solidFill>
                          <a:latin typeface="Arial"/>
                          <a:ea typeface="Arial"/>
                          <a:cs typeface="Arial"/>
                        </a:rPr>
                        <a:t>Recall macro</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91,97%</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90,66%</a:t>
                      </a:r>
                    </a:p>
                  </a:txBody>
                  <a:tcPr marL="152400" marR="114300" marT="38100" marB="38100" anchor="ctr">
                    <a:solidFill>
                      <a:srgbClr val="101B2B"/>
                    </a:solidFill>
                  </a:tcPr>
                </a:tc>
              </a:tr>
              <a:tr h="495300">
                <a:tc>
                  <a:txBody>
                    <a:bodyPr>
                      <a:noAutofit/>
                    </a:bodyPr>
                    <a:lstStyle/>
                    <a:p>
                      <a:r>
                        <a:rPr sz="1950" b="1">
                          <a:solidFill>
                            <a:srgbClr val="FFCB79"/>
                          </a:solidFill>
                          <a:latin typeface="Arial"/>
                          <a:ea typeface="Arial"/>
                          <a:cs typeface="Arial"/>
                        </a:rPr>
                        <a:t>F1 macro</a:t>
                      </a:r>
                    </a:p>
                  </a:txBody>
                  <a:tcPr marL="152400" marR="114300" marT="38100" marB="38100" anchor="ctr">
                    <a:solidFill>
                      <a:srgbClr val="101B2B"/>
                    </a:solidFill>
                  </a:tcPr>
                </a:tc>
                <a:tc>
                  <a:txBody>
                    <a:bodyPr>
                      <a:noAutofit/>
                    </a:bodyPr>
                    <a:lstStyle/>
                    <a:p>
                      <a:r>
                        <a:rPr sz="1950" b="1">
                          <a:solidFill>
                            <a:srgbClr val="FFCB79"/>
                          </a:solidFill>
                          <a:latin typeface="Arial"/>
                          <a:ea typeface="Arial"/>
                          <a:cs typeface="Arial"/>
                        </a:rPr>
                        <a:t>91,90%</a:t>
                      </a:r>
                    </a:p>
                  </a:txBody>
                  <a:tcPr marL="152400" marR="114300" marT="38100" marB="38100" anchor="ctr">
                    <a:solidFill>
                      <a:srgbClr val="101B2B"/>
                    </a:solidFill>
                  </a:tcPr>
                </a:tc>
                <a:tc>
                  <a:txBody>
                    <a:bodyPr>
                      <a:noAutofit/>
                    </a:bodyPr>
                    <a:lstStyle/>
                    <a:p>
                      <a:r>
                        <a:rPr sz="1950" b="1">
                          <a:solidFill>
                            <a:srgbClr val="FFCB79"/>
                          </a:solidFill>
                          <a:latin typeface="Arial"/>
                          <a:ea typeface="Arial"/>
                          <a:cs typeface="Arial"/>
                        </a:rPr>
                        <a:t>89,88%</a:t>
                      </a:r>
                    </a:p>
                  </a:txBody>
                  <a:tcPr marL="152400" marR="114300" marT="38100" marB="38100" anchor="ctr">
                    <a:solidFill>
                      <a:srgbClr val="101B2B"/>
                    </a:solidFill>
                  </a:tcPr>
                </a:tc>
              </a:tr>
              <a:tr h="495300">
                <a:tc>
                  <a:txBody>
                    <a:bodyPr>
                      <a:noAutofit/>
                    </a:bodyPr>
                    <a:lstStyle/>
                    <a:p>
                      <a:r>
                        <a:rPr sz="1950" b="0">
                          <a:solidFill>
                            <a:srgbClr val="F2F5FA"/>
                          </a:solidFill>
                          <a:latin typeface="Arial"/>
                          <a:ea typeface="Arial"/>
                          <a:cs typeface="Arial"/>
                        </a:rPr>
                        <a:t>Accuracy test</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91,99%</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89,89%</a:t>
                      </a:r>
                    </a:p>
                  </a:txBody>
                  <a:tcPr marL="152400" marR="114300" marT="38100" marB="38100" anchor="ctr">
                    <a:solidFill>
                      <a:srgbClr val="101B2B"/>
                    </a:solidFill>
                  </a:tcPr>
                </a:tc>
              </a:tr>
              <a:tr h="495300">
                <a:tc>
                  <a:txBody>
                    <a:bodyPr>
                      <a:noAutofit/>
                    </a:bodyPr>
                    <a:lstStyle/>
                    <a:p>
                      <a:r>
                        <a:rPr sz="1950" b="0">
                          <a:solidFill>
                            <a:srgbClr val="F2F5FA"/>
                          </a:solidFill>
                          <a:latin typeface="Arial"/>
                          <a:ea typeface="Arial"/>
                          <a:cs typeface="Arial"/>
                        </a:rPr>
                        <a:t>Loss train (đánh giá)</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0,13608</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0,16342</a:t>
                      </a:r>
                    </a:p>
                  </a:txBody>
                  <a:tcPr marL="152400" marR="114300" marT="38100" marB="38100" anchor="ctr">
                    <a:solidFill>
                      <a:srgbClr val="101B2B"/>
                    </a:solidFill>
                  </a:tcPr>
                </a:tc>
              </a:tr>
              <a:tr h="495300">
                <a:tc>
                  <a:txBody>
                    <a:bodyPr>
                      <a:noAutofit/>
                    </a:bodyPr>
                    <a:lstStyle/>
                    <a:p>
                      <a:r>
                        <a:rPr sz="1950" b="0">
                          <a:solidFill>
                            <a:srgbClr val="F2F5FA"/>
                          </a:solidFill>
                          <a:latin typeface="Arial"/>
                          <a:ea typeface="Arial"/>
                          <a:cs typeface="Arial"/>
                        </a:rPr>
                        <a:t>Loss validation (đánh giá)</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0,06483</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0,15745</a:t>
                      </a:r>
                    </a:p>
                  </a:txBody>
                  <a:tcPr marL="152400" marR="114300" marT="38100" marB="38100" anchor="ctr">
                    <a:solidFill>
                      <a:srgbClr val="101B2B"/>
                    </a:solidFill>
                  </a:tcPr>
                </a:tc>
              </a:tr>
              <a:tr h="495300">
                <a:tc>
                  <a:txBody>
                    <a:bodyPr>
                      <a:noAutofit/>
                    </a:bodyPr>
                    <a:lstStyle/>
                    <a:p>
                      <a:r>
                        <a:rPr sz="1950" b="0">
                          <a:solidFill>
                            <a:srgbClr val="F2F5FA"/>
                          </a:solidFill>
                          <a:latin typeface="Arial"/>
                          <a:ea typeface="Arial"/>
                          <a:cs typeface="Arial"/>
                        </a:rPr>
                        <a:t>Loss test (đánh giá)</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0,17489</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0,28634</a:t>
                      </a:r>
                    </a:p>
                  </a:txBody>
                  <a:tcPr marL="152400" marR="114300" marT="38100" marB="38100" anchor="ctr">
                    <a:solidFill>
                      <a:srgbClr val="101B2B"/>
                    </a:solidFill>
                  </a:tcPr>
                </a:tc>
              </a:tr>
            </a:tbl>
          </a:graphicData>
        </a:graphic>
      </p:graphicFrame>
      <p:sp>
        <p:nvSpPr>
          <p:cNvPr id="5" name="">
            <a:extLst xmlns:a="http://schemas.openxmlformats.org/drawingml/2006/main">
              <a:ext uri="{FF2B5EF4-FFF2-40B4-BE49-F238E27FC236}">
                <a16:creationId xmlns:a16="http://schemas.microsoft.com/office/drawing/2014/main" id="{435317D4-77DF-4BBE-927E-722DDD1AC57C}"/>
              </a:ext>
            </a:extLst>
          </p:cNvPr>
          <p:cNvSpPr>
            <a:spLocks xmlns:a="http://schemas.openxmlformats.org/drawingml/2006/main" noGrp="1"/>
          </p:cNvSpPr>
          <p:nvPr/>
        </p:nvSpPr>
        <p:spPr>
          <a:xfrm xmlns:a="http://schemas.openxmlformats.org/drawingml/2006/main">
            <a:off x="609600" y="57340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FFCB79"/>
                </a:solidFill>
                <a:latin typeface="Arial"/>
                <a:ea typeface="Arial"/>
                <a:cs typeface="Arial"/>
              </a:defRPr>
            </a:pPr>
            <a:r>
              <a:rPr sz="2025" b="1">
                <a:solidFill>
                  <a:srgbClr val="FFCB79"/>
                </a:solidFill>
                <a:latin typeface="Arial"/>
                <a:ea typeface="Arial"/>
                <a:cs typeface="Arial"/>
              </a:rPr>
              <a:t>Ảnh giả bị nhận thành thật: trước 213/2704, sau 437/2704</a:t>
            </a:r>
          </a:p>
        </p:txBody>
      </p:sp>
      <p:sp>
        <p:nvSpPr>
          <p:cNvPr id="6" name="">
            <a:extLst xmlns:a="http://schemas.openxmlformats.org/drawingml/2006/main">
              <a:ext uri="{FF2B5EF4-FFF2-40B4-BE49-F238E27FC236}">
                <a16:creationId xmlns:a16="http://schemas.microsoft.com/office/drawing/2014/main" id="{D8AFAA26-2C33-414C-BD05-7211650FE0BA}"/>
              </a:ext>
            </a:extLst>
          </p:cNvPr>
          <p:cNvSpPr>
            <a:spLocks xmlns:a="http://schemas.openxmlformats.org/drawingml/2006/main" noGrp="1"/>
          </p:cNvSpPr>
          <p:nvPr/>
        </p:nvSpPr>
        <p:spPr>
          <a:xfrm xmlns:a="http://schemas.openxmlformats.org/drawingml/2006/main">
            <a:off x="609600" y="6115050"/>
            <a:ext cx="10477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BBC9DA"/>
                </a:solidFill>
                <a:latin typeface="Arial"/>
                <a:ea typeface="Arial"/>
                <a:cs typeface="Arial"/>
              </a:defRPr>
            </a:pPr>
            <a:r>
              <a:rPr sz="1800" b="0">
                <a:solidFill>
                  <a:srgbClr val="BBC9DA"/>
                </a:solidFill>
                <a:latin typeface="Arial"/>
                <a:ea typeface="Arial"/>
                <a:cs typeface="Arial"/>
              </a:rPr>
              <a:t>P/R/F1: macro, chọn lớp có điểm cao nhất. Loss: ảnh gốc.</a:t>
            </a:r>
          </a:p>
          <a:p xmlns:a="http://schemas.openxmlformats.org/drawingml/2006/main">
            <a:pPr>
              <a:buNone/>
              <a:defRPr sz="1800" b="0">
                <a:solidFill>
                  <a:srgbClr val="BBC9DA"/>
                </a:solidFill>
                <a:latin typeface="Arial"/>
                <a:ea typeface="Arial"/>
                <a:cs typeface="Arial"/>
              </a:defRPr>
            </a:pPr>
            <a:r>
              <a:rPr sz="1800" b="0">
                <a:solidFill>
                  <a:srgbClr val="BBC9DA"/>
                </a:solidFill>
                <a:latin typeface="Arial"/>
                <a:ea typeface="Arial"/>
                <a:cs typeface="Arial"/>
              </a:rPr>
              <a:t>Validation trước đã từng dùng một phần nguồn để train.</a:t>
            </a:r>
          </a:p>
        </p:txBody>
      </p:sp>
    </p:spTree>
    <p:extLst>
      <p:ext uri="{BB962C8B-B14F-4D97-AF65-F5344CB8AC3E}">
        <p14:creationId xmlns:p14="http://schemas.microsoft.com/office/powerpoint/2010/main" val="1315604507"/>
      </p:ext>
    </p:extLst>
  </p:cSld>
</p:sld>
</file>

<file path=ppt/slides/slide4.xml><?xml version="1.0" encoding="utf-8"?>
<p:sld xmlns:p="http://schemas.openxmlformats.org/presentationml/2006/main">
  <p:cSld>
    <p:bg>
      <p:bgPr>
        <a:solidFill xmlns:a="http://schemas.openxmlformats.org/drawingml/2006/main">
          <a:srgbClr val="101B2B"/>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13A75DE-14A8-4CDD-8758-7138E5D9D3A9}"/>
              </a:ext>
            </a:extLst>
          </p:cNvPr>
          <p:cNvSpPr>
            <a:spLocks xmlns:a="http://schemas.openxmlformats.org/drawingml/2006/main" noGrp="1"/>
          </p:cNvSpPr>
          <p:nvPr/>
        </p:nvSpPr>
        <p:spPr>
          <a:xfrm xmlns:a="http://schemas.openxmlformats.org/drawingml/2006/main">
            <a:off x="609600" y="40957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F2F5FA"/>
                </a:solidFill>
                <a:latin typeface="Arial"/>
                <a:ea typeface="Arial"/>
                <a:cs typeface="Arial"/>
              </a:defRPr>
            </a:pPr>
            <a:r>
              <a:rPr sz="3300" b="1">
                <a:solidFill>
                  <a:srgbClr val="F2F5FA"/>
                </a:solidFill>
                <a:latin typeface="Arial"/>
                <a:ea typeface="Arial"/>
                <a:cs typeface="Arial"/>
              </a:rPr>
              <a:t>Kết quả theo nguồn và kiểm tra API</a:t>
            </a:r>
          </a:p>
        </p:txBody>
      </p:sp>
      <p:sp>
        <p:nvSpPr>
          <p:cNvPr id="2" name="">
            <a:extLst xmlns:a="http://schemas.openxmlformats.org/drawingml/2006/main">
              <a:ext uri="{FF2B5EF4-FFF2-40B4-BE49-F238E27FC236}">
                <a16:creationId xmlns:a16="http://schemas.microsoft.com/office/drawing/2014/main" id="{448C59BE-CE0C-4453-847B-0ED7971F9B2D}"/>
              </a:ext>
            </a:extLst>
          </p:cNvPr>
          <p:cNvSpPr>
            <a:spLocks xmlns:a="http://schemas.openxmlformats.org/drawingml/2006/main" noGrp="1"/>
          </p:cNvSpPr>
          <p:nvPr/>
        </p:nvSpPr>
        <p:spPr>
          <a:xfrm xmlns:a="http://schemas.openxmlformats.org/drawingml/2006/main">
            <a:off x="10991850" y="6343650"/>
            <a:ext cx="590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BBC9DA"/>
                </a:solidFill>
                <a:latin typeface="Arial"/>
                <a:ea typeface="Arial"/>
                <a:cs typeface="Arial"/>
              </a:defRPr>
            </a:pPr>
            <a:r>
              <a:rPr sz="1500" b="0">
                <a:solidFill>
                  <a:srgbClr val="BBC9DA"/>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76979EED-F1A9-4AF7-8368-767E1B0B0A25}"/>
              </a:ext>
            </a:extLst>
          </p:cNvPr>
          <p:cNvSpPr>
            <a:spLocks xmlns:a="http://schemas.openxmlformats.org/drawingml/2006/main" noGrp="1"/>
          </p:cNvSpPr>
          <p:nvPr/>
        </p:nvSpPr>
        <p:spPr>
          <a:xfrm xmlns:a="http://schemas.openxmlformats.org/drawingml/2006/main">
            <a:off x="609600" y="11620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78C7FF"/>
                </a:solidFill>
                <a:latin typeface="Arial"/>
                <a:ea typeface="Arial"/>
                <a:cs typeface="Arial"/>
              </a:defRPr>
            </a:pPr>
            <a:r>
              <a:rPr sz="1950" b="0">
                <a:solidFill>
                  <a:srgbClr val="78C7FF"/>
                </a:solidFill>
                <a:latin typeface="Arial"/>
                <a:ea typeface="Arial"/>
                <a:cs typeface="Arial"/>
              </a:rPr>
              <a:t>Tách kết quả ảnh cũ và video mới để thấy mức thay đổi.</a:t>
            </a:r>
          </a:p>
        </p:txBody>
      </p:sp>
      <p:graphicFrame>
        <p:nvGraphicFramePr>
          <p:cNvPr id="15" name=""/>
          <p:cNvGraphicFramePr/>
          <p:nvPr/>
        </p:nvGraphicFramePr>
        <p:xfrm>
          <a:off xmlns:a="http://schemas.openxmlformats.org/drawingml/2006/main" x="609600" y="1819275"/>
          <a:ext xmlns:a="http://schemas.openxmlformats.org/drawingml/2006/main" cx="6819900" cy="2362200"/>
        </p:xfrm>
        <a:graphic xmlns:a="http://schemas.openxmlformats.org/drawingml/2006/main">
          <a:graphicData uri="http://schemas.openxmlformats.org/drawingml/2006/table">
            <a:tbl>
              <a:tblPr firstRow="1" bandRow="0"/>
              <a:tblGrid>
                <a:gridCol w="3848100"/>
                <a:gridCol w="1485900"/>
                <a:gridCol w="1485900"/>
              </a:tblGrid>
              <a:tr h="590550">
                <a:tc>
                  <a:txBody>
                    <a:bodyPr>
                      <a:noAutofit/>
                    </a:bodyPr>
                    <a:lstStyle/>
                    <a:p>
                      <a:r>
                        <a:rPr sz="1950" b="1">
                          <a:solidFill>
                            <a:srgbClr val="78C7FF"/>
                          </a:solidFill>
                          <a:latin typeface="Arial"/>
                          <a:ea typeface="Arial"/>
                          <a:cs typeface="Arial"/>
                        </a:rPr>
                        <a:t>Chỉ số</a:t>
                      </a:r>
                    </a:p>
                  </a:txBody>
                  <a:tcPr marL="152400" marR="114300" marT="38100" marB="38100" anchor="ctr">
                    <a:solidFill>
                      <a:srgbClr val="203A54"/>
                    </a:solidFill>
                  </a:tcPr>
                </a:tc>
                <a:tc>
                  <a:txBody>
                    <a:bodyPr>
                      <a:noAutofit/>
                    </a:bodyPr>
                    <a:lstStyle/>
                    <a:p>
                      <a:r>
                        <a:rPr sz="1950" b="1">
                          <a:solidFill>
                            <a:srgbClr val="78C7FF"/>
                          </a:solidFill>
                          <a:latin typeface="Arial"/>
                          <a:ea typeface="Arial"/>
                          <a:cs typeface="Arial"/>
                        </a:rPr>
                        <a:t>Trước</a:t>
                      </a:r>
                    </a:p>
                  </a:txBody>
                  <a:tcPr marL="152400" marR="114300" marT="38100" marB="38100" anchor="ctr">
                    <a:solidFill>
                      <a:srgbClr val="203A54"/>
                    </a:solidFill>
                  </a:tcPr>
                </a:tc>
                <a:tc>
                  <a:txBody>
                    <a:bodyPr>
                      <a:noAutofit/>
                    </a:bodyPr>
                    <a:lstStyle/>
                    <a:p>
                      <a:r>
                        <a:rPr sz="1950" b="1">
                          <a:solidFill>
                            <a:srgbClr val="78C7FF"/>
                          </a:solidFill>
                          <a:latin typeface="Arial"/>
                          <a:ea typeface="Arial"/>
                          <a:cs typeface="Arial"/>
                        </a:rPr>
                        <a:t>Sau</a:t>
                      </a:r>
                    </a:p>
                  </a:txBody>
                  <a:tcPr marL="152400" marR="114300" marT="38100" marB="38100" anchor="ctr">
                    <a:solidFill>
                      <a:srgbClr val="203A54"/>
                    </a:solidFill>
                  </a:tcPr>
                </a:tc>
              </a:tr>
              <a:tr h="590550">
                <a:tc>
                  <a:txBody>
                    <a:bodyPr>
                      <a:noAutofit/>
                    </a:bodyPr>
                    <a:lstStyle/>
                    <a:p>
                      <a:r>
                        <a:rPr sz="1950" b="0">
                          <a:solidFill>
                            <a:srgbClr val="F2F5FA"/>
                          </a:solidFill>
                          <a:latin typeface="Arial"/>
                          <a:ea typeface="Arial"/>
                          <a:cs typeface="Arial"/>
                        </a:rPr>
                        <a:t>F1 test ảnh cũ</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89,02%</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89,03%</a:t>
                      </a:r>
                    </a:p>
                  </a:txBody>
                  <a:tcPr marL="152400" marR="114300" marT="38100" marB="38100" anchor="ctr">
                    <a:solidFill>
                      <a:srgbClr val="101B2B"/>
                    </a:solidFill>
                  </a:tcPr>
                </a:tc>
              </a:tr>
              <a:tr h="590550">
                <a:tc>
                  <a:txBody>
                    <a:bodyPr>
                      <a:noAutofit/>
                    </a:bodyPr>
                    <a:lstStyle/>
                    <a:p>
                      <a:r>
                        <a:rPr sz="1950" b="0">
                          <a:solidFill>
                            <a:srgbClr val="F2F5FA"/>
                          </a:solidFill>
                          <a:latin typeface="Arial"/>
                          <a:ea typeface="Arial"/>
                          <a:cs typeface="Arial"/>
                        </a:rPr>
                        <a:t>F1 test video mới</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97,81%</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91,44%</a:t>
                      </a:r>
                    </a:p>
                  </a:txBody>
                  <a:tcPr marL="152400" marR="114300" marT="38100" marB="38100" anchor="ctr">
                    <a:solidFill>
                      <a:srgbClr val="101B2B"/>
                    </a:solidFill>
                  </a:tcPr>
                </a:tc>
              </a:tr>
              <a:tr h="590550">
                <a:tc>
                  <a:txBody>
                    <a:bodyPr>
                      <a:noAutofit/>
                    </a:bodyPr>
                    <a:lstStyle/>
                    <a:p>
                      <a:r>
                        <a:rPr sz="1950" b="0">
                          <a:solidFill>
                            <a:srgbClr val="F2F5FA"/>
                          </a:solidFill>
                          <a:latin typeface="Arial"/>
                          <a:ea typeface="Arial"/>
                          <a:cs typeface="Arial"/>
                        </a:rPr>
                        <a:t>Accuracy 415 ảnh cũ</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82,65%</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80,24%</a:t>
                      </a:r>
                    </a:p>
                  </a:txBody>
                  <a:tcPr marL="152400" marR="114300" marT="38100" marB="38100" anchor="ctr">
                    <a:solidFill>
                      <a:srgbClr val="101B2B"/>
                    </a:solidFill>
                  </a:tcPr>
                </a:tc>
              </a:tr>
            </a:tbl>
          </a:graphicData>
        </a:graphic>
      </p:graphicFrame>
      <p:sp>
        <p:nvSpPr>
          <p:cNvPr id="5" name="">
            <a:extLst xmlns:a="http://schemas.openxmlformats.org/drawingml/2006/main">
              <a:ext uri="{FF2B5EF4-FFF2-40B4-BE49-F238E27FC236}">
                <a16:creationId xmlns:a16="http://schemas.microsoft.com/office/drawing/2014/main" id="{A93DDA40-5AD9-4900-96CE-38B49EE0EC3B}"/>
              </a:ext>
            </a:extLst>
          </p:cNvPr>
          <p:cNvSpPr>
            <a:spLocks xmlns:a="http://schemas.openxmlformats.org/drawingml/2006/main" noGrp="1"/>
          </p:cNvSpPr>
          <p:nvPr/>
        </p:nvSpPr>
        <p:spPr>
          <a:xfrm xmlns:a="http://schemas.openxmlformats.org/drawingml/2006/main">
            <a:off x="8001000" y="1828800"/>
            <a:ext cx="35814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F2F5FA"/>
                </a:solidFill>
                <a:latin typeface="Arial"/>
                <a:ea typeface="Arial"/>
                <a:cs typeface="Arial"/>
              </a:defRPr>
            </a:pPr>
            <a:r>
              <a:rPr sz="2250" b="1">
                <a:solidFill>
                  <a:srgbClr val="F2F5FA"/>
                </a:solidFill>
                <a:latin typeface="Arial"/>
                <a:ea typeface="Arial"/>
                <a:cs typeface="Arial"/>
              </a:rPr>
              <a:t>Phát lại pipeline</a:t>
            </a:r>
          </a:p>
          <a:p xmlns:a="http://schemas.openxmlformats.org/drawingml/2006/main">
            <a:pPr>
              <a:buNone/>
              <a:defRPr sz="2250" b="1">
                <a:solidFill>
                  <a:srgbClr val="F2F5FA"/>
                </a:solidFill>
                <a:latin typeface="Arial"/>
                <a:ea typeface="Arial"/>
                <a:cs typeface="Arial"/>
              </a:defRPr>
            </a:pPr>
            <a:r>
              <a:rPr sz="2250" b="1">
                <a:solidFill>
                  <a:srgbClr val="F2F5FA"/>
                </a:solidFill>
                <a:latin typeface="Arial"/>
                <a:ea typeface="Arial"/>
                <a:cs typeface="Arial"/>
              </a:rPr>
              <a:t>trên 942 khung</a:t>
            </a:r>
          </a:p>
        </p:txBody>
      </p:sp>
      <p:sp>
        <p:nvSpPr>
          <p:cNvPr id="6" name="">
            <a:extLst xmlns:a="http://schemas.openxmlformats.org/drawingml/2006/main">
              <a:ext uri="{FF2B5EF4-FFF2-40B4-BE49-F238E27FC236}">
                <a16:creationId xmlns:a16="http://schemas.microsoft.com/office/drawing/2014/main" id="{6DA84AEE-F36C-4D98-A8A9-46536ACB2C1D}"/>
              </a:ext>
            </a:extLst>
          </p:cNvPr>
          <p:cNvSpPr>
            <a:spLocks xmlns:a="http://schemas.openxmlformats.org/drawingml/2006/main" noGrp="1"/>
          </p:cNvSpPr>
          <p:nvPr/>
        </p:nvSpPr>
        <p:spPr>
          <a:xfrm xmlns:a="http://schemas.openxmlformats.org/drawingml/2006/main">
            <a:off x="8001000" y="2933700"/>
            <a:ext cx="3581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BBC9DA"/>
                </a:solidFill>
                <a:latin typeface="Arial"/>
                <a:ea typeface="Arial"/>
                <a:cs typeface="Arial"/>
              </a:defRPr>
            </a:pPr>
            <a:r>
              <a:rPr sz="2325" b="0">
                <a:solidFill>
                  <a:srgbClr val="BBC9DA"/>
                </a:solidFill>
                <a:latin typeface="Arial"/>
                <a:ea typeface="Arial"/>
                <a:cs typeface="Arial"/>
              </a:rPr>
              <a:t>Trước: 741 đúng</a:t>
            </a:r>
          </a:p>
        </p:txBody>
      </p:sp>
      <p:sp>
        <p:nvSpPr>
          <p:cNvPr id="7" name="">
            <a:extLst xmlns:a="http://schemas.openxmlformats.org/drawingml/2006/main">
              <a:ext uri="{FF2B5EF4-FFF2-40B4-BE49-F238E27FC236}">
                <a16:creationId xmlns:a16="http://schemas.microsoft.com/office/drawing/2014/main" id="{8DF64980-4CB8-44C9-87B9-2421851589B1}"/>
              </a:ext>
            </a:extLst>
          </p:cNvPr>
          <p:cNvSpPr>
            <a:spLocks xmlns:a="http://schemas.openxmlformats.org/drawingml/2006/main" noGrp="1"/>
          </p:cNvSpPr>
          <p:nvPr/>
        </p:nvSpPr>
        <p:spPr>
          <a:xfrm xmlns:a="http://schemas.openxmlformats.org/drawingml/2006/main">
            <a:off x="8001000" y="3543300"/>
            <a:ext cx="3581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FFCB79"/>
                </a:solidFill>
                <a:latin typeface="Arial"/>
                <a:ea typeface="Arial"/>
                <a:cs typeface="Arial"/>
              </a:defRPr>
            </a:pPr>
            <a:r>
              <a:rPr sz="3225" b="1">
                <a:solidFill>
                  <a:srgbClr val="FFCB79"/>
                </a:solidFill>
                <a:latin typeface="Arial"/>
                <a:ea typeface="Arial"/>
                <a:cs typeface="Arial"/>
              </a:rPr>
              <a:t>Sau: 622 đúng</a:t>
            </a:r>
          </a:p>
        </p:txBody>
      </p:sp>
      <p:sp>
        <p:nvSpPr>
          <p:cNvPr id="8" name="">
            <a:extLst xmlns:a="http://schemas.openxmlformats.org/drawingml/2006/main">
              <a:ext uri="{FF2B5EF4-FFF2-40B4-BE49-F238E27FC236}">
                <a16:creationId xmlns:a16="http://schemas.microsoft.com/office/drawing/2014/main" id="{CB430666-7C4F-4197-90F5-B88050C58014}"/>
              </a:ext>
            </a:extLst>
          </p:cNvPr>
          <p:cNvSpPr>
            <a:spLocks xmlns:a="http://schemas.openxmlformats.org/drawingml/2006/main" noGrp="1"/>
          </p:cNvSpPr>
          <p:nvPr/>
        </p:nvSpPr>
        <p:spPr>
          <a:xfrm xmlns:a="http://schemas.openxmlformats.org/drawingml/2006/main">
            <a:off x="609600" y="452437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F2F5FA"/>
                </a:solidFill>
                <a:latin typeface="Arial"/>
                <a:ea typeface="Arial"/>
                <a:cs typeface="Arial"/>
              </a:defRPr>
            </a:pPr>
            <a:r>
              <a:rPr sz="2175" b="1">
                <a:solidFill>
                  <a:srgbClr val="F2F5FA"/>
                </a:solidFill>
                <a:latin typeface="Arial"/>
                <a:ea typeface="Arial"/>
                <a:cs typeface="Arial"/>
              </a:rPr>
              <a:t>Pipeline trước: 0 sai, 201 chưa kết luận.</a:t>
            </a:r>
          </a:p>
          <a:p xmlns:a="http://schemas.openxmlformats.org/drawingml/2006/main">
            <a:pPr>
              <a:buNone/>
              <a:defRPr sz="2175" b="1">
                <a:solidFill>
                  <a:srgbClr val="F2F5FA"/>
                </a:solidFill>
                <a:latin typeface="Arial"/>
                <a:ea typeface="Arial"/>
                <a:cs typeface="Arial"/>
              </a:defRPr>
            </a:pPr>
            <a:r>
              <a:rPr sz="2175" b="1">
                <a:solidFill>
                  <a:srgbClr val="F2F5FA"/>
                </a:solidFill>
                <a:latin typeface="Arial"/>
                <a:ea typeface="Arial"/>
                <a:cs typeface="Arial"/>
              </a:rPr>
              <a:t>Pipeline sau: 16 sai, 304 chưa kết luận.</a:t>
            </a:r>
          </a:p>
        </p:txBody>
      </p:sp>
      <p:sp>
        <p:nvSpPr>
          <p:cNvPr id="9" name="">
            <a:extLst xmlns:a="http://schemas.openxmlformats.org/drawingml/2006/main">
              <a:ext uri="{FF2B5EF4-FFF2-40B4-BE49-F238E27FC236}">
                <a16:creationId xmlns:a16="http://schemas.microsoft.com/office/drawing/2014/main" id="{C51D9F85-5E65-4190-9645-384983FAE691}"/>
              </a:ext>
            </a:extLst>
          </p:cNvPr>
          <p:cNvSpPr>
            <a:spLocks xmlns:a="http://schemas.openxmlformats.org/drawingml/2006/main" noGrp="1"/>
          </p:cNvSpPr>
          <p:nvPr/>
        </p:nvSpPr>
        <p:spPr>
          <a:xfrm xmlns:a="http://schemas.openxmlformats.org/drawingml/2006/main">
            <a:off x="609600" y="5734050"/>
            <a:ext cx="10477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BBC9DA"/>
                </a:solidFill>
                <a:latin typeface="Arial"/>
                <a:ea typeface="Arial"/>
                <a:cs typeface="Arial"/>
              </a:defRPr>
            </a:pPr>
            <a:r>
              <a:rPr sz="1800" b="0">
                <a:solidFill>
                  <a:srgbClr val="BBC9DA"/>
                </a:solidFill>
                <a:latin typeface="Arial"/>
                <a:ea typeface="Arial"/>
                <a:cs typeface="Arial"/>
              </a:rPr>
              <a:t>API nội bộ: 4 JPEG, health/analyze/session hoạt động.</a:t>
            </a:r>
          </a:p>
          <a:p xmlns:a="http://schemas.openxmlformats.org/drawingml/2006/main">
            <a:pPr>
              <a:buNone/>
              <a:defRPr sz="1800" b="0">
                <a:solidFill>
                  <a:srgbClr val="BBC9DA"/>
                </a:solidFill>
                <a:latin typeface="Arial"/>
                <a:ea typeface="Arial"/>
                <a:cs typeface="Arial"/>
              </a:defRPr>
            </a:pPr>
            <a:r>
              <a:rPr sz="1800" b="0">
                <a:solidFill>
                  <a:srgbClr val="BBC9DA"/>
                </a:solidFill>
                <a:latin typeface="Arial"/>
                <a:ea typeface="Arial"/>
                <a:cs typeface="Arial"/>
              </a:rPr>
              <a:t>Phát lại offline chưa đo độ trễ mạng hoặc camera trực tiếp.</a:t>
            </a:r>
          </a:p>
        </p:txBody>
      </p:sp>
    </p:spTree>
    <p:extLst>
      <p:ext uri="{BB962C8B-B14F-4D97-AF65-F5344CB8AC3E}">
        <p14:creationId xmlns:p14="http://schemas.microsoft.com/office/powerpoint/2010/main" val="505298868"/>
      </p:ext>
    </p:extLst>
  </p:cSld>
</p:sld>
</file>

<file path=ppt/slides/slide5.xml><?xml version="1.0" encoding="utf-8"?>
<p:sld xmlns:p="http://schemas.openxmlformats.org/presentationml/2006/main">
  <p:cSld>
    <p:bg>
      <p:bgPr>
        <a:solidFill xmlns:a="http://schemas.openxmlformats.org/drawingml/2006/main">
          <a:srgbClr val="101B2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B534EDD-1EAA-4DEF-BB4C-99A5468C6E4A}"/>
              </a:ext>
            </a:extLst>
          </p:cNvPr>
          <p:cNvSpPr>
            <a:spLocks xmlns:a="http://schemas.openxmlformats.org/drawingml/2006/main" noGrp="1"/>
          </p:cNvSpPr>
          <p:nvPr/>
        </p:nvSpPr>
        <p:spPr>
          <a:xfrm xmlns:a="http://schemas.openxmlformats.org/drawingml/2006/main">
            <a:off x="609600" y="40957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F2F5FA"/>
                </a:solidFill>
                <a:latin typeface="Arial"/>
                <a:ea typeface="Arial"/>
                <a:cs typeface="Arial"/>
              </a:defRPr>
            </a:pPr>
            <a:r>
              <a:rPr sz="3300" b="1">
                <a:solidFill>
                  <a:srgbClr val="F2F5FA"/>
                </a:solidFill>
                <a:latin typeface="Arial"/>
                <a:ea typeface="Arial"/>
                <a:cs typeface="Arial"/>
              </a:rPr>
              <a:t>Kết luận và bước tiếp theo</a:t>
            </a:r>
          </a:p>
        </p:txBody>
      </p:sp>
      <p:sp>
        <p:nvSpPr>
          <p:cNvPr id="2" name="">
            <a:extLst xmlns:a="http://schemas.openxmlformats.org/drawingml/2006/main">
              <a:ext uri="{FF2B5EF4-FFF2-40B4-BE49-F238E27FC236}">
                <a16:creationId xmlns:a16="http://schemas.microsoft.com/office/drawing/2014/main" id="{40C31FB9-1AFD-4651-8F65-BCBA4DCA304F}"/>
              </a:ext>
            </a:extLst>
          </p:cNvPr>
          <p:cNvSpPr>
            <a:spLocks xmlns:a="http://schemas.openxmlformats.org/drawingml/2006/main" noGrp="1"/>
          </p:cNvSpPr>
          <p:nvPr/>
        </p:nvSpPr>
        <p:spPr>
          <a:xfrm xmlns:a="http://schemas.openxmlformats.org/drawingml/2006/main">
            <a:off x="10991850" y="6343650"/>
            <a:ext cx="590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BBC9DA"/>
                </a:solidFill>
                <a:latin typeface="Arial"/>
                <a:ea typeface="Arial"/>
                <a:cs typeface="Arial"/>
              </a:defRPr>
            </a:pPr>
            <a:r>
              <a:rPr sz="1500" b="0">
                <a:solidFill>
                  <a:srgbClr val="BBC9DA"/>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79F24D11-DB31-45F8-A198-CE657F80A1E0}"/>
              </a:ext>
            </a:extLst>
          </p:cNvPr>
          <p:cNvSpPr>
            <a:spLocks xmlns:a="http://schemas.openxmlformats.org/drawingml/2006/main" noGrp="1"/>
          </p:cNvSpPr>
          <p:nvPr/>
        </p:nvSpPr>
        <p:spPr>
          <a:xfrm xmlns:a="http://schemas.openxmlformats.org/drawingml/2006/main">
            <a:off x="609600" y="13144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625" b="1">
                <a:solidFill>
                  <a:srgbClr val="FFCB79"/>
                </a:solidFill>
                <a:latin typeface="Arial"/>
                <a:ea typeface="Arial"/>
                <a:cs typeface="Arial"/>
              </a:defRPr>
            </a:pPr>
            <a:r>
              <a:rPr sz="2625" b="1">
                <a:solidFill>
                  <a:srgbClr val="FFCB79"/>
                </a:solidFill>
                <a:latin typeface="Arial"/>
                <a:ea typeface="Arial"/>
                <a:cs typeface="Arial"/>
              </a:rPr>
              <a:t>Model sau gộp chưa tốt hơn.</a:t>
            </a:r>
          </a:p>
          <a:p xmlns:a="http://schemas.openxmlformats.org/drawingml/2006/main">
            <a:pPr>
              <a:buNone/>
              <a:defRPr sz="2625" b="1">
                <a:solidFill>
                  <a:srgbClr val="FFCB79"/>
                </a:solidFill>
                <a:latin typeface="Arial"/>
                <a:ea typeface="Arial"/>
                <a:cs typeface="Arial"/>
              </a:defRPr>
            </a:pPr>
            <a:r>
              <a:rPr sz="2625" b="1">
                <a:solidFill>
                  <a:srgbClr val="FFCB79"/>
                </a:solidFill>
                <a:latin typeface="Arial"/>
                <a:ea typeface="Arial"/>
                <a:cs typeface="Arial"/>
              </a:rPr>
              <a:t>F1 test chung: trước 91,90%, sau 89,88%.</a:t>
            </a:r>
          </a:p>
        </p:txBody>
      </p:sp>
      <p:sp>
        <p:nvSpPr>
          <p:cNvPr id="4" name="">
            <a:extLst xmlns:a="http://schemas.openxmlformats.org/drawingml/2006/main">
              <a:ext uri="{FF2B5EF4-FFF2-40B4-BE49-F238E27FC236}">
                <a16:creationId xmlns:a16="http://schemas.microsoft.com/office/drawing/2014/main" id="{1F57CCEF-CBCD-4175-A8FD-71E7EDEFF63C}"/>
              </a:ext>
            </a:extLst>
          </p:cNvPr>
          <p:cNvSpPr>
            <a:spLocks xmlns:a="http://schemas.openxmlformats.org/drawingml/2006/main" noGrp="1"/>
          </p:cNvSpPr>
          <p:nvPr/>
        </p:nvSpPr>
        <p:spPr>
          <a:xfrm xmlns:a="http://schemas.openxmlformats.org/drawingml/2006/main">
            <a:off x="609600" y="2686050"/>
            <a:ext cx="109728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28600" indent="-114300">
              <a:spcAft>
                <a:spcPts val="1200"/>
              </a:spcAft>
              <a:buChar char="•"/>
              <a:defRPr sz="2100">
                <a:solidFill>
                  <a:srgbClr val="BBC9DA"/>
                </a:solidFill>
                <a:latin typeface="Arial"/>
                <a:ea typeface="Arial"/>
                <a:cs typeface="Arial"/>
              </a:defRPr>
            </a:pPr>
            <a:r>
              <a:rPr sz="2100">
                <a:solidFill>
                  <a:srgbClr val="BBC9DA"/>
                </a:solidFill>
                <a:latin typeface="Arial"/>
                <a:ea typeface="Arial"/>
                <a:cs typeface="Arial"/>
              </a:rPr>
              <a:t>Em giữ bản mới để phân tích, chưa thay model API đang dùng.</a:t>
            </a:r>
          </a:p>
          <a:p xmlns:a="http://schemas.openxmlformats.org/drawingml/2006/main">
            <a:pPr marL="228600" indent="-114300">
              <a:spcAft>
                <a:spcPts val="1200"/>
              </a:spcAft>
              <a:buChar char="•"/>
              <a:defRPr sz="2100">
                <a:solidFill>
                  <a:srgbClr val="BBC9DA"/>
                </a:solidFill>
                <a:latin typeface="Arial"/>
                <a:ea typeface="Arial"/>
                <a:cs typeface="Arial"/>
              </a:defRPr>
            </a:pPr>
            <a:r>
              <a:rPr sz="2100">
                <a:solidFill>
                  <a:srgbClr val="BBC9DA"/>
                </a:solidFill>
                <a:latin typeface="Arial"/>
                <a:ea typeface="Arial"/>
                <a:cs typeface="Arial"/>
              </a:rPr>
              <a:t>Đồng bộ cách cắt mặt, cân bằng dữ liệu cũ và mới.</a:t>
            </a:r>
          </a:p>
          <a:p xmlns:a="http://schemas.openxmlformats.org/drawingml/2006/main">
            <a:pPr marL="228600" indent="-114300">
              <a:spcAft>
                <a:spcPts val="1200"/>
              </a:spcAft>
              <a:buChar char="•"/>
              <a:defRPr sz="2100">
                <a:solidFill>
                  <a:srgbClr val="BBC9DA"/>
                </a:solidFill>
                <a:latin typeface="Arial"/>
                <a:ea typeface="Arial"/>
                <a:cs typeface="Arial"/>
              </a:defRPr>
            </a:pPr>
            <a:r>
              <a:rPr sz="2100">
                <a:solidFill>
                  <a:srgbClr val="BBC9DA"/>
                </a:solidFill>
                <a:latin typeface="Arial"/>
                <a:ea typeface="Arial"/>
                <a:cs typeface="Arial"/>
              </a:rPr>
              <a:t>Thu thật và giả cùng thiết bị; thêm người test độc lập.</a:t>
            </a:r>
          </a:p>
          <a:p xmlns:a="http://schemas.openxmlformats.org/drawingml/2006/main">
            <a:pPr marL="228600" indent="-114300">
              <a:spcAft>
                <a:spcPts val="1200"/>
              </a:spcAft>
              <a:buChar char="•"/>
              <a:defRPr sz="2100">
                <a:solidFill>
                  <a:srgbClr val="BBC9DA"/>
                </a:solidFill>
                <a:latin typeface="Arial"/>
                <a:ea typeface="Arial"/>
                <a:cs typeface="Arial"/>
              </a:defRPr>
            </a:pPr>
            <a:r>
              <a:rPr sz="2100">
                <a:solidFill>
                  <a:srgbClr val="BBC9DA"/>
                </a:solidFill>
                <a:latin typeface="Arial"/>
                <a:ea typeface="Arial"/>
                <a:cs typeface="Arial"/>
              </a:rPr>
              <a:t>Chỉ thay model API khi kiểm thử cho thấy cải thiện.</a:t>
            </a:r>
          </a:p>
        </p:txBody>
      </p:sp>
      <p:sp>
        <p:nvSpPr>
          <p:cNvPr id="5" name="">
            <a:extLst xmlns:a="http://schemas.openxmlformats.org/drawingml/2006/main">
              <a:ext uri="{FF2B5EF4-FFF2-40B4-BE49-F238E27FC236}">
                <a16:creationId xmlns:a16="http://schemas.microsoft.com/office/drawing/2014/main" id="{74452499-98E2-4830-A0D3-D870DF4FE67A}"/>
              </a:ext>
            </a:extLst>
          </p:cNvPr>
          <p:cNvSpPr>
            <a:spLocks xmlns:a="http://schemas.openxmlformats.org/drawingml/2006/main" noGrp="1"/>
          </p:cNvSpPr>
          <p:nvPr/>
        </p:nvSpPr>
        <p:spPr>
          <a:xfrm xmlns:a="http://schemas.openxmlformats.org/drawingml/2006/main">
            <a:off x="609600" y="5753100"/>
            <a:ext cx="10477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FFCB79"/>
                </a:solidFill>
                <a:latin typeface="Arial"/>
                <a:ea typeface="Arial"/>
                <a:cs typeface="Arial"/>
              </a:defRPr>
            </a:pPr>
            <a:r>
              <a:rPr sz="1875" b="0">
                <a:solidFill>
                  <a:srgbClr val="FFCB79"/>
                </a:solidFill>
                <a:latin typeface="Arial"/>
                <a:ea typeface="Arial"/>
                <a:cs typeface="Arial"/>
              </a:rPr>
              <a:t>Test này phục vụ phát triển. Dữ liệu cũ còn trùng người giữa các tập.</a:t>
            </a:r>
          </a:p>
          <a:p xmlns:a="http://schemas.openxmlformats.org/drawingml/2006/main">
            <a:pPr>
              <a:buNone/>
              <a:defRPr sz="1875" b="0">
                <a:solidFill>
                  <a:srgbClr val="FFCB79"/>
                </a:solidFill>
                <a:latin typeface="Arial"/>
                <a:ea typeface="Arial"/>
                <a:cs typeface="Arial"/>
              </a:defRPr>
            </a:pPr>
            <a:r>
              <a:rPr sz="1875" b="0">
                <a:solidFill>
                  <a:srgbClr val="FFCB79"/>
                </a:solidFill>
                <a:latin typeface="Arial"/>
                <a:ea typeface="Arial"/>
                <a:cs typeface="Arial"/>
              </a:rPr>
              <a:t>Cần một test độc lập mới để đánh giá khả năng tổng quát.</a:t>
            </a:r>
          </a:p>
        </p:txBody>
      </p:sp>
    </p:spTree>
    <p:extLst>
      <p:ext uri="{BB962C8B-B14F-4D97-AF65-F5344CB8AC3E}">
        <p14:creationId xmlns:p14="http://schemas.microsoft.com/office/powerpoint/2010/main" val="56306736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2026-10-01T06:45:04.4900000Z</dcterms:created>
  <dcterms:modified xsi:type="dcterms:W3CDTF">2026-10-01T06:45:04.4900000Z</dcterms:modified>
</coreProperties>
</file>