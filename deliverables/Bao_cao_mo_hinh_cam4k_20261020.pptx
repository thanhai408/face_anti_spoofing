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4d45f2c5954b63" /><Relationship Type="http://schemas.openxmlformats.org/officeDocument/2006/relationships/extended-properties" Target="/docProps/app.xml" Id="R9a3225b3d7374961" /><Relationship Type="http://schemas.openxmlformats.org/officeDocument/2006/relationships/officeDocument" Target="/ppt/presentation.xml" Id="Rebc23156416043e6" /></Relationships>
</file>

<file path=ppt/presentation.xml><?xml version="1.0" encoding="utf-8"?>
<p:presentation xmlns:p="http://schemas.openxmlformats.org/presentationml/2006/main">
  <p:sldMasterIdLst>
    <p:sldMasterId xmlns:r="http://schemas.openxmlformats.org/officeDocument/2006/relationships" id="2147483648" r:id="Rdc301c818bbe4754"/>
  </p:sldMasterIdLst>
  <p:notesMasterIdLst>
    <p:notesMasterId xmlns:r="http://schemas.openxmlformats.org/officeDocument/2006/relationships" r:id="R41973b7a26ac40d1"/>
  </p:notesMasterIdLst>
  <p:sldIdLst>
    <p:sldId xmlns:r="http://schemas.openxmlformats.org/officeDocument/2006/relationships" id="256" r:id="R220c08ba301244db"/>
    <p:sldId xmlns:r="http://schemas.openxmlformats.org/officeDocument/2006/relationships" id="257" r:id="R82b4433f2ac745ee"/>
    <p:sldId xmlns:r="http://schemas.openxmlformats.org/officeDocument/2006/relationships" id="258" r:id="R6434b3bd1f6e4568"/>
    <p:sldId xmlns:r="http://schemas.openxmlformats.org/officeDocument/2006/relationships" id="259" r:id="R49e2872671a94e6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552c1fdbe740d0" /><Relationship Type="http://schemas.openxmlformats.org/officeDocument/2006/relationships/slideMaster" Target="/ppt/slideMasters/slideMaster1.xml" Id="Rdc301c818bbe4754" /><Relationship Type="http://schemas.openxmlformats.org/officeDocument/2006/relationships/notesMaster" Target="/ppt/notesMasters/notesMaster1.xml" Id="R41973b7a26ac40d1" /><Relationship Type="http://schemas.openxmlformats.org/officeDocument/2006/relationships/presProps" Target="/ppt/presProps.xml" Id="R9988d8546f184377" /><Relationship Type="http://schemas.openxmlformats.org/officeDocument/2006/relationships/tableStyles" Target="/ppt/tableStyles.xml" Id="Reb528efbc7ce4a03" /><Relationship Type="http://schemas.openxmlformats.org/officeDocument/2006/relationships/slide" Target="/ppt/slides/slide1.xml" Id="R220c08ba301244db" /><Relationship Type="http://schemas.openxmlformats.org/officeDocument/2006/relationships/slide" Target="/ppt/slides/slide2.xml" Id="R82b4433f2ac745ee" /><Relationship Type="http://schemas.openxmlformats.org/officeDocument/2006/relationships/slide" Target="/ppt/slides/slide3.xml" Id="R6434b3bd1f6e4568" /><Relationship Type="http://schemas.openxmlformats.org/officeDocument/2006/relationships/slide" Target="/ppt/slides/slide4.xml" Id="R49e2872671a94e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ef879600b643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4fb4a4d5c14ed7" /><Relationship Type="http://schemas.openxmlformats.org/officeDocument/2006/relationships/notesMaster" Target="/ppt/notesMasters/notesMaster1.xml" Id="R7f2412d9cd964e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9de814399d448f" /><Relationship Type="http://schemas.openxmlformats.org/officeDocument/2006/relationships/notesMaster" Target="/ppt/notesMasters/notesMaster1.xml" Id="R002fadff545543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4fe3be4108477d" /><Relationship Type="http://schemas.openxmlformats.org/officeDocument/2006/relationships/notesMaster" Target="/ppt/notesMasters/notesMaster1.xml" Id="R53cccaf73b8945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58875fd9ed45b4" /><Relationship Type="http://schemas.openxmlformats.org/officeDocument/2006/relationships/notesMaster" Target="/ppt/notesMasters/notesMaster1.xml" Id="R56657595fc76406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tổng quan các kết quả then chốt của mô hình CNN LivenessNet được huấn luyện trên Camera USB SC-M200. Các chỉ số được đánh giá trên tập test giữ riêng độc lập.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Đồ thị huấn luyện cho thấy quá trình hội tụ rất ổn định. Cả train loss và val loss giảm đều đặn xuống mức ~0.09. Validation accuracy đạt 98.01% tại epoch 14. Checkpoint này được sử dụng làm trọng số chính thức.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quả kiểm tra chéo và tập test độc lập: tập test gồm 14 video với 4.811 ảnh. Mô hình đạt 98.09% accuracy tổng quát, 100% video đều ra kết quả đúng. Đặc biệt Recall Real đạt 99.88% đảm bảo trải nghiệm người dùng không bị từ chối oan.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tổng kết các chỉ số vận hành thực tế: tốc độ 30 FPS, độ trễ 6ms, tự động kết nối lại camera USB. Nêu rõ điều kiện hoạt động tối ưu cũng như các ranh giới thực tế và đề xuất nâng cấp tiếp theo.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d654a54b9645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753f7bf28d5476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5b20b179d3459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03b7c5e4c5e421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1cd70abb5f4e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a42d430935e490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6F9F71-150A-4052-9E84-9E18FB7DBB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FE5E11-D7EE-40D8-82C2-6F023301A6F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62063E5-5F93-49BB-9983-964550958D8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D3D2E7-0947-42AA-AF3E-E1A6DC37DA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5B9F523-D23A-45D8-A12A-D533133C678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85C7BCD-AA9E-4B34-A045-BA32CCFA83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BB95AE-43A7-49F9-9A4C-D24AB0681A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2D6570D-38BB-4522-AF42-B3F371FA8F4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8F3BD3-5A54-497C-9D3B-F368DCAE70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5D56C5-CB5A-46D7-BADD-4106CB2CFAB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b4ae23da1e499b" /><Relationship Type="http://schemas.openxmlformats.org/officeDocument/2006/relationships/slideLayout" Target="/ppt/slideLayouts/slideLayout1.xml" Id="Rb41b984ce32c4d78" /><Relationship Type="http://schemas.openxmlformats.org/officeDocument/2006/relationships/slideLayout" Target="/ppt/slideLayouts/slideLayout2.xml" Id="R8441a906f42849ee" /><Relationship Type="http://schemas.openxmlformats.org/officeDocument/2006/relationships/slideLayout" Target="/ppt/slideLayouts/slideLayout3.xml" Id="R91242bc71ad8451f" /><Relationship Type="http://schemas.openxmlformats.org/officeDocument/2006/relationships/slideLayout" Target="/ppt/slideLayouts/slideLayout4.xml" Id="R4c48361cab854be4" /><Relationship Type="http://schemas.openxmlformats.org/officeDocument/2006/relationships/slideLayout" Target="/ppt/slideLayouts/slideLayout5.xml" Id="R429932fce8794fba" /><Relationship Type="http://schemas.openxmlformats.org/officeDocument/2006/relationships/slideLayout" Target="/ppt/slideLayouts/slideLayout6.xml" Id="R856104bf08ea49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1b984ce32c4d78"/>
    <p:sldLayoutId xmlns:r="http://schemas.openxmlformats.org/officeDocument/2006/relationships" id="2147483650" r:id="R8441a906f42849ee"/>
    <p:sldLayoutId xmlns:r="http://schemas.openxmlformats.org/officeDocument/2006/relationships" id="2147483651" r:id="R91242bc71ad8451f"/>
    <p:sldLayoutId xmlns:r="http://schemas.openxmlformats.org/officeDocument/2006/relationships" id="2147483652" r:id="R4c48361cab854be4"/>
    <p:sldLayoutId xmlns:r="http://schemas.openxmlformats.org/officeDocument/2006/relationships" id="2147483653" r:id="R429932fce8794fba"/>
    <p:sldLayoutId xmlns:r="http://schemas.openxmlformats.org/officeDocument/2006/relationships" id="2147483654" r:id="R856104bf08ea49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87efe18301549ca" /><Relationship Type="http://schemas.openxmlformats.org/officeDocument/2006/relationships/notesSlide" Target="/ppt/notesSlides/notesSlide1.xml" Id="Rac73f840ab004fe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28edbe23a548e0" /><Relationship Type="http://schemas.openxmlformats.org/officeDocument/2006/relationships/image" Target="/ppt/media/image.png" Id="Rdc58151f12744a2e" /><Relationship Type="http://schemas.openxmlformats.org/officeDocument/2006/relationships/notesSlide" Target="/ppt/notesSlides/notesSlide2.xml" Id="Rd938c969c4af43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f71fd816e45404e" /><Relationship Type="http://schemas.openxmlformats.org/officeDocument/2006/relationships/notesSlide" Target="/ppt/notesSlides/notesSlide3.xml" Id="R20d2b5cc298a48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d14cadcb888496c" /><Relationship Type="http://schemas.openxmlformats.org/officeDocument/2006/relationships/notesSlide" Target="/ppt/notesSlides/notesSlide4.xml" Id="R7b1addca97274be4" /></Relationships>
</file>

<file path=ppt/slides/slide1.xml><?xml version="1.0" encoding="utf-8"?>
<p:sld xmlns:p="http://schemas.openxmlformats.org/presentationml/2006/main">
  <p:cSld>
    <p:bg>
      <p:bgPr>
        <a:solidFill xmlns:a="http://schemas.openxmlformats.org/drawingml/2006/main">
          <a:srgbClr val="0D1522"/>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5C6C889-C70B-4FAB-A028-61176F422437}"/>
              </a:ext>
            </a:extLst>
          </p:cNvPr>
          <p:cNvSpPr>
            <a:spLocks xmlns:a="http://schemas.openxmlformats.org/drawingml/2006/main" noGrp="1"/>
          </p:cNvSpPr>
          <p:nvPr/>
        </p:nvSpPr>
        <p:spPr>
          <a:xfrm xmlns:a="http://schemas.openxmlformats.org/drawingml/2006/main">
            <a:off x="609600" y="6667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8BDF8"/>
                </a:solidFill>
                <a:latin typeface="Arial"/>
                <a:ea typeface="Arial"/>
                <a:cs typeface="Arial"/>
              </a:defRPr>
            </a:defPPr>
            <a:lvl1pPr>
              <a:defRPr sz="1650" b="1">
                <a:solidFill>
                  <a:srgbClr val="38BDF8"/>
                </a:solidFill>
                <a:latin typeface="Arial"/>
                <a:ea typeface="Arial"/>
                <a:cs typeface="Arial"/>
              </a:defRPr>
            </a:lvl1pPr>
            <a:lvl2pPr>
              <a:defRPr sz="1650" b="1">
                <a:solidFill>
                  <a:srgbClr val="38BDF8"/>
                </a:solidFill>
                <a:latin typeface="Arial"/>
                <a:ea typeface="Arial"/>
                <a:cs typeface="Arial"/>
              </a:defRPr>
            </a:lvl2pPr>
            <a:lvl3pPr>
              <a:defRPr sz="1650" b="1">
                <a:solidFill>
                  <a:srgbClr val="38BDF8"/>
                </a:solidFill>
                <a:latin typeface="Arial"/>
                <a:ea typeface="Arial"/>
                <a:cs typeface="Arial"/>
              </a:defRPr>
            </a:lvl3pPr>
            <a:lvl4pPr>
              <a:defRPr sz="1650" b="1">
                <a:solidFill>
                  <a:srgbClr val="38BDF8"/>
                </a:solidFill>
                <a:latin typeface="Arial"/>
                <a:ea typeface="Arial"/>
                <a:cs typeface="Arial"/>
              </a:defRPr>
            </a:lvl4pPr>
            <a:lvl5pPr>
              <a:defRPr sz="1650" b="1">
                <a:solidFill>
                  <a:srgbClr val="38BDF8"/>
                </a:solidFill>
                <a:latin typeface="Arial"/>
                <a:ea typeface="Arial"/>
                <a:cs typeface="Arial"/>
              </a:defRPr>
            </a:lvl5pPr>
            <a:lvl6pPr>
              <a:defRPr sz="1650" b="1">
                <a:solidFill>
                  <a:srgbClr val="38BDF8"/>
                </a:solidFill>
                <a:latin typeface="Arial"/>
                <a:ea typeface="Arial"/>
                <a:cs typeface="Arial"/>
              </a:defRPr>
            </a:lvl6pPr>
            <a:lvl7pPr>
              <a:defRPr sz="1650" b="1">
                <a:solidFill>
                  <a:srgbClr val="38BDF8"/>
                </a:solidFill>
                <a:latin typeface="Arial"/>
                <a:ea typeface="Arial"/>
                <a:cs typeface="Arial"/>
              </a:defRPr>
            </a:lvl7pPr>
            <a:lvl8pPr>
              <a:defRPr sz="1650" b="1">
                <a:solidFill>
                  <a:srgbClr val="38BDF8"/>
                </a:solidFill>
                <a:latin typeface="Arial"/>
                <a:ea typeface="Arial"/>
                <a:cs typeface="Arial"/>
              </a:defRPr>
            </a:lvl8pPr>
            <a:lvl9pPr>
              <a:defRPr sz="1650" b="1">
                <a:solidFill>
                  <a:srgbClr val="38BDF8"/>
                </a:solidFill>
                <a:latin typeface="Arial"/>
                <a:ea typeface="Arial"/>
                <a:cs typeface="Arial"/>
              </a:defRPr>
            </a:lvl9pPr>
          </a:lstStyle>
          <a:p xmlns:a="http://schemas.openxmlformats.org/drawingml/2006/main">
            <a:pPr>
              <a:defRPr sz="1650" b="1">
                <a:solidFill>
                  <a:srgbClr val="38BDF8"/>
                </a:solidFill>
                <a:latin typeface="Arial"/>
                <a:ea typeface="Arial"/>
                <a:cs typeface="Arial"/>
              </a:defRPr>
            </a:pPr>
            <a:r>
              <a:rPr sz="1650" b="1">
                <a:solidFill>
                  <a:srgbClr val="38BDF8"/>
                </a:solidFill>
                <a:latin typeface="Arial"/>
                <a:ea typeface="Arial"/>
                <a:cs typeface="Arial"/>
              </a:rPr>
              <a:t>DỰ ÁN FACE ANTI-SPOOFING</a:t>
            </a:r>
          </a:p>
        </p:txBody>
      </p:sp>
      <p:sp>
        <p:nvSpPr>
          <p:cNvPr id="2" name="">
            <a:extLst xmlns:a="http://schemas.openxmlformats.org/drawingml/2006/main">
              <a:ext uri="{FF2B5EF4-FFF2-40B4-BE49-F238E27FC236}">
                <a16:creationId xmlns:a16="http://schemas.microsoft.com/office/drawing/2014/main" id="{E06DB635-562B-4310-8956-E44A0516A630}"/>
              </a:ext>
            </a:extLst>
          </p:cNvPr>
          <p:cNvSpPr>
            <a:spLocks xmlns:a="http://schemas.openxmlformats.org/drawingml/2006/main" noGrp="1"/>
          </p:cNvSpPr>
          <p:nvPr/>
        </p:nvSpPr>
        <p:spPr>
          <a:xfrm xmlns:a="http://schemas.openxmlformats.org/drawingml/2006/main">
            <a:off x="609600" y="10668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8FAFC"/>
                </a:solidFill>
                <a:latin typeface="Arial"/>
                <a:ea typeface="Arial"/>
                <a:cs typeface="Arial"/>
              </a:defRPr>
            </a:defPPr>
            <a:lvl1pPr>
              <a:defRPr sz="3150" b="1">
                <a:solidFill>
                  <a:srgbClr val="F8FAFC"/>
                </a:solidFill>
                <a:latin typeface="Arial"/>
                <a:ea typeface="Arial"/>
                <a:cs typeface="Arial"/>
              </a:defRPr>
            </a:lvl1pPr>
            <a:lvl2pPr>
              <a:defRPr sz="3150" b="1">
                <a:solidFill>
                  <a:srgbClr val="F8FAFC"/>
                </a:solidFill>
                <a:latin typeface="Arial"/>
                <a:ea typeface="Arial"/>
                <a:cs typeface="Arial"/>
              </a:defRPr>
            </a:lvl2pPr>
            <a:lvl3pPr>
              <a:defRPr sz="3150" b="1">
                <a:solidFill>
                  <a:srgbClr val="F8FAFC"/>
                </a:solidFill>
                <a:latin typeface="Arial"/>
                <a:ea typeface="Arial"/>
                <a:cs typeface="Arial"/>
              </a:defRPr>
            </a:lvl3pPr>
            <a:lvl4pPr>
              <a:defRPr sz="3150" b="1">
                <a:solidFill>
                  <a:srgbClr val="F8FAFC"/>
                </a:solidFill>
                <a:latin typeface="Arial"/>
                <a:ea typeface="Arial"/>
                <a:cs typeface="Arial"/>
              </a:defRPr>
            </a:lvl4pPr>
            <a:lvl5pPr>
              <a:defRPr sz="3150" b="1">
                <a:solidFill>
                  <a:srgbClr val="F8FAFC"/>
                </a:solidFill>
                <a:latin typeface="Arial"/>
                <a:ea typeface="Arial"/>
                <a:cs typeface="Arial"/>
              </a:defRPr>
            </a:lvl5pPr>
            <a:lvl6pPr>
              <a:defRPr sz="3150" b="1">
                <a:solidFill>
                  <a:srgbClr val="F8FAFC"/>
                </a:solidFill>
                <a:latin typeface="Arial"/>
                <a:ea typeface="Arial"/>
                <a:cs typeface="Arial"/>
              </a:defRPr>
            </a:lvl6pPr>
            <a:lvl7pPr>
              <a:defRPr sz="3150" b="1">
                <a:solidFill>
                  <a:srgbClr val="F8FAFC"/>
                </a:solidFill>
                <a:latin typeface="Arial"/>
                <a:ea typeface="Arial"/>
                <a:cs typeface="Arial"/>
              </a:defRPr>
            </a:lvl7pPr>
            <a:lvl8pPr>
              <a:defRPr sz="3150" b="1">
                <a:solidFill>
                  <a:srgbClr val="F8FAFC"/>
                </a:solidFill>
                <a:latin typeface="Arial"/>
                <a:ea typeface="Arial"/>
                <a:cs typeface="Arial"/>
              </a:defRPr>
            </a:lvl8pPr>
            <a:lvl9pPr>
              <a:defRPr sz="3150" b="1">
                <a:solidFill>
                  <a:srgbClr val="F8FAFC"/>
                </a:solidFill>
                <a:latin typeface="Arial"/>
                <a:ea typeface="Arial"/>
                <a:cs typeface="Arial"/>
              </a:defRPr>
            </a:lvl9pPr>
          </a:lstStyle>
          <a:p xmlns:a="http://schemas.openxmlformats.org/drawingml/2006/main">
            <a:pPr>
              <a:defRPr sz="3150" b="1">
                <a:solidFill>
                  <a:srgbClr val="F8FAFC"/>
                </a:solidFill>
                <a:latin typeface="Arial"/>
                <a:ea typeface="Arial"/>
                <a:cs typeface="Arial"/>
              </a:defRPr>
            </a:pPr>
            <a:r>
              <a:rPr sz="3150" b="1">
                <a:solidFill>
                  <a:srgbClr val="F8FAFC"/>
                </a:solidFill>
                <a:latin typeface="Arial"/>
                <a:ea typeface="Arial"/>
                <a:cs typeface="Arial"/>
              </a:rPr>
              <a:t>Báo Cáo Đánh Giá Mô Hình &amp; Số Liệu Thực Nghiệm</a:t>
            </a:r>
          </a:p>
        </p:txBody>
      </p:sp>
      <p:sp>
        <p:nvSpPr>
          <p:cNvPr id="3" name="">
            <a:extLst xmlns:a="http://schemas.openxmlformats.org/drawingml/2006/main">
              <a:ext uri="{FF2B5EF4-FFF2-40B4-BE49-F238E27FC236}">
                <a16:creationId xmlns:a16="http://schemas.microsoft.com/office/drawing/2014/main" id="{46E62D82-97A0-4C42-A36C-8854E7664D3A}"/>
              </a:ext>
            </a:extLst>
          </p:cNvPr>
          <p:cNvSpPr>
            <a:spLocks xmlns:a="http://schemas.openxmlformats.org/drawingml/2006/main" noGrp="1"/>
          </p:cNvSpPr>
          <p:nvPr/>
        </p:nvSpPr>
        <p:spPr>
          <a:xfrm xmlns:a="http://schemas.openxmlformats.org/drawingml/2006/main">
            <a:off x="609600" y="20764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94A3B8"/>
                </a:solidFill>
                <a:latin typeface="Arial"/>
                <a:ea typeface="Arial"/>
                <a:cs typeface="Arial"/>
              </a:defRPr>
            </a:defPPr>
            <a:lvl1pPr>
              <a:defRPr sz="1725" b="0">
                <a:solidFill>
                  <a:srgbClr val="94A3B8"/>
                </a:solidFill>
                <a:latin typeface="Arial"/>
                <a:ea typeface="Arial"/>
                <a:cs typeface="Arial"/>
              </a:defRPr>
            </a:lvl1pPr>
            <a:lvl2pPr>
              <a:defRPr sz="1725" b="0">
                <a:solidFill>
                  <a:srgbClr val="94A3B8"/>
                </a:solidFill>
                <a:latin typeface="Arial"/>
                <a:ea typeface="Arial"/>
                <a:cs typeface="Arial"/>
              </a:defRPr>
            </a:lvl2pPr>
            <a:lvl3pPr>
              <a:defRPr sz="1725" b="0">
                <a:solidFill>
                  <a:srgbClr val="94A3B8"/>
                </a:solidFill>
                <a:latin typeface="Arial"/>
                <a:ea typeface="Arial"/>
                <a:cs typeface="Arial"/>
              </a:defRPr>
            </a:lvl3pPr>
            <a:lvl4pPr>
              <a:defRPr sz="1725" b="0">
                <a:solidFill>
                  <a:srgbClr val="94A3B8"/>
                </a:solidFill>
                <a:latin typeface="Arial"/>
                <a:ea typeface="Arial"/>
                <a:cs typeface="Arial"/>
              </a:defRPr>
            </a:lvl4pPr>
            <a:lvl5pPr>
              <a:defRPr sz="1725" b="0">
                <a:solidFill>
                  <a:srgbClr val="94A3B8"/>
                </a:solidFill>
                <a:latin typeface="Arial"/>
                <a:ea typeface="Arial"/>
                <a:cs typeface="Arial"/>
              </a:defRPr>
            </a:lvl5pPr>
            <a:lvl6pPr>
              <a:defRPr sz="1725" b="0">
                <a:solidFill>
                  <a:srgbClr val="94A3B8"/>
                </a:solidFill>
                <a:latin typeface="Arial"/>
                <a:ea typeface="Arial"/>
                <a:cs typeface="Arial"/>
              </a:defRPr>
            </a:lvl6pPr>
            <a:lvl7pPr>
              <a:defRPr sz="1725" b="0">
                <a:solidFill>
                  <a:srgbClr val="94A3B8"/>
                </a:solidFill>
                <a:latin typeface="Arial"/>
                <a:ea typeface="Arial"/>
                <a:cs typeface="Arial"/>
              </a:defRPr>
            </a:lvl7pPr>
            <a:lvl8pPr>
              <a:defRPr sz="1725" b="0">
                <a:solidFill>
                  <a:srgbClr val="94A3B8"/>
                </a:solidFill>
                <a:latin typeface="Arial"/>
                <a:ea typeface="Arial"/>
                <a:cs typeface="Arial"/>
              </a:defRPr>
            </a:lvl8pPr>
            <a:lvl9pPr>
              <a:defRPr sz="1725" b="0">
                <a:solidFill>
                  <a:srgbClr val="94A3B8"/>
                </a:solidFill>
                <a:latin typeface="Arial"/>
                <a:ea typeface="Arial"/>
                <a:cs typeface="Arial"/>
              </a:defRPr>
            </a:lvl9pPr>
          </a:lstStyle>
          <a:p xmlns:a="http://schemas.openxmlformats.org/drawingml/2006/main">
            <a:pPr>
              <a:defRPr sz="1725" b="0">
                <a:solidFill>
                  <a:srgbClr val="94A3B8"/>
                </a:solidFill>
                <a:latin typeface="Arial"/>
                <a:ea typeface="Arial"/>
                <a:cs typeface="Arial"/>
              </a:defRPr>
            </a:pPr>
            <a:r>
              <a:rPr sz="1725" b="0">
                <a:solidFill>
                  <a:srgbClr val="94A3B8"/>
                </a:solidFill>
                <a:latin typeface="Arial"/>
                <a:ea typeface="Arial"/>
                <a:cs typeface="Arial"/>
              </a:rPr>
              <a:t>Huấn luyện và kiểm định độc lập trên dữ liệu Camera USB SC-M200</a:t>
            </a:r>
          </a:p>
        </p:txBody>
      </p:sp>
      <p:sp>
        <p:nvSpPr>
          <p:cNvPr id="4" name="">
            <a:extLst xmlns:a="http://schemas.openxmlformats.org/drawingml/2006/main">
              <a:ext uri="{FF2B5EF4-FFF2-40B4-BE49-F238E27FC236}">
                <a16:creationId xmlns:a16="http://schemas.microsoft.com/office/drawing/2014/main" id="{7B76AF63-5745-4FC0-BB56-2F2BFFBE6D70}"/>
              </a:ext>
            </a:extLst>
          </p:cNvPr>
          <p:cNvSpPr>
            <a:spLocks xmlns:a="http://schemas.openxmlformats.org/drawingml/2006/main" noGrp="1"/>
          </p:cNvSpPr>
          <p:nvPr/>
        </p:nvSpPr>
        <p:spPr>
          <a:xfrm xmlns:a="http://schemas.openxmlformats.org/drawingml/2006/main">
            <a:off x="609600" y="2762250"/>
            <a:ext cx="3429000" cy="2762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5" name="">
            <a:extLst xmlns:a="http://schemas.openxmlformats.org/drawingml/2006/main">
              <a:ext uri="{FF2B5EF4-FFF2-40B4-BE49-F238E27FC236}">
                <a16:creationId xmlns:a16="http://schemas.microsoft.com/office/drawing/2014/main" id="{4EED8940-29FB-4450-8B09-BD5CE0AD86EF}"/>
              </a:ext>
            </a:extLst>
          </p:cNvPr>
          <p:cNvSpPr>
            <a:spLocks xmlns:a="http://schemas.openxmlformats.org/drawingml/2006/main" noGrp="1"/>
          </p:cNvSpPr>
          <p:nvPr/>
        </p:nvSpPr>
        <p:spPr>
          <a:xfrm xmlns:a="http://schemas.openxmlformats.org/drawingml/2006/main">
            <a:off x="857250" y="3000375"/>
            <a:ext cx="2933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8BDF8"/>
                </a:solidFill>
                <a:latin typeface="Arial"/>
                <a:ea typeface="Arial"/>
                <a:cs typeface="Arial"/>
              </a:defRPr>
            </a:defPPr>
            <a:lvl1pPr>
              <a:defRPr sz="1650" b="1">
                <a:solidFill>
                  <a:srgbClr val="38BDF8"/>
                </a:solidFill>
                <a:latin typeface="Arial"/>
                <a:ea typeface="Arial"/>
                <a:cs typeface="Arial"/>
              </a:defRPr>
            </a:lvl1pPr>
            <a:lvl2pPr>
              <a:defRPr sz="1650" b="1">
                <a:solidFill>
                  <a:srgbClr val="38BDF8"/>
                </a:solidFill>
                <a:latin typeface="Arial"/>
                <a:ea typeface="Arial"/>
                <a:cs typeface="Arial"/>
              </a:defRPr>
            </a:lvl2pPr>
            <a:lvl3pPr>
              <a:defRPr sz="1650" b="1">
                <a:solidFill>
                  <a:srgbClr val="38BDF8"/>
                </a:solidFill>
                <a:latin typeface="Arial"/>
                <a:ea typeface="Arial"/>
                <a:cs typeface="Arial"/>
              </a:defRPr>
            </a:lvl3pPr>
            <a:lvl4pPr>
              <a:defRPr sz="1650" b="1">
                <a:solidFill>
                  <a:srgbClr val="38BDF8"/>
                </a:solidFill>
                <a:latin typeface="Arial"/>
                <a:ea typeface="Arial"/>
                <a:cs typeface="Arial"/>
              </a:defRPr>
            </a:lvl4pPr>
            <a:lvl5pPr>
              <a:defRPr sz="1650" b="1">
                <a:solidFill>
                  <a:srgbClr val="38BDF8"/>
                </a:solidFill>
                <a:latin typeface="Arial"/>
                <a:ea typeface="Arial"/>
                <a:cs typeface="Arial"/>
              </a:defRPr>
            </a:lvl5pPr>
            <a:lvl6pPr>
              <a:defRPr sz="1650" b="1">
                <a:solidFill>
                  <a:srgbClr val="38BDF8"/>
                </a:solidFill>
                <a:latin typeface="Arial"/>
                <a:ea typeface="Arial"/>
                <a:cs typeface="Arial"/>
              </a:defRPr>
            </a:lvl6pPr>
            <a:lvl7pPr>
              <a:defRPr sz="1650" b="1">
                <a:solidFill>
                  <a:srgbClr val="38BDF8"/>
                </a:solidFill>
                <a:latin typeface="Arial"/>
                <a:ea typeface="Arial"/>
                <a:cs typeface="Arial"/>
              </a:defRPr>
            </a:lvl7pPr>
            <a:lvl8pPr>
              <a:defRPr sz="1650" b="1">
                <a:solidFill>
                  <a:srgbClr val="38BDF8"/>
                </a:solidFill>
                <a:latin typeface="Arial"/>
                <a:ea typeface="Arial"/>
                <a:cs typeface="Arial"/>
              </a:defRPr>
            </a:lvl8pPr>
            <a:lvl9pPr>
              <a:defRPr sz="1650" b="1">
                <a:solidFill>
                  <a:srgbClr val="38BDF8"/>
                </a:solidFill>
                <a:latin typeface="Arial"/>
                <a:ea typeface="Arial"/>
                <a:cs typeface="Arial"/>
              </a:defRPr>
            </a:lvl9pPr>
          </a:lstStyle>
          <a:p xmlns:a="http://schemas.openxmlformats.org/drawingml/2006/main">
            <a:pPr>
              <a:defRPr sz="1650" b="1">
                <a:solidFill>
                  <a:srgbClr val="38BDF8"/>
                </a:solidFill>
                <a:latin typeface="Arial"/>
                <a:ea typeface="Arial"/>
                <a:cs typeface="Arial"/>
              </a:defRPr>
            </a:pPr>
            <a:r>
              <a:rPr sz="1650" b="1">
                <a:solidFill>
                  <a:srgbClr val="38BDF8"/>
                </a:solidFill>
                <a:latin typeface="Arial"/>
                <a:ea typeface="Arial"/>
                <a:cs typeface="Arial"/>
              </a:rPr>
              <a:t>Kiến Trúc &amp; Tối Ưu</a:t>
            </a:r>
          </a:p>
        </p:txBody>
      </p:sp>
      <p:sp>
        <p:nvSpPr>
          <p:cNvPr id="6" name="">
            <a:extLst xmlns:a="http://schemas.openxmlformats.org/drawingml/2006/main">
              <a:ext uri="{FF2B5EF4-FFF2-40B4-BE49-F238E27FC236}">
                <a16:creationId xmlns:a16="http://schemas.microsoft.com/office/drawing/2014/main" id="{5BE707E7-B877-4AEE-A9EC-1E98170F52FF}"/>
              </a:ext>
            </a:extLst>
          </p:cNvPr>
          <p:cNvSpPr>
            <a:spLocks xmlns:a="http://schemas.openxmlformats.org/drawingml/2006/main" noGrp="1"/>
          </p:cNvSpPr>
          <p:nvPr/>
        </p:nvSpPr>
        <p:spPr>
          <a:xfrm xmlns:a="http://schemas.openxmlformats.org/drawingml/2006/main">
            <a:off x="857250" y="3476625"/>
            <a:ext cx="293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F8FAFC"/>
                </a:solidFill>
                <a:latin typeface="Arial"/>
                <a:ea typeface="Arial"/>
                <a:cs typeface="Arial"/>
              </a:defRPr>
            </a:defPPr>
            <a:lvl1pPr>
              <a:defRPr sz="1275" b="0">
                <a:solidFill>
                  <a:srgbClr val="F8FAFC"/>
                </a:solidFill>
                <a:latin typeface="Arial"/>
                <a:ea typeface="Arial"/>
                <a:cs typeface="Arial"/>
              </a:defRPr>
            </a:lvl1pPr>
            <a:lvl2pPr>
              <a:defRPr sz="1275" b="0">
                <a:solidFill>
                  <a:srgbClr val="F8FAFC"/>
                </a:solidFill>
                <a:latin typeface="Arial"/>
                <a:ea typeface="Arial"/>
                <a:cs typeface="Arial"/>
              </a:defRPr>
            </a:lvl2pPr>
            <a:lvl3pPr>
              <a:defRPr sz="1275" b="0">
                <a:solidFill>
                  <a:srgbClr val="F8FAFC"/>
                </a:solidFill>
                <a:latin typeface="Arial"/>
                <a:ea typeface="Arial"/>
                <a:cs typeface="Arial"/>
              </a:defRPr>
            </a:lvl3pPr>
            <a:lvl4pPr>
              <a:defRPr sz="1275" b="0">
                <a:solidFill>
                  <a:srgbClr val="F8FAFC"/>
                </a:solidFill>
                <a:latin typeface="Arial"/>
                <a:ea typeface="Arial"/>
                <a:cs typeface="Arial"/>
              </a:defRPr>
            </a:lvl4pPr>
            <a:lvl5pPr>
              <a:defRPr sz="1275" b="0">
                <a:solidFill>
                  <a:srgbClr val="F8FAFC"/>
                </a:solidFill>
                <a:latin typeface="Arial"/>
                <a:ea typeface="Arial"/>
                <a:cs typeface="Arial"/>
              </a:defRPr>
            </a:lvl5pPr>
            <a:lvl6pPr>
              <a:defRPr sz="1275" b="0">
                <a:solidFill>
                  <a:srgbClr val="F8FAFC"/>
                </a:solidFill>
                <a:latin typeface="Arial"/>
                <a:ea typeface="Arial"/>
                <a:cs typeface="Arial"/>
              </a:defRPr>
            </a:lvl6pPr>
            <a:lvl7pPr>
              <a:defRPr sz="1275" b="0">
                <a:solidFill>
                  <a:srgbClr val="F8FAFC"/>
                </a:solidFill>
                <a:latin typeface="Arial"/>
                <a:ea typeface="Arial"/>
                <a:cs typeface="Arial"/>
              </a:defRPr>
            </a:lvl7pPr>
            <a:lvl8pPr>
              <a:defRPr sz="1275" b="0">
                <a:solidFill>
                  <a:srgbClr val="F8FAFC"/>
                </a:solidFill>
                <a:latin typeface="Arial"/>
                <a:ea typeface="Arial"/>
                <a:cs typeface="Arial"/>
              </a:defRPr>
            </a:lvl8pPr>
            <a:lvl9pPr>
              <a:defRPr sz="1275" b="0">
                <a:solidFill>
                  <a:srgbClr val="F8FAFC"/>
                </a:solidFill>
                <a:latin typeface="Arial"/>
                <a:ea typeface="Arial"/>
                <a:cs typeface="Arial"/>
              </a:defRPr>
            </a:lvl9pPr>
          </a:lstStyle>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Mạng CNN LivenessNet chuyên biệt</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Tiền xử lý YuNet &amp; chuẩn hóa BGR</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Single-crop Argmax thời gian thực</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Khử nhiễu: triệt tiêu 100% khung vàng rác</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Quản lý tiến trình chuẩn REST / OpenCV</a:t>
            </a:r>
          </a:p>
        </p:txBody>
      </p:sp>
      <p:sp>
        <p:nvSpPr>
          <p:cNvPr id="7" name="">
            <a:extLst xmlns:a="http://schemas.openxmlformats.org/drawingml/2006/main">
              <a:ext uri="{FF2B5EF4-FFF2-40B4-BE49-F238E27FC236}">
                <a16:creationId xmlns:a16="http://schemas.microsoft.com/office/drawing/2014/main" id="{C8BA2D47-8181-40A4-8B51-A47BC6FCBA14}"/>
              </a:ext>
            </a:extLst>
          </p:cNvPr>
          <p:cNvSpPr>
            <a:spLocks xmlns:a="http://schemas.openxmlformats.org/drawingml/2006/main" noGrp="1"/>
          </p:cNvSpPr>
          <p:nvPr/>
        </p:nvSpPr>
        <p:spPr>
          <a:xfrm xmlns:a="http://schemas.openxmlformats.org/drawingml/2006/main">
            <a:off x="4381500" y="2762250"/>
            <a:ext cx="3429000" cy="2762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8" name="">
            <a:extLst xmlns:a="http://schemas.openxmlformats.org/drawingml/2006/main">
              <a:ext uri="{FF2B5EF4-FFF2-40B4-BE49-F238E27FC236}">
                <a16:creationId xmlns:a16="http://schemas.microsoft.com/office/drawing/2014/main" id="{A06A73AF-306C-4775-A164-E344920B270D}"/>
              </a:ext>
            </a:extLst>
          </p:cNvPr>
          <p:cNvSpPr>
            <a:spLocks xmlns:a="http://schemas.openxmlformats.org/drawingml/2006/main" noGrp="1"/>
          </p:cNvSpPr>
          <p:nvPr/>
        </p:nvSpPr>
        <p:spPr>
          <a:xfrm xmlns:a="http://schemas.openxmlformats.org/drawingml/2006/main">
            <a:off x="4629150" y="3000375"/>
            <a:ext cx="2933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4D399"/>
                </a:solidFill>
                <a:latin typeface="Arial"/>
                <a:ea typeface="Arial"/>
                <a:cs typeface="Arial"/>
              </a:defRPr>
            </a:defPPr>
            <a:lvl1pPr>
              <a:defRPr sz="1650" b="1">
                <a:solidFill>
                  <a:srgbClr val="34D399"/>
                </a:solidFill>
                <a:latin typeface="Arial"/>
                <a:ea typeface="Arial"/>
                <a:cs typeface="Arial"/>
              </a:defRPr>
            </a:lvl1pPr>
            <a:lvl2pPr>
              <a:defRPr sz="1650" b="1">
                <a:solidFill>
                  <a:srgbClr val="34D399"/>
                </a:solidFill>
                <a:latin typeface="Arial"/>
                <a:ea typeface="Arial"/>
                <a:cs typeface="Arial"/>
              </a:defRPr>
            </a:lvl2pPr>
            <a:lvl3pPr>
              <a:defRPr sz="1650" b="1">
                <a:solidFill>
                  <a:srgbClr val="34D399"/>
                </a:solidFill>
                <a:latin typeface="Arial"/>
                <a:ea typeface="Arial"/>
                <a:cs typeface="Arial"/>
              </a:defRPr>
            </a:lvl3pPr>
            <a:lvl4pPr>
              <a:defRPr sz="1650" b="1">
                <a:solidFill>
                  <a:srgbClr val="34D399"/>
                </a:solidFill>
                <a:latin typeface="Arial"/>
                <a:ea typeface="Arial"/>
                <a:cs typeface="Arial"/>
              </a:defRPr>
            </a:lvl4pPr>
            <a:lvl5pPr>
              <a:defRPr sz="1650" b="1">
                <a:solidFill>
                  <a:srgbClr val="34D399"/>
                </a:solidFill>
                <a:latin typeface="Arial"/>
                <a:ea typeface="Arial"/>
                <a:cs typeface="Arial"/>
              </a:defRPr>
            </a:lvl5pPr>
            <a:lvl6pPr>
              <a:defRPr sz="1650" b="1">
                <a:solidFill>
                  <a:srgbClr val="34D399"/>
                </a:solidFill>
                <a:latin typeface="Arial"/>
                <a:ea typeface="Arial"/>
                <a:cs typeface="Arial"/>
              </a:defRPr>
            </a:lvl6pPr>
            <a:lvl7pPr>
              <a:defRPr sz="1650" b="1">
                <a:solidFill>
                  <a:srgbClr val="34D399"/>
                </a:solidFill>
                <a:latin typeface="Arial"/>
                <a:ea typeface="Arial"/>
                <a:cs typeface="Arial"/>
              </a:defRPr>
            </a:lvl7pPr>
            <a:lvl8pPr>
              <a:defRPr sz="1650" b="1">
                <a:solidFill>
                  <a:srgbClr val="34D399"/>
                </a:solidFill>
                <a:latin typeface="Arial"/>
                <a:ea typeface="Arial"/>
                <a:cs typeface="Arial"/>
              </a:defRPr>
            </a:lvl8pPr>
            <a:lvl9pPr>
              <a:defRPr sz="1650" b="1">
                <a:solidFill>
                  <a:srgbClr val="34D399"/>
                </a:solidFill>
                <a:latin typeface="Arial"/>
                <a:ea typeface="Arial"/>
                <a:cs typeface="Arial"/>
              </a:defRPr>
            </a:lvl9pPr>
          </a:lstStyle>
          <a:p xmlns:a="http://schemas.openxmlformats.org/drawingml/2006/main">
            <a:pPr>
              <a:defRPr sz="1650" b="1">
                <a:solidFill>
                  <a:srgbClr val="34D399"/>
                </a:solidFill>
                <a:latin typeface="Arial"/>
                <a:ea typeface="Arial"/>
                <a:cs typeface="Arial"/>
              </a:defRPr>
            </a:pPr>
            <a:r>
              <a:rPr sz="1650" b="1">
                <a:solidFill>
                  <a:srgbClr val="34D399"/>
                </a:solidFill>
                <a:latin typeface="Arial"/>
                <a:ea typeface="Arial"/>
                <a:cs typeface="Arial"/>
              </a:rPr>
              <a:t>Độ Chính Xác Độc Lập</a:t>
            </a:r>
          </a:p>
        </p:txBody>
      </p:sp>
      <p:sp>
        <p:nvSpPr>
          <p:cNvPr id="9" name="">
            <a:extLst xmlns:a="http://schemas.openxmlformats.org/drawingml/2006/main">
              <a:ext uri="{FF2B5EF4-FFF2-40B4-BE49-F238E27FC236}">
                <a16:creationId xmlns:a16="http://schemas.microsoft.com/office/drawing/2014/main" id="{E5582621-BEE7-4587-8F75-2F7CFAB4D474}"/>
              </a:ext>
            </a:extLst>
          </p:cNvPr>
          <p:cNvSpPr>
            <a:spLocks xmlns:a="http://schemas.openxmlformats.org/drawingml/2006/main" noGrp="1"/>
          </p:cNvSpPr>
          <p:nvPr/>
        </p:nvSpPr>
        <p:spPr>
          <a:xfrm xmlns:a="http://schemas.openxmlformats.org/drawingml/2006/main">
            <a:off x="4629150" y="3476625"/>
            <a:ext cx="293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F8FAFC"/>
                </a:solidFill>
                <a:latin typeface="Arial"/>
                <a:ea typeface="Arial"/>
                <a:cs typeface="Arial"/>
              </a:defRPr>
            </a:defPPr>
            <a:lvl1pPr>
              <a:defRPr sz="1275" b="0">
                <a:solidFill>
                  <a:srgbClr val="F8FAFC"/>
                </a:solidFill>
                <a:latin typeface="Arial"/>
                <a:ea typeface="Arial"/>
                <a:cs typeface="Arial"/>
              </a:defRPr>
            </a:lvl1pPr>
            <a:lvl2pPr>
              <a:defRPr sz="1275" b="0">
                <a:solidFill>
                  <a:srgbClr val="F8FAFC"/>
                </a:solidFill>
                <a:latin typeface="Arial"/>
                <a:ea typeface="Arial"/>
                <a:cs typeface="Arial"/>
              </a:defRPr>
            </a:lvl2pPr>
            <a:lvl3pPr>
              <a:defRPr sz="1275" b="0">
                <a:solidFill>
                  <a:srgbClr val="F8FAFC"/>
                </a:solidFill>
                <a:latin typeface="Arial"/>
                <a:ea typeface="Arial"/>
                <a:cs typeface="Arial"/>
              </a:defRPr>
            </a:lvl3pPr>
            <a:lvl4pPr>
              <a:defRPr sz="1275" b="0">
                <a:solidFill>
                  <a:srgbClr val="F8FAFC"/>
                </a:solidFill>
                <a:latin typeface="Arial"/>
                <a:ea typeface="Arial"/>
                <a:cs typeface="Arial"/>
              </a:defRPr>
            </a:lvl4pPr>
            <a:lvl5pPr>
              <a:defRPr sz="1275" b="0">
                <a:solidFill>
                  <a:srgbClr val="F8FAFC"/>
                </a:solidFill>
                <a:latin typeface="Arial"/>
                <a:ea typeface="Arial"/>
                <a:cs typeface="Arial"/>
              </a:defRPr>
            </a:lvl5pPr>
            <a:lvl6pPr>
              <a:defRPr sz="1275" b="0">
                <a:solidFill>
                  <a:srgbClr val="F8FAFC"/>
                </a:solidFill>
                <a:latin typeface="Arial"/>
                <a:ea typeface="Arial"/>
                <a:cs typeface="Arial"/>
              </a:defRPr>
            </a:lvl6pPr>
            <a:lvl7pPr>
              <a:defRPr sz="1275" b="0">
                <a:solidFill>
                  <a:srgbClr val="F8FAFC"/>
                </a:solidFill>
                <a:latin typeface="Arial"/>
                <a:ea typeface="Arial"/>
                <a:cs typeface="Arial"/>
              </a:defRPr>
            </a:lvl7pPr>
            <a:lvl8pPr>
              <a:defRPr sz="1275" b="0">
                <a:solidFill>
                  <a:srgbClr val="F8FAFC"/>
                </a:solidFill>
                <a:latin typeface="Arial"/>
                <a:ea typeface="Arial"/>
                <a:cs typeface="Arial"/>
              </a:defRPr>
            </a:lvl8pPr>
            <a:lvl9pPr>
              <a:defRPr sz="1275" b="0">
                <a:solidFill>
                  <a:srgbClr val="F8FAFC"/>
                </a:solidFill>
                <a:latin typeface="Arial"/>
                <a:ea typeface="Arial"/>
                <a:cs typeface="Arial"/>
              </a:defRPr>
            </a:lvl9pPr>
          </a:lstStyle>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Test Frame Acc: 98.09% (4.811 frame)</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Test Video Acc: 14/14 (100%)</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Real Recall: 99.88% (chỉ sót 3 frame)</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Fake Precision: 99.87% (chặn cực tốt)</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Tập test quay tách biệt theo từng video</a:t>
            </a:r>
          </a:p>
        </p:txBody>
      </p:sp>
      <p:sp>
        <p:nvSpPr>
          <p:cNvPr id="10" name="">
            <a:extLst xmlns:a="http://schemas.openxmlformats.org/drawingml/2006/main">
              <a:ext uri="{FF2B5EF4-FFF2-40B4-BE49-F238E27FC236}">
                <a16:creationId xmlns:a16="http://schemas.microsoft.com/office/drawing/2014/main" id="{72DB58A7-E64C-41D3-9E6E-3F0FD952CB7B}"/>
              </a:ext>
            </a:extLst>
          </p:cNvPr>
          <p:cNvSpPr>
            <a:spLocks xmlns:a="http://schemas.openxmlformats.org/drawingml/2006/main" noGrp="1"/>
          </p:cNvSpPr>
          <p:nvPr/>
        </p:nvSpPr>
        <p:spPr>
          <a:xfrm xmlns:a="http://schemas.openxmlformats.org/drawingml/2006/main">
            <a:off x="8153400" y="2762250"/>
            <a:ext cx="3429000" cy="2762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11" name="">
            <a:extLst xmlns:a="http://schemas.openxmlformats.org/drawingml/2006/main">
              <a:ext uri="{FF2B5EF4-FFF2-40B4-BE49-F238E27FC236}">
                <a16:creationId xmlns:a16="http://schemas.microsoft.com/office/drawing/2014/main" id="{63AC28D2-4779-4E2B-8208-4BFD42047A59}"/>
              </a:ext>
            </a:extLst>
          </p:cNvPr>
          <p:cNvSpPr>
            <a:spLocks xmlns:a="http://schemas.openxmlformats.org/drawingml/2006/main" noGrp="1"/>
          </p:cNvSpPr>
          <p:nvPr/>
        </p:nvSpPr>
        <p:spPr>
          <a:xfrm xmlns:a="http://schemas.openxmlformats.org/drawingml/2006/main">
            <a:off x="8401050" y="3000375"/>
            <a:ext cx="2933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FBBF24"/>
                </a:solidFill>
                <a:latin typeface="Arial"/>
                <a:ea typeface="Arial"/>
                <a:cs typeface="Arial"/>
              </a:defRPr>
            </a:defPPr>
            <a:lvl1pPr>
              <a:defRPr sz="1650" b="1">
                <a:solidFill>
                  <a:srgbClr val="FBBF24"/>
                </a:solidFill>
                <a:latin typeface="Arial"/>
                <a:ea typeface="Arial"/>
                <a:cs typeface="Arial"/>
              </a:defRPr>
            </a:lvl1pPr>
            <a:lvl2pPr>
              <a:defRPr sz="1650" b="1">
                <a:solidFill>
                  <a:srgbClr val="FBBF24"/>
                </a:solidFill>
                <a:latin typeface="Arial"/>
                <a:ea typeface="Arial"/>
                <a:cs typeface="Arial"/>
              </a:defRPr>
            </a:lvl2pPr>
            <a:lvl3pPr>
              <a:defRPr sz="1650" b="1">
                <a:solidFill>
                  <a:srgbClr val="FBBF24"/>
                </a:solidFill>
                <a:latin typeface="Arial"/>
                <a:ea typeface="Arial"/>
                <a:cs typeface="Arial"/>
              </a:defRPr>
            </a:lvl3pPr>
            <a:lvl4pPr>
              <a:defRPr sz="1650" b="1">
                <a:solidFill>
                  <a:srgbClr val="FBBF24"/>
                </a:solidFill>
                <a:latin typeface="Arial"/>
                <a:ea typeface="Arial"/>
                <a:cs typeface="Arial"/>
              </a:defRPr>
            </a:lvl4pPr>
            <a:lvl5pPr>
              <a:defRPr sz="1650" b="1">
                <a:solidFill>
                  <a:srgbClr val="FBBF24"/>
                </a:solidFill>
                <a:latin typeface="Arial"/>
                <a:ea typeface="Arial"/>
                <a:cs typeface="Arial"/>
              </a:defRPr>
            </a:lvl5pPr>
            <a:lvl6pPr>
              <a:defRPr sz="1650" b="1">
                <a:solidFill>
                  <a:srgbClr val="FBBF24"/>
                </a:solidFill>
                <a:latin typeface="Arial"/>
                <a:ea typeface="Arial"/>
                <a:cs typeface="Arial"/>
              </a:defRPr>
            </a:lvl6pPr>
            <a:lvl7pPr>
              <a:defRPr sz="1650" b="1">
                <a:solidFill>
                  <a:srgbClr val="FBBF24"/>
                </a:solidFill>
                <a:latin typeface="Arial"/>
                <a:ea typeface="Arial"/>
                <a:cs typeface="Arial"/>
              </a:defRPr>
            </a:lvl7pPr>
            <a:lvl8pPr>
              <a:defRPr sz="1650" b="1">
                <a:solidFill>
                  <a:srgbClr val="FBBF24"/>
                </a:solidFill>
                <a:latin typeface="Arial"/>
                <a:ea typeface="Arial"/>
                <a:cs typeface="Arial"/>
              </a:defRPr>
            </a:lvl8pPr>
            <a:lvl9pPr>
              <a:defRPr sz="1650" b="1">
                <a:solidFill>
                  <a:srgbClr val="FBBF24"/>
                </a:solidFill>
                <a:latin typeface="Arial"/>
                <a:ea typeface="Arial"/>
                <a:cs typeface="Arial"/>
              </a:defRPr>
            </a:lvl9pPr>
          </a:lstStyle>
          <a:p xmlns:a="http://schemas.openxmlformats.org/drawingml/2006/main">
            <a:pPr>
              <a:defRPr sz="1650" b="1">
                <a:solidFill>
                  <a:srgbClr val="FBBF24"/>
                </a:solidFill>
                <a:latin typeface="Arial"/>
                <a:ea typeface="Arial"/>
                <a:cs typeface="Arial"/>
              </a:defRPr>
            </a:pPr>
            <a:r>
              <a:rPr sz="1650" b="1">
                <a:solidFill>
                  <a:srgbClr val="FBBF24"/>
                </a:solidFill>
                <a:latin typeface="Arial"/>
                <a:ea typeface="Arial"/>
                <a:cs typeface="Arial"/>
              </a:rPr>
              <a:t>Vận Hành Thực Tế</a:t>
            </a:r>
          </a:p>
        </p:txBody>
      </p:sp>
      <p:sp>
        <p:nvSpPr>
          <p:cNvPr id="12" name="">
            <a:extLst xmlns:a="http://schemas.openxmlformats.org/drawingml/2006/main">
              <a:ext uri="{FF2B5EF4-FFF2-40B4-BE49-F238E27FC236}">
                <a16:creationId xmlns:a16="http://schemas.microsoft.com/office/drawing/2014/main" id="{94F310AE-EAEC-48C2-B79D-DEE36FBD39A8}"/>
              </a:ext>
            </a:extLst>
          </p:cNvPr>
          <p:cNvSpPr>
            <a:spLocks xmlns:a="http://schemas.openxmlformats.org/drawingml/2006/main" noGrp="1"/>
          </p:cNvSpPr>
          <p:nvPr/>
        </p:nvSpPr>
        <p:spPr>
          <a:xfrm xmlns:a="http://schemas.openxmlformats.org/drawingml/2006/main">
            <a:off x="8401050" y="3476625"/>
            <a:ext cx="293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F8FAFC"/>
                </a:solidFill>
                <a:latin typeface="Arial"/>
                <a:ea typeface="Arial"/>
                <a:cs typeface="Arial"/>
              </a:defRPr>
            </a:defPPr>
            <a:lvl1pPr>
              <a:defRPr sz="1275" b="0">
                <a:solidFill>
                  <a:srgbClr val="F8FAFC"/>
                </a:solidFill>
                <a:latin typeface="Arial"/>
                <a:ea typeface="Arial"/>
                <a:cs typeface="Arial"/>
              </a:defRPr>
            </a:lvl1pPr>
            <a:lvl2pPr>
              <a:defRPr sz="1275" b="0">
                <a:solidFill>
                  <a:srgbClr val="F8FAFC"/>
                </a:solidFill>
                <a:latin typeface="Arial"/>
                <a:ea typeface="Arial"/>
                <a:cs typeface="Arial"/>
              </a:defRPr>
            </a:lvl2pPr>
            <a:lvl3pPr>
              <a:defRPr sz="1275" b="0">
                <a:solidFill>
                  <a:srgbClr val="F8FAFC"/>
                </a:solidFill>
                <a:latin typeface="Arial"/>
                <a:ea typeface="Arial"/>
                <a:cs typeface="Arial"/>
              </a:defRPr>
            </a:lvl3pPr>
            <a:lvl4pPr>
              <a:defRPr sz="1275" b="0">
                <a:solidFill>
                  <a:srgbClr val="F8FAFC"/>
                </a:solidFill>
                <a:latin typeface="Arial"/>
                <a:ea typeface="Arial"/>
                <a:cs typeface="Arial"/>
              </a:defRPr>
            </a:lvl4pPr>
            <a:lvl5pPr>
              <a:defRPr sz="1275" b="0">
                <a:solidFill>
                  <a:srgbClr val="F8FAFC"/>
                </a:solidFill>
                <a:latin typeface="Arial"/>
                <a:ea typeface="Arial"/>
                <a:cs typeface="Arial"/>
              </a:defRPr>
            </a:lvl5pPr>
            <a:lvl6pPr>
              <a:defRPr sz="1275" b="0">
                <a:solidFill>
                  <a:srgbClr val="F8FAFC"/>
                </a:solidFill>
                <a:latin typeface="Arial"/>
                <a:ea typeface="Arial"/>
                <a:cs typeface="Arial"/>
              </a:defRPr>
            </a:lvl6pPr>
            <a:lvl7pPr>
              <a:defRPr sz="1275" b="0">
                <a:solidFill>
                  <a:srgbClr val="F8FAFC"/>
                </a:solidFill>
                <a:latin typeface="Arial"/>
                <a:ea typeface="Arial"/>
                <a:cs typeface="Arial"/>
              </a:defRPr>
            </a:lvl7pPr>
            <a:lvl8pPr>
              <a:defRPr sz="1275" b="0">
                <a:solidFill>
                  <a:srgbClr val="F8FAFC"/>
                </a:solidFill>
                <a:latin typeface="Arial"/>
                <a:ea typeface="Arial"/>
                <a:cs typeface="Arial"/>
              </a:defRPr>
            </a:lvl8pPr>
            <a:lvl9pPr>
              <a:defRPr sz="1275" b="0">
                <a:solidFill>
                  <a:srgbClr val="F8FAFC"/>
                </a:solidFill>
                <a:latin typeface="Arial"/>
                <a:ea typeface="Arial"/>
                <a:cs typeface="Arial"/>
              </a:defRPr>
            </a:lvl9pPr>
          </a:lstStyle>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30 FPS mượt mà (Multi-threaded)</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Độ trễ suy luận mô hình: ~6ms</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Tự động kết nối lại khi rút cắm USB</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Xuất bản song song H5 &amp; TFLite</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Sẵn sàng tích hợp luồng định danh</a:t>
            </a:r>
          </a:p>
        </p:txBody>
      </p:sp>
      <p:sp>
        <p:nvSpPr>
          <p:cNvPr id="13" name="">
            <a:extLst xmlns:a="http://schemas.openxmlformats.org/drawingml/2006/main">
              <a:ext uri="{FF2B5EF4-FFF2-40B4-BE49-F238E27FC236}">
                <a16:creationId xmlns:a16="http://schemas.microsoft.com/office/drawing/2014/main" id="{3B1206A2-256A-496A-9B5A-BB6529D2EDE1}"/>
              </a:ext>
            </a:extLst>
          </p:cNvPr>
          <p:cNvSpPr>
            <a:spLocks xmlns:a="http://schemas.openxmlformats.org/drawingml/2006/main" noGrp="1"/>
          </p:cNvSpPr>
          <p:nvPr/>
        </p:nvSpPr>
        <p:spPr>
          <a:xfrm xmlns:a="http://schemas.openxmlformats.org/drawingml/2006/main">
            <a:off x="609600" y="6048375"/>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94A3B8"/>
                </a:solidFill>
                <a:latin typeface="Arial"/>
                <a:ea typeface="Arial"/>
                <a:cs typeface="Arial"/>
              </a:defRPr>
            </a:defPPr>
            <a:lvl1pPr>
              <a:defRPr sz="1275" b="0">
                <a:solidFill>
                  <a:srgbClr val="94A3B8"/>
                </a:solidFill>
                <a:latin typeface="Arial"/>
                <a:ea typeface="Arial"/>
                <a:cs typeface="Arial"/>
              </a:defRPr>
            </a:lvl1pPr>
            <a:lvl2pPr>
              <a:defRPr sz="1275" b="0">
                <a:solidFill>
                  <a:srgbClr val="94A3B8"/>
                </a:solidFill>
                <a:latin typeface="Arial"/>
                <a:ea typeface="Arial"/>
                <a:cs typeface="Arial"/>
              </a:defRPr>
            </a:lvl2pPr>
            <a:lvl3pPr>
              <a:defRPr sz="1275" b="0">
                <a:solidFill>
                  <a:srgbClr val="94A3B8"/>
                </a:solidFill>
                <a:latin typeface="Arial"/>
                <a:ea typeface="Arial"/>
                <a:cs typeface="Arial"/>
              </a:defRPr>
            </a:lvl3pPr>
            <a:lvl4pPr>
              <a:defRPr sz="1275" b="0">
                <a:solidFill>
                  <a:srgbClr val="94A3B8"/>
                </a:solidFill>
                <a:latin typeface="Arial"/>
                <a:ea typeface="Arial"/>
                <a:cs typeface="Arial"/>
              </a:defRPr>
            </a:lvl4pPr>
            <a:lvl5pPr>
              <a:defRPr sz="1275" b="0">
                <a:solidFill>
                  <a:srgbClr val="94A3B8"/>
                </a:solidFill>
                <a:latin typeface="Arial"/>
                <a:ea typeface="Arial"/>
                <a:cs typeface="Arial"/>
              </a:defRPr>
            </a:lvl5pPr>
            <a:lvl6pPr>
              <a:defRPr sz="1275" b="0">
                <a:solidFill>
                  <a:srgbClr val="94A3B8"/>
                </a:solidFill>
                <a:latin typeface="Arial"/>
                <a:ea typeface="Arial"/>
                <a:cs typeface="Arial"/>
              </a:defRPr>
            </a:lvl6pPr>
            <a:lvl7pPr>
              <a:defRPr sz="1275" b="0">
                <a:solidFill>
                  <a:srgbClr val="94A3B8"/>
                </a:solidFill>
                <a:latin typeface="Arial"/>
                <a:ea typeface="Arial"/>
                <a:cs typeface="Arial"/>
              </a:defRPr>
            </a:lvl7pPr>
            <a:lvl8pPr>
              <a:defRPr sz="1275" b="0">
                <a:solidFill>
                  <a:srgbClr val="94A3B8"/>
                </a:solidFill>
                <a:latin typeface="Arial"/>
                <a:ea typeface="Arial"/>
                <a:cs typeface="Arial"/>
              </a:defRPr>
            </a:lvl8pPr>
            <a:lvl9pPr>
              <a:defRPr sz="1275" b="0">
                <a:solidFill>
                  <a:srgbClr val="94A3B8"/>
                </a:solidFill>
                <a:latin typeface="Arial"/>
                <a:ea typeface="Arial"/>
                <a:cs typeface="Arial"/>
              </a:defRPr>
            </a:lvl9pPr>
          </a:lstStyle>
          <a:p xmlns:a="http://schemas.openxmlformats.org/drawingml/2006/main">
            <a:pPr>
              <a:defRPr sz="1275" b="0">
                <a:solidFill>
                  <a:srgbClr val="94A3B8"/>
                </a:solidFill>
                <a:latin typeface="Arial"/>
                <a:ea typeface="Arial"/>
                <a:cs typeface="Arial"/>
              </a:defRPr>
            </a:pPr>
            <a:r>
              <a:rPr sz="1275" b="0">
                <a:solidFill>
                  <a:srgbClr val="94A3B8"/>
                </a:solidFill>
                <a:latin typeface="Arial"/>
                <a:ea typeface="Arial"/>
                <a:cs typeface="Arial"/>
              </a:rPr>
              <a:t>Ngày báo cáo: 20/10/2026  |  Trọng số tốt nhất: liveness_cam4k.h5 (Epoch 14)</a:t>
            </a:r>
          </a:p>
        </p:txBody>
      </p:sp>
      <p:sp>
        <p:nvSpPr>
          <p:cNvPr id="14" name="">
            <a:extLst xmlns:a="http://schemas.openxmlformats.org/drawingml/2006/main">
              <a:ext uri="{FF2B5EF4-FFF2-40B4-BE49-F238E27FC236}">
                <a16:creationId xmlns:a16="http://schemas.microsoft.com/office/drawing/2014/main" id="{5C667C78-476B-4CCC-81E3-609508839CCE}"/>
              </a:ext>
            </a:extLst>
          </p:cNvPr>
          <p:cNvSpPr>
            <a:spLocks xmlns:a="http://schemas.openxmlformats.org/drawingml/2006/main" noGrp="1"/>
          </p:cNvSpPr>
          <p:nvPr/>
        </p:nvSpPr>
        <p:spPr>
          <a:xfrm xmlns:a="http://schemas.openxmlformats.org/drawingml/2006/main">
            <a:off x="11049000" y="6048375"/>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01 / 04</a:t>
            </a:r>
          </a:p>
        </p:txBody>
      </p:sp>
    </p:spTree>
    <p:extLst>
      <p:ext uri="{BB962C8B-B14F-4D97-AF65-F5344CB8AC3E}">
        <p14:creationId xmlns:p14="http://schemas.microsoft.com/office/powerpoint/2010/main" val="1523343461"/>
      </p:ext>
    </p:extLst>
  </p:cSld>
</p:sld>
</file>

<file path=ppt/slides/slide2.xml><?xml version="1.0" encoding="utf-8"?>
<p:sld xmlns:p="http://schemas.openxmlformats.org/presentationml/2006/main">
  <p:cSld>
    <p:bg>
      <p:bgPr>
        <a:solidFill xmlns:a="http://schemas.openxmlformats.org/drawingml/2006/main">
          <a:srgbClr val="0D152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FF1216-0A5F-477B-9F02-908D61C1E45E}"/>
              </a:ext>
            </a:extLst>
          </p:cNvPr>
          <p:cNvSpPr>
            <a:spLocks xmlns:a="http://schemas.openxmlformats.org/drawingml/2006/main" noGrp="1"/>
          </p:cNvSpPr>
          <p:nvPr/>
        </p:nvSpPr>
        <p:spPr>
          <a:xfrm xmlns:a="http://schemas.openxmlformats.org/drawingml/2006/main">
            <a:off x="609600" y="361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8FAFC"/>
                </a:solidFill>
                <a:latin typeface="Arial"/>
                <a:ea typeface="Arial"/>
                <a:cs typeface="Arial"/>
              </a:defRPr>
            </a:defPPr>
            <a:lvl1pPr>
              <a:defRPr sz="2700" b="1">
                <a:solidFill>
                  <a:srgbClr val="F8FAFC"/>
                </a:solidFill>
                <a:latin typeface="Arial"/>
                <a:ea typeface="Arial"/>
                <a:cs typeface="Arial"/>
              </a:defRPr>
            </a:lvl1pPr>
            <a:lvl2pPr>
              <a:defRPr sz="2700" b="1">
                <a:solidFill>
                  <a:srgbClr val="F8FAFC"/>
                </a:solidFill>
                <a:latin typeface="Arial"/>
                <a:ea typeface="Arial"/>
                <a:cs typeface="Arial"/>
              </a:defRPr>
            </a:lvl2pPr>
            <a:lvl3pPr>
              <a:defRPr sz="2700" b="1">
                <a:solidFill>
                  <a:srgbClr val="F8FAFC"/>
                </a:solidFill>
                <a:latin typeface="Arial"/>
                <a:ea typeface="Arial"/>
                <a:cs typeface="Arial"/>
              </a:defRPr>
            </a:lvl3pPr>
            <a:lvl4pPr>
              <a:defRPr sz="2700" b="1">
                <a:solidFill>
                  <a:srgbClr val="F8FAFC"/>
                </a:solidFill>
                <a:latin typeface="Arial"/>
                <a:ea typeface="Arial"/>
                <a:cs typeface="Arial"/>
              </a:defRPr>
            </a:lvl4pPr>
            <a:lvl5pPr>
              <a:defRPr sz="2700" b="1">
                <a:solidFill>
                  <a:srgbClr val="F8FAFC"/>
                </a:solidFill>
                <a:latin typeface="Arial"/>
                <a:ea typeface="Arial"/>
                <a:cs typeface="Arial"/>
              </a:defRPr>
            </a:lvl5pPr>
            <a:lvl6pPr>
              <a:defRPr sz="2700" b="1">
                <a:solidFill>
                  <a:srgbClr val="F8FAFC"/>
                </a:solidFill>
                <a:latin typeface="Arial"/>
                <a:ea typeface="Arial"/>
                <a:cs typeface="Arial"/>
              </a:defRPr>
            </a:lvl6pPr>
            <a:lvl7pPr>
              <a:defRPr sz="2700" b="1">
                <a:solidFill>
                  <a:srgbClr val="F8FAFC"/>
                </a:solidFill>
                <a:latin typeface="Arial"/>
                <a:ea typeface="Arial"/>
                <a:cs typeface="Arial"/>
              </a:defRPr>
            </a:lvl7pPr>
            <a:lvl8pPr>
              <a:defRPr sz="2700" b="1">
                <a:solidFill>
                  <a:srgbClr val="F8FAFC"/>
                </a:solidFill>
                <a:latin typeface="Arial"/>
                <a:ea typeface="Arial"/>
                <a:cs typeface="Arial"/>
              </a:defRPr>
            </a:lvl8pPr>
            <a:lvl9pPr>
              <a:defRPr sz="2700" b="1">
                <a:solidFill>
                  <a:srgbClr val="F8FAFC"/>
                </a:solidFill>
                <a:latin typeface="Arial"/>
                <a:ea typeface="Arial"/>
                <a:cs typeface="Arial"/>
              </a:defRPr>
            </a:lvl9pPr>
          </a:lstStyle>
          <a:p xmlns:a="http://schemas.openxmlformats.org/drawingml/2006/main">
            <a:pPr>
              <a:defRPr sz="2700" b="1">
                <a:solidFill>
                  <a:srgbClr val="F8FAFC"/>
                </a:solidFill>
                <a:latin typeface="Arial"/>
                <a:ea typeface="Arial"/>
                <a:cs typeface="Arial"/>
              </a:defRPr>
            </a:pPr>
            <a:r>
              <a:rPr sz="2700" b="1">
                <a:solidFill>
                  <a:srgbClr val="F8FAFC"/>
                </a:solidFill>
                <a:latin typeface="Arial"/>
                <a:ea typeface="Arial"/>
                <a:cs typeface="Arial"/>
              </a:rPr>
              <a:t>Quá Trình Huấn Luyện &amp; Đồ Thị Hội Tụ</a:t>
            </a:r>
          </a:p>
        </p:txBody>
      </p:sp>
      <p:sp>
        <p:nvSpPr>
          <p:cNvPr id="2" name="">
            <a:extLst xmlns:a="http://schemas.openxmlformats.org/drawingml/2006/main">
              <a:ext uri="{FF2B5EF4-FFF2-40B4-BE49-F238E27FC236}">
                <a16:creationId xmlns:a16="http://schemas.microsoft.com/office/drawing/2014/main" id="{320D8F1A-D404-4819-8017-F7D5A9F556E3}"/>
              </a:ext>
            </a:extLst>
          </p:cNvPr>
          <p:cNvSpPr>
            <a:spLocks xmlns:a="http://schemas.openxmlformats.org/drawingml/2006/main" noGrp="1"/>
          </p:cNvSpPr>
          <p:nvPr/>
        </p:nvSpPr>
        <p:spPr>
          <a:xfrm xmlns:a="http://schemas.openxmlformats.org/drawingml/2006/main">
            <a:off x="609600" y="914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38BDF8"/>
                </a:solidFill>
                <a:latin typeface="Arial"/>
                <a:ea typeface="Arial"/>
                <a:cs typeface="Arial"/>
              </a:defRPr>
            </a:defPPr>
            <a:lvl1pPr>
              <a:defRPr sz="1425" b="1">
                <a:solidFill>
                  <a:srgbClr val="38BDF8"/>
                </a:solidFill>
                <a:latin typeface="Arial"/>
                <a:ea typeface="Arial"/>
                <a:cs typeface="Arial"/>
              </a:defRPr>
            </a:lvl1pPr>
            <a:lvl2pPr>
              <a:defRPr sz="1425" b="1">
                <a:solidFill>
                  <a:srgbClr val="38BDF8"/>
                </a:solidFill>
                <a:latin typeface="Arial"/>
                <a:ea typeface="Arial"/>
                <a:cs typeface="Arial"/>
              </a:defRPr>
            </a:lvl2pPr>
            <a:lvl3pPr>
              <a:defRPr sz="1425" b="1">
                <a:solidFill>
                  <a:srgbClr val="38BDF8"/>
                </a:solidFill>
                <a:latin typeface="Arial"/>
                <a:ea typeface="Arial"/>
                <a:cs typeface="Arial"/>
              </a:defRPr>
            </a:lvl3pPr>
            <a:lvl4pPr>
              <a:defRPr sz="1425" b="1">
                <a:solidFill>
                  <a:srgbClr val="38BDF8"/>
                </a:solidFill>
                <a:latin typeface="Arial"/>
                <a:ea typeface="Arial"/>
                <a:cs typeface="Arial"/>
              </a:defRPr>
            </a:lvl4pPr>
            <a:lvl5pPr>
              <a:defRPr sz="1425" b="1">
                <a:solidFill>
                  <a:srgbClr val="38BDF8"/>
                </a:solidFill>
                <a:latin typeface="Arial"/>
                <a:ea typeface="Arial"/>
                <a:cs typeface="Arial"/>
              </a:defRPr>
            </a:lvl5pPr>
            <a:lvl6pPr>
              <a:defRPr sz="1425" b="1">
                <a:solidFill>
                  <a:srgbClr val="38BDF8"/>
                </a:solidFill>
                <a:latin typeface="Arial"/>
                <a:ea typeface="Arial"/>
                <a:cs typeface="Arial"/>
              </a:defRPr>
            </a:lvl6pPr>
            <a:lvl7pPr>
              <a:defRPr sz="1425" b="1">
                <a:solidFill>
                  <a:srgbClr val="38BDF8"/>
                </a:solidFill>
                <a:latin typeface="Arial"/>
                <a:ea typeface="Arial"/>
                <a:cs typeface="Arial"/>
              </a:defRPr>
            </a:lvl7pPr>
            <a:lvl8pPr>
              <a:defRPr sz="1425" b="1">
                <a:solidFill>
                  <a:srgbClr val="38BDF8"/>
                </a:solidFill>
                <a:latin typeface="Arial"/>
                <a:ea typeface="Arial"/>
                <a:cs typeface="Arial"/>
              </a:defRPr>
            </a:lvl8pPr>
            <a:lvl9pPr>
              <a:defRPr sz="1425" b="1">
                <a:solidFill>
                  <a:srgbClr val="38BDF8"/>
                </a:solidFill>
                <a:latin typeface="Arial"/>
                <a:ea typeface="Arial"/>
                <a:cs typeface="Arial"/>
              </a:defRPr>
            </a:lvl9pPr>
          </a:lstStyle>
          <a:p xmlns:a="http://schemas.openxmlformats.org/drawingml/2006/main">
            <a:pPr>
              <a:defRPr sz="1425" b="1">
                <a:solidFill>
                  <a:srgbClr val="38BDF8"/>
                </a:solidFill>
                <a:latin typeface="Arial"/>
                <a:ea typeface="Arial"/>
                <a:cs typeface="Arial"/>
              </a:defRPr>
            </a:pPr>
            <a:r>
              <a:rPr sz="1425" b="1">
                <a:solidFill>
                  <a:srgbClr val="38BDF8"/>
                </a:solidFill>
                <a:latin typeface="Arial"/>
                <a:ea typeface="Arial"/>
                <a:cs typeface="Arial"/>
              </a:rPr>
              <a:t>THEO DÕI LOSS VÀ ACCURACY QUA 18 EPOCHS HUẤN LUYỆN</a:t>
            </a:r>
          </a:p>
        </p:txBody>
      </p:sp>
      <p:sp>
        <p:nvSpPr>
          <p:cNvPr id="3" name="">
            <a:extLst xmlns:a="http://schemas.openxmlformats.org/drawingml/2006/main">
              <a:ext uri="{FF2B5EF4-FFF2-40B4-BE49-F238E27FC236}">
                <a16:creationId xmlns:a16="http://schemas.microsoft.com/office/drawing/2014/main" id="{9273796D-7640-44D1-B3A3-B6FD052DA905}"/>
              </a:ext>
            </a:extLst>
          </p:cNvPr>
          <p:cNvSpPr>
            <a:spLocks xmlns:a="http://schemas.openxmlformats.org/drawingml/2006/main" noGrp="1"/>
          </p:cNvSpPr>
          <p:nvPr/>
        </p:nvSpPr>
        <p:spPr>
          <a:xfrm xmlns:a="http://schemas.openxmlformats.org/drawingml/2006/main">
            <a:off x="609600" y="64008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FACE ANTI-SPOOFING • CAMERA USB SC-M200</a:t>
            </a:r>
          </a:p>
        </p:txBody>
      </p:sp>
      <p:sp>
        <p:nvSpPr>
          <p:cNvPr id="4" name="">
            <a:extLst xmlns:a="http://schemas.openxmlformats.org/drawingml/2006/main">
              <a:ext uri="{FF2B5EF4-FFF2-40B4-BE49-F238E27FC236}">
                <a16:creationId xmlns:a16="http://schemas.microsoft.com/office/drawing/2014/main" id="{5B380F48-7FF7-439D-B6D3-15912BE9E540}"/>
              </a:ext>
            </a:extLst>
          </p:cNvPr>
          <p:cNvSpPr>
            <a:spLocks xmlns:a="http://schemas.openxmlformats.org/drawingml/2006/main" noGrp="1"/>
          </p:cNvSpPr>
          <p:nvPr/>
        </p:nvSpPr>
        <p:spPr>
          <a:xfrm xmlns:a="http://schemas.openxmlformats.org/drawingml/2006/main">
            <a:off x="11049000" y="64008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02 / 04</a:t>
            </a:r>
          </a:p>
        </p:txBody>
      </p:sp>
      <p:sp>
        <p:nvSpPr>
          <p:cNvPr id="5" name="">
            <a:extLst xmlns:a="http://schemas.openxmlformats.org/drawingml/2006/main">
              <a:ext uri="{FF2B5EF4-FFF2-40B4-BE49-F238E27FC236}">
                <a16:creationId xmlns:a16="http://schemas.microsoft.com/office/drawing/2014/main" id="{55D8B7F4-D3BD-4032-AF0F-859EEA1E0508}"/>
              </a:ext>
            </a:extLst>
          </p:cNvPr>
          <p:cNvSpPr>
            <a:spLocks xmlns:a="http://schemas.openxmlformats.org/drawingml/2006/main" noGrp="1"/>
          </p:cNvSpPr>
          <p:nvPr/>
        </p:nvSpPr>
        <p:spPr>
          <a:xfrm xmlns:a="http://schemas.openxmlformats.org/drawingml/2006/main">
            <a:off x="609600" y="1428750"/>
            <a:ext cx="4476750" cy="4667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6" name="">
            <a:extLst xmlns:a="http://schemas.openxmlformats.org/drawingml/2006/main">
              <a:ext uri="{FF2B5EF4-FFF2-40B4-BE49-F238E27FC236}">
                <a16:creationId xmlns:a16="http://schemas.microsoft.com/office/drawing/2014/main" id="{1B5AAE76-A1B6-4CB5-A4D1-FD682D4AC149}"/>
              </a:ext>
            </a:extLst>
          </p:cNvPr>
          <p:cNvSpPr>
            <a:spLocks xmlns:a="http://schemas.openxmlformats.org/drawingml/2006/main" noGrp="1"/>
          </p:cNvSpPr>
          <p:nvPr/>
        </p:nvSpPr>
        <p:spPr>
          <a:xfrm xmlns:a="http://schemas.openxmlformats.org/drawingml/2006/main">
            <a:off x="857250" y="1666875"/>
            <a:ext cx="3981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8BDF8"/>
                </a:solidFill>
                <a:latin typeface="Arial"/>
                <a:ea typeface="Arial"/>
                <a:cs typeface="Arial"/>
              </a:defRPr>
            </a:defPPr>
            <a:lvl1pPr>
              <a:defRPr sz="1650" b="1">
                <a:solidFill>
                  <a:srgbClr val="38BDF8"/>
                </a:solidFill>
                <a:latin typeface="Arial"/>
                <a:ea typeface="Arial"/>
                <a:cs typeface="Arial"/>
              </a:defRPr>
            </a:lvl1pPr>
            <a:lvl2pPr>
              <a:defRPr sz="1650" b="1">
                <a:solidFill>
                  <a:srgbClr val="38BDF8"/>
                </a:solidFill>
                <a:latin typeface="Arial"/>
                <a:ea typeface="Arial"/>
                <a:cs typeface="Arial"/>
              </a:defRPr>
            </a:lvl2pPr>
            <a:lvl3pPr>
              <a:defRPr sz="1650" b="1">
                <a:solidFill>
                  <a:srgbClr val="38BDF8"/>
                </a:solidFill>
                <a:latin typeface="Arial"/>
                <a:ea typeface="Arial"/>
                <a:cs typeface="Arial"/>
              </a:defRPr>
            </a:lvl3pPr>
            <a:lvl4pPr>
              <a:defRPr sz="1650" b="1">
                <a:solidFill>
                  <a:srgbClr val="38BDF8"/>
                </a:solidFill>
                <a:latin typeface="Arial"/>
                <a:ea typeface="Arial"/>
                <a:cs typeface="Arial"/>
              </a:defRPr>
            </a:lvl4pPr>
            <a:lvl5pPr>
              <a:defRPr sz="1650" b="1">
                <a:solidFill>
                  <a:srgbClr val="38BDF8"/>
                </a:solidFill>
                <a:latin typeface="Arial"/>
                <a:ea typeface="Arial"/>
                <a:cs typeface="Arial"/>
              </a:defRPr>
            </a:lvl5pPr>
            <a:lvl6pPr>
              <a:defRPr sz="1650" b="1">
                <a:solidFill>
                  <a:srgbClr val="38BDF8"/>
                </a:solidFill>
                <a:latin typeface="Arial"/>
                <a:ea typeface="Arial"/>
                <a:cs typeface="Arial"/>
              </a:defRPr>
            </a:lvl6pPr>
            <a:lvl7pPr>
              <a:defRPr sz="1650" b="1">
                <a:solidFill>
                  <a:srgbClr val="38BDF8"/>
                </a:solidFill>
                <a:latin typeface="Arial"/>
                <a:ea typeface="Arial"/>
                <a:cs typeface="Arial"/>
              </a:defRPr>
            </a:lvl7pPr>
            <a:lvl8pPr>
              <a:defRPr sz="1650" b="1">
                <a:solidFill>
                  <a:srgbClr val="38BDF8"/>
                </a:solidFill>
                <a:latin typeface="Arial"/>
                <a:ea typeface="Arial"/>
                <a:cs typeface="Arial"/>
              </a:defRPr>
            </a:lvl8pPr>
            <a:lvl9pPr>
              <a:defRPr sz="1650" b="1">
                <a:solidFill>
                  <a:srgbClr val="38BDF8"/>
                </a:solidFill>
                <a:latin typeface="Arial"/>
                <a:ea typeface="Arial"/>
                <a:cs typeface="Arial"/>
              </a:defRPr>
            </a:lvl9pPr>
          </a:lstStyle>
          <a:p xmlns:a="http://schemas.openxmlformats.org/drawingml/2006/main">
            <a:pPr>
              <a:defRPr sz="1650" b="1">
                <a:solidFill>
                  <a:srgbClr val="38BDF8"/>
                </a:solidFill>
                <a:latin typeface="Arial"/>
                <a:ea typeface="Arial"/>
                <a:cs typeface="Arial"/>
              </a:defRPr>
            </a:pPr>
            <a:r>
              <a:rPr sz="1650" b="1">
                <a:solidFill>
                  <a:srgbClr val="38BDF8"/>
                </a:solidFill>
                <a:latin typeface="Arial"/>
                <a:ea typeface="Arial"/>
                <a:cs typeface="Arial"/>
              </a:rPr>
              <a:t>Thông Số Động Học Huấn Luyện</a:t>
            </a:r>
          </a:p>
        </p:txBody>
      </p:sp>
      <p:sp>
        <p:nvSpPr>
          <p:cNvPr id="7" name="">
            <a:extLst xmlns:a="http://schemas.openxmlformats.org/drawingml/2006/main">
              <a:ext uri="{FF2B5EF4-FFF2-40B4-BE49-F238E27FC236}">
                <a16:creationId xmlns:a16="http://schemas.microsoft.com/office/drawing/2014/main" id="{DE5211C4-C1A4-450A-9C42-6251421DDC5D}"/>
              </a:ext>
            </a:extLst>
          </p:cNvPr>
          <p:cNvSpPr>
            <a:spLocks xmlns:a="http://schemas.openxmlformats.org/drawingml/2006/main" noGrp="1"/>
          </p:cNvSpPr>
          <p:nvPr/>
        </p:nvSpPr>
        <p:spPr>
          <a:xfrm xmlns:a="http://schemas.openxmlformats.org/drawingml/2006/main">
            <a:off x="857250" y="2095500"/>
            <a:ext cx="39814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F8FAFC"/>
                </a:solidFill>
                <a:latin typeface="Arial"/>
                <a:ea typeface="Arial"/>
                <a:cs typeface="Arial"/>
              </a:defRPr>
            </a:defPPr>
            <a:lvl1pPr>
              <a:defRPr sz="1275" b="0">
                <a:solidFill>
                  <a:srgbClr val="F8FAFC"/>
                </a:solidFill>
                <a:latin typeface="Arial"/>
                <a:ea typeface="Arial"/>
                <a:cs typeface="Arial"/>
              </a:defRPr>
            </a:lvl1pPr>
            <a:lvl2pPr>
              <a:defRPr sz="1275" b="0">
                <a:solidFill>
                  <a:srgbClr val="F8FAFC"/>
                </a:solidFill>
                <a:latin typeface="Arial"/>
                <a:ea typeface="Arial"/>
                <a:cs typeface="Arial"/>
              </a:defRPr>
            </a:lvl2pPr>
            <a:lvl3pPr>
              <a:defRPr sz="1275" b="0">
                <a:solidFill>
                  <a:srgbClr val="F8FAFC"/>
                </a:solidFill>
                <a:latin typeface="Arial"/>
                <a:ea typeface="Arial"/>
                <a:cs typeface="Arial"/>
              </a:defRPr>
            </a:lvl3pPr>
            <a:lvl4pPr>
              <a:defRPr sz="1275" b="0">
                <a:solidFill>
                  <a:srgbClr val="F8FAFC"/>
                </a:solidFill>
                <a:latin typeface="Arial"/>
                <a:ea typeface="Arial"/>
                <a:cs typeface="Arial"/>
              </a:defRPr>
            </a:lvl4pPr>
            <a:lvl5pPr>
              <a:defRPr sz="1275" b="0">
                <a:solidFill>
                  <a:srgbClr val="F8FAFC"/>
                </a:solidFill>
                <a:latin typeface="Arial"/>
                <a:ea typeface="Arial"/>
                <a:cs typeface="Arial"/>
              </a:defRPr>
            </a:lvl5pPr>
            <a:lvl6pPr>
              <a:defRPr sz="1275" b="0">
                <a:solidFill>
                  <a:srgbClr val="F8FAFC"/>
                </a:solidFill>
                <a:latin typeface="Arial"/>
                <a:ea typeface="Arial"/>
                <a:cs typeface="Arial"/>
              </a:defRPr>
            </a:lvl6pPr>
            <a:lvl7pPr>
              <a:defRPr sz="1275" b="0">
                <a:solidFill>
                  <a:srgbClr val="F8FAFC"/>
                </a:solidFill>
                <a:latin typeface="Arial"/>
                <a:ea typeface="Arial"/>
                <a:cs typeface="Arial"/>
              </a:defRPr>
            </a:lvl7pPr>
            <a:lvl8pPr>
              <a:defRPr sz="1275" b="0">
                <a:solidFill>
                  <a:srgbClr val="F8FAFC"/>
                </a:solidFill>
                <a:latin typeface="Arial"/>
                <a:ea typeface="Arial"/>
                <a:cs typeface="Arial"/>
              </a:defRPr>
            </a:lvl8pPr>
            <a:lvl9pPr>
              <a:defRPr sz="1275" b="0">
                <a:solidFill>
                  <a:srgbClr val="F8FAFC"/>
                </a:solidFill>
                <a:latin typeface="Arial"/>
                <a:ea typeface="Arial"/>
                <a:cs typeface="Arial"/>
              </a:defRPr>
            </a:lvl9pPr>
          </a:lstStyle>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Tổng số Epochs: 18 Epochs</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Optimizer: Adam (Learning Rate: 1e-4, Decay)</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Best Checkpoint: Epoch 14 / 18</a:t>
            </a:r>
          </a:p>
          <a:p xmlns:a="http://schemas.openxmlformats.org/drawingml/2006/main">
            <a:r>
              <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Training Loss: 0.0922</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Training Accuracy: 97.79%</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Validation Loss: 0.0941</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Validation Accuracy: 98.01%</a:t>
            </a:r>
          </a:p>
          <a:p xmlns:a="http://schemas.openxmlformats.org/drawingml/2006/main">
            <a:r>
              <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Nhận xét động học mô hình:</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Đường Train Loss và Val Loss bám sát nhau từ epoch 4 đến epoch 14, không có hiện tượng phân kỳ.</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Không bị overfit dữ liệu (Val Loss 0.0941 xấp xỉ Train Loss 0.0922).</a:t>
            </a:r>
          </a:p>
          <a:p xmlns:a="http://schemas.openxmlformats.org/drawingml/2006/main">
            <a:pPr>
              <a:defRPr sz="1275" b="0">
                <a:solidFill>
                  <a:srgbClr val="F8FAFC"/>
                </a:solidFill>
                <a:latin typeface="Arial"/>
                <a:ea typeface="Arial"/>
                <a:cs typeface="Arial"/>
              </a:defRPr>
            </a:pPr>
            <a:r>
              <a:rPr sz="1275" b="0">
                <a:solidFill>
                  <a:srgbClr val="F8FAFC"/>
                </a:solidFill>
                <a:latin typeface="Arial"/>
                <a:ea typeface="Arial"/>
                <a:cs typeface="Arial"/>
              </a:rPr>
              <a:t>- Checkpoint Epoch 14 được khôi phục làm trọng số chính thức (liveness_cam4k.h5).</a:t>
            </a:r>
          </a:p>
        </p:txBody>
      </p:sp>
      <p:sp>
        <p:nvSpPr>
          <p:cNvPr id="8" name="">
            <a:extLst xmlns:a="http://schemas.openxmlformats.org/drawingml/2006/main">
              <a:ext uri="{FF2B5EF4-FFF2-40B4-BE49-F238E27FC236}">
                <a16:creationId xmlns:a16="http://schemas.microsoft.com/office/drawing/2014/main" id="{2AA6F265-93D7-400B-A60E-5ED0D8A59F22}"/>
              </a:ext>
            </a:extLst>
          </p:cNvPr>
          <p:cNvSpPr>
            <a:spLocks xmlns:a="http://schemas.openxmlformats.org/drawingml/2006/main" noGrp="1"/>
          </p:cNvSpPr>
          <p:nvPr/>
        </p:nvSpPr>
        <p:spPr>
          <a:xfrm xmlns:a="http://schemas.openxmlformats.org/drawingml/2006/main">
            <a:off x="5314950" y="1428750"/>
            <a:ext cx="6267450" cy="4667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pic>
        <p:nvPicPr>
          <p:cNvPr id="9" name="">
            <a:extLst xmlns:a="http://schemas.openxmlformats.org/drawingml/2006/main">
              <a:ext uri="{FF2B5EF4-FFF2-40B4-BE49-F238E27FC236}">
                <a16:creationId xmlns:a16="http://schemas.microsoft.com/office/drawing/2014/main" id="{C162EB54-085B-4B8E-AC41-6AD5EA43C04C}"/>
              </a:ext>
            </a:extLst>
          </p:cNvPr>
          <p:cNvPicPr>
            <a:picLocks xmlns:a="http://schemas.openxmlformats.org/drawingml/2006/main" noChangeAspect="1"/>
          </p:cNvPicPr>
          <p:nvPr/>
        </p:nvPicPr>
        <p:blipFill>
          <a:blip xmlns:r="http://schemas.openxmlformats.org/officeDocument/2006/relationships" xmlns:a="http://schemas.openxmlformats.org/drawingml/2006/main" r:embed="Rdc58151f12744a2e"/>
          <a:stretch xmlns:a="http://schemas.openxmlformats.org/drawingml/2006/main"/>
        </p:blipFill>
        <p:spPr>
          <a:xfrm xmlns:a="http://schemas.openxmlformats.org/drawingml/2006/main">
            <a:off x="5429250" y="2630091"/>
            <a:ext cx="6038850" cy="2264569"/>
          </a:xfrm>
          <a:prstGeom xmlns:a="http://schemas.openxmlformats.org/drawingml/2006/main" prst="rect">
            <a:avLst/>
          </a:prstGeom>
        </p:spPr>
      </p:pic>
    </p:spTree>
    <p:extLst>
      <p:ext uri="{BB962C8B-B14F-4D97-AF65-F5344CB8AC3E}">
        <p14:creationId xmlns:p14="http://schemas.microsoft.com/office/powerpoint/2010/main" val="269957106"/>
      </p:ext>
    </p:extLst>
  </p:cSld>
</p:sld>
</file>

<file path=ppt/slides/slide3.xml><?xml version="1.0" encoding="utf-8"?>
<p:sld xmlns:p="http://schemas.openxmlformats.org/presentationml/2006/main">
  <p:cSld>
    <p:bg>
      <p:bgPr>
        <a:solidFill xmlns:a="http://schemas.openxmlformats.org/drawingml/2006/main">
          <a:srgbClr val="0D152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16AD2EA-7A4F-490E-8E70-83ABE9912265}"/>
              </a:ext>
            </a:extLst>
          </p:cNvPr>
          <p:cNvSpPr>
            <a:spLocks xmlns:a="http://schemas.openxmlformats.org/drawingml/2006/main" noGrp="1"/>
          </p:cNvSpPr>
          <p:nvPr/>
        </p:nvSpPr>
        <p:spPr>
          <a:xfrm xmlns:a="http://schemas.openxmlformats.org/drawingml/2006/main">
            <a:off x="609600" y="361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8FAFC"/>
                </a:solidFill>
                <a:latin typeface="Arial"/>
                <a:ea typeface="Arial"/>
                <a:cs typeface="Arial"/>
              </a:defRPr>
            </a:defPPr>
            <a:lvl1pPr>
              <a:defRPr sz="2700" b="1">
                <a:solidFill>
                  <a:srgbClr val="F8FAFC"/>
                </a:solidFill>
                <a:latin typeface="Arial"/>
                <a:ea typeface="Arial"/>
                <a:cs typeface="Arial"/>
              </a:defRPr>
            </a:lvl1pPr>
            <a:lvl2pPr>
              <a:defRPr sz="2700" b="1">
                <a:solidFill>
                  <a:srgbClr val="F8FAFC"/>
                </a:solidFill>
                <a:latin typeface="Arial"/>
                <a:ea typeface="Arial"/>
                <a:cs typeface="Arial"/>
              </a:defRPr>
            </a:lvl2pPr>
            <a:lvl3pPr>
              <a:defRPr sz="2700" b="1">
                <a:solidFill>
                  <a:srgbClr val="F8FAFC"/>
                </a:solidFill>
                <a:latin typeface="Arial"/>
                <a:ea typeface="Arial"/>
                <a:cs typeface="Arial"/>
              </a:defRPr>
            </a:lvl3pPr>
            <a:lvl4pPr>
              <a:defRPr sz="2700" b="1">
                <a:solidFill>
                  <a:srgbClr val="F8FAFC"/>
                </a:solidFill>
                <a:latin typeface="Arial"/>
                <a:ea typeface="Arial"/>
                <a:cs typeface="Arial"/>
              </a:defRPr>
            </a:lvl4pPr>
            <a:lvl5pPr>
              <a:defRPr sz="2700" b="1">
                <a:solidFill>
                  <a:srgbClr val="F8FAFC"/>
                </a:solidFill>
                <a:latin typeface="Arial"/>
                <a:ea typeface="Arial"/>
                <a:cs typeface="Arial"/>
              </a:defRPr>
            </a:lvl5pPr>
            <a:lvl6pPr>
              <a:defRPr sz="2700" b="1">
                <a:solidFill>
                  <a:srgbClr val="F8FAFC"/>
                </a:solidFill>
                <a:latin typeface="Arial"/>
                <a:ea typeface="Arial"/>
                <a:cs typeface="Arial"/>
              </a:defRPr>
            </a:lvl6pPr>
            <a:lvl7pPr>
              <a:defRPr sz="2700" b="1">
                <a:solidFill>
                  <a:srgbClr val="F8FAFC"/>
                </a:solidFill>
                <a:latin typeface="Arial"/>
                <a:ea typeface="Arial"/>
                <a:cs typeface="Arial"/>
              </a:defRPr>
            </a:lvl7pPr>
            <a:lvl8pPr>
              <a:defRPr sz="2700" b="1">
                <a:solidFill>
                  <a:srgbClr val="F8FAFC"/>
                </a:solidFill>
                <a:latin typeface="Arial"/>
                <a:ea typeface="Arial"/>
                <a:cs typeface="Arial"/>
              </a:defRPr>
            </a:lvl8pPr>
            <a:lvl9pPr>
              <a:defRPr sz="2700" b="1">
                <a:solidFill>
                  <a:srgbClr val="F8FAFC"/>
                </a:solidFill>
                <a:latin typeface="Arial"/>
                <a:ea typeface="Arial"/>
                <a:cs typeface="Arial"/>
              </a:defRPr>
            </a:lvl9pPr>
          </a:lstStyle>
          <a:p xmlns:a="http://schemas.openxmlformats.org/drawingml/2006/main">
            <a:pPr>
              <a:defRPr sz="2700" b="1">
                <a:solidFill>
                  <a:srgbClr val="F8FAFC"/>
                </a:solidFill>
                <a:latin typeface="Arial"/>
                <a:ea typeface="Arial"/>
                <a:cs typeface="Arial"/>
              </a:defRPr>
            </a:pPr>
            <a:r>
              <a:rPr sz="2700" b="1">
                <a:solidFill>
                  <a:srgbClr val="F8FAFC"/>
                </a:solidFill>
                <a:latin typeface="Arial"/>
                <a:ea typeface="Arial"/>
                <a:cs typeface="Arial"/>
              </a:rPr>
              <a:t>Kết Quả Kiểm Định Tập Test Độc Lập</a:t>
            </a:r>
          </a:p>
        </p:txBody>
      </p:sp>
      <p:sp>
        <p:nvSpPr>
          <p:cNvPr id="2" name="">
            <a:extLst xmlns:a="http://schemas.openxmlformats.org/drawingml/2006/main">
              <a:ext uri="{FF2B5EF4-FFF2-40B4-BE49-F238E27FC236}">
                <a16:creationId xmlns:a16="http://schemas.microsoft.com/office/drawing/2014/main" id="{FD847DDA-D742-4890-BD85-1CB75DDA51DF}"/>
              </a:ext>
            </a:extLst>
          </p:cNvPr>
          <p:cNvSpPr>
            <a:spLocks xmlns:a="http://schemas.openxmlformats.org/drawingml/2006/main" noGrp="1"/>
          </p:cNvSpPr>
          <p:nvPr/>
        </p:nvSpPr>
        <p:spPr>
          <a:xfrm xmlns:a="http://schemas.openxmlformats.org/drawingml/2006/main">
            <a:off x="609600" y="914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38BDF8"/>
                </a:solidFill>
                <a:latin typeface="Arial"/>
                <a:ea typeface="Arial"/>
                <a:cs typeface="Arial"/>
              </a:defRPr>
            </a:defPPr>
            <a:lvl1pPr>
              <a:defRPr sz="1425" b="1">
                <a:solidFill>
                  <a:srgbClr val="38BDF8"/>
                </a:solidFill>
                <a:latin typeface="Arial"/>
                <a:ea typeface="Arial"/>
                <a:cs typeface="Arial"/>
              </a:defRPr>
            </a:lvl1pPr>
            <a:lvl2pPr>
              <a:defRPr sz="1425" b="1">
                <a:solidFill>
                  <a:srgbClr val="38BDF8"/>
                </a:solidFill>
                <a:latin typeface="Arial"/>
                <a:ea typeface="Arial"/>
                <a:cs typeface="Arial"/>
              </a:defRPr>
            </a:lvl2pPr>
            <a:lvl3pPr>
              <a:defRPr sz="1425" b="1">
                <a:solidFill>
                  <a:srgbClr val="38BDF8"/>
                </a:solidFill>
                <a:latin typeface="Arial"/>
                <a:ea typeface="Arial"/>
                <a:cs typeface="Arial"/>
              </a:defRPr>
            </a:lvl3pPr>
            <a:lvl4pPr>
              <a:defRPr sz="1425" b="1">
                <a:solidFill>
                  <a:srgbClr val="38BDF8"/>
                </a:solidFill>
                <a:latin typeface="Arial"/>
                <a:ea typeface="Arial"/>
                <a:cs typeface="Arial"/>
              </a:defRPr>
            </a:lvl4pPr>
            <a:lvl5pPr>
              <a:defRPr sz="1425" b="1">
                <a:solidFill>
                  <a:srgbClr val="38BDF8"/>
                </a:solidFill>
                <a:latin typeface="Arial"/>
                <a:ea typeface="Arial"/>
                <a:cs typeface="Arial"/>
              </a:defRPr>
            </a:lvl5pPr>
            <a:lvl6pPr>
              <a:defRPr sz="1425" b="1">
                <a:solidFill>
                  <a:srgbClr val="38BDF8"/>
                </a:solidFill>
                <a:latin typeface="Arial"/>
                <a:ea typeface="Arial"/>
                <a:cs typeface="Arial"/>
              </a:defRPr>
            </a:lvl6pPr>
            <a:lvl7pPr>
              <a:defRPr sz="1425" b="1">
                <a:solidFill>
                  <a:srgbClr val="38BDF8"/>
                </a:solidFill>
                <a:latin typeface="Arial"/>
                <a:ea typeface="Arial"/>
                <a:cs typeface="Arial"/>
              </a:defRPr>
            </a:lvl7pPr>
            <a:lvl8pPr>
              <a:defRPr sz="1425" b="1">
                <a:solidFill>
                  <a:srgbClr val="38BDF8"/>
                </a:solidFill>
                <a:latin typeface="Arial"/>
                <a:ea typeface="Arial"/>
                <a:cs typeface="Arial"/>
              </a:defRPr>
            </a:lvl8pPr>
            <a:lvl9pPr>
              <a:defRPr sz="1425" b="1">
                <a:solidFill>
                  <a:srgbClr val="38BDF8"/>
                </a:solidFill>
                <a:latin typeface="Arial"/>
                <a:ea typeface="Arial"/>
                <a:cs typeface="Arial"/>
              </a:defRPr>
            </a:lvl9pPr>
          </a:lstStyle>
          <a:p xmlns:a="http://schemas.openxmlformats.org/drawingml/2006/main">
            <a:pPr>
              <a:defRPr sz="1425" b="1">
                <a:solidFill>
                  <a:srgbClr val="38BDF8"/>
                </a:solidFill>
                <a:latin typeface="Arial"/>
                <a:ea typeface="Arial"/>
                <a:cs typeface="Arial"/>
              </a:defRPr>
            </a:pPr>
            <a:r>
              <a:rPr sz="1425" b="1">
                <a:solidFill>
                  <a:srgbClr val="38BDF8"/>
                </a:solidFill>
                <a:latin typeface="Arial"/>
                <a:ea typeface="Arial"/>
                <a:cs typeface="Arial"/>
              </a:rPr>
              <a:t>ĐÁNH GIÁ TRÊN 4.811 KHUNG HÌNH TỪ 14 VIDEO ĐỘC LẬP (7 REAL - 7 FAKE)</a:t>
            </a:r>
          </a:p>
        </p:txBody>
      </p:sp>
      <p:sp>
        <p:nvSpPr>
          <p:cNvPr id="3" name="">
            <a:extLst xmlns:a="http://schemas.openxmlformats.org/drawingml/2006/main">
              <a:ext uri="{FF2B5EF4-FFF2-40B4-BE49-F238E27FC236}">
                <a16:creationId xmlns:a16="http://schemas.microsoft.com/office/drawing/2014/main" id="{F039286C-CE9D-4D51-B92B-2775F6B16F54}"/>
              </a:ext>
            </a:extLst>
          </p:cNvPr>
          <p:cNvSpPr>
            <a:spLocks xmlns:a="http://schemas.openxmlformats.org/drawingml/2006/main" noGrp="1"/>
          </p:cNvSpPr>
          <p:nvPr/>
        </p:nvSpPr>
        <p:spPr>
          <a:xfrm xmlns:a="http://schemas.openxmlformats.org/drawingml/2006/main">
            <a:off x="609600" y="64008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FACE ANTI-SPOOFING • CAMERA USB SC-M200</a:t>
            </a:r>
          </a:p>
        </p:txBody>
      </p:sp>
      <p:sp>
        <p:nvSpPr>
          <p:cNvPr id="4" name="">
            <a:extLst xmlns:a="http://schemas.openxmlformats.org/drawingml/2006/main">
              <a:ext uri="{FF2B5EF4-FFF2-40B4-BE49-F238E27FC236}">
                <a16:creationId xmlns:a16="http://schemas.microsoft.com/office/drawing/2014/main" id="{58DB3E73-D790-435F-AD38-2B3C53BA8F49}"/>
              </a:ext>
            </a:extLst>
          </p:cNvPr>
          <p:cNvSpPr>
            <a:spLocks xmlns:a="http://schemas.openxmlformats.org/drawingml/2006/main" noGrp="1"/>
          </p:cNvSpPr>
          <p:nvPr/>
        </p:nvSpPr>
        <p:spPr>
          <a:xfrm xmlns:a="http://schemas.openxmlformats.org/drawingml/2006/main">
            <a:off x="11049000" y="64008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03 / 04</a:t>
            </a:r>
          </a:p>
        </p:txBody>
      </p:sp>
      <p:sp>
        <p:nvSpPr>
          <p:cNvPr id="5" name="">
            <a:extLst xmlns:a="http://schemas.openxmlformats.org/drawingml/2006/main">
              <a:ext uri="{FF2B5EF4-FFF2-40B4-BE49-F238E27FC236}">
                <a16:creationId xmlns:a16="http://schemas.microsoft.com/office/drawing/2014/main" id="{9AC4EACD-817D-467A-B7FC-BF18AC69738D}"/>
              </a:ext>
            </a:extLst>
          </p:cNvPr>
          <p:cNvSpPr>
            <a:spLocks xmlns:a="http://schemas.openxmlformats.org/drawingml/2006/main" noGrp="1"/>
          </p:cNvSpPr>
          <p:nvPr/>
        </p:nvSpPr>
        <p:spPr>
          <a:xfrm xmlns:a="http://schemas.openxmlformats.org/drawingml/2006/main">
            <a:off x="609600" y="1381125"/>
            <a:ext cx="3429000" cy="1000125"/>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6" name="">
            <a:extLst xmlns:a="http://schemas.openxmlformats.org/drawingml/2006/main">
              <a:ext uri="{FF2B5EF4-FFF2-40B4-BE49-F238E27FC236}">
                <a16:creationId xmlns:a16="http://schemas.microsoft.com/office/drawing/2014/main" id="{666C8979-AFC2-4AE7-8E84-6D567AA3772F}"/>
              </a:ext>
            </a:extLst>
          </p:cNvPr>
          <p:cNvSpPr>
            <a:spLocks xmlns:a="http://schemas.openxmlformats.org/drawingml/2006/main" noGrp="1"/>
          </p:cNvSpPr>
          <p:nvPr/>
        </p:nvSpPr>
        <p:spPr>
          <a:xfrm xmlns:a="http://schemas.openxmlformats.org/drawingml/2006/main">
            <a:off x="857250" y="1447800"/>
            <a:ext cx="2933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34D399"/>
                </a:solidFill>
                <a:latin typeface="Arial"/>
                <a:ea typeface="Arial"/>
                <a:cs typeface="Arial"/>
              </a:defRPr>
            </a:defPPr>
            <a:lvl1pPr>
              <a:defRPr sz="3000" b="1">
                <a:solidFill>
                  <a:srgbClr val="34D399"/>
                </a:solidFill>
                <a:latin typeface="Arial"/>
                <a:ea typeface="Arial"/>
                <a:cs typeface="Arial"/>
              </a:defRPr>
            </a:lvl1pPr>
            <a:lvl2pPr>
              <a:defRPr sz="3000" b="1">
                <a:solidFill>
                  <a:srgbClr val="34D399"/>
                </a:solidFill>
                <a:latin typeface="Arial"/>
                <a:ea typeface="Arial"/>
                <a:cs typeface="Arial"/>
              </a:defRPr>
            </a:lvl2pPr>
            <a:lvl3pPr>
              <a:defRPr sz="3000" b="1">
                <a:solidFill>
                  <a:srgbClr val="34D399"/>
                </a:solidFill>
                <a:latin typeface="Arial"/>
                <a:ea typeface="Arial"/>
                <a:cs typeface="Arial"/>
              </a:defRPr>
            </a:lvl3pPr>
            <a:lvl4pPr>
              <a:defRPr sz="3000" b="1">
                <a:solidFill>
                  <a:srgbClr val="34D399"/>
                </a:solidFill>
                <a:latin typeface="Arial"/>
                <a:ea typeface="Arial"/>
                <a:cs typeface="Arial"/>
              </a:defRPr>
            </a:lvl4pPr>
            <a:lvl5pPr>
              <a:defRPr sz="3000" b="1">
                <a:solidFill>
                  <a:srgbClr val="34D399"/>
                </a:solidFill>
                <a:latin typeface="Arial"/>
                <a:ea typeface="Arial"/>
                <a:cs typeface="Arial"/>
              </a:defRPr>
            </a:lvl5pPr>
            <a:lvl6pPr>
              <a:defRPr sz="3000" b="1">
                <a:solidFill>
                  <a:srgbClr val="34D399"/>
                </a:solidFill>
                <a:latin typeface="Arial"/>
                <a:ea typeface="Arial"/>
                <a:cs typeface="Arial"/>
              </a:defRPr>
            </a:lvl6pPr>
            <a:lvl7pPr>
              <a:defRPr sz="3000" b="1">
                <a:solidFill>
                  <a:srgbClr val="34D399"/>
                </a:solidFill>
                <a:latin typeface="Arial"/>
                <a:ea typeface="Arial"/>
                <a:cs typeface="Arial"/>
              </a:defRPr>
            </a:lvl7pPr>
            <a:lvl8pPr>
              <a:defRPr sz="3000" b="1">
                <a:solidFill>
                  <a:srgbClr val="34D399"/>
                </a:solidFill>
                <a:latin typeface="Arial"/>
                <a:ea typeface="Arial"/>
                <a:cs typeface="Arial"/>
              </a:defRPr>
            </a:lvl8pPr>
            <a:lvl9pPr>
              <a:defRPr sz="3000" b="1">
                <a:solidFill>
                  <a:srgbClr val="34D399"/>
                </a:solidFill>
                <a:latin typeface="Arial"/>
                <a:ea typeface="Arial"/>
                <a:cs typeface="Arial"/>
              </a:defRPr>
            </a:lvl9pPr>
          </a:lstStyle>
          <a:p xmlns:a="http://schemas.openxmlformats.org/drawingml/2006/main">
            <a:pPr>
              <a:defRPr sz="3000" b="1">
                <a:solidFill>
                  <a:srgbClr val="34D399"/>
                </a:solidFill>
                <a:latin typeface="Arial"/>
                <a:ea typeface="Arial"/>
                <a:cs typeface="Arial"/>
              </a:defRPr>
            </a:pPr>
            <a:r>
              <a:rPr sz="3000" b="1">
                <a:solidFill>
                  <a:srgbClr val="34D399"/>
                </a:solidFill>
                <a:latin typeface="Arial"/>
                <a:ea typeface="Arial"/>
                <a:cs typeface="Arial"/>
              </a:rPr>
              <a:t>98.09%</a:t>
            </a:r>
          </a:p>
        </p:txBody>
      </p:sp>
      <p:sp>
        <p:nvSpPr>
          <p:cNvPr id="7" name="">
            <a:extLst xmlns:a="http://schemas.openxmlformats.org/drawingml/2006/main">
              <a:ext uri="{FF2B5EF4-FFF2-40B4-BE49-F238E27FC236}">
                <a16:creationId xmlns:a16="http://schemas.microsoft.com/office/drawing/2014/main" id="{31261178-C1BF-4D94-AF31-8872796AFC94}"/>
              </a:ext>
            </a:extLst>
          </p:cNvPr>
          <p:cNvSpPr>
            <a:spLocks xmlns:a="http://schemas.openxmlformats.org/drawingml/2006/main" noGrp="1"/>
          </p:cNvSpPr>
          <p:nvPr/>
        </p:nvSpPr>
        <p:spPr>
          <a:xfrm xmlns:a="http://schemas.openxmlformats.org/drawingml/2006/main">
            <a:off x="857250" y="1962150"/>
            <a:ext cx="2933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Độ chính xác cấp Frame (4.719 / 4.811)</a:t>
            </a:r>
          </a:p>
        </p:txBody>
      </p:sp>
      <p:sp>
        <p:nvSpPr>
          <p:cNvPr id="8" name="">
            <a:extLst xmlns:a="http://schemas.openxmlformats.org/drawingml/2006/main">
              <a:ext uri="{FF2B5EF4-FFF2-40B4-BE49-F238E27FC236}">
                <a16:creationId xmlns:a16="http://schemas.microsoft.com/office/drawing/2014/main" id="{C46F9661-F5CB-4BEF-A396-4480DDD27EBF}"/>
              </a:ext>
            </a:extLst>
          </p:cNvPr>
          <p:cNvSpPr>
            <a:spLocks xmlns:a="http://schemas.openxmlformats.org/drawingml/2006/main" noGrp="1"/>
          </p:cNvSpPr>
          <p:nvPr/>
        </p:nvSpPr>
        <p:spPr>
          <a:xfrm xmlns:a="http://schemas.openxmlformats.org/drawingml/2006/main">
            <a:off x="4381500" y="1381125"/>
            <a:ext cx="3429000" cy="1000125"/>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9" name="">
            <a:extLst xmlns:a="http://schemas.openxmlformats.org/drawingml/2006/main">
              <a:ext uri="{FF2B5EF4-FFF2-40B4-BE49-F238E27FC236}">
                <a16:creationId xmlns:a16="http://schemas.microsoft.com/office/drawing/2014/main" id="{F2DE155F-9970-4C1C-8E88-9203F61DAAC7}"/>
              </a:ext>
            </a:extLst>
          </p:cNvPr>
          <p:cNvSpPr>
            <a:spLocks xmlns:a="http://schemas.openxmlformats.org/drawingml/2006/main" noGrp="1"/>
          </p:cNvSpPr>
          <p:nvPr/>
        </p:nvSpPr>
        <p:spPr>
          <a:xfrm xmlns:a="http://schemas.openxmlformats.org/drawingml/2006/main">
            <a:off x="4629150" y="1447800"/>
            <a:ext cx="2933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38BDF8"/>
                </a:solidFill>
                <a:latin typeface="Arial"/>
                <a:ea typeface="Arial"/>
                <a:cs typeface="Arial"/>
              </a:defRPr>
            </a:defPPr>
            <a:lvl1pPr>
              <a:defRPr sz="2850" b="1">
                <a:solidFill>
                  <a:srgbClr val="38BDF8"/>
                </a:solidFill>
                <a:latin typeface="Arial"/>
                <a:ea typeface="Arial"/>
                <a:cs typeface="Arial"/>
              </a:defRPr>
            </a:lvl1pPr>
            <a:lvl2pPr>
              <a:defRPr sz="2850" b="1">
                <a:solidFill>
                  <a:srgbClr val="38BDF8"/>
                </a:solidFill>
                <a:latin typeface="Arial"/>
                <a:ea typeface="Arial"/>
                <a:cs typeface="Arial"/>
              </a:defRPr>
            </a:lvl2pPr>
            <a:lvl3pPr>
              <a:defRPr sz="2850" b="1">
                <a:solidFill>
                  <a:srgbClr val="38BDF8"/>
                </a:solidFill>
                <a:latin typeface="Arial"/>
                <a:ea typeface="Arial"/>
                <a:cs typeface="Arial"/>
              </a:defRPr>
            </a:lvl3pPr>
            <a:lvl4pPr>
              <a:defRPr sz="2850" b="1">
                <a:solidFill>
                  <a:srgbClr val="38BDF8"/>
                </a:solidFill>
                <a:latin typeface="Arial"/>
                <a:ea typeface="Arial"/>
                <a:cs typeface="Arial"/>
              </a:defRPr>
            </a:lvl4pPr>
            <a:lvl5pPr>
              <a:defRPr sz="2850" b="1">
                <a:solidFill>
                  <a:srgbClr val="38BDF8"/>
                </a:solidFill>
                <a:latin typeface="Arial"/>
                <a:ea typeface="Arial"/>
                <a:cs typeface="Arial"/>
              </a:defRPr>
            </a:lvl5pPr>
            <a:lvl6pPr>
              <a:defRPr sz="2850" b="1">
                <a:solidFill>
                  <a:srgbClr val="38BDF8"/>
                </a:solidFill>
                <a:latin typeface="Arial"/>
                <a:ea typeface="Arial"/>
                <a:cs typeface="Arial"/>
              </a:defRPr>
            </a:lvl6pPr>
            <a:lvl7pPr>
              <a:defRPr sz="2850" b="1">
                <a:solidFill>
                  <a:srgbClr val="38BDF8"/>
                </a:solidFill>
                <a:latin typeface="Arial"/>
                <a:ea typeface="Arial"/>
                <a:cs typeface="Arial"/>
              </a:defRPr>
            </a:lvl7pPr>
            <a:lvl8pPr>
              <a:defRPr sz="2850" b="1">
                <a:solidFill>
                  <a:srgbClr val="38BDF8"/>
                </a:solidFill>
                <a:latin typeface="Arial"/>
                <a:ea typeface="Arial"/>
                <a:cs typeface="Arial"/>
              </a:defRPr>
            </a:lvl8pPr>
            <a:lvl9pPr>
              <a:defRPr sz="2850" b="1">
                <a:solidFill>
                  <a:srgbClr val="38BDF8"/>
                </a:solidFill>
                <a:latin typeface="Arial"/>
                <a:ea typeface="Arial"/>
                <a:cs typeface="Arial"/>
              </a:defRPr>
            </a:lvl9pPr>
          </a:lstStyle>
          <a:p xmlns:a="http://schemas.openxmlformats.org/drawingml/2006/main">
            <a:pPr>
              <a:defRPr sz="2850" b="1">
                <a:solidFill>
                  <a:srgbClr val="38BDF8"/>
                </a:solidFill>
                <a:latin typeface="Arial"/>
                <a:ea typeface="Arial"/>
                <a:cs typeface="Arial"/>
              </a:defRPr>
            </a:pPr>
            <a:r>
              <a:rPr sz="2850" b="1">
                <a:solidFill>
                  <a:srgbClr val="38BDF8"/>
                </a:solidFill>
                <a:latin typeface="Arial"/>
                <a:ea typeface="Arial"/>
                <a:cs typeface="Arial"/>
              </a:rPr>
              <a:t>14 / 14 (100%)</a:t>
            </a:r>
          </a:p>
        </p:txBody>
      </p:sp>
      <p:sp>
        <p:nvSpPr>
          <p:cNvPr id="10" name="">
            <a:extLst xmlns:a="http://schemas.openxmlformats.org/drawingml/2006/main">
              <a:ext uri="{FF2B5EF4-FFF2-40B4-BE49-F238E27FC236}">
                <a16:creationId xmlns:a16="http://schemas.microsoft.com/office/drawing/2014/main" id="{F71745E3-C23D-40A3-BC55-762749AE7ED9}"/>
              </a:ext>
            </a:extLst>
          </p:cNvPr>
          <p:cNvSpPr>
            <a:spLocks xmlns:a="http://schemas.openxmlformats.org/drawingml/2006/main" noGrp="1"/>
          </p:cNvSpPr>
          <p:nvPr/>
        </p:nvSpPr>
        <p:spPr>
          <a:xfrm xmlns:a="http://schemas.openxmlformats.org/drawingml/2006/main">
            <a:off x="4629150" y="1962150"/>
            <a:ext cx="2933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Độ chính xác cấp Video (7 Real / 7 Fake)</a:t>
            </a:r>
          </a:p>
        </p:txBody>
      </p:sp>
      <p:sp>
        <p:nvSpPr>
          <p:cNvPr id="11" name="">
            <a:extLst xmlns:a="http://schemas.openxmlformats.org/drawingml/2006/main">
              <a:ext uri="{FF2B5EF4-FFF2-40B4-BE49-F238E27FC236}">
                <a16:creationId xmlns:a16="http://schemas.microsoft.com/office/drawing/2014/main" id="{D71A58C0-4EA9-470D-A63D-300583B82BBA}"/>
              </a:ext>
            </a:extLst>
          </p:cNvPr>
          <p:cNvSpPr>
            <a:spLocks xmlns:a="http://schemas.openxmlformats.org/drawingml/2006/main" noGrp="1"/>
          </p:cNvSpPr>
          <p:nvPr/>
        </p:nvSpPr>
        <p:spPr>
          <a:xfrm xmlns:a="http://schemas.openxmlformats.org/drawingml/2006/main">
            <a:off x="8153400" y="1381125"/>
            <a:ext cx="3429000" cy="1000125"/>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12" name="">
            <a:extLst xmlns:a="http://schemas.openxmlformats.org/drawingml/2006/main">
              <a:ext uri="{FF2B5EF4-FFF2-40B4-BE49-F238E27FC236}">
                <a16:creationId xmlns:a16="http://schemas.microsoft.com/office/drawing/2014/main" id="{D8DECDA9-F6E5-406B-896B-010F081DEEA9}"/>
              </a:ext>
            </a:extLst>
          </p:cNvPr>
          <p:cNvSpPr>
            <a:spLocks xmlns:a="http://schemas.openxmlformats.org/drawingml/2006/main" noGrp="1"/>
          </p:cNvSpPr>
          <p:nvPr/>
        </p:nvSpPr>
        <p:spPr>
          <a:xfrm xmlns:a="http://schemas.openxmlformats.org/drawingml/2006/main">
            <a:off x="8401050" y="1447800"/>
            <a:ext cx="2933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FBBF24"/>
                </a:solidFill>
                <a:latin typeface="Arial"/>
                <a:ea typeface="Arial"/>
                <a:cs typeface="Arial"/>
              </a:defRPr>
            </a:defPPr>
            <a:lvl1pPr>
              <a:defRPr sz="3000" b="1">
                <a:solidFill>
                  <a:srgbClr val="FBBF24"/>
                </a:solidFill>
                <a:latin typeface="Arial"/>
                <a:ea typeface="Arial"/>
                <a:cs typeface="Arial"/>
              </a:defRPr>
            </a:lvl1pPr>
            <a:lvl2pPr>
              <a:defRPr sz="3000" b="1">
                <a:solidFill>
                  <a:srgbClr val="FBBF24"/>
                </a:solidFill>
                <a:latin typeface="Arial"/>
                <a:ea typeface="Arial"/>
                <a:cs typeface="Arial"/>
              </a:defRPr>
            </a:lvl2pPr>
            <a:lvl3pPr>
              <a:defRPr sz="3000" b="1">
                <a:solidFill>
                  <a:srgbClr val="FBBF24"/>
                </a:solidFill>
                <a:latin typeface="Arial"/>
                <a:ea typeface="Arial"/>
                <a:cs typeface="Arial"/>
              </a:defRPr>
            </a:lvl3pPr>
            <a:lvl4pPr>
              <a:defRPr sz="3000" b="1">
                <a:solidFill>
                  <a:srgbClr val="FBBF24"/>
                </a:solidFill>
                <a:latin typeface="Arial"/>
                <a:ea typeface="Arial"/>
                <a:cs typeface="Arial"/>
              </a:defRPr>
            </a:lvl4pPr>
            <a:lvl5pPr>
              <a:defRPr sz="3000" b="1">
                <a:solidFill>
                  <a:srgbClr val="FBBF24"/>
                </a:solidFill>
                <a:latin typeface="Arial"/>
                <a:ea typeface="Arial"/>
                <a:cs typeface="Arial"/>
              </a:defRPr>
            </a:lvl5pPr>
            <a:lvl6pPr>
              <a:defRPr sz="3000" b="1">
                <a:solidFill>
                  <a:srgbClr val="FBBF24"/>
                </a:solidFill>
                <a:latin typeface="Arial"/>
                <a:ea typeface="Arial"/>
                <a:cs typeface="Arial"/>
              </a:defRPr>
            </a:lvl6pPr>
            <a:lvl7pPr>
              <a:defRPr sz="3000" b="1">
                <a:solidFill>
                  <a:srgbClr val="FBBF24"/>
                </a:solidFill>
                <a:latin typeface="Arial"/>
                <a:ea typeface="Arial"/>
                <a:cs typeface="Arial"/>
              </a:defRPr>
            </a:lvl7pPr>
            <a:lvl8pPr>
              <a:defRPr sz="3000" b="1">
                <a:solidFill>
                  <a:srgbClr val="FBBF24"/>
                </a:solidFill>
                <a:latin typeface="Arial"/>
                <a:ea typeface="Arial"/>
                <a:cs typeface="Arial"/>
              </a:defRPr>
            </a:lvl8pPr>
            <a:lvl9pPr>
              <a:defRPr sz="3000" b="1">
                <a:solidFill>
                  <a:srgbClr val="FBBF24"/>
                </a:solidFill>
                <a:latin typeface="Arial"/>
                <a:ea typeface="Arial"/>
                <a:cs typeface="Arial"/>
              </a:defRPr>
            </a:lvl9pPr>
          </a:lstStyle>
          <a:p xmlns:a="http://schemas.openxmlformats.org/drawingml/2006/main">
            <a:pPr>
              <a:defRPr sz="3000" b="1">
                <a:solidFill>
                  <a:srgbClr val="FBBF24"/>
                </a:solidFill>
                <a:latin typeface="Arial"/>
                <a:ea typeface="Arial"/>
                <a:cs typeface="Arial"/>
              </a:defRPr>
            </a:pPr>
            <a:r>
              <a:rPr sz="3000" b="1">
                <a:solidFill>
                  <a:srgbClr val="FBBF24"/>
                </a:solidFill>
                <a:latin typeface="Arial"/>
                <a:ea typeface="Arial"/>
                <a:cs typeface="Arial"/>
              </a:rPr>
              <a:t>99.88%</a:t>
            </a:r>
          </a:p>
        </p:txBody>
      </p:sp>
      <p:sp>
        <p:nvSpPr>
          <p:cNvPr id="13" name="">
            <a:extLst xmlns:a="http://schemas.openxmlformats.org/drawingml/2006/main">
              <a:ext uri="{FF2B5EF4-FFF2-40B4-BE49-F238E27FC236}">
                <a16:creationId xmlns:a16="http://schemas.microsoft.com/office/drawing/2014/main" id="{A0A1A58C-3E27-43CA-B062-F3C2CA97F6B1}"/>
              </a:ext>
            </a:extLst>
          </p:cNvPr>
          <p:cNvSpPr>
            <a:spLocks xmlns:a="http://schemas.openxmlformats.org/drawingml/2006/main" noGrp="1"/>
          </p:cNvSpPr>
          <p:nvPr/>
        </p:nvSpPr>
        <p:spPr>
          <a:xfrm xmlns:a="http://schemas.openxmlformats.org/drawingml/2006/main">
            <a:off x="8401050" y="1962150"/>
            <a:ext cx="2933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Recall Người Thật (Chỉ sót 3 / 2.446 frame)</a:t>
            </a:r>
          </a:p>
        </p:txBody>
      </p:sp>
      <p:graphicFrame>
        <p:nvGraphicFramePr>
          <p:cNvPr id="14" name="">
            <a:extLst xmlns:a="http://schemas.openxmlformats.org/drawingml/2006/main">
              <a:ext uri="{FF2B5EF4-FFF2-40B4-BE49-F238E27FC236}">
                <a16:creationId xmlns:a16="http://schemas.microsoft.com/office/drawing/2014/main" id="{6F0522EC-6E00-456D-ADC3-153C2A1B1685}"/>
              </a:ext>
            </a:extLst>
          </p:cNvPr>
          <p:cNvGraphicFramePr/>
          <p:nvPr/>
        </p:nvGraphicFramePr>
        <p:xfrm>
          <a:off xmlns:a="http://schemas.openxmlformats.org/drawingml/2006/main" x="609600" y="2619375"/>
          <a:ext xmlns:a="http://schemas.openxmlformats.org/drawingml/2006/main" cx="10972800" cy="2238375"/>
        </p:xfrm>
        <a:graphic xmlns:a="http://schemas.openxmlformats.org/drawingml/2006/main">
          <a:graphicData uri="http://schemas.openxmlformats.org/drawingml/2006/table">
            <a:tbl>
              <a:tblPr/>
              <a:tblGrid>
                <a:gridCol w="1809750"/>
                <a:gridCol w="1524000"/>
                <a:gridCol w="1047750"/>
                <a:gridCol w="1047750"/>
                <a:gridCol w="1047750"/>
                <a:gridCol w="4495800"/>
              </a:tblGrid>
              <a:tr h="447675">
                <a:tc>
                  <a:txBody>
                    <a:bodyPr>
                      <a:noAutofit/>
                    </a:bodyPr>
                    <a:lstStyle/>
                    <a:p>
                      <a:r>
                        <a:rPr sz="1275" b="1">
                          <a:solidFill>
                            <a:srgbClr val="38BDF8"/>
                          </a:solidFill>
                          <a:latin typeface="Arial"/>
                          <a:ea typeface="Arial"/>
                          <a:cs typeface="Arial"/>
                        </a:rPr>
                        <a:t>Tập kiểm thử / Lớp</a:t>
                      </a:r>
                    </a:p>
                  </a:txBody>
                  <a:tcPr marL="91440" marR="91440" marT="45720" marB="45720">
                    <a:lnL w="9525">
                      <a:solidFill>
                        <a:srgbClr val="263954"/>
                      </a:solidFill>
                    </a:lnL>
                    <a:lnR w="9525">
                      <a:solidFill>
                        <a:srgbClr val="263954"/>
                      </a:solidFill>
                    </a:lnR>
                    <a:lnT w="9525">
                      <a:solidFill>
                        <a:srgbClr val="263954"/>
                      </a:solidFill>
                    </a:lnT>
                    <a:lnB w="9525">
                      <a:solidFill>
                        <a:srgbClr val="263954"/>
                      </a:solidFill>
                    </a:lnB>
                    <a:solidFill>
                      <a:srgbClr val="1A2942"/>
                    </a:solidFill>
                  </a:tcPr>
                </a:tc>
                <a:tc>
                  <a:txBody>
                    <a:bodyPr>
                      <a:noAutofit/>
                    </a:bodyPr>
                    <a:lstStyle/>
                    <a:p>
                      <a:r>
                        <a:rPr sz="1275" b="1">
                          <a:solidFill>
                            <a:srgbClr val="38BDF8"/>
                          </a:solidFill>
                          <a:latin typeface="Arial"/>
                          <a:ea typeface="Arial"/>
                          <a:cs typeface="Arial"/>
                        </a:rPr>
                        <a:t>Số lượng mẫu</a:t>
                      </a:r>
                    </a:p>
                  </a:txBody>
                  <a:tcPr marL="91440" marR="91440" marT="45720" marB="45720">
                    <a:lnR w="9525">
                      <a:solidFill>
                        <a:srgbClr val="263954"/>
                      </a:solidFill>
                    </a:lnR>
                    <a:lnT w="9525">
                      <a:solidFill>
                        <a:srgbClr val="263954"/>
                      </a:solidFill>
                    </a:lnT>
                    <a:lnB w="9525">
                      <a:solidFill>
                        <a:srgbClr val="263954"/>
                      </a:solidFill>
                    </a:lnB>
                    <a:solidFill>
                      <a:srgbClr val="1A2942"/>
                    </a:solidFill>
                  </a:tcPr>
                </a:tc>
                <a:tc>
                  <a:txBody>
                    <a:bodyPr>
                      <a:noAutofit/>
                    </a:bodyPr>
                    <a:lstStyle/>
                    <a:p>
                      <a:r>
                        <a:rPr sz="1275" b="1">
                          <a:solidFill>
                            <a:srgbClr val="38BDF8"/>
                          </a:solidFill>
                          <a:latin typeface="Arial"/>
                          <a:ea typeface="Arial"/>
                          <a:cs typeface="Arial"/>
                        </a:rPr>
                        <a:t>Precision</a:t>
                      </a:r>
                    </a:p>
                  </a:txBody>
                  <a:tcPr marL="91440" marR="91440" marT="45720" marB="45720">
                    <a:lnR w="9525">
                      <a:solidFill>
                        <a:srgbClr val="263954"/>
                      </a:solidFill>
                    </a:lnR>
                    <a:lnT w="9525">
                      <a:solidFill>
                        <a:srgbClr val="263954"/>
                      </a:solidFill>
                    </a:lnT>
                    <a:lnB w="9525">
                      <a:solidFill>
                        <a:srgbClr val="263954"/>
                      </a:solidFill>
                    </a:lnB>
                    <a:solidFill>
                      <a:srgbClr val="1A2942"/>
                    </a:solidFill>
                  </a:tcPr>
                </a:tc>
                <a:tc>
                  <a:txBody>
                    <a:bodyPr>
                      <a:noAutofit/>
                    </a:bodyPr>
                    <a:lstStyle/>
                    <a:p>
                      <a:r>
                        <a:rPr sz="1275" b="1">
                          <a:solidFill>
                            <a:srgbClr val="38BDF8"/>
                          </a:solidFill>
                          <a:latin typeface="Arial"/>
                          <a:ea typeface="Arial"/>
                          <a:cs typeface="Arial"/>
                        </a:rPr>
                        <a:t>Recall</a:t>
                      </a:r>
                    </a:p>
                  </a:txBody>
                  <a:tcPr marL="91440" marR="91440" marT="45720" marB="45720">
                    <a:lnR w="9525">
                      <a:solidFill>
                        <a:srgbClr val="263954"/>
                      </a:solidFill>
                    </a:lnR>
                    <a:lnT w="9525">
                      <a:solidFill>
                        <a:srgbClr val="263954"/>
                      </a:solidFill>
                    </a:lnT>
                    <a:lnB w="9525">
                      <a:solidFill>
                        <a:srgbClr val="263954"/>
                      </a:solidFill>
                    </a:lnB>
                    <a:solidFill>
                      <a:srgbClr val="1A2942"/>
                    </a:solidFill>
                  </a:tcPr>
                </a:tc>
                <a:tc>
                  <a:txBody>
                    <a:bodyPr>
                      <a:noAutofit/>
                    </a:bodyPr>
                    <a:lstStyle/>
                    <a:p>
                      <a:r>
                        <a:rPr sz="1275" b="1">
                          <a:solidFill>
                            <a:srgbClr val="38BDF8"/>
                          </a:solidFill>
                          <a:latin typeface="Arial"/>
                          <a:ea typeface="Arial"/>
                          <a:cs typeface="Arial"/>
                        </a:rPr>
                        <a:t>F1-Score</a:t>
                      </a:r>
                    </a:p>
                  </a:txBody>
                  <a:tcPr marL="91440" marR="91440" marT="45720" marB="45720">
                    <a:lnR w="9525">
                      <a:solidFill>
                        <a:srgbClr val="263954"/>
                      </a:solidFill>
                    </a:lnR>
                    <a:lnT w="9525">
                      <a:solidFill>
                        <a:srgbClr val="263954"/>
                      </a:solidFill>
                    </a:lnT>
                    <a:lnB w="9525">
                      <a:solidFill>
                        <a:srgbClr val="263954"/>
                      </a:solidFill>
                    </a:lnB>
                    <a:solidFill>
                      <a:srgbClr val="1A2942"/>
                    </a:solidFill>
                  </a:tcPr>
                </a:tc>
                <a:tc>
                  <a:txBody>
                    <a:bodyPr>
                      <a:noAutofit/>
                    </a:bodyPr>
                    <a:lstStyle/>
                    <a:p>
                      <a:r>
                        <a:rPr sz="1275" b="1">
                          <a:solidFill>
                            <a:srgbClr val="38BDF8"/>
                          </a:solidFill>
                          <a:latin typeface="Arial"/>
                          <a:ea typeface="Arial"/>
                          <a:cs typeface="Arial"/>
                        </a:rPr>
                        <a:t>Ý nghĩa thực tế</a:t>
                      </a:r>
                    </a:p>
                  </a:txBody>
                  <a:tcPr marL="91440" marR="91440" marT="45720" marB="45720">
                    <a:lnR w="9525">
                      <a:solidFill>
                        <a:srgbClr val="263954"/>
                      </a:solidFill>
                    </a:lnR>
                    <a:lnT w="9525">
                      <a:solidFill>
                        <a:srgbClr val="263954"/>
                      </a:solidFill>
                    </a:lnT>
                    <a:lnB w="9525">
                      <a:solidFill>
                        <a:srgbClr val="263954"/>
                      </a:solidFill>
                    </a:lnB>
                    <a:solidFill>
                      <a:srgbClr val="1A2942"/>
                    </a:solidFill>
                  </a:tcPr>
                </a:tc>
              </a:tr>
              <a:tr h="447675">
                <a:tc>
                  <a:txBody>
                    <a:bodyPr>
                      <a:noAutofit/>
                    </a:bodyPr>
                    <a:lstStyle/>
                    <a:p>
                      <a:r>
                        <a:rPr sz="1200" b="1">
                          <a:solidFill>
                            <a:srgbClr val="F8FAFC"/>
                          </a:solidFill>
                          <a:latin typeface="Arial"/>
                          <a:ea typeface="Arial"/>
                          <a:cs typeface="Arial"/>
                        </a:rPr>
                        <a:t>REAL (Người thật)</a:t>
                      </a:r>
                    </a:p>
                  </a:txBody>
                  <a:tcPr marL="91440" marR="91440" marT="45720" marB="45720">
                    <a:lnL w="9525">
                      <a:solidFill>
                        <a:srgbClr val="263954"/>
                      </a:solidFill>
                    </a:lnL>
                    <a:lnR w="9525">
                      <a:solidFill>
                        <a:srgbClr val="263954"/>
                      </a:solidFill>
                    </a:lnR>
                    <a:lnB w="9525">
                      <a:solidFill>
                        <a:srgbClr val="263954"/>
                      </a:solidFill>
                    </a:lnB>
                    <a:solidFill>
                      <a:srgbClr val="121C2D"/>
                    </a:solidFill>
                  </a:tcPr>
                </a:tc>
                <a:tc>
                  <a:txBody>
                    <a:bodyPr>
                      <a:noAutofit/>
                    </a:bodyPr>
                    <a:lstStyle/>
                    <a:p>
                      <a:r>
                        <a:rPr sz="1200" b="0">
                          <a:solidFill>
                            <a:srgbClr val="94A3B8"/>
                          </a:solidFill>
                          <a:latin typeface="Arial"/>
                          <a:ea typeface="Arial"/>
                          <a:cs typeface="Arial"/>
                        </a:rPr>
                        <a:t>2.446 frames</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96.48%</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99.88%</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98.15%</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94A3B8"/>
                          </a:solidFill>
                          <a:latin typeface="Arial"/>
                          <a:ea typeface="Arial"/>
                          <a:cs typeface="Arial"/>
                        </a:rPr>
                        <a:t>Gần như không bị chặn nhầm người thật (3 frame)</a:t>
                      </a:r>
                    </a:p>
                  </a:txBody>
                  <a:tcPr marL="91440" marR="91440" marT="45720" marB="45720">
                    <a:lnR w="9525">
                      <a:solidFill>
                        <a:srgbClr val="263954"/>
                      </a:solidFill>
                    </a:lnR>
                    <a:lnB w="9525">
                      <a:solidFill>
                        <a:srgbClr val="263954"/>
                      </a:solidFill>
                    </a:lnB>
                    <a:solidFill>
                      <a:srgbClr val="121C2D"/>
                    </a:solidFill>
                  </a:tcPr>
                </a:tc>
              </a:tr>
              <a:tr h="447675">
                <a:tc>
                  <a:txBody>
                    <a:bodyPr>
                      <a:noAutofit/>
                    </a:bodyPr>
                    <a:lstStyle/>
                    <a:p>
                      <a:r>
                        <a:rPr sz="1200" b="1">
                          <a:solidFill>
                            <a:srgbClr val="F8FAFC"/>
                          </a:solidFill>
                          <a:latin typeface="Arial"/>
                          <a:ea typeface="Arial"/>
                          <a:cs typeface="Arial"/>
                        </a:rPr>
                        <a:t>FAKE (Tấn công)</a:t>
                      </a:r>
                    </a:p>
                  </a:txBody>
                  <a:tcPr marL="91440" marR="91440" marT="45720" marB="45720">
                    <a:lnL w="9525">
                      <a:solidFill>
                        <a:srgbClr val="263954"/>
                      </a:solidFill>
                    </a:lnL>
                    <a:lnR w="9525">
                      <a:solidFill>
                        <a:srgbClr val="263954"/>
                      </a:solidFill>
                    </a:lnR>
                    <a:lnB w="9525">
                      <a:solidFill>
                        <a:srgbClr val="263954"/>
                      </a:solidFill>
                    </a:lnB>
                    <a:solidFill>
                      <a:srgbClr val="0D1522"/>
                    </a:solidFill>
                  </a:tcPr>
                </a:tc>
                <a:tc>
                  <a:txBody>
                    <a:bodyPr>
                      <a:noAutofit/>
                    </a:bodyPr>
                    <a:lstStyle/>
                    <a:p>
                      <a:r>
                        <a:rPr sz="1200" b="0">
                          <a:solidFill>
                            <a:srgbClr val="94A3B8"/>
                          </a:solidFill>
                          <a:latin typeface="Arial"/>
                          <a:ea typeface="Arial"/>
                          <a:cs typeface="Arial"/>
                        </a:rPr>
                        <a:t>2.365 frames</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99.87%</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96.24%</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98.02%</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94A3B8"/>
                          </a:solidFill>
                          <a:latin typeface="Arial"/>
                          <a:ea typeface="Arial"/>
                          <a:cs typeface="Arial"/>
                        </a:rPr>
                        <a:t>Độ nhạy chặn gian lận màn hình cực kỳ cao</a:t>
                      </a:r>
                    </a:p>
                  </a:txBody>
                  <a:tcPr marL="91440" marR="91440" marT="45720" marB="45720">
                    <a:lnR w="9525">
                      <a:solidFill>
                        <a:srgbClr val="263954"/>
                      </a:solidFill>
                    </a:lnR>
                    <a:lnB w="9525">
                      <a:solidFill>
                        <a:srgbClr val="263954"/>
                      </a:solidFill>
                    </a:lnB>
                    <a:solidFill>
                      <a:srgbClr val="0D1522"/>
                    </a:solidFill>
                  </a:tcPr>
                </a:tc>
              </a:tr>
              <a:tr h="447675">
                <a:tc>
                  <a:txBody>
                    <a:bodyPr>
                      <a:noAutofit/>
                    </a:bodyPr>
                    <a:lstStyle/>
                    <a:p>
                      <a:r>
                        <a:rPr sz="1200" b="1">
                          <a:solidFill>
                            <a:srgbClr val="F8FAFC"/>
                          </a:solidFill>
                          <a:latin typeface="Arial"/>
                          <a:ea typeface="Arial"/>
                          <a:cs typeface="Arial"/>
                        </a:rPr>
                        <a:t>Validation Set</a:t>
                      </a:r>
                    </a:p>
                  </a:txBody>
                  <a:tcPr marL="91440" marR="91440" marT="45720" marB="45720">
                    <a:lnL w="9525">
                      <a:solidFill>
                        <a:srgbClr val="263954"/>
                      </a:solidFill>
                    </a:lnL>
                    <a:lnR w="9525">
                      <a:solidFill>
                        <a:srgbClr val="263954"/>
                      </a:solidFill>
                    </a:lnR>
                    <a:lnB w="9525">
                      <a:solidFill>
                        <a:srgbClr val="263954"/>
                      </a:solidFill>
                    </a:lnB>
                    <a:solidFill>
                      <a:srgbClr val="121C2D"/>
                    </a:solidFill>
                  </a:tcPr>
                </a:tc>
                <a:tc>
                  <a:txBody>
                    <a:bodyPr>
                      <a:noAutofit/>
                    </a:bodyPr>
                    <a:lstStyle/>
                    <a:p>
                      <a:r>
                        <a:rPr sz="1200" b="0">
                          <a:solidFill>
                            <a:srgbClr val="94A3B8"/>
                          </a:solidFill>
                          <a:latin typeface="Arial"/>
                          <a:ea typeface="Arial"/>
                          <a:cs typeface="Arial"/>
                        </a:rPr>
                        <a:t>5.015 frames (14 video)</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98.90%</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98.88%</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34D399"/>
                          </a:solidFill>
                          <a:latin typeface="Arial"/>
                          <a:ea typeface="Arial"/>
                          <a:cs typeface="Arial"/>
                        </a:rPr>
                        <a:t>98.88%</a:t>
                      </a:r>
                    </a:p>
                  </a:txBody>
                  <a:tcPr marL="91440" marR="91440" marT="45720" marB="45720">
                    <a:lnR w="9525">
                      <a:solidFill>
                        <a:srgbClr val="263954"/>
                      </a:solidFill>
                    </a:lnR>
                    <a:lnB w="9525">
                      <a:solidFill>
                        <a:srgbClr val="263954"/>
                      </a:solidFill>
                    </a:lnB>
                    <a:solidFill>
                      <a:srgbClr val="121C2D"/>
                    </a:solidFill>
                  </a:tcPr>
                </a:tc>
                <a:tc>
                  <a:txBody>
                    <a:bodyPr>
                      <a:noAutofit/>
                    </a:bodyPr>
                    <a:lstStyle/>
                    <a:p>
                      <a:r>
                        <a:rPr sz="1200" b="0">
                          <a:solidFill>
                            <a:srgbClr val="94A3B8"/>
                          </a:solidFill>
                          <a:latin typeface="Arial"/>
                          <a:ea typeface="Arial"/>
                          <a:cs typeface="Arial"/>
                        </a:rPr>
                        <a:t>Video-level Accuracy: 14/14 (100%)</a:t>
                      </a:r>
                    </a:p>
                  </a:txBody>
                  <a:tcPr marL="91440" marR="91440" marT="45720" marB="45720">
                    <a:lnR w="9525">
                      <a:solidFill>
                        <a:srgbClr val="263954"/>
                      </a:solidFill>
                    </a:lnR>
                    <a:lnB w="9525">
                      <a:solidFill>
                        <a:srgbClr val="263954"/>
                      </a:solidFill>
                    </a:lnB>
                    <a:solidFill>
                      <a:srgbClr val="121C2D"/>
                    </a:solidFill>
                  </a:tcPr>
                </a:tc>
              </a:tr>
              <a:tr h="447675">
                <a:tc>
                  <a:txBody>
                    <a:bodyPr>
                      <a:noAutofit/>
                    </a:bodyPr>
                    <a:lstStyle/>
                    <a:p>
                      <a:r>
                        <a:rPr sz="1200" b="1">
                          <a:solidFill>
                            <a:srgbClr val="F8FAFC"/>
                          </a:solidFill>
                          <a:latin typeface="Arial"/>
                          <a:ea typeface="Arial"/>
                          <a:cs typeface="Arial"/>
                        </a:rPr>
                        <a:t>External Camera</a:t>
                      </a:r>
                    </a:p>
                  </a:txBody>
                  <a:tcPr marL="91440" marR="91440" marT="45720" marB="45720">
                    <a:lnL w="9525">
                      <a:solidFill>
                        <a:srgbClr val="263954"/>
                      </a:solidFill>
                    </a:lnL>
                    <a:lnR w="9525">
                      <a:solidFill>
                        <a:srgbClr val="263954"/>
                      </a:solidFill>
                    </a:lnR>
                    <a:lnB w="9525">
                      <a:solidFill>
                        <a:srgbClr val="263954"/>
                      </a:solidFill>
                    </a:lnB>
                    <a:solidFill>
                      <a:srgbClr val="0D1522"/>
                    </a:solidFill>
                  </a:tcPr>
                </a:tc>
                <a:tc>
                  <a:txBody>
                    <a:bodyPr>
                      <a:noAutofit/>
                    </a:bodyPr>
                    <a:lstStyle/>
                    <a:p>
                      <a:r>
                        <a:rPr sz="1200" b="0">
                          <a:solidFill>
                            <a:srgbClr val="94A3B8"/>
                          </a:solidFill>
                          <a:latin typeface="Arial"/>
                          <a:ea typeface="Arial"/>
                          <a:cs typeface="Arial"/>
                        </a:rPr>
                        <a:t>616 frames</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99.84%</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99.84%</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34D399"/>
                          </a:solidFill>
                          <a:latin typeface="Arial"/>
                          <a:ea typeface="Arial"/>
                          <a:cs typeface="Arial"/>
                        </a:rPr>
                        <a:t>99.84%</a:t>
                      </a:r>
                    </a:p>
                  </a:txBody>
                  <a:tcPr marL="91440" marR="91440" marT="45720" marB="45720">
                    <a:lnR w="9525">
                      <a:solidFill>
                        <a:srgbClr val="263954"/>
                      </a:solidFill>
                    </a:lnR>
                    <a:lnB w="9525">
                      <a:solidFill>
                        <a:srgbClr val="263954"/>
                      </a:solidFill>
                    </a:lnB>
                    <a:solidFill>
                      <a:srgbClr val="0D1522"/>
                    </a:solidFill>
                  </a:tcPr>
                </a:tc>
                <a:tc>
                  <a:txBody>
                    <a:bodyPr>
                      <a:noAutofit/>
                    </a:bodyPr>
                    <a:lstStyle/>
                    <a:p>
                      <a:r>
                        <a:rPr sz="1200" b="0">
                          <a:solidFill>
                            <a:srgbClr val="94A3B8"/>
                          </a:solidFill>
                          <a:latin typeface="Arial"/>
                          <a:ea typeface="Arial"/>
                          <a:cs typeface="Arial"/>
                        </a:rPr>
                        <a:t>Khả năng tổng quát hóa camera phụ: 99.84%</a:t>
                      </a:r>
                    </a:p>
                  </a:txBody>
                  <a:tcPr marL="91440" marR="91440" marT="45720" marB="45720">
                    <a:lnR w="9525">
                      <a:solidFill>
                        <a:srgbClr val="263954"/>
                      </a:solidFill>
                    </a:lnR>
                    <a:lnB w="9525">
                      <a:solidFill>
                        <a:srgbClr val="263954"/>
                      </a:solidFill>
                    </a:lnB>
                    <a:solidFill>
                      <a:srgbClr val="0D1522"/>
                    </a:solidFill>
                  </a:tcPr>
                </a:tc>
              </a:tr>
            </a:tbl>
          </a:graphicData>
        </a:graphic>
      </p:graphicFrame>
      <p:sp>
        <p:nvSpPr>
          <p:cNvPr id="15" name="">
            <a:extLst xmlns:a="http://schemas.openxmlformats.org/drawingml/2006/main">
              <a:ext uri="{FF2B5EF4-FFF2-40B4-BE49-F238E27FC236}">
                <a16:creationId xmlns:a16="http://schemas.microsoft.com/office/drawing/2014/main" id="{8B5FD01E-BE11-4240-AADC-3D5132189FB6}"/>
              </a:ext>
            </a:extLst>
          </p:cNvPr>
          <p:cNvSpPr>
            <a:spLocks xmlns:a="http://schemas.openxmlformats.org/drawingml/2006/main" noGrp="1"/>
          </p:cNvSpPr>
          <p:nvPr/>
        </p:nvSpPr>
        <p:spPr>
          <a:xfrm xmlns:a="http://schemas.openxmlformats.org/drawingml/2006/main">
            <a:off x="609600" y="5095875"/>
            <a:ext cx="10972800" cy="1000125"/>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16" name="">
            <a:extLst xmlns:a="http://schemas.openxmlformats.org/drawingml/2006/main">
              <a:ext uri="{FF2B5EF4-FFF2-40B4-BE49-F238E27FC236}">
                <a16:creationId xmlns:a16="http://schemas.microsoft.com/office/drawing/2014/main" id="{2D9F3525-48B5-4EFD-AA78-F74C88B60C01}"/>
              </a:ext>
            </a:extLst>
          </p:cNvPr>
          <p:cNvSpPr>
            <a:spLocks xmlns:a="http://schemas.openxmlformats.org/drawingml/2006/main" noGrp="1"/>
          </p:cNvSpPr>
          <p:nvPr/>
        </p:nvSpPr>
        <p:spPr>
          <a:xfrm xmlns:a="http://schemas.openxmlformats.org/drawingml/2006/main">
            <a:off x="857250" y="5191125"/>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38BDF8"/>
                </a:solidFill>
                <a:latin typeface="Arial"/>
                <a:ea typeface="Arial"/>
                <a:cs typeface="Arial"/>
              </a:defRPr>
            </a:defPPr>
            <a:lvl1pPr>
              <a:defRPr sz="1350" b="1">
                <a:solidFill>
                  <a:srgbClr val="38BDF8"/>
                </a:solidFill>
                <a:latin typeface="Arial"/>
                <a:ea typeface="Arial"/>
                <a:cs typeface="Arial"/>
              </a:defRPr>
            </a:lvl1pPr>
            <a:lvl2pPr>
              <a:defRPr sz="1350" b="1">
                <a:solidFill>
                  <a:srgbClr val="38BDF8"/>
                </a:solidFill>
                <a:latin typeface="Arial"/>
                <a:ea typeface="Arial"/>
                <a:cs typeface="Arial"/>
              </a:defRPr>
            </a:lvl2pPr>
            <a:lvl3pPr>
              <a:defRPr sz="1350" b="1">
                <a:solidFill>
                  <a:srgbClr val="38BDF8"/>
                </a:solidFill>
                <a:latin typeface="Arial"/>
                <a:ea typeface="Arial"/>
                <a:cs typeface="Arial"/>
              </a:defRPr>
            </a:lvl3pPr>
            <a:lvl4pPr>
              <a:defRPr sz="1350" b="1">
                <a:solidFill>
                  <a:srgbClr val="38BDF8"/>
                </a:solidFill>
                <a:latin typeface="Arial"/>
                <a:ea typeface="Arial"/>
                <a:cs typeface="Arial"/>
              </a:defRPr>
            </a:lvl4pPr>
            <a:lvl5pPr>
              <a:defRPr sz="1350" b="1">
                <a:solidFill>
                  <a:srgbClr val="38BDF8"/>
                </a:solidFill>
                <a:latin typeface="Arial"/>
                <a:ea typeface="Arial"/>
                <a:cs typeface="Arial"/>
              </a:defRPr>
            </a:lvl5pPr>
            <a:lvl6pPr>
              <a:defRPr sz="1350" b="1">
                <a:solidFill>
                  <a:srgbClr val="38BDF8"/>
                </a:solidFill>
                <a:latin typeface="Arial"/>
                <a:ea typeface="Arial"/>
                <a:cs typeface="Arial"/>
              </a:defRPr>
            </a:lvl6pPr>
            <a:lvl7pPr>
              <a:defRPr sz="1350" b="1">
                <a:solidFill>
                  <a:srgbClr val="38BDF8"/>
                </a:solidFill>
                <a:latin typeface="Arial"/>
                <a:ea typeface="Arial"/>
                <a:cs typeface="Arial"/>
              </a:defRPr>
            </a:lvl7pPr>
            <a:lvl8pPr>
              <a:defRPr sz="1350" b="1">
                <a:solidFill>
                  <a:srgbClr val="38BDF8"/>
                </a:solidFill>
                <a:latin typeface="Arial"/>
                <a:ea typeface="Arial"/>
                <a:cs typeface="Arial"/>
              </a:defRPr>
            </a:lvl8pPr>
            <a:lvl9pPr>
              <a:defRPr sz="1350" b="1">
                <a:solidFill>
                  <a:srgbClr val="38BDF8"/>
                </a:solidFill>
                <a:latin typeface="Arial"/>
                <a:ea typeface="Arial"/>
                <a:cs typeface="Arial"/>
              </a:defRPr>
            </a:lvl9pPr>
          </a:lstStyle>
          <a:p xmlns:a="http://schemas.openxmlformats.org/drawingml/2006/main">
            <a:pPr>
              <a:defRPr sz="1350" b="1">
                <a:solidFill>
                  <a:srgbClr val="38BDF8"/>
                </a:solidFill>
                <a:latin typeface="Arial"/>
                <a:ea typeface="Arial"/>
                <a:cs typeface="Arial"/>
              </a:defRPr>
            </a:pPr>
            <a:r>
              <a:rPr sz="1350" b="1">
                <a:solidFill>
                  <a:srgbClr val="38BDF8"/>
                </a:solidFill>
                <a:latin typeface="Arial"/>
                <a:ea typeface="Arial"/>
                <a:cs typeface="Arial"/>
              </a:rPr>
              <a:t>Ý nghĩa kiểm tra chéo &amp; Tập test độc lập:</a:t>
            </a:r>
          </a:p>
        </p:txBody>
      </p:sp>
      <p:sp>
        <p:nvSpPr>
          <p:cNvPr id="17" name="">
            <a:extLst xmlns:a="http://schemas.openxmlformats.org/drawingml/2006/main">
              <a:ext uri="{FF2B5EF4-FFF2-40B4-BE49-F238E27FC236}">
                <a16:creationId xmlns:a16="http://schemas.microsoft.com/office/drawing/2014/main" id="{E22151E2-9622-4CA0-9AF3-E6F22D022852}"/>
              </a:ext>
            </a:extLst>
          </p:cNvPr>
          <p:cNvSpPr>
            <a:spLocks xmlns:a="http://schemas.openxmlformats.org/drawingml/2006/main" noGrp="1"/>
          </p:cNvSpPr>
          <p:nvPr/>
        </p:nvSpPr>
        <p:spPr>
          <a:xfrm xmlns:a="http://schemas.openxmlformats.org/drawingml/2006/main">
            <a:off x="857250" y="54768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F8FAFC"/>
                </a:solidFill>
                <a:latin typeface="Arial"/>
                <a:ea typeface="Arial"/>
                <a:cs typeface="Arial"/>
              </a:defRPr>
            </a:defPPr>
            <a:lvl1pPr>
              <a:defRPr sz="1125" b="0">
                <a:solidFill>
                  <a:srgbClr val="F8FAFC"/>
                </a:solidFill>
                <a:latin typeface="Arial"/>
                <a:ea typeface="Arial"/>
                <a:cs typeface="Arial"/>
              </a:defRPr>
            </a:lvl1pPr>
            <a:lvl2pPr>
              <a:defRPr sz="1125" b="0">
                <a:solidFill>
                  <a:srgbClr val="F8FAFC"/>
                </a:solidFill>
                <a:latin typeface="Arial"/>
                <a:ea typeface="Arial"/>
                <a:cs typeface="Arial"/>
              </a:defRPr>
            </a:lvl2pPr>
            <a:lvl3pPr>
              <a:defRPr sz="1125" b="0">
                <a:solidFill>
                  <a:srgbClr val="F8FAFC"/>
                </a:solidFill>
                <a:latin typeface="Arial"/>
                <a:ea typeface="Arial"/>
                <a:cs typeface="Arial"/>
              </a:defRPr>
            </a:lvl3pPr>
            <a:lvl4pPr>
              <a:defRPr sz="1125" b="0">
                <a:solidFill>
                  <a:srgbClr val="F8FAFC"/>
                </a:solidFill>
                <a:latin typeface="Arial"/>
                <a:ea typeface="Arial"/>
                <a:cs typeface="Arial"/>
              </a:defRPr>
            </a:lvl4pPr>
            <a:lvl5pPr>
              <a:defRPr sz="1125" b="0">
                <a:solidFill>
                  <a:srgbClr val="F8FAFC"/>
                </a:solidFill>
                <a:latin typeface="Arial"/>
                <a:ea typeface="Arial"/>
                <a:cs typeface="Arial"/>
              </a:defRPr>
            </a:lvl5pPr>
            <a:lvl6pPr>
              <a:defRPr sz="1125" b="0">
                <a:solidFill>
                  <a:srgbClr val="F8FAFC"/>
                </a:solidFill>
                <a:latin typeface="Arial"/>
                <a:ea typeface="Arial"/>
                <a:cs typeface="Arial"/>
              </a:defRPr>
            </a:lvl6pPr>
            <a:lvl7pPr>
              <a:defRPr sz="1125" b="0">
                <a:solidFill>
                  <a:srgbClr val="F8FAFC"/>
                </a:solidFill>
                <a:latin typeface="Arial"/>
                <a:ea typeface="Arial"/>
                <a:cs typeface="Arial"/>
              </a:defRPr>
            </a:lvl7pPr>
            <a:lvl8pPr>
              <a:defRPr sz="1125" b="0">
                <a:solidFill>
                  <a:srgbClr val="F8FAFC"/>
                </a:solidFill>
                <a:latin typeface="Arial"/>
                <a:ea typeface="Arial"/>
                <a:cs typeface="Arial"/>
              </a:defRPr>
            </a:lvl8pPr>
            <a:lvl9pPr>
              <a:defRPr sz="1125" b="0">
                <a:solidFill>
                  <a:srgbClr val="F8FAFC"/>
                </a:solidFill>
                <a:latin typeface="Arial"/>
                <a:ea typeface="Arial"/>
                <a:cs typeface="Arial"/>
              </a:defRPr>
            </a:lvl9pPr>
          </a:lstStyle>
          <a:p xmlns:a="http://schemas.openxmlformats.org/drawingml/2006/main">
            <a:pPr>
              <a:defRPr sz="1125" b="0">
                <a:solidFill>
                  <a:srgbClr val="F8FAFC"/>
                </a:solidFill>
                <a:latin typeface="Arial"/>
                <a:ea typeface="Arial"/>
                <a:cs typeface="Arial"/>
              </a:defRPr>
            </a:pPr>
            <a:r>
              <a:rPr sz="1125" b="0">
                <a:solidFill>
                  <a:srgbClr val="F8FAFC"/>
                </a:solidFill>
                <a:latin typeface="Arial"/>
                <a:ea typeface="Arial"/>
                <a:cs typeface="Arial"/>
              </a:rPr>
              <a:t>• Dữ liệu kiểm thử được chia rẽ nhánh theo từng video độc lập (Video-level split), đảm bảo không lẫn lộn frame giữa tập train và test.</a:t>
            </a:r>
          </a:p>
          <a:p xmlns:a="http://schemas.openxmlformats.org/drawingml/2006/main">
            <a:pPr>
              <a:defRPr sz="1125" b="0">
                <a:solidFill>
                  <a:srgbClr val="F8FAFC"/>
                </a:solidFill>
                <a:latin typeface="Arial"/>
                <a:ea typeface="Arial"/>
                <a:cs typeface="Arial"/>
              </a:defRPr>
            </a:pPr>
            <a:r>
              <a:rPr sz="1125" b="0">
                <a:solidFill>
                  <a:srgbClr val="F8FAFC"/>
                </a:solidFill>
                <a:latin typeface="Arial"/>
                <a:ea typeface="Arial"/>
                <a:cs typeface="Arial"/>
              </a:rPr>
              <a:t>• Video-level Accuracy đạt 14/14 (100%): Mọi video test đều được phân loại đúng nhãn khi tính điểm trung bình (Mean Probability).</a:t>
            </a:r>
          </a:p>
          <a:p xmlns:a="http://schemas.openxmlformats.org/drawingml/2006/main">
            <a:pPr>
              <a:defRPr sz="1125" b="0">
                <a:solidFill>
                  <a:srgbClr val="F8FAFC"/>
                </a:solidFill>
                <a:latin typeface="Arial"/>
                <a:ea typeface="Arial"/>
                <a:cs typeface="Arial"/>
              </a:defRPr>
            </a:pPr>
            <a:r>
              <a:rPr sz="1125" b="0">
                <a:solidFill>
                  <a:srgbClr val="F8FAFC"/>
                </a:solidFill>
                <a:latin typeface="Arial"/>
                <a:ea typeface="Arial"/>
                <a:cs typeface="Arial"/>
              </a:rPr>
              <a:t>• Tỷ lệ bỏ sót người thật cực kỳ thấp (0.12%), đảm bảo trải nghiệm người dùng thông suốt và tin cậy.</a:t>
            </a:r>
          </a:p>
        </p:txBody>
      </p:sp>
    </p:spTree>
    <p:extLst>
      <p:ext uri="{BB962C8B-B14F-4D97-AF65-F5344CB8AC3E}">
        <p14:creationId xmlns:p14="http://schemas.microsoft.com/office/powerpoint/2010/main" val="1814446925"/>
      </p:ext>
    </p:extLst>
  </p:cSld>
</p:sld>
</file>

<file path=ppt/slides/slide4.xml><?xml version="1.0" encoding="utf-8"?>
<p:sld xmlns:p="http://schemas.openxmlformats.org/presentationml/2006/main">
  <p:cSld>
    <p:bg>
      <p:bgPr>
        <a:solidFill xmlns:a="http://schemas.openxmlformats.org/drawingml/2006/main">
          <a:srgbClr val="0D1522"/>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1031163-1F99-43D4-8503-9BCC05DAB6D7}"/>
              </a:ext>
            </a:extLst>
          </p:cNvPr>
          <p:cNvSpPr>
            <a:spLocks xmlns:a="http://schemas.openxmlformats.org/drawingml/2006/main" noGrp="1"/>
          </p:cNvSpPr>
          <p:nvPr/>
        </p:nvSpPr>
        <p:spPr>
          <a:xfrm xmlns:a="http://schemas.openxmlformats.org/drawingml/2006/main">
            <a:off x="609600" y="361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8FAFC"/>
                </a:solidFill>
                <a:latin typeface="Arial"/>
                <a:ea typeface="Arial"/>
                <a:cs typeface="Arial"/>
              </a:defRPr>
            </a:defPPr>
            <a:lvl1pPr>
              <a:defRPr sz="2700" b="1">
                <a:solidFill>
                  <a:srgbClr val="F8FAFC"/>
                </a:solidFill>
                <a:latin typeface="Arial"/>
                <a:ea typeface="Arial"/>
                <a:cs typeface="Arial"/>
              </a:defRPr>
            </a:lvl1pPr>
            <a:lvl2pPr>
              <a:defRPr sz="2700" b="1">
                <a:solidFill>
                  <a:srgbClr val="F8FAFC"/>
                </a:solidFill>
                <a:latin typeface="Arial"/>
                <a:ea typeface="Arial"/>
                <a:cs typeface="Arial"/>
              </a:defRPr>
            </a:lvl2pPr>
            <a:lvl3pPr>
              <a:defRPr sz="2700" b="1">
                <a:solidFill>
                  <a:srgbClr val="F8FAFC"/>
                </a:solidFill>
                <a:latin typeface="Arial"/>
                <a:ea typeface="Arial"/>
                <a:cs typeface="Arial"/>
              </a:defRPr>
            </a:lvl3pPr>
            <a:lvl4pPr>
              <a:defRPr sz="2700" b="1">
                <a:solidFill>
                  <a:srgbClr val="F8FAFC"/>
                </a:solidFill>
                <a:latin typeface="Arial"/>
                <a:ea typeface="Arial"/>
                <a:cs typeface="Arial"/>
              </a:defRPr>
            </a:lvl4pPr>
            <a:lvl5pPr>
              <a:defRPr sz="2700" b="1">
                <a:solidFill>
                  <a:srgbClr val="F8FAFC"/>
                </a:solidFill>
                <a:latin typeface="Arial"/>
                <a:ea typeface="Arial"/>
                <a:cs typeface="Arial"/>
              </a:defRPr>
            </a:lvl5pPr>
            <a:lvl6pPr>
              <a:defRPr sz="2700" b="1">
                <a:solidFill>
                  <a:srgbClr val="F8FAFC"/>
                </a:solidFill>
                <a:latin typeface="Arial"/>
                <a:ea typeface="Arial"/>
                <a:cs typeface="Arial"/>
              </a:defRPr>
            </a:lvl6pPr>
            <a:lvl7pPr>
              <a:defRPr sz="2700" b="1">
                <a:solidFill>
                  <a:srgbClr val="F8FAFC"/>
                </a:solidFill>
                <a:latin typeface="Arial"/>
                <a:ea typeface="Arial"/>
                <a:cs typeface="Arial"/>
              </a:defRPr>
            </a:lvl7pPr>
            <a:lvl8pPr>
              <a:defRPr sz="2700" b="1">
                <a:solidFill>
                  <a:srgbClr val="F8FAFC"/>
                </a:solidFill>
                <a:latin typeface="Arial"/>
                <a:ea typeface="Arial"/>
                <a:cs typeface="Arial"/>
              </a:defRPr>
            </a:lvl8pPr>
            <a:lvl9pPr>
              <a:defRPr sz="2700" b="1">
                <a:solidFill>
                  <a:srgbClr val="F8FAFC"/>
                </a:solidFill>
                <a:latin typeface="Arial"/>
                <a:ea typeface="Arial"/>
                <a:cs typeface="Arial"/>
              </a:defRPr>
            </a:lvl9pPr>
          </a:lstStyle>
          <a:p xmlns:a="http://schemas.openxmlformats.org/drawingml/2006/main">
            <a:pPr>
              <a:defRPr sz="2700" b="1">
                <a:solidFill>
                  <a:srgbClr val="F8FAFC"/>
                </a:solidFill>
                <a:latin typeface="Arial"/>
                <a:ea typeface="Arial"/>
                <a:cs typeface="Arial"/>
              </a:defRPr>
            </a:pPr>
            <a:r>
              <a:rPr sz="2700" b="1">
                <a:solidFill>
                  <a:srgbClr val="F8FAFC"/>
                </a:solidFill>
                <a:latin typeface="Arial"/>
                <a:ea typeface="Arial"/>
                <a:cs typeface="Arial"/>
              </a:rPr>
              <a:t>Hiệu Năng Thực Tế &amp; Ranh Giới Vận Hành</a:t>
            </a:r>
          </a:p>
        </p:txBody>
      </p:sp>
      <p:sp>
        <p:nvSpPr>
          <p:cNvPr id="2" name="">
            <a:extLst xmlns:a="http://schemas.openxmlformats.org/drawingml/2006/main">
              <a:ext uri="{FF2B5EF4-FFF2-40B4-BE49-F238E27FC236}">
                <a16:creationId xmlns:a16="http://schemas.microsoft.com/office/drawing/2014/main" id="{84A34559-421E-4AB8-B2FD-55D8DAE73B4C}"/>
              </a:ext>
            </a:extLst>
          </p:cNvPr>
          <p:cNvSpPr>
            <a:spLocks xmlns:a="http://schemas.openxmlformats.org/drawingml/2006/main" noGrp="1"/>
          </p:cNvSpPr>
          <p:nvPr/>
        </p:nvSpPr>
        <p:spPr>
          <a:xfrm xmlns:a="http://schemas.openxmlformats.org/drawingml/2006/main">
            <a:off x="609600" y="914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38BDF8"/>
                </a:solidFill>
                <a:latin typeface="Arial"/>
                <a:ea typeface="Arial"/>
                <a:cs typeface="Arial"/>
              </a:defRPr>
            </a:defPPr>
            <a:lvl1pPr>
              <a:defRPr sz="1425" b="1">
                <a:solidFill>
                  <a:srgbClr val="38BDF8"/>
                </a:solidFill>
                <a:latin typeface="Arial"/>
                <a:ea typeface="Arial"/>
                <a:cs typeface="Arial"/>
              </a:defRPr>
            </a:lvl1pPr>
            <a:lvl2pPr>
              <a:defRPr sz="1425" b="1">
                <a:solidFill>
                  <a:srgbClr val="38BDF8"/>
                </a:solidFill>
                <a:latin typeface="Arial"/>
                <a:ea typeface="Arial"/>
                <a:cs typeface="Arial"/>
              </a:defRPr>
            </a:lvl2pPr>
            <a:lvl3pPr>
              <a:defRPr sz="1425" b="1">
                <a:solidFill>
                  <a:srgbClr val="38BDF8"/>
                </a:solidFill>
                <a:latin typeface="Arial"/>
                <a:ea typeface="Arial"/>
                <a:cs typeface="Arial"/>
              </a:defRPr>
            </a:lvl3pPr>
            <a:lvl4pPr>
              <a:defRPr sz="1425" b="1">
                <a:solidFill>
                  <a:srgbClr val="38BDF8"/>
                </a:solidFill>
                <a:latin typeface="Arial"/>
                <a:ea typeface="Arial"/>
                <a:cs typeface="Arial"/>
              </a:defRPr>
            </a:lvl4pPr>
            <a:lvl5pPr>
              <a:defRPr sz="1425" b="1">
                <a:solidFill>
                  <a:srgbClr val="38BDF8"/>
                </a:solidFill>
                <a:latin typeface="Arial"/>
                <a:ea typeface="Arial"/>
                <a:cs typeface="Arial"/>
              </a:defRPr>
            </a:lvl5pPr>
            <a:lvl6pPr>
              <a:defRPr sz="1425" b="1">
                <a:solidFill>
                  <a:srgbClr val="38BDF8"/>
                </a:solidFill>
                <a:latin typeface="Arial"/>
                <a:ea typeface="Arial"/>
                <a:cs typeface="Arial"/>
              </a:defRPr>
            </a:lvl6pPr>
            <a:lvl7pPr>
              <a:defRPr sz="1425" b="1">
                <a:solidFill>
                  <a:srgbClr val="38BDF8"/>
                </a:solidFill>
                <a:latin typeface="Arial"/>
                <a:ea typeface="Arial"/>
                <a:cs typeface="Arial"/>
              </a:defRPr>
            </a:lvl7pPr>
            <a:lvl8pPr>
              <a:defRPr sz="1425" b="1">
                <a:solidFill>
                  <a:srgbClr val="38BDF8"/>
                </a:solidFill>
                <a:latin typeface="Arial"/>
                <a:ea typeface="Arial"/>
                <a:cs typeface="Arial"/>
              </a:defRPr>
            </a:lvl8pPr>
            <a:lvl9pPr>
              <a:defRPr sz="1425" b="1">
                <a:solidFill>
                  <a:srgbClr val="38BDF8"/>
                </a:solidFill>
                <a:latin typeface="Arial"/>
                <a:ea typeface="Arial"/>
                <a:cs typeface="Arial"/>
              </a:defRPr>
            </a:lvl9pPr>
          </a:lstStyle>
          <a:p xmlns:a="http://schemas.openxmlformats.org/drawingml/2006/main">
            <a:pPr>
              <a:defRPr sz="1425" b="1">
                <a:solidFill>
                  <a:srgbClr val="38BDF8"/>
                </a:solidFill>
                <a:latin typeface="Arial"/>
                <a:ea typeface="Arial"/>
                <a:cs typeface="Arial"/>
              </a:defRPr>
            </a:pPr>
            <a:r>
              <a:rPr sz="1425" b="1">
                <a:solidFill>
                  <a:srgbClr val="38BDF8"/>
                </a:solidFill>
                <a:latin typeface="Arial"/>
                <a:ea typeface="Arial"/>
                <a:cs typeface="Arial"/>
              </a:rPr>
              <a:t>ĐẶC TÍNH TRIỂN KHAI TRÊN CAMERA SC-M200 VÀ KHUYẾN NGHỊ VẬN HÀNH</a:t>
            </a:r>
          </a:p>
        </p:txBody>
      </p:sp>
      <p:sp>
        <p:nvSpPr>
          <p:cNvPr id="3" name="">
            <a:extLst xmlns:a="http://schemas.openxmlformats.org/drawingml/2006/main">
              <a:ext uri="{FF2B5EF4-FFF2-40B4-BE49-F238E27FC236}">
                <a16:creationId xmlns:a16="http://schemas.microsoft.com/office/drawing/2014/main" id="{E9B28D94-EA10-440E-AD94-5BBD2AAF667A}"/>
              </a:ext>
            </a:extLst>
          </p:cNvPr>
          <p:cNvSpPr>
            <a:spLocks xmlns:a="http://schemas.openxmlformats.org/drawingml/2006/main" noGrp="1"/>
          </p:cNvSpPr>
          <p:nvPr/>
        </p:nvSpPr>
        <p:spPr>
          <a:xfrm xmlns:a="http://schemas.openxmlformats.org/drawingml/2006/main">
            <a:off x="609600" y="64008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FACE ANTI-SPOOFING • CAMERA USB SC-M200</a:t>
            </a:r>
          </a:p>
        </p:txBody>
      </p:sp>
      <p:sp>
        <p:nvSpPr>
          <p:cNvPr id="4" name="">
            <a:extLst xmlns:a="http://schemas.openxmlformats.org/drawingml/2006/main">
              <a:ext uri="{FF2B5EF4-FFF2-40B4-BE49-F238E27FC236}">
                <a16:creationId xmlns:a16="http://schemas.microsoft.com/office/drawing/2014/main" id="{19293A0F-5A11-4A34-8BE1-731599E15670}"/>
              </a:ext>
            </a:extLst>
          </p:cNvPr>
          <p:cNvSpPr>
            <a:spLocks xmlns:a="http://schemas.openxmlformats.org/drawingml/2006/main" noGrp="1"/>
          </p:cNvSpPr>
          <p:nvPr/>
        </p:nvSpPr>
        <p:spPr>
          <a:xfrm xmlns:a="http://schemas.openxmlformats.org/drawingml/2006/main">
            <a:off x="11049000" y="64008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125" b="0">
                <a:solidFill>
                  <a:srgbClr val="94A3B8"/>
                </a:solidFill>
                <a:latin typeface="Arial"/>
                <a:ea typeface="Arial"/>
                <a:cs typeface="Arial"/>
              </a:defRPr>
            </a:defPPr>
            <a:lvl1pPr>
              <a:defRPr sz="1125" b="0">
                <a:solidFill>
                  <a:srgbClr val="94A3B8"/>
                </a:solidFill>
                <a:latin typeface="Arial"/>
                <a:ea typeface="Arial"/>
                <a:cs typeface="Arial"/>
              </a:defRPr>
            </a:lvl1pPr>
            <a:lvl2pPr>
              <a:defRPr sz="1125" b="0">
                <a:solidFill>
                  <a:srgbClr val="94A3B8"/>
                </a:solidFill>
                <a:latin typeface="Arial"/>
                <a:ea typeface="Arial"/>
                <a:cs typeface="Arial"/>
              </a:defRPr>
            </a:lvl2pPr>
            <a:lvl3pPr>
              <a:defRPr sz="1125" b="0">
                <a:solidFill>
                  <a:srgbClr val="94A3B8"/>
                </a:solidFill>
                <a:latin typeface="Arial"/>
                <a:ea typeface="Arial"/>
                <a:cs typeface="Arial"/>
              </a:defRPr>
            </a:lvl3pPr>
            <a:lvl4pPr>
              <a:defRPr sz="1125" b="0">
                <a:solidFill>
                  <a:srgbClr val="94A3B8"/>
                </a:solidFill>
                <a:latin typeface="Arial"/>
                <a:ea typeface="Arial"/>
                <a:cs typeface="Arial"/>
              </a:defRPr>
            </a:lvl4pPr>
            <a:lvl5pPr>
              <a:defRPr sz="1125" b="0">
                <a:solidFill>
                  <a:srgbClr val="94A3B8"/>
                </a:solidFill>
                <a:latin typeface="Arial"/>
                <a:ea typeface="Arial"/>
                <a:cs typeface="Arial"/>
              </a:defRPr>
            </a:lvl5pPr>
            <a:lvl6pPr>
              <a:defRPr sz="1125" b="0">
                <a:solidFill>
                  <a:srgbClr val="94A3B8"/>
                </a:solidFill>
                <a:latin typeface="Arial"/>
                <a:ea typeface="Arial"/>
                <a:cs typeface="Arial"/>
              </a:defRPr>
            </a:lvl6pPr>
            <a:lvl7pPr>
              <a:defRPr sz="1125" b="0">
                <a:solidFill>
                  <a:srgbClr val="94A3B8"/>
                </a:solidFill>
                <a:latin typeface="Arial"/>
                <a:ea typeface="Arial"/>
                <a:cs typeface="Arial"/>
              </a:defRPr>
            </a:lvl7pPr>
            <a:lvl8pPr>
              <a:defRPr sz="1125" b="0">
                <a:solidFill>
                  <a:srgbClr val="94A3B8"/>
                </a:solidFill>
                <a:latin typeface="Arial"/>
                <a:ea typeface="Arial"/>
                <a:cs typeface="Arial"/>
              </a:defRPr>
            </a:lvl8pPr>
            <a:lvl9pPr>
              <a:defRPr sz="1125" b="0">
                <a:solidFill>
                  <a:srgbClr val="94A3B8"/>
                </a:solidFill>
                <a:latin typeface="Arial"/>
                <a:ea typeface="Arial"/>
                <a:cs typeface="Arial"/>
              </a:defRPr>
            </a:lvl9pPr>
          </a:lstStyle>
          <a:p xmlns:a="http://schemas.openxmlformats.org/drawingml/2006/main">
            <a:pPr>
              <a:defRPr sz="1125" b="0">
                <a:solidFill>
                  <a:srgbClr val="94A3B8"/>
                </a:solidFill>
                <a:latin typeface="Arial"/>
                <a:ea typeface="Arial"/>
                <a:cs typeface="Arial"/>
              </a:defRPr>
            </a:pPr>
            <a:r>
              <a:rPr sz="1125" b="0">
                <a:solidFill>
                  <a:srgbClr val="94A3B8"/>
                </a:solidFill>
                <a:latin typeface="Arial"/>
                <a:ea typeface="Arial"/>
                <a:cs typeface="Arial"/>
              </a:rPr>
              <a:t>04 / 04</a:t>
            </a:r>
          </a:p>
        </p:txBody>
      </p:sp>
      <p:sp>
        <p:nvSpPr>
          <p:cNvPr id="5" name="">
            <a:extLst xmlns:a="http://schemas.openxmlformats.org/drawingml/2006/main">
              <a:ext uri="{FF2B5EF4-FFF2-40B4-BE49-F238E27FC236}">
                <a16:creationId xmlns:a16="http://schemas.microsoft.com/office/drawing/2014/main" id="{022FE601-A9BC-4071-93FC-B3E1231C52DA}"/>
              </a:ext>
            </a:extLst>
          </p:cNvPr>
          <p:cNvSpPr>
            <a:spLocks xmlns:a="http://schemas.openxmlformats.org/drawingml/2006/main" noGrp="1"/>
          </p:cNvSpPr>
          <p:nvPr/>
        </p:nvSpPr>
        <p:spPr>
          <a:xfrm xmlns:a="http://schemas.openxmlformats.org/drawingml/2006/main">
            <a:off x="609600" y="1428750"/>
            <a:ext cx="3429000" cy="4667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6" name="">
            <a:extLst xmlns:a="http://schemas.openxmlformats.org/drawingml/2006/main">
              <a:ext uri="{FF2B5EF4-FFF2-40B4-BE49-F238E27FC236}">
                <a16:creationId xmlns:a16="http://schemas.microsoft.com/office/drawing/2014/main" id="{66B17207-9A52-45B3-BFDA-A3F89ADB6FCB}"/>
              </a:ext>
            </a:extLst>
          </p:cNvPr>
          <p:cNvSpPr>
            <a:spLocks xmlns:a="http://schemas.openxmlformats.org/drawingml/2006/main" noGrp="1"/>
          </p:cNvSpPr>
          <p:nvPr/>
        </p:nvSpPr>
        <p:spPr>
          <a:xfrm xmlns:a="http://schemas.openxmlformats.org/drawingml/2006/main">
            <a:off x="857250" y="1666875"/>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8BDF8"/>
                </a:solidFill>
                <a:latin typeface="Arial"/>
                <a:ea typeface="Arial"/>
                <a:cs typeface="Arial"/>
              </a:defRPr>
            </a:defPPr>
            <a:lvl1pPr>
              <a:defRPr sz="1650" b="1">
                <a:solidFill>
                  <a:srgbClr val="38BDF8"/>
                </a:solidFill>
                <a:latin typeface="Arial"/>
                <a:ea typeface="Arial"/>
                <a:cs typeface="Arial"/>
              </a:defRPr>
            </a:lvl1pPr>
            <a:lvl2pPr>
              <a:defRPr sz="1650" b="1">
                <a:solidFill>
                  <a:srgbClr val="38BDF8"/>
                </a:solidFill>
                <a:latin typeface="Arial"/>
                <a:ea typeface="Arial"/>
                <a:cs typeface="Arial"/>
              </a:defRPr>
            </a:lvl2pPr>
            <a:lvl3pPr>
              <a:defRPr sz="1650" b="1">
                <a:solidFill>
                  <a:srgbClr val="38BDF8"/>
                </a:solidFill>
                <a:latin typeface="Arial"/>
                <a:ea typeface="Arial"/>
                <a:cs typeface="Arial"/>
              </a:defRPr>
            </a:lvl3pPr>
            <a:lvl4pPr>
              <a:defRPr sz="1650" b="1">
                <a:solidFill>
                  <a:srgbClr val="38BDF8"/>
                </a:solidFill>
                <a:latin typeface="Arial"/>
                <a:ea typeface="Arial"/>
                <a:cs typeface="Arial"/>
              </a:defRPr>
            </a:lvl4pPr>
            <a:lvl5pPr>
              <a:defRPr sz="1650" b="1">
                <a:solidFill>
                  <a:srgbClr val="38BDF8"/>
                </a:solidFill>
                <a:latin typeface="Arial"/>
                <a:ea typeface="Arial"/>
                <a:cs typeface="Arial"/>
              </a:defRPr>
            </a:lvl5pPr>
            <a:lvl6pPr>
              <a:defRPr sz="1650" b="1">
                <a:solidFill>
                  <a:srgbClr val="38BDF8"/>
                </a:solidFill>
                <a:latin typeface="Arial"/>
                <a:ea typeface="Arial"/>
                <a:cs typeface="Arial"/>
              </a:defRPr>
            </a:lvl6pPr>
            <a:lvl7pPr>
              <a:defRPr sz="1650" b="1">
                <a:solidFill>
                  <a:srgbClr val="38BDF8"/>
                </a:solidFill>
                <a:latin typeface="Arial"/>
                <a:ea typeface="Arial"/>
                <a:cs typeface="Arial"/>
              </a:defRPr>
            </a:lvl7pPr>
            <a:lvl8pPr>
              <a:defRPr sz="1650" b="1">
                <a:solidFill>
                  <a:srgbClr val="38BDF8"/>
                </a:solidFill>
                <a:latin typeface="Arial"/>
                <a:ea typeface="Arial"/>
                <a:cs typeface="Arial"/>
              </a:defRPr>
            </a:lvl8pPr>
            <a:lvl9pPr>
              <a:defRPr sz="1650" b="1">
                <a:solidFill>
                  <a:srgbClr val="38BDF8"/>
                </a:solidFill>
                <a:latin typeface="Arial"/>
                <a:ea typeface="Arial"/>
                <a:cs typeface="Arial"/>
              </a:defRPr>
            </a:lvl9pPr>
          </a:lstStyle>
          <a:p xmlns:a="http://schemas.openxmlformats.org/drawingml/2006/main">
            <a:pPr>
              <a:defRPr sz="1650" b="1">
                <a:solidFill>
                  <a:srgbClr val="38BDF8"/>
                </a:solidFill>
                <a:latin typeface="Arial"/>
                <a:ea typeface="Arial"/>
                <a:cs typeface="Arial"/>
              </a:defRPr>
            </a:pPr>
            <a:r>
              <a:rPr sz="1650" b="1">
                <a:solidFill>
                  <a:srgbClr val="38BDF8"/>
                </a:solidFill>
                <a:latin typeface="Arial"/>
                <a:ea typeface="Arial"/>
                <a:cs typeface="Arial"/>
              </a:rPr>
              <a:t>Hiệu Năng Vận Hành</a:t>
            </a:r>
          </a:p>
        </p:txBody>
      </p:sp>
      <p:sp>
        <p:nvSpPr>
          <p:cNvPr id="7" name="">
            <a:extLst xmlns:a="http://schemas.openxmlformats.org/drawingml/2006/main">
              <a:ext uri="{FF2B5EF4-FFF2-40B4-BE49-F238E27FC236}">
                <a16:creationId xmlns:a16="http://schemas.microsoft.com/office/drawing/2014/main" id="{43F51063-1295-40BA-BC5C-0C34F538A39C}"/>
              </a:ext>
            </a:extLst>
          </p:cNvPr>
          <p:cNvSpPr>
            <a:spLocks xmlns:a="http://schemas.openxmlformats.org/drawingml/2006/main" noGrp="1"/>
          </p:cNvSpPr>
          <p:nvPr/>
        </p:nvSpPr>
        <p:spPr>
          <a:xfrm xmlns:a="http://schemas.openxmlformats.org/drawingml/2006/main">
            <a:off x="857250" y="2143125"/>
            <a:ext cx="29337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F8FAFC"/>
                </a:solidFill>
                <a:latin typeface="Arial"/>
                <a:ea typeface="Arial"/>
                <a:cs typeface="Arial"/>
              </a:defRPr>
            </a:defPPr>
            <a:lvl1pPr>
              <a:defRPr sz="1200" b="0">
                <a:solidFill>
                  <a:srgbClr val="F8FAFC"/>
                </a:solidFill>
                <a:latin typeface="Arial"/>
                <a:ea typeface="Arial"/>
                <a:cs typeface="Arial"/>
              </a:defRPr>
            </a:lvl1pPr>
            <a:lvl2pPr>
              <a:defRPr sz="1200" b="0">
                <a:solidFill>
                  <a:srgbClr val="F8FAFC"/>
                </a:solidFill>
                <a:latin typeface="Arial"/>
                <a:ea typeface="Arial"/>
                <a:cs typeface="Arial"/>
              </a:defRPr>
            </a:lvl2pPr>
            <a:lvl3pPr>
              <a:defRPr sz="1200" b="0">
                <a:solidFill>
                  <a:srgbClr val="F8FAFC"/>
                </a:solidFill>
                <a:latin typeface="Arial"/>
                <a:ea typeface="Arial"/>
                <a:cs typeface="Arial"/>
              </a:defRPr>
            </a:lvl3pPr>
            <a:lvl4pPr>
              <a:defRPr sz="1200" b="0">
                <a:solidFill>
                  <a:srgbClr val="F8FAFC"/>
                </a:solidFill>
                <a:latin typeface="Arial"/>
                <a:ea typeface="Arial"/>
                <a:cs typeface="Arial"/>
              </a:defRPr>
            </a:lvl4pPr>
            <a:lvl5pPr>
              <a:defRPr sz="1200" b="0">
                <a:solidFill>
                  <a:srgbClr val="F8FAFC"/>
                </a:solidFill>
                <a:latin typeface="Arial"/>
                <a:ea typeface="Arial"/>
                <a:cs typeface="Arial"/>
              </a:defRPr>
            </a:lvl5pPr>
            <a:lvl6pPr>
              <a:defRPr sz="1200" b="0">
                <a:solidFill>
                  <a:srgbClr val="F8FAFC"/>
                </a:solidFill>
                <a:latin typeface="Arial"/>
                <a:ea typeface="Arial"/>
                <a:cs typeface="Arial"/>
              </a:defRPr>
            </a:lvl6pPr>
            <a:lvl7pPr>
              <a:defRPr sz="1200" b="0">
                <a:solidFill>
                  <a:srgbClr val="F8FAFC"/>
                </a:solidFill>
                <a:latin typeface="Arial"/>
                <a:ea typeface="Arial"/>
                <a:cs typeface="Arial"/>
              </a:defRPr>
            </a:lvl7pPr>
            <a:lvl8pPr>
              <a:defRPr sz="1200" b="0">
                <a:solidFill>
                  <a:srgbClr val="F8FAFC"/>
                </a:solidFill>
                <a:latin typeface="Arial"/>
                <a:ea typeface="Arial"/>
                <a:cs typeface="Arial"/>
              </a:defRPr>
            </a:lvl8pPr>
            <a:lvl9pPr>
              <a:defRPr sz="1200" b="0">
                <a:solidFill>
                  <a:srgbClr val="F8FAFC"/>
                </a:solidFill>
                <a:latin typeface="Arial"/>
                <a:ea typeface="Arial"/>
                <a:cs typeface="Arial"/>
              </a:defRPr>
            </a:lvl9pPr>
          </a:lstStyle>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Tốc độ khung hình:</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30 FPS mượt mà, ổn định nhờ luồng Multi-threaded Capture Worker riêng biệt.</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Độ trễ suy luận:</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~6ms trên CPU cho mạng CNN; tổng độ trễ pipeline chỉ ~20-30ms.</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Độ ổn định phần cứng:</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Tự động nhận diện &amp; khôi phục luồng video khi cắm/rút camera USB (auto-reconnect).</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Khử nhiễu giao diện:</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Đã triệt tiêu 100% khung vàng rác bằng bộ lọc diện tích &amp; YuNet detector.</a:t>
            </a:r>
          </a:p>
        </p:txBody>
      </p:sp>
      <p:sp>
        <p:nvSpPr>
          <p:cNvPr id="8" name="">
            <a:extLst xmlns:a="http://schemas.openxmlformats.org/drawingml/2006/main">
              <a:ext uri="{FF2B5EF4-FFF2-40B4-BE49-F238E27FC236}">
                <a16:creationId xmlns:a16="http://schemas.microsoft.com/office/drawing/2014/main" id="{7A271EEA-29F7-463B-8F25-A1D908F7D01C}"/>
              </a:ext>
            </a:extLst>
          </p:cNvPr>
          <p:cNvSpPr>
            <a:spLocks xmlns:a="http://schemas.openxmlformats.org/drawingml/2006/main" noGrp="1"/>
          </p:cNvSpPr>
          <p:nvPr/>
        </p:nvSpPr>
        <p:spPr>
          <a:xfrm xmlns:a="http://schemas.openxmlformats.org/drawingml/2006/main">
            <a:off x="4381500" y="1428750"/>
            <a:ext cx="3429000" cy="4667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9" name="">
            <a:extLst xmlns:a="http://schemas.openxmlformats.org/drawingml/2006/main">
              <a:ext uri="{FF2B5EF4-FFF2-40B4-BE49-F238E27FC236}">
                <a16:creationId xmlns:a16="http://schemas.microsoft.com/office/drawing/2014/main" id="{28DE197C-AA0C-49AA-9E63-FBC7D6B276FC}"/>
              </a:ext>
            </a:extLst>
          </p:cNvPr>
          <p:cNvSpPr>
            <a:spLocks xmlns:a="http://schemas.openxmlformats.org/drawingml/2006/main" noGrp="1"/>
          </p:cNvSpPr>
          <p:nvPr/>
        </p:nvSpPr>
        <p:spPr>
          <a:xfrm xmlns:a="http://schemas.openxmlformats.org/drawingml/2006/main">
            <a:off x="4629150" y="1666875"/>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34D399"/>
                </a:solidFill>
                <a:latin typeface="Arial"/>
                <a:ea typeface="Arial"/>
                <a:cs typeface="Arial"/>
              </a:defRPr>
            </a:defPPr>
            <a:lvl1pPr>
              <a:defRPr sz="1650" b="1">
                <a:solidFill>
                  <a:srgbClr val="34D399"/>
                </a:solidFill>
                <a:latin typeface="Arial"/>
                <a:ea typeface="Arial"/>
                <a:cs typeface="Arial"/>
              </a:defRPr>
            </a:lvl1pPr>
            <a:lvl2pPr>
              <a:defRPr sz="1650" b="1">
                <a:solidFill>
                  <a:srgbClr val="34D399"/>
                </a:solidFill>
                <a:latin typeface="Arial"/>
                <a:ea typeface="Arial"/>
                <a:cs typeface="Arial"/>
              </a:defRPr>
            </a:lvl2pPr>
            <a:lvl3pPr>
              <a:defRPr sz="1650" b="1">
                <a:solidFill>
                  <a:srgbClr val="34D399"/>
                </a:solidFill>
                <a:latin typeface="Arial"/>
                <a:ea typeface="Arial"/>
                <a:cs typeface="Arial"/>
              </a:defRPr>
            </a:lvl3pPr>
            <a:lvl4pPr>
              <a:defRPr sz="1650" b="1">
                <a:solidFill>
                  <a:srgbClr val="34D399"/>
                </a:solidFill>
                <a:latin typeface="Arial"/>
                <a:ea typeface="Arial"/>
                <a:cs typeface="Arial"/>
              </a:defRPr>
            </a:lvl4pPr>
            <a:lvl5pPr>
              <a:defRPr sz="1650" b="1">
                <a:solidFill>
                  <a:srgbClr val="34D399"/>
                </a:solidFill>
                <a:latin typeface="Arial"/>
                <a:ea typeface="Arial"/>
                <a:cs typeface="Arial"/>
              </a:defRPr>
            </a:lvl5pPr>
            <a:lvl6pPr>
              <a:defRPr sz="1650" b="1">
                <a:solidFill>
                  <a:srgbClr val="34D399"/>
                </a:solidFill>
                <a:latin typeface="Arial"/>
                <a:ea typeface="Arial"/>
                <a:cs typeface="Arial"/>
              </a:defRPr>
            </a:lvl6pPr>
            <a:lvl7pPr>
              <a:defRPr sz="1650" b="1">
                <a:solidFill>
                  <a:srgbClr val="34D399"/>
                </a:solidFill>
                <a:latin typeface="Arial"/>
                <a:ea typeface="Arial"/>
                <a:cs typeface="Arial"/>
              </a:defRPr>
            </a:lvl7pPr>
            <a:lvl8pPr>
              <a:defRPr sz="1650" b="1">
                <a:solidFill>
                  <a:srgbClr val="34D399"/>
                </a:solidFill>
                <a:latin typeface="Arial"/>
                <a:ea typeface="Arial"/>
                <a:cs typeface="Arial"/>
              </a:defRPr>
            </a:lvl8pPr>
            <a:lvl9pPr>
              <a:defRPr sz="1650" b="1">
                <a:solidFill>
                  <a:srgbClr val="34D399"/>
                </a:solidFill>
                <a:latin typeface="Arial"/>
                <a:ea typeface="Arial"/>
                <a:cs typeface="Arial"/>
              </a:defRPr>
            </a:lvl9pPr>
          </a:lstStyle>
          <a:p xmlns:a="http://schemas.openxmlformats.org/drawingml/2006/main">
            <a:pPr>
              <a:defRPr sz="1650" b="1">
                <a:solidFill>
                  <a:srgbClr val="34D399"/>
                </a:solidFill>
                <a:latin typeface="Arial"/>
                <a:ea typeface="Arial"/>
                <a:cs typeface="Arial"/>
              </a:defRPr>
            </a:pPr>
            <a:r>
              <a:rPr sz="1650" b="1">
                <a:solidFill>
                  <a:srgbClr val="34D399"/>
                </a:solidFill>
                <a:latin typeface="Arial"/>
                <a:ea typeface="Arial"/>
                <a:cs typeface="Arial"/>
              </a:rPr>
              <a:t>Điều Kiện Tối Ưu</a:t>
            </a:r>
          </a:p>
        </p:txBody>
      </p:sp>
      <p:sp>
        <p:nvSpPr>
          <p:cNvPr id="10" name="">
            <a:extLst xmlns:a="http://schemas.openxmlformats.org/drawingml/2006/main">
              <a:ext uri="{FF2B5EF4-FFF2-40B4-BE49-F238E27FC236}">
                <a16:creationId xmlns:a16="http://schemas.microsoft.com/office/drawing/2014/main" id="{FA7BA7C9-DF8E-498B-9208-1BB200A43D6B}"/>
              </a:ext>
            </a:extLst>
          </p:cNvPr>
          <p:cNvSpPr>
            <a:spLocks xmlns:a="http://schemas.openxmlformats.org/drawingml/2006/main" noGrp="1"/>
          </p:cNvSpPr>
          <p:nvPr/>
        </p:nvSpPr>
        <p:spPr>
          <a:xfrm xmlns:a="http://schemas.openxmlformats.org/drawingml/2006/main">
            <a:off x="4629150" y="2143125"/>
            <a:ext cx="29337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F8FAFC"/>
                </a:solidFill>
                <a:latin typeface="Arial"/>
                <a:ea typeface="Arial"/>
                <a:cs typeface="Arial"/>
              </a:defRPr>
            </a:defPPr>
            <a:lvl1pPr>
              <a:defRPr sz="1200" b="0">
                <a:solidFill>
                  <a:srgbClr val="F8FAFC"/>
                </a:solidFill>
                <a:latin typeface="Arial"/>
                <a:ea typeface="Arial"/>
                <a:cs typeface="Arial"/>
              </a:defRPr>
            </a:lvl1pPr>
            <a:lvl2pPr>
              <a:defRPr sz="1200" b="0">
                <a:solidFill>
                  <a:srgbClr val="F8FAFC"/>
                </a:solidFill>
                <a:latin typeface="Arial"/>
                <a:ea typeface="Arial"/>
                <a:cs typeface="Arial"/>
              </a:defRPr>
            </a:lvl2pPr>
            <a:lvl3pPr>
              <a:defRPr sz="1200" b="0">
                <a:solidFill>
                  <a:srgbClr val="F8FAFC"/>
                </a:solidFill>
                <a:latin typeface="Arial"/>
                <a:ea typeface="Arial"/>
                <a:cs typeface="Arial"/>
              </a:defRPr>
            </a:lvl3pPr>
            <a:lvl4pPr>
              <a:defRPr sz="1200" b="0">
                <a:solidFill>
                  <a:srgbClr val="F8FAFC"/>
                </a:solidFill>
                <a:latin typeface="Arial"/>
                <a:ea typeface="Arial"/>
                <a:cs typeface="Arial"/>
              </a:defRPr>
            </a:lvl4pPr>
            <a:lvl5pPr>
              <a:defRPr sz="1200" b="0">
                <a:solidFill>
                  <a:srgbClr val="F8FAFC"/>
                </a:solidFill>
                <a:latin typeface="Arial"/>
                <a:ea typeface="Arial"/>
                <a:cs typeface="Arial"/>
              </a:defRPr>
            </a:lvl5pPr>
            <a:lvl6pPr>
              <a:defRPr sz="1200" b="0">
                <a:solidFill>
                  <a:srgbClr val="F8FAFC"/>
                </a:solidFill>
                <a:latin typeface="Arial"/>
                <a:ea typeface="Arial"/>
                <a:cs typeface="Arial"/>
              </a:defRPr>
            </a:lvl6pPr>
            <a:lvl7pPr>
              <a:defRPr sz="1200" b="0">
                <a:solidFill>
                  <a:srgbClr val="F8FAFC"/>
                </a:solidFill>
                <a:latin typeface="Arial"/>
                <a:ea typeface="Arial"/>
                <a:cs typeface="Arial"/>
              </a:defRPr>
            </a:lvl7pPr>
            <a:lvl8pPr>
              <a:defRPr sz="1200" b="0">
                <a:solidFill>
                  <a:srgbClr val="F8FAFC"/>
                </a:solidFill>
                <a:latin typeface="Arial"/>
                <a:ea typeface="Arial"/>
                <a:cs typeface="Arial"/>
              </a:defRPr>
            </a:lvl8pPr>
            <a:lvl9pPr>
              <a:defRPr sz="1200" b="0">
                <a:solidFill>
                  <a:srgbClr val="F8FAFC"/>
                </a:solidFill>
                <a:latin typeface="Arial"/>
                <a:ea typeface="Arial"/>
                <a:cs typeface="Arial"/>
              </a:defRPr>
            </a:lvl9pPr>
          </a:lstStyle>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Góc mặt khuyến nghị:</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Góc chính diện hoặc nghiêng nhẹ trong khoảng ±30° (Yaw / Pitch).</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Khoảng cách camera:</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Từ 40 cm đến 120 cm (kích thước khuôn mặt đạt tối thiểu 80×80 pixel).</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Điều kiện ánh sáng:</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Ánh sáng phòng tiêu chuẩn từ 150 lux đến 800 lux, tránh ngược sáng gắt.</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Loại tấn công chống tốt:</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Tái phát video qua màn hình điện thoại, iPad, laptop, màn hình máy tính.</a:t>
            </a:r>
          </a:p>
        </p:txBody>
      </p:sp>
      <p:sp>
        <p:nvSpPr>
          <p:cNvPr id="11" name="">
            <a:extLst xmlns:a="http://schemas.openxmlformats.org/drawingml/2006/main">
              <a:ext uri="{FF2B5EF4-FFF2-40B4-BE49-F238E27FC236}">
                <a16:creationId xmlns:a16="http://schemas.microsoft.com/office/drawing/2014/main" id="{F5E466F8-68D0-4017-A0D4-DD2B08270E27}"/>
              </a:ext>
            </a:extLst>
          </p:cNvPr>
          <p:cNvSpPr>
            <a:spLocks xmlns:a="http://schemas.openxmlformats.org/drawingml/2006/main" noGrp="1"/>
          </p:cNvSpPr>
          <p:nvPr/>
        </p:nvSpPr>
        <p:spPr>
          <a:xfrm xmlns:a="http://schemas.openxmlformats.org/drawingml/2006/main">
            <a:off x="8153400" y="1428750"/>
            <a:ext cx="3429000" cy="4667250"/>
          </a:xfrm>
          <a:prstGeom xmlns:a="http://schemas.openxmlformats.org/drawingml/2006/main" prst="rect">
            <a:avLst/>
          </a:prstGeom>
          <a:solidFill xmlns:a="http://schemas.openxmlformats.org/drawingml/2006/main">
            <a:srgbClr val="152238"/>
          </a:solidFill>
          <a:ln xmlns:a="http://schemas.openxmlformats.org/drawingml/2006/main" w="9525">
            <a:solidFill>
              <a:srgbClr val="263954"/>
            </a:solidFill>
          </a:ln>
        </p:spPr>
        <p:txBody>
          <a:bodyPr xmlns:a="http://schemas.openxmlformats.org/drawingml/2006/main">
            <a:noAutofit/>
          </a:bodyPr>
          <a:lstStyle xmlns:a="http://schemas.openxmlformats.org/drawingml/2006/main">
            <a:defPPr>
              <a:defRPr sz="750">
                <a:solidFill>
                  <a:srgbClr val="152238"/>
                </a:solidFill>
                <a:latin typeface="Arial"/>
                <a:ea typeface="Arial"/>
                <a:cs typeface="Arial"/>
              </a:defRPr>
            </a:defPPr>
            <a:lvl1pPr>
              <a:defRPr sz="750">
                <a:solidFill>
                  <a:srgbClr val="152238"/>
                </a:solidFill>
                <a:latin typeface="Arial"/>
                <a:ea typeface="Arial"/>
                <a:cs typeface="Arial"/>
              </a:defRPr>
            </a:lvl1pPr>
            <a:lvl2pPr>
              <a:defRPr sz="750">
                <a:solidFill>
                  <a:srgbClr val="152238"/>
                </a:solidFill>
                <a:latin typeface="Arial"/>
                <a:ea typeface="Arial"/>
                <a:cs typeface="Arial"/>
              </a:defRPr>
            </a:lvl2pPr>
            <a:lvl3pPr>
              <a:defRPr sz="750">
                <a:solidFill>
                  <a:srgbClr val="152238"/>
                </a:solidFill>
                <a:latin typeface="Arial"/>
                <a:ea typeface="Arial"/>
                <a:cs typeface="Arial"/>
              </a:defRPr>
            </a:lvl3pPr>
            <a:lvl4pPr>
              <a:defRPr sz="750">
                <a:solidFill>
                  <a:srgbClr val="152238"/>
                </a:solidFill>
                <a:latin typeface="Arial"/>
                <a:ea typeface="Arial"/>
                <a:cs typeface="Arial"/>
              </a:defRPr>
            </a:lvl4pPr>
            <a:lvl5pPr>
              <a:defRPr sz="750">
                <a:solidFill>
                  <a:srgbClr val="152238"/>
                </a:solidFill>
                <a:latin typeface="Arial"/>
                <a:ea typeface="Arial"/>
                <a:cs typeface="Arial"/>
              </a:defRPr>
            </a:lvl5pPr>
            <a:lvl6pPr>
              <a:defRPr sz="750">
                <a:solidFill>
                  <a:srgbClr val="152238"/>
                </a:solidFill>
                <a:latin typeface="Arial"/>
                <a:ea typeface="Arial"/>
                <a:cs typeface="Arial"/>
              </a:defRPr>
            </a:lvl6pPr>
            <a:lvl7pPr>
              <a:defRPr sz="750">
                <a:solidFill>
                  <a:srgbClr val="152238"/>
                </a:solidFill>
                <a:latin typeface="Arial"/>
                <a:ea typeface="Arial"/>
                <a:cs typeface="Arial"/>
              </a:defRPr>
            </a:lvl7pPr>
            <a:lvl8pPr>
              <a:defRPr sz="750">
                <a:solidFill>
                  <a:srgbClr val="152238"/>
                </a:solidFill>
                <a:latin typeface="Arial"/>
                <a:ea typeface="Arial"/>
                <a:cs typeface="Arial"/>
              </a:defRPr>
            </a:lvl8pPr>
            <a:lvl9pPr>
              <a:defRPr sz="750">
                <a:solidFill>
                  <a:srgbClr val="152238"/>
                </a:solidFill>
                <a:latin typeface="Arial"/>
                <a:ea typeface="Arial"/>
                <a:cs typeface="Arial"/>
              </a:defRPr>
            </a:lvl9pPr>
          </a:lstStyle>
          <a:p xmlns:a="http://schemas.openxmlformats.org/drawingml/2006/main">
            <a:pPr>
              <a:defRPr sz="750">
                <a:solidFill>
                  <a:srgbClr val="152238"/>
                </a:solidFill>
                <a:latin typeface="Arial"/>
                <a:ea typeface="Arial"/>
                <a:cs typeface="Arial"/>
              </a:defRPr>
            </a:pPr>
            <a:r>
              <a:rPr sz="750">
                <a:solidFill>
                  <a:srgbClr val="152238"/>
                </a:solidFill>
                <a:latin typeface="Arial"/>
                <a:ea typeface="Arial"/>
                <a:cs typeface="Arial"/>
              </a:rPr>
              <a:t> </a:t>
            </a:r>
          </a:p>
        </p:txBody>
      </p:sp>
      <p:sp>
        <p:nvSpPr>
          <p:cNvPr id="12" name="">
            <a:extLst xmlns:a="http://schemas.openxmlformats.org/drawingml/2006/main">
              <a:ext uri="{FF2B5EF4-FFF2-40B4-BE49-F238E27FC236}">
                <a16:creationId xmlns:a16="http://schemas.microsoft.com/office/drawing/2014/main" id="{327EAC18-AF96-4992-BD47-BE522D946BE9}"/>
              </a:ext>
            </a:extLst>
          </p:cNvPr>
          <p:cNvSpPr>
            <a:spLocks xmlns:a="http://schemas.openxmlformats.org/drawingml/2006/main" noGrp="1"/>
          </p:cNvSpPr>
          <p:nvPr/>
        </p:nvSpPr>
        <p:spPr>
          <a:xfrm xmlns:a="http://schemas.openxmlformats.org/drawingml/2006/main">
            <a:off x="8401050" y="1666875"/>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FBBF24"/>
                </a:solidFill>
                <a:latin typeface="Arial"/>
                <a:ea typeface="Arial"/>
                <a:cs typeface="Arial"/>
              </a:defRPr>
            </a:defPPr>
            <a:lvl1pPr>
              <a:defRPr sz="1650" b="1">
                <a:solidFill>
                  <a:srgbClr val="FBBF24"/>
                </a:solidFill>
                <a:latin typeface="Arial"/>
                <a:ea typeface="Arial"/>
                <a:cs typeface="Arial"/>
              </a:defRPr>
            </a:lvl1pPr>
            <a:lvl2pPr>
              <a:defRPr sz="1650" b="1">
                <a:solidFill>
                  <a:srgbClr val="FBBF24"/>
                </a:solidFill>
                <a:latin typeface="Arial"/>
                <a:ea typeface="Arial"/>
                <a:cs typeface="Arial"/>
              </a:defRPr>
            </a:lvl2pPr>
            <a:lvl3pPr>
              <a:defRPr sz="1650" b="1">
                <a:solidFill>
                  <a:srgbClr val="FBBF24"/>
                </a:solidFill>
                <a:latin typeface="Arial"/>
                <a:ea typeface="Arial"/>
                <a:cs typeface="Arial"/>
              </a:defRPr>
            </a:lvl3pPr>
            <a:lvl4pPr>
              <a:defRPr sz="1650" b="1">
                <a:solidFill>
                  <a:srgbClr val="FBBF24"/>
                </a:solidFill>
                <a:latin typeface="Arial"/>
                <a:ea typeface="Arial"/>
                <a:cs typeface="Arial"/>
              </a:defRPr>
            </a:lvl4pPr>
            <a:lvl5pPr>
              <a:defRPr sz="1650" b="1">
                <a:solidFill>
                  <a:srgbClr val="FBBF24"/>
                </a:solidFill>
                <a:latin typeface="Arial"/>
                <a:ea typeface="Arial"/>
                <a:cs typeface="Arial"/>
              </a:defRPr>
            </a:lvl5pPr>
            <a:lvl6pPr>
              <a:defRPr sz="1650" b="1">
                <a:solidFill>
                  <a:srgbClr val="FBBF24"/>
                </a:solidFill>
                <a:latin typeface="Arial"/>
                <a:ea typeface="Arial"/>
                <a:cs typeface="Arial"/>
              </a:defRPr>
            </a:lvl6pPr>
            <a:lvl7pPr>
              <a:defRPr sz="1650" b="1">
                <a:solidFill>
                  <a:srgbClr val="FBBF24"/>
                </a:solidFill>
                <a:latin typeface="Arial"/>
                <a:ea typeface="Arial"/>
                <a:cs typeface="Arial"/>
              </a:defRPr>
            </a:lvl7pPr>
            <a:lvl8pPr>
              <a:defRPr sz="1650" b="1">
                <a:solidFill>
                  <a:srgbClr val="FBBF24"/>
                </a:solidFill>
                <a:latin typeface="Arial"/>
                <a:ea typeface="Arial"/>
                <a:cs typeface="Arial"/>
              </a:defRPr>
            </a:lvl8pPr>
            <a:lvl9pPr>
              <a:defRPr sz="1650" b="1">
                <a:solidFill>
                  <a:srgbClr val="FBBF24"/>
                </a:solidFill>
                <a:latin typeface="Arial"/>
                <a:ea typeface="Arial"/>
                <a:cs typeface="Arial"/>
              </a:defRPr>
            </a:lvl9pPr>
          </a:lstStyle>
          <a:p xmlns:a="http://schemas.openxmlformats.org/drawingml/2006/main">
            <a:pPr>
              <a:defRPr sz="1650" b="1">
                <a:solidFill>
                  <a:srgbClr val="FBBF24"/>
                </a:solidFill>
                <a:latin typeface="Arial"/>
                <a:ea typeface="Arial"/>
                <a:cs typeface="Arial"/>
              </a:defRPr>
            </a:pPr>
            <a:r>
              <a:rPr sz="1650" b="1">
                <a:solidFill>
                  <a:srgbClr val="FBBF24"/>
                </a:solidFill>
                <a:latin typeface="Arial"/>
                <a:ea typeface="Arial"/>
                <a:cs typeface="Arial"/>
              </a:rPr>
              <a:t>Ranh Giới &amp; Khuyến Nghị</a:t>
            </a:r>
          </a:p>
        </p:txBody>
      </p:sp>
      <p:sp>
        <p:nvSpPr>
          <p:cNvPr id="13" name="">
            <a:extLst xmlns:a="http://schemas.openxmlformats.org/drawingml/2006/main">
              <a:ext uri="{FF2B5EF4-FFF2-40B4-BE49-F238E27FC236}">
                <a16:creationId xmlns:a16="http://schemas.microsoft.com/office/drawing/2014/main" id="{1A026FBF-CC35-412F-9693-ECDC2D67F831}"/>
              </a:ext>
            </a:extLst>
          </p:cNvPr>
          <p:cNvSpPr>
            <a:spLocks xmlns:a="http://schemas.openxmlformats.org/drawingml/2006/main" noGrp="1"/>
          </p:cNvSpPr>
          <p:nvPr/>
        </p:nvSpPr>
        <p:spPr>
          <a:xfrm xmlns:a="http://schemas.openxmlformats.org/drawingml/2006/main">
            <a:off x="8401050" y="2143125"/>
            <a:ext cx="29337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F8FAFC"/>
                </a:solidFill>
                <a:latin typeface="Arial"/>
                <a:ea typeface="Arial"/>
                <a:cs typeface="Arial"/>
              </a:defRPr>
            </a:defPPr>
            <a:lvl1pPr>
              <a:defRPr sz="1200" b="0">
                <a:solidFill>
                  <a:srgbClr val="F8FAFC"/>
                </a:solidFill>
                <a:latin typeface="Arial"/>
                <a:ea typeface="Arial"/>
                <a:cs typeface="Arial"/>
              </a:defRPr>
            </a:lvl1pPr>
            <a:lvl2pPr>
              <a:defRPr sz="1200" b="0">
                <a:solidFill>
                  <a:srgbClr val="F8FAFC"/>
                </a:solidFill>
                <a:latin typeface="Arial"/>
                <a:ea typeface="Arial"/>
                <a:cs typeface="Arial"/>
              </a:defRPr>
            </a:lvl2pPr>
            <a:lvl3pPr>
              <a:defRPr sz="1200" b="0">
                <a:solidFill>
                  <a:srgbClr val="F8FAFC"/>
                </a:solidFill>
                <a:latin typeface="Arial"/>
                <a:ea typeface="Arial"/>
                <a:cs typeface="Arial"/>
              </a:defRPr>
            </a:lvl3pPr>
            <a:lvl4pPr>
              <a:defRPr sz="1200" b="0">
                <a:solidFill>
                  <a:srgbClr val="F8FAFC"/>
                </a:solidFill>
                <a:latin typeface="Arial"/>
                <a:ea typeface="Arial"/>
                <a:cs typeface="Arial"/>
              </a:defRPr>
            </a:lvl4pPr>
            <a:lvl5pPr>
              <a:defRPr sz="1200" b="0">
                <a:solidFill>
                  <a:srgbClr val="F8FAFC"/>
                </a:solidFill>
                <a:latin typeface="Arial"/>
                <a:ea typeface="Arial"/>
                <a:cs typeface="Arial"/>
              </a:defRPr>
            </a:lvl5pPr>
            <a:lvl6pPr>
              <a:defRPr sz="1200" b="0">
                <a:solidFill>
                  <a:srgbClr val="F8FAFC"/>
                </a:solidFill>
                <a:latin typeface="Arial"/>
                <a:ea typeface="Arial"/>
                <a:cs typeface="Arial"/>
              </a:defRPr>
            </a:lvl6pPr>
            <a:lvl7pPr>
              <a:defRPr sz="1200" b="0">
                <a:solidFill>
                  <a:srgbClr val="F8FAFC"/>
                </a:solidFill>
                <a:latin typeface="Arial"/>
                <a:ea typeface="Arial"/>
                <a:cs typeface="Arial"/>
              </a:defRPr>
            </a:lvl7pPr>
            <a:lvl8pPr>
              <a:defRPr sz="1200" b="0">
                <a:solidFill>
                  <a:srgbClr val="F8FAFC"/>
                </a:solidFill>
                <a:latin typeface="Arial"/>
                <a:ea typeface="Arial"/>
                <a:cs typeface="Arial"/>
              </a:defRPr>
            </a:lvl8pPr>
            <a:lvl9pPr>
              <a:defRPr sz="1200" b="0">
                <a:solidFill>
                  <a:srgbClr val="F8FAFC"/>
                </a:solidFill>
                <a:latin typeface="Arial"/>
                <a:ea typeface="Arial"/>
                <a:cs typeface="Arial"/>
              </a:defRPr>
            </a:lvl9pPr>
          </a:lstStyle>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Ranh giới cần lưu ý:</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Ảnh in giấy chất lượng thấp hoặc góc quay quá nghiêng (&gt;60°) có thể bị giảm độ tin cậy.</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Tách biệt dữ liệu:</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Model hiện tại được tinh chỉnh chuyên sâu cho Camera USB SC-M200; nếu đổi loại camera khác nên finetune thêm.</a:t>
            </a:r>
          </a:p>
          <a:p xmlns:a="http://schemas.openxmlformats.org/drawingml/2006/main">
            <a:r>
              <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Hướng nâng cấp đề xuất:</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1. Tích hợp kiểm tra cử động tự nhiên (chớp mắt, mỉm cười).</a:t>
            </a:r>
          </a:p>
          <a:p xmlns:a="http://schemas.openxmlformats.org/drawingml/2006/main">
            <a:pPr>
              <a:defRPr sz="1200" b="0">
                <a:solidFill>
                  <a:srgbClr val="F8FAFC"/>
                </a:solidFill>
                <a:latin typeface="Arial"/>
                <a:ea typeface="Arial"/>
                <a:cs typeface="Arial"/>
              </a:defRPr>
            </a:pPr>
            <a:r>
              <a:rPr sz="1200" b="0">
                <a:solidFill>
                  <a:srgbClr val="F8FAFC"/>
                </a:solidFill>
                <a:latin typeface="Arial"/>
                <a:ea typeface="Arial"/>
                <a:cs typeface="Arial"/>
              </a:rPr>
              <a:t>  2. Bổ sung camera cảm biến hồng ngoại (IR) hoặc cảm biến chiều sâu (Depth).</a:t>
            </a:r>
          </a:p>
        </p:txBody>
      </p:sp>
    </p:spTree>
    <p:extLst>
      <p:ext uri="{BB962C8B-B14F-4D97-AF65-F5344CB8AC3E}">
        <p14:creationId xmlns:p14="http://schemas.microsoft.com/office/powerpoint/2010/main" val="1050547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2026-10-20T13:59:52.9910000Z</dcterms:created>
  <dcterms:modified xsi:type="dcterms:W3CDTF">2026-10-20T13:59:52.9910000Z</dcterms:modified>
</coreProperties>
</file>