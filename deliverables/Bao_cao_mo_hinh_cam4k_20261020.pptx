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a634c060d34fcf" /><Relationship Type="http://schemas.openxmlformats.org/officeDocument/2006/relationships/extended-properties" Target="/docProps/app.xml" Id="Rbcbef816862a494c" /><Relationship Type="http://schemas.openxmlformats.org/officeDocument/2006/relationships/officeDocument" Target="/ppt/presentation.xml" Id="Reaa13656fbb44706" /></Relationships>
</file>

<file path=ppt/presentation.xml><?xml version="1.0" encoding="utf-8"?>
<p:presentation xmlns:p="http://schemas.openxmlformats.org/presentationml/2006/main">
  <p:sldMasterIdLst>
    <p:sldMasterId xmlns:r="http://schemas.openxmlformats.org/officeDocument/2006/relationships" id="2147483648" r:id="Rc7269ea8ac97453b"/>
  </p:sldMasterIdLst>
  <p:notesMasterIdLst>
    <p:notesMasterId xmlns:r="http://schemas.openxmlformats.org/officeDocument/2006/relationships" r:id="R4c16d4e215d14144"/>
  </p:notesMasterIdLst>
  <p:sldIdLst>
    <p:sldId xmlns:r="http://schemas.openxmlformats.org/officeDocument/2006/relationships" id="256" r:id="R5113aee43d4f4a71"/>
    <p:sldId xmlns:r="http://schemas.openxmlformats.org/officeDocument/2006/relationships" id="257" r:id="R299008f6975c4964"/>
    <p:sldId xmlns:r="http://schemas.openxmlformats.org/officeDocument/2006/relationships" id="258" r:id="Ra35eb8e84d3945ff"/>
    <p:sldId xmlns:r="http://schemas.openxmlformats.org/officeDocument/2006/relationships" id="259" r:id="R499ff2185dc14252"/>
    <p:sldId xmlns:r="http://schemas.openxmlformats.org/officeDocument/2006/relationships" id="260" r:id="Rc8f01293749a448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cfbce33627494f" /><Relationship Type="http://schemas.openxmlformats.org/officeDocument/2006/relationships/slideMaster" Target="/ppt/slideMasters/slideMaster1.xml" Id="Rc7269ea8ac97453b" /><Relationship Type="http://schemas.openxmlformats.org/officeDocument/2006/relationships/notesMaster" Target="/ppt/notesMasters/notesMaster1.xml" Id="R4c16d4e215d14144" /><Relationship Type="http://schemas.openxmlformats.org/officeDocument/2006/relationships/presProps" Target="/ppt/presProps.xml" Id="Rad9c7c0442734e02" /><Relationship Type="http://schemas.openxmlformats.org/officeDocument/2006/relationships/tableStyles" Target="/ppt/tableStyles.xml" Id="R7c415b37b5cb4369" /><Relationship Type="http://schemas.openxmlformats.org/officeDocument/2006/relationships/slide" Target="/ppt/slides/slide1.xml" Id="R5113aee43d4f4a71" /><Relationship Type="http://schemas.openxmlformats.org/officeDocument/2006/relationships/slide" Target="/ppt/slides/slide2.xml" Id="R299008f6975c4964" /><Relationship Type="http://schemas.openxmlformats.org/officeDocument/2006/relationships/slide" Target="/ppt/slides/slide3.xml" Id="Ra35eb8e84d3945ff" /><Relationship Type="http://schemas.openxmlformats.org/officeDocument/2006/relationships/slide" Target="/ppt/slides/slide4.xml" Id="R499ff2185dc14252" /><Relationship Type="http://schemas.openxmlformats.org/officeDocument/2006/relationships/slide" Target="/ppt/slides/slide5.xml" Id="Rc8f01293749a44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26b4966d7d741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9887cd48f94ed0" /><Relationship Type="http://schemas.openxmlformats.org/officeDocument/2006/relationships/notesMaster" Target="/ppt/notesMasters/notesMaster1.xml" Id="R0cad6378f0b040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621ef9a6c44042" /><Relationship Type="http://schemas.openxmlformats.org/officeDocument/2006/relationships/notesMaster" Target="/ppt/notesMasters/notesMaster1.xml" Id="R3e796acfccd84f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5fc8bfd1ed44e6" /><Relationship Type="http://schemas.openxmlformats.org/officeDocument/2006/relationships/notesMaster" Target="/ppt/notesMasters/notesMaster1.xml" Id="R0f7aaa80e06d4c7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c098c3080f4db5" /><Relationship Type="http://schemas.openxmlformats.org/officeDocument/2006/relationships/notesMaster" Target="/ppt/notesMasters/notesMaster1.xml" Id="R1b80d94fd5e24a3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b7500911fe4f24" /><Relationship Type="http://schemas.openxmlformats.org/officeDocument/2006/relationships/notesMaster" Target="/ppt/notesMasters/notesMaster1.xml" Id="R96e687a548a148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tổng quan toàn diện dự án với 3 trụ cột: Huấn luyện tối ưu không overfit (Epoch 14), Kiểm định độc lập người mới đạt 98.09% (14/14 video đúng 100%), và Vận hành thời gian thực 30 FPS mượt mà.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phân tích động học: Train loss đạt 0.0922, Val loss 0.0941, chênh lệch 0.0019 chứng minh mô hình hoàn toàn không overfit. Checkpoint tại epoch 14 được lưu trữ làm bản chính thức.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trình bày chi tiết kiểm định trên tập Test 4.811 ảnh. Người trong tập test hoàn toàn mới. Recall Real đạt 99.88% (chỉ nhầm 3 ảnh). Precision Fake đạt 99.87% giúp chặn đứng gian lận.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trình bày bảng 14 video test với kết quả 14/14 đạt 100%. Validation đạt 98.88%. Thử nghiệm camera ngoài đạt 99.84% chứng minh khả năng tổng quát hóa cross-camera vượt trội.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tổng kết các chỉ số vận hành thực tế: tốc độ 30 FPS, độ trễ 6ms, tự động kết nối lại camera USB. Nêu rõ điều kiện hoạt động tối ưu cũng như các ranh giới thực tế và đề xuất nâng cấp tiếp theo.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a1c673e68e45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7343cab18b8491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19a19332072488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114e264ddb2413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89331ffe24e461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ebabcf91e8547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08101B-110B-46C5-86F0-BB08B6DB06E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6902B27-DC29-4358-A54C-75041823D74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D72A606-82BF-4C87-BB03-AD8A498EB60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824460-1547-4266-A1DB-E1ACE857EA9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BF6F912-DF14-42AE-81FD-14A37491E0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EFB848E-CCFD-412A-BA42-0BAF1055A1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F041A0-9749-4501-9235-6A17DE96465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8630676-DDA7-4802-BFE3-8B32E5B1EAE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BF01DB-C9AC-4869-83E6-842AA2C5EF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279B79A-76F9-4BD7-B2BF-F665372A70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46749a88da4885" /><Relationship Type="http://schemas.openxmlformats.org/officeDocument/2006/relationships/slideLayout" Target="/ppt/slideLayouts/slideLayout1.xml" Id="R2d624849ef9d4137" /><Relationship Type="http://schemas.openxmlformats.org/officeDocument/2006/relationships/slideLayout" Target="/ppt/slideLayouts/slideLayout2.xml" Id="R652dc8d57eee4517" /><Relationship Type="http://schemas.openxmlformats.org/officeDocument/2006/relationships/slideLayout" Target="/ppt/slideLayouts/slideLayout3.xml" Id="R11c3119fd7c54efd" /><Relationship Type="http://schemas.openxmlformats.org/officeDocument/2006/relationships/slideLayout" Target="/ppt/slideLayouts/slideLayout4.xml" Id="Rcb1dd49faa854ddd" /><Relationship Type="http://schemas.openxmlformats.org/officeDocument/2006/relationships/slideLayout" Target="/ppt/slideLayouts/slideLayout5.xml" Id="Ref7d92a0a87940d5" /><Relationship Type="http://schemas.openxmlformats.org/officeDocument/2006/relationships/slideLayout" Target="/ppt/slideLayouts/slideLayout6.xml" Id="R225bdfae7366426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624849ef9d4137"/>
    <p:sldLayoutId xmlns:r="http://schemas.openxmlformats.org/officeDocument/2006/relationships" id="2147483650" r:id="R652dc8d57eee4517"/>
    <p:sldLayoutId xmlns:r="http://schemas.openxmlformats.org/officeDocument/2006/relationships" id="2147483651" r:id="R11c3119fd7c54efd"/>
    <p:sldLayoutId xmlns:r="http://schemas.openxmlformats.org/officeDocument/2006/relationships" id="2147483652" r:id="Rcb1dd49faa854ddd"/>
    <p:sldLayoutId xmlns:r="http://schemas.openxmlformats.org/officeDocument/2006/relationships" id="2147483653" r:id="Ref7d92a0a87940d5"/>
    <p:sldLayoutId xmlns:r="http://schemas.openxmlformats.org/officeDocument/2006/relationships" id="2147483654" r:id="R225bdfae7366426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e2209bad6854e67" /><Relationship Type="http://schemas.openxmlformats.org/officeDocument/2006/relationships/notesSlide" Target="/ppt/notesSlides/notesSlide1.xml" Id="R753781433c3f43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a7179e71356485a" /><Relationship Type="http://schemas.openxmlformats.org/officeDocument/2006/relationships/image" Target="/ppt/media/image.png" Id="R2def187b140247a9" /><Relationship Type="http://schemas.openxmlformats.org/officeDocument/2006/relationships/notesSlide" Target="/ppt/notesSlides/notesSlide2.xml" Id="Ra0ea6ffb74f34f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56d34ce79f14fc7" /><Relationship Type="http://schemas.openxmlformats.org/officeDocument/2006/relationships/notesSlide" Target="/ppt/notesSlides/notesSlide3.xml" Id="R882daf2c55f547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d66ced518654cb6" /><Relationship Type="http://schemas.openxmlformats.org/officeDocument/2006/relationships/notesSlide" Target="/ppt/notesSlides/notesSlide4.xml" Id="Ra9ef60f1c7ac41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944ce7c66c14b53" /><Relationship Type="http://schemas.openxmlformats.org/officeDocument/2006/relationships/notesSlide" Target="/ppt/notesSlides/notesSlide5.xml" Id="Re5292c70d4b04c34" /></Relationships>
</file>

<file path=ppt/slides/slide1.xml><?xml version="1.0" encoding="utf-8"?>
<p:sld xmlns:p="http://schemas.openxmlformats.org/presentationml/2006/main">
  <p:cSld>
    <p:bg>
      <p:bgPr>
        <a:solidFill xmlns:a="http://schemas.openxmlformats.org/drawingml/2006/main">
          <a:srgbClr val="0A0F1D"/>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1347D47-3BA7-40C9-ACA9-60259AF6ECF7}"/>
              </a:ext>
            </a:extLst>
          </p:cNvPr>
          <p:cNvSpPr>
            <a:spLocks xmlns:a="http://schemas.openxmlformats.org/drawingml/2006/main" noGrp="1"/>
          </p:cNvSpPr>
          <p:nvPr/>
        </p:nvSpPr>
        <p:spPr>
          <a:xfrm xmlns:a="http://schemas.openxmlformats.org/drawingml/2006/main">
            <a:off x="609600" y="4762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38BDF8"/>
                </a:solidFill>
                <a:latin typeface="Arial"/>
                <a:ea typeface="Arial"/>
                <a:cs typeface="Arial"/>
              </a:defRPr>
            </a:defPPr>
            <a:lvl1pPr>
              <a:defRPr sz="1200" b="1">
                <a:solidFill>
                  <a:srgbClr val="38BDF8"/>
                </a:solidFill>
                <a:latin typeface="Arial"/>
                <a:ea typeface="Arial"/>
                <a:cs typeface="Arial"/>
              </a:defRPr>
            </a:lvl1pPr>
            <a:lvl2pPr>
              <a:defRPr sz="1200" b="1">
                <a:solidFill>
                  <a:srgbClr val="38BDF8"/>
                </a:solidFill>
                <a:latin typeface="Arial"/>
                <a:ea typeface="Arial"/>
                <a:cs typeface="Arial"/>
              </a:defRPr>
            </a:lvl2pPr>
            <a:lvl3pPr>
              <a:defRPr sz="1200" b="1">
                <a:solidFill>
                  <a:srgbClr val="38BDF8"/>
                </a:solidFill>
                <a:latin typeface="Arial"/>
                <a:ea typeface="Arial"/>
                <a:cs typeface="Arial"/>
              </a:defRPr>
            </a:lvl3pPr>
            <a:lvl4pPr>
              <a:defRPr sz="1200" b="1">
                <a:solidFill>
                  <a:srgbClr val="38BDF8"/>
                </a:solidFill>
                <a:latin typeface="Arial"/>
                <a:ea typeface="Arial"/>
                <a:cs typeface="Arial"/>
              </a:defRPr>
            </a:lvl4pPr>
            <a:lvl5pPr>
              <a:defRPr sz="1200" b="1">
                <a:solidFill>
                  <a:srgbClr val="38BDF8"/>
                </a:solidFill>
                <a:latin typeface="Arial"/>
                <a:ea typeface="Arial"/>
                <a:cs typeface="Arial"/>
              </a:defRPr>
            </a:lvl5pPr>
            <a:lvl6pPr>
              <a:defRPr sz="1200" b="1">
                <a:solidFill>
                  <a:srgbClr val="38BDF8"/>
                </a:solidFill>
                <a:latin typeface="Arial"/>
                <a:ea typeface="Arial"/>
                <a:cs typeface="Arial"/>
              </a:defRPr>
            </a:lvl6pPr>
            <a:lvl7pPr>
              <a:defRPr sz="1200" b="1">
                <a:solidFill>
                  <a:srgbClr val="38BDF8"/>
                </a:solidFill>
                <a:latin typeface="Arial"/>
                <a:ea typeface="Arial"/>
                <a:cs typeface="Arial"/>
              </a:defRPr>
            </a:lvl7pPr>
            <a:lvl8pPr>
              <a:defRPr sz="1200" b="1">
                <a:solidFill>
                  <a:srgbClr val="38BDF8"/>
                </a:solidFill>
                <a:latin typeface="Arial"/>
                <a:ea typeface="Arial"/>
                <a:cs typeface="Arial"/>
              </a:defRPr>
            </a:lvl8pPr>
            <a:lvl9pPr>
              <a:defRPr sz="1200" b="1">
                <a:solidFill>
                  <a:srgbClr val="38BDF8"/>
                </a:solidFill>
                <a:latin typeface="Arial"/>
                <a:ea typeface="Arial"/>
                <a:cs typeface="Arial"/>
              </a:defRPr>
            </a:lvl9pPr>
          </a:lstStyle>
          <a:p xmlns:a="http://schemas.openxmlformats.org/drawingml/2006/main">
            <a:pPr>
              <a:defRPr sz="1200" b="1">
                <a:solidFill>
                  <a:srgbClr val="38BDF8"/>
                </a:solidFill>
                <a:latin typeface="Arial"/>
                <a:ea typeface="Arial"/>
                <a:cs typeface="Arial"/>
              </a:defRPr>
            </a:pPr>
            <a:r>
              <a:rPr sz="1200" b="1">
                <a:solidFill>
                  <a:srgbClr val="38BDF8"/>
                </a:solidFill>
                <a:latin typeface="Arial"/>
                <a:ea typeface="Arial"/>
                <a:cs typeface="Arial"/>
              </a:rPr>
              <a:t>DỰ ÁN FACE ANTI-SPOOFING • CAMERA USB SC-M200</a:t>
            </a:r>
          </a:p>
        </p:txBody>
      </p:sp>
      <p:sp>
        <p:nvSpPr>
          <p:cNvPr id="2" name="">
            <a:extLst xmlns:a="http://schemas.openxmlformats.org/drawingml/2006/main">
              <a:ext uri="{FF2B5EF4-FFF2-40B4-BE49-F238E27FC236}">
                <a16:creationId xmlns:a16="http://schemas.microsoft.com/office/drawing/2014/main" id="{448B9139-E74F-43A5-ACD4-6F74EC386448}"/>
              </a:ext>
            </a:extLst>
          </p:cNvPr>
          <p:cNvSpPr>
            <a:spLocks xmlns:a="http://schemas.openxmlformats.org/drawingml/2006/main" noGrp="1"/>
          </p:cNvSpPr>
          <p:nvPr/>
        </p:nvSpPr>
        <p:spPr>
          <a:xfrm xmlns:a="http://schemas.openxmlformats.org/drawingml/2006/main">
            <a:off x="609600" y="7810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Arial"/>
                <a:ea typeface="Arial"/>
                <a:cs typeface="Arial"/>
              </a:defRPr>
            </a:defPPr>
            <a:lvl1pPr>
              <a:defRPr sz="2700" b="1">
                <a:solidFill>
                  <a:srgbClr val="FFFFFF"/>
                </a:solidFill>
                <a:latin typeface="Arial"/>
                <a:ea typeface="Arial"/>
                <a:cs typeface="Arial"/>
              </a:defRPr>
            </a:lvl1pPr>
            <a:lvl2pPr>
              <a:defRPr sz="2700" b="1">
                <a:solidFill>
                  <a:srgbClr val="FFFFFF"/>
                </a:solidFill>
                <a:latin typeface="Arial"/>
                <a:ea typeface="Arial"/>
                <a:cs typeface="Arial"/>
              </a:defRPr>
            </a:lvl2pPr>
            <a:lvl3pPr>
              <a:defRPr sz="2700" b="1">
                <a:solidFill>
                  <a:srgbClr val="FFFFFF"/>
                </a:solidFill>
                <a:latin typeface="Arial"/>
                <a:ea typeface="Arial"/>
                <a:cs typeface="Arial"/>
              </a:defRPr>
            </a:lvl3pPr>
            <a:lvl4pPr>
              <a:defRPr sz="2700" b="1">
                <a:solidFill>
                  <a:srgbClr val="FFFFFF"/>
                </a:solidFill>
                <a:latin typeface="Arial"/>
                <a:ea typeface="Arial"/>
                <a:cs typeface="Arial"/>
              </a:defRPr>
            </a:lvl4pPr>
            <a:lvl5pPr>
              <a:defRPr sz="2700" b="1">
                <a:solidFill>
                  <a:srgbClr val="FFFFFF"/>
                </a:solidFill>
                <a:latin typeface="Arial"/>
                <a:ea typeface="Arial"/>
                <a:cs typeface="Arial"/>
              </a:defRPr>
            </a:lvl5pPr>
            <a:lvl6pPr>
              <a:defRPr sz="2700" b="1">
                <a:solidFill>
                  <a:srgbClr val="FFFFFF"/>
                </a:solidFill>
                <a:latin typeface="Arial"/>
                <a:ea typeface="Arial"/>
                <a:cs typeface="Arial"/>
              </a:defRPr>
            </a:lvl6pPr>
            <a:lvl7pPr>
              <a:defRPr sz="2700" b="1">
                <a:solidFill>
                  <a:srgbClr val="FFFFFF"/>
                </a:solidFill>
                <a:latin typeface="Arial"/>
                <a:ea typeface="Arial"/>
                <a:cs typeface="Arial"/>
              </a:defRPr>
            </a:lvl7pPr>
            <a:lvl8pPr>
              <a:defRPr sz="2700" b="1">
                <a:solidFill>
                  <a:srgbClr val="FFFFFF"/>
                </a:solidFill>
                <a:latin typeface="Arial"/>
                <a:ea typeface="Arial"/>
                <a:cs typeface="Arial"/>
              </a:defRPr>
            </a:lvl8pPr>
            <a:lvl9pPr>
              <a:defRPr sz="2700" b="1">
                <a:solidFill>
                  <a:srgbClr val="FFFFFF"/>
                </a:solidFill>
                <a:latin typeface="Arial"/>
                <a:ea typeface="Arial"/>
                <a:cs typeface="Arial"/>
              </a:defRPr>
            </a:lvl9pPr>
          </a:lstStyle>
          <a:p xmlns:a="http://schemas.openxmlformats.org/drawingml/2006/main">
            <a:pPr>
              <a:defRPr sz="2700" b="1">
                <a:solidFill>
                  <a:srgbClr val="FFFFFF"/>
                </a:solidFill>
                <a:latin typeface="Arial"/>
                <a:ea typeface="Arial"/>
                <a:cs typeface="Arial"/>
              </a:defRPr>
            </a:pPr>
            <a:r>
              <a:rPr sz="2700" b="1">
                <a:solidFill>
                  <a:srgbClr val="FFFFFF"/>
                </a:solidFill>
                <a:latin typeface="Arial"/>
                <a:ea typeface="Arial"/>
                <a:cs typeface="Arial"/>
              </a:rPr>
              <a:t>Báo Cáo Đánh Giá Toàn Diện &amp; Thực Nghiệm Model</a:t>
            </a:r>
          </a:p>
        </p:txBody>
      </p:sp>
      <p:sp>
        <p:nvSpPr>
          <p:cNvPr id="3" name="">
            <a:extLst xmlns:a="http://schemas.openxmlformats.org/drawingml/2006/main">
              <a:ext uri="{FF2B5EF4-FFF2-40B4-BE49-F238E27FC236}">
                <a16:creationId xmlns:a16="http://schemas.microsoft.com/office/drawing/2014/main" id="{06FD626F-A67C-441E-BF82-1CD8E72EAC70}"/>
              </a:ext>
            </a:extLst>
          </p:cNvPr>
          <p:cNvSpPr>
            <a:spLocks xmlns:a="http://schemas.openxmlformats.org/drawingml/2006/main" noGrp="1"/>
          </p:cNvSpPr>
          <p:nvPr/>
        </p:nvSpPr>
        <p:spPr>
          <a:xfrm xmlns:a="http://schemas.openxmlformats.org/drawingml/2006/main">
            <a:off x="609600" y="13716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94A3B8"/>
                </a:solidFill>
                <a:latin typeface="Arial"/>
                <a:ea typeface="Arial"/>
                <a:cs typeface="Arial"/>
              </a:defRPr>
            </a:defPPr>
            <a:lvl1pPr>
              <a:defRPr sz="1350" b="0">
                <a:solidFill>
                  <a:srgbClr val="94A3B8"/>
                </a:solidFill>
                <a:latin typeface="Arial"/>
                <a:ea typeface="Arial"/>
                <a:cs typeface="Arial"/>
              </a:defRPr>
            </a:lvl1pPr>
            <a:lvl2pPr>
              <a:defRPr sz="1350" b="0">
                <a:solidFill>
                  <a:srgbClr val="94A3B8"/>
                </a:solidFill>
                <a:latin typeface="Arial"/>
                <a:ea typeface="Arial"/>
                <a:cs typeface="Arial"/>
              </a:defRPr>
            </a:lvl2pPr>
            <a:lvl3pPr>
              <a:defRPr sz="1350" b="0">
                <a:solidFill>
                  <a:srgbClr val="94A3B8"/>
                </a:solidFill>
                <a:latin typeface="Arial"/>
                <a:ea typeface="Arial"/>
                <a:cs typeface="Arial"/>
              </a:defRPr>
            </a:lvl3pPr>
            <a:lvl4pPr>
              <a:defRPr sz="1350" b="0">
                <a:solidFill>
                  <a:srgbClr val="94A3B8"/>
                </a:solidFill>
                <a:latin typeface="Arial"/>
                <a:ea typeface="Arial"/>
                <a:cs typeface="Arial"/>
              </a:defRPr>
            </a:lvl4pPr>
            <a:lvl5pPr>
              <a:defRPr sz="1350" b="0">
                <a:solidFill>
                  <a:srgbClr val="94A3B8"/>
                </a:solidFill>
                <a:latin typeface="Arial"/>
                <a:ea typeface="Arial"/>
                <a:cs typeface="Arial"/>
              </a:defRPr>
            </a:lvl5pPr>
            <a:lvl6pPr>
              <a:defRPr sz="1350" b="0">
                <a:solidFill>
                  <a:srgbClr val="94A3B8"/>
                </a:solidFill>
                <a:latin typeface="Arial"/>
                <a:ea typeface="Arial"/>
                <a:cs typeface="Arial"/>
              </a:defRPr>
            </a:lvl6pPr>
            <a:lvl7pPr>
              <a:defRPr sz="1350" b="0">
                <a:solidFill>
                  <a:srgbClr val="94A3B8"/>
                </a:solidFill>
                <a:latin typeface="Arial"/>
                <a:ea typeface="Arial"/>
                <a:cs typeface="Arial"/>
              </a:defRPr>
            </a:lvl7pPr>
            <a:lvl8pPr>
              <a:defRPr sz="1350" b="0">
                <a:solidFill>
                  <a:srgbClr val="94A3B8"/>
                </a:solidFill>
                <a:latin typeface="Arial"/>
                <a:ea typeface="Arial"/>
                <a:cs typeface="Arial"/>
              </a:defRPr>
            </a:lvl8pPr>
            <a:lvl9pPr>
              <a:defRPr sz="1350" b="0">
                <a:solidFill>
                  <a:srgbClr val="94A3B8"/>
                </a:solidFill>
                <a:latin typeface="Arial"/>
                <a:ea typeface="Arial"/>
                <a:cs typeface="Arial"/>
              </a:defRPr>
            </a:lvl9pPr>
          </a:lstStyle>
          <a:p xmlns:a="http://schemas.openxmlformats.org/drawingml/2006/main">
            <a:pPr>
              <a:defRPr sz="1350" b="0">
                <a:solidFill>
                  <a:srgbClr val="94A3B8"/>
                </a:solidFill>
                <a:latin typeface="Arial"/>
                <a:ea typeface="Arial"/>
                <a:cs typeface="Arial"/>
              </a:defRPr>
            </a:pPr>
            <a:r>
              <a:rPr sz="1350" b="0">
                <a:solidFill>
                  <a:srgbClr val="94A3B8"/>
                </a:solidFill>
                <a:latin typeface="Arial"/>
                <a:ea typeface="Arial"/>
                <a:cs typeface="Arial"/>
              </a:rPr>
              <a:t>Kiểm định thẩm định độc lập model liveness_cam4k.h5 trên tập dữ liệu chuẩn hóa và pipeline thực tế</a:t>
            </a:r>
          </a:p>
        </p:txBody>
      </p:sp>
      <p:sp>
        <p:nvSpPr>
          <p:cNvPr id="4" name="">
            <a:extLst xmlns:a="http://schemas.openxmlformats.org/drawingml/2006/main">
              <a:ext uri="{FF2B5EF4-FFF2-40B4-BE49-F238E27FC236}">
                <a16:creationId xmlns:a16="http://schemas.microsoft.com/office/drawing/2014/main" id="{9AAF5D48-F9A3-4F77-A437-A19B2ABDE73D}"/>
              </a:ext>
            </a:extLst>
          </p:cNvPr>
          <p:cNvSpPr>
            <a:spLocks xmlns:a="http://schemas.openxmlformats.org/drawingml/2006/main" noGrp="1"/>
          </p:cNvSpPr>
          <p:nvPr/>
        </p:nvSpPr>
        <p:spPr>
          <a:xfrm xmlns:a="http://schemas.openxmlformats.org/drawingml/2006/main">
            <a:off x="609600" y="2047875"/>
            <a:ext cx="3429000" cy="3762375"/>
          </a:xfrm>
          <a:prstGeom xmlns:a="http://schemas.openxmlformats.org/drawingml/2006/main" prst="rect">
            <a:avLst/>
          </a:prstGeom>
          <a:solidFill xmlns:a="http://schemas.openxmlformats.org/drawingml/2006/main">
            <a:srgbClr val="111B2E"/>
          </a:solidFill>
          <a:ln xmlns:a="http://schemas.openxmlformats.org/drawingml/2006/main" w="19050">
            <a:solidFill>
              <a:srgbClr val="2563EB"/>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5" name="">
            <a:extLst xmlns:a="http://schemas.openxmlformats.org/drawingml/2006/main">
              <a:ext uri="{FF2B5EF4-FFF2-40B4-BE49-F238E27FC236}">
                <a16:creationId xmlns:a16="http://schemas.microsoft.com/office/drawing/2014/main" id="{A1E80134-0367-45E9-AF42-194B44F8CEA1}"/>
              </a:ext>
            </a:extLst>
          </p:cNvPr>
          <p:cNvSpPr>
            <a:spLocks xmlns:a="http://schemas.openxmlformats.org/drawingml/2006/main" noGrp="1"/>
          </p:cNvSpPr>
          <p:nvPr/>
        </p:nvSpPr>
        <p:spPr>
          <a:xfrm xmlns:a="http://schemas.openxmlformats.org/drawingml/2006/main">
            <a:off x="876300" y="226695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1">
                <a:solidFill>
                  <a:srgbClr val="38BDF8"/>
                </a:solidFill>
                <a:latin typeface="Arial"/>
                <a:ea typeface="Arial"/>
                <a:cs typeface="Arial"/>
              </a:defRPr>
            </a:defPPr>
            <a:lvl1pPr>
              <a:defRPr sz="1050" b="1">
                <a:solidFill>
                  <a:srgbClr val="38BDF8"/>
                </a:solidFill>
                <a:latin typeface="Arial"/>
                <a:ea typeface="Arial"/>
                <a:cs typeface="Arial"/>
              </a:defRPr>
            </a:lvl1pPr>
            <a:lvl2pPr>
              <a:defRPr sz="1050" b="1">
                <a:solidFill>
                  <a:srgbClr val="38BDF8"/>
                </a:solidFill>
                <a:latin typeface="Arial"/>
                <a:ea typeface="Arial"/>
                <a:cs typeface="Arial"/>
              </a:defRPr>
            </a:lvl2pPr>
            <a:lvl3pPr>
              <a:defRPr sz="1050" b="1">
                <a:solidFill>
                  <a:srgbClr val="38BDF8"/>
                </a:solidFill>
                <a:latin typeface="Arial"/>
                <a:ea typeface="Arial"/>
                <a:cs typeface="Arial"/>
              </a:defRPr>
            </a:lvl3pPr>
            <a:lvl4pPr>
              <a:defRPr sz="1050" b="1">
                <a:solidFill>
                  <a:srgbClr val="38BDF8"/>
                </a:solidFill>
                <a:latin typeface="Arial"/>
                <a:ea typeface="Arial"/>
                <a:cs typeface="Arial"/>
              </a:defRPr>
            </a:lvl4pPr>
            <a:lvl5pPr>
              <a:defRPr sz="1050" b="1">
                <a:solidFill>
                  <a:srgbClr val="38BDF8"/>
                </a:solidFill>
                <a:latin typeface="Arial"/>
                <a:ea typeface="Arial"/>
                <a:cs typeface="Arial"/>
              </a:defRPr>
            </a:lvl5pPr>
            <a:lvl6pPr>
              <a:defRPr sz="1050" b="1">
                <a:solidFill>
                  <a:srgbClr val="38BDF8"/>
                </a:solidFill>
                <a:latin typeface="Arial"/>
                <a:ea typeface="Arial"/>
                <a:cs typeface="Arial"/>
              </a:defRPr>
            </a:lvl6pPr>
            <a:lvl7pPr>
              <a:defRPr sz="1050" b="1">
                <a:solidFill>
                  <a:srgbClr val="38BDF8"/>
                </a:solidFill>
                <a:latin typeface="Arial"/>
                <a:ea typeface="Arial"/>
                <a:cs typeface="Arial"/>
              </a:defRPr>
            </a:lvl7pPr>
            <a:lvl8pPr>
              <a:defRPr sz="1050" b="1">
                <a:solidFill>
                  <a:srgbClr val="38BDF8"/>
                </a:solidFill>
                <a:latin typeface="Arial"/>
                <a:ea typeface="Arial"/>
                <a:cs typeface="Arial"/>
              </a:defRPr>
            </a:lvl8pPr>
            <a:lvl9pPr>
              <a:defRPr sz="1050" b="1">
                <a:solidFill>
                  <a:srgbClr val="38BDF8"/>
                </a:solidFill>
                <a:latin typeface="Arial"/>
                <a:ea typeface="Arial"/>
                <a:cs typeface="Arial"/>
              </a:defRPr>
            </a:lvl9pPr>
          </a:lstStyle>
          <a:p xmlns:a="http://schemas.openxmlformats.org/drawingml/2006/main">
            <a:pPr>
              <a:defRPr sz="1050" b="1">
                <a:solidFill>
                  <a:srgbClr val="38BDF8"/>
                </a:solidFill>
                <a:latin typeface="Arial"/>
                <a:ea typeface="Arial"/>
                <a:cs typeface="Arial"/>
              </a:defRPr>
            </a:pPr>
            <a:r>
              <a:rPr sz="1050" b="1">
                <a:solidFill>
                  <a:srgbClr val="38BDF8"/>
                </a:solidFill>
                <a:latin typeface="Arial"/>
                <a:ea typeface="Arial"/>
                <a:cs typeface="Arial"/>
              </a:rPr>
              <a:t>HUẤN LUYỆN HỘI TỤ</a:t>
            </a:r>
          </a:p>
        </p:txBody>
      </p:sp>
      <p:sp>
        <p:nvSpPr>
          <p:cNvPr id="6" name="">
            <a:extLst xmlns:a="http://schemas.openxmlformats.org/drawingml/2006/main">
              <a:ext uri="{FF2B5EF4-FFF2-40B4-BE49-F238E27FC236}">
                <a16:creationId xmlns:a16="http://schemas.microsoft.com/office/drawing/2014/main" id="{68043D61-4397-492C-87A4-1EEC7D253537}"/>
              </a:ext>
            </a:extLst>
          </p:cNvPr>
          <p:cNvSpPr>
            <a:spLocks xmlns:a="http://schemas.openxmlformats.org/drawingml/2006/main" noGrp="1"/>
          </p:cNvSpPr>
          <p:nvPr/>
        </p:nvSpPr>
        <p:spPr>
          <a:xfrm xmlns:a="http://schemas.openxmlformats.org/drawingml/2006/main">
            <a:off x="876300" y="2514600"/>
            <a:ext cx="28956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7DD3FC"/>
                </a:solidFill>
                <a:latin typeface="Arial"/>
                <a:ea typeface="Arial"/>
                <a:cs typeface="Arial"/>
              </a:defRPr>
            </a:defPPr>
            <a:lvl1pPr>
              <a:defRPr sz="3150" b="1">
                <a:solidFill>
                  <a:srgbClr val="7DD3FC"/>
                </a:solidFill>
                <a:latin typeface="Arial"/>
                <a:ea typeface="Arial"/>
                <a:cs typeface="Arial"/>
              </a:defRPr>
            </a:lvl1pPr>
            <a:lvl2pPr>
              <a:defRPr sz="3150" b="1">
                <a:solidFill>
                  <a:srgbClr val="7DD3FC"/>
                </a:solidFill>
                <a:latin typeface="Arial"/>
                <a:ea typeface="Arial"/>
                <a:cs typeface="Arial"/>
              </a:defRPr>
            </a:lvl2pPr>
            <a:lvl3pPr>
              <a:defRPr sz="3150" b="1">
                <a:solidFill>
                  <a:srgbClr val="7DD3FC"/>
                </a:solidFill>
                <a:latin typeface="Arial"/>
                <a:ea typeface="Arial"/>
                <a:cs typeface="Arial"/>
              </a:defRPr>
            </a:lvl3pPr>
            <a:lvl4pPr>
              <a:defRPr sz="3150" b="1">
                <a:solidFill>
                  <a:srgbClr val="7DD3FC"/>
                </a:solidFill>
                <a:latin typeface="Arial"/>
                <a:ea typeface="Arial"/>
                <a:cs typeface="Arial"/>
              </a:defRPr>
            </a:lvl4pPr>
            <a:lvl5pPr>
              <a:defRPr sz="3150" b="1">
                <a:solidFill>
                  <a:srgbClr val="7DD3FC"/>
                </a:solidFill>
                <a:latin typeface="Arial"/>
                <a:ea typeface="Arial"/>
                <a:cs typeface="Arial"/>
              </a:defRPr>
            </a:lvl5pPr>
            <a:lvl6pPr>
              <a:defRPr sz="3150" b="1">
                <a:solidFill>
                  <a:srgbClr val="7DD3FC"/>
                </a:solidFill>
                <a:latin typeface="Arial"/>
                <a:ea typeface="Arial"/>
                <a:cs typeface="Arial"/>
              </a:defRPr>
            </a:lvl6pPr>
            <a:lvl7pPr>
              <a:defRPr sz="3150" b="1">
                <a:solidFill>
                  <a:srgbClr val="7DD3FC"/>
                </a:solidFill>
                <a:latin typeface="Arial"/>
                <a:ea typeface="Arial"/>
                <a:cs typeface="Arial"/>
              </a:defRPr>
            </a:lvl7pPr>
            <a:lvl8pPr>
              <a:defRPr sz="3150" b="1">
                <a:solidFill>
                  <a:srgbClr val="7DD3FC"/>
                </a:solidFill>
                <a:latin typeface="Arial"/>
                <a:ea typeface="Arial"/>
                <a:cs typeface="Arial"/>
              </a:defRPr>
            </a:lvl8pPr>
            <a:lvl9pPr>
              <a:defRPr sz="3150" b="1">
                <a:solidFill>
                  <a:srgbClr val="7DD3FC"/>
                </a:solidFill>
                <a:latin typeface="Arial"/>
                <a:ea typeface="Arial"/>
                <a:cs typeface="Arial"/>
              </a:defRPr>
            </a:lvl9pPr>
          </a:lstStyle>
          <a:p xmlns:a="http://schemas.openxmlformats.org/drawingml/2006/main">
            <a:pPr>
              <a:defRPr sz="3150" b="1">
                <a:solidFill>
                  <a:srgbClr val="7DD3FC"/>
                </a:solidFill>
                <a:latin typeface="Arial"/>
                <a:ea typeface="Arial"/>
                <a:cs typeface="Arial"/>
              </a:defRPr>
            </a:pPr>
            <a:r>
              <a:rPr sz="3150" b="1">
                <a:solidFill>
                  <a:srgbClr val="7DD3FC"/>
                </a:solidFill>
                <a:latin typeface="Arial"/>
                <a:ea typeface="Arial"/>
                <a:cs typeface="Arial"/>
              </a:rPr>
              <a:t>0.0941</a:t>
            </a:r>
          </a:p>
        </p:txBody>
      </p:sp>
      <p:sp>
        <p:nvSpPr>
          <p:cNvPr id="7" name="">
            <a:extLst xmlns:a="http://schemas.openxmlformats.org/drawingml/2006/main">
              <a:ext uri="{FF2B5EF4-FFF2-40B4-BE49-F238E27FC236}">
                <a16:creationId xmlns:a16="http://schemas.microsoft.com/office/drawing/2014/main" id="{3CF27AA9-317E-47D6-8742-547111B3CA31}"/>
              </a:ext>
            </a:extLst>
          </p:cNvPr>
          <p:cNvSpPr>
            <a:spLocks xmlns:a="http://schemas.openxmlformats.org/drawingml/2006/main" noGrp="1"/>
          </p:cNvSpPr>
          <p:nvPr/>
        </p:nvSpPr>
        <p:spPr>
          <a:xfrm xmlns:a="http://schemas.openxmlformats.org/drawingml/2006/main">
            <a:off x="876300" y="304800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94A3B8"/>
                </a:solidFill>
                <a:latin typeface="Arial"/>
                <a:ea typeface="Arial"/>
                <a:cs typeface="Arial"/>
              </a:defRPr>
            </a:defPPr>
            <a:lvl1pPr>
              <a:defRPr sz="1050" b="0">
                <a:solidFill>
                  <a:srgbClr val="94A3B8"/>
                </a:solidFill>
                <a:latin typeface="Arial"/>
                <a:ea typeface="Arial"/>
                <a:cs typeface="Arial"/>
              </a:defRPr>
            </a:lvl1pPr>
            <a:lvl2pPr>
              <a:defRPr sz="1050" b="0">
                <a:solidFill>
                  <a:srgbClr val="94A3B8"/>
                </a:solidFill>
                <a:latin typeface="Arial"/>
                <a:ea typeface="Arial"/>
                <a:cs typeface="Arial"/>
              </a:defRPr>
            </a:lvl2pPr>
            <a:lvl3pPr>
              <a:defRPr sz="1050" b="0">
                <a:solidFill>
                  <a:srgbClr val="94A3B8"/>
                </a:solidFill>
                <a:latin typeface="Arial"/>
                <a:ea typeface="Arial"/>
                <a:cs typeface="Arial"/>
              </a:defRPr>
            </a:lvl3pPr>
            <a:lvl4pPr>
              <a:defRPr sz="1050" b="0">
                <a:solidFill>
                  <a:srgbClr val="94A3B8"/>
                </a:solidFill>
                <a:latin typeface="Arial"/>
                <a:ea typeface="Arial"/>
                <a:cs typeface="Arial"/>
              </a:defRPr>
            </a:lvl4pPr>
            <a:lvl5pPr>
              <a:defRPr sz="1050" b="0">
                <a:solidFill>
                  <a:srgbClr val="94A3B8"/>
                </a:solidFill>
                <a:latin typeface="Arial"/>
                <a:ea typeface="Arial"/>
                <a:cs typeface="Arial"/>
              </a:defRPr>
            </a:lvl5pPr>
            <a:lvl6pPr>
              <a:defRPr sz="1050" b="0">
                <a:solidFill>
                  <a:srgbClr val="94A3B8"/>
                </a:solidFill>
                <a:latin typeface="Arial"/>
                <a:ea typeface="Arial"/>
                <a:cs typeface="Arial"/>
              </a:defRPr>
            </a:lvl6pPr>
            <a:lvl7pPr>
              <a:defRPr sz="1050" b="0">
                <a:solidFill>
                  <a:srgbClr val="94A3B8"/>
                </a:solidFill>
                <a:latin typeface="Arial"/>
                <a:ea typeface="Arial"/>
                <a:cs typeface="Arial"/>
              </a:defRPr>
            </a:lvl7pPr>
            <a:lvl8pPr>
              <a:defRPr sz="1050" b="0">
                <a:solidFill>
                  <a:srgbClr val="94A3B8"/>
                </a:solidFill>
                <a:latin typeface="Arial"/>
                <a:ea typeface="Arial"/>
                <a:cs typeface="Arial"/>
              </a:defRPr>
            </a:lvl8pPr>
            <a:lvl9pPr>
              <a:defRPr sz="1050" b="0">
                <a:solidFill>
                  <a:srgbClr val="94A3B8"/>
                </a:solidFill>
                <a:latin typeface="Arial"/>
                <a:ea typeface="Arial"/>
                <a:cs typeface="Arial"/>
              </a:defRPr>
            </a:lvl9pPr>
          </a:lstStyle>
          <a:p xmlns:a="http://schemas.openxmlformats.org/drawingml/2006/main">
            <a:pPr>
              <a:defRPr sz="1050" b="0">
                <a:solidFill>
                  <a:srgbClr val="94A3B8"/>
                </a:solidFill>
                <a:latin typeface="Arial"/>
                <a:ea typeface="Arial"/>
                <a:cs typeface="Arial"/>
              </a:defRPr>
            </a:pPr>
            <a:r>
              <a:rPr sz="1050" b="0">
                <a:solidFill>
                  <a:srgbClr val="94A3B8"/>
                </a:solidFill>
                <a:latin typeface="Arial"/>
                <a:ea typeface="Arial"/>
                <a:cs typeface="Arial"/>
              </a:rPr>
              <a:t>Validation Loss (Hội tụ tối ưu tại Epoch 14)</a:t>
            </a:r>
          </a:p>
        </p:txBody>
      </p:sp>
      <p:sp>
        <p:nvSpPr>
          <p:cNvPr id="8" name="">
            <a:extLst xmlns:a="http://schemas.openxmlformats.org/drawingml/2006/main">
              <a:ext uri="{FF2B5EF4-FFF2-40B4-BE49-F238E27FC236}">
                <a16:creationId xmlns:a16="http://schemas.microsoft.com/office/drawing/2014/main" id="{8EA52BE0-220A-4947-A86B-3FDEFE6FC842}"/>
              </a:ext>
            </a:extLst>
          </p:cNvPr>
          <p:cNvSpPr>
            <a:spLocks xmlns:a="http://schemas.openxmlformats.org/drawingml/2006/main" noGrp="1"/>
          </p:cNvSpPr>
          <p:nvPr/>
        </p:nvSpPr>
        <p:spPr>
          <a:xfrm xmlns:a="http://schemas.openxmlformats.org/drawingml/2006/main">
            <a:off x="876300" y="3381375"/>
            <a:ext cx="2895600" cy="9525"/>
          </a:xfrm>
          <a:prstGeom xmlns:a="http://schemas.openxmlformats.org/drawingml/2006/main" prst="rect">
            <a:avLst/>
          </a:prstGeom>
          <a:solidFill xmlns:a="http://schemas.openxmlformats.org/drawingml/2006/main">
            <a:srgbClr val="1F3354"/>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F3354"/>
                </a:solidFill>
                <a:latin typeface="Arial"/>
                <a:ea typeface="Arial"/>
                <a:cs typeface="Arial"/>
              </a:defRPr>
            </a:defPPr>
            <a:lvl1pPr>
              <a:defRPr sz="750">
                <a:solidFill>
                  <a:srgbClr val="1F3354"/>
                </a:solidFill>
                <a:latin typeface="Arial"/>
                <a:ea typeface="Arial"/>
                <a:cs typeface="Arial"/>
              </a:defRPr>
            </a:lvl1pPr>
            <a:lvl2pPr>
              <a:defRPr sz="750">
                <a:solidFill>
                  <a:srgbClr val="1F3354"/>
                </a:solidFill>
                <a:latin typeface="Arial"/>
                <a:ea typeface="Arial"/>
                <a:cs typeface="Arial"/>
              </a:defRPr>
            </a:lvl2pPr>
            <a:lvl3pPr>
              <a:defRPr sz="750">
                <a:solidFill>
                  <a:srgbClr val="1F3354"/>
                </a:solidFill>
                <a:latin typeface="Arial"/>
                <a:ea typeface="Arial"/>
                <a:cs typeface="Arial"/>
              </a:defRPr>
            </a:lvl3pPr>
            <a:lvl4pPr>
              <a:defRPr sz="750">
                <a:solidFill>
                  <a:srgbClr val="1F3354"/>
                </a:solidFill>
                <a:latin typeface="Arial"/>
                <a:ea typeface="Arial"/>
                <a:cs typeface="Arial"/>
              </a:defRPr>
            </a:lvl4pPr>
            <a:lvl5pPr>
              <a:defRPr sz="750">
                <a:solidFill>
                  <a:srgbClr val="1F3354"/>
                </a:solidFill>
                <a:latin typeface="Arial"/>
                <a:ea typeface="Arial"/>
                <a:cs typeface="Arial"/>
              </a:defRPr>
            </a:lvl5pPr>
            <a:lvl6pPr>
              <a:defRPr sz="750">
                <a:solidFill>
                  <a:srgbClr val="1F3354"/>
                </a:solidFill>
                <a:latin typeface="Arial"/>
                <a:ea typeface="Arial"/>
                <a:cs typeface="Arial"/>
              </a:defRPr>
            </a:lvl6pPr>
            <a:lvl7pPr>
              <a:defRPr sz="750">
                <a:solidFill>
                  <a:srgbClr val="1F3354"/>
                </a:solidFill>
                <a:latin typeface="Arial"/>
                <a:ea typeface="Arial"/>
                <a:cs typeface="Arial"/>
              </a:defRPr>
            </a:lvl7pPr>
            <a:lvl8pPr>
              <a:defRPr sz="750">
                <a:solidFill>
                  <a:srgbClr val="1F3354"/>
                </a:solidFill>
                <a:latin typeface="Arial"/>
                <a:ea typeface="Arial"/>
                <a:cs typeface="Arial"/>
              </a:defRPr>
            </a:lvl8pPr>
            <a:lvl9pPr>
              <a:defRPr sz="750">
                <a:solidFill>
                  <a:srgbClr val="1F3354"/>
                </a:solidFill>
                <a:latin typeface="Arial"/>
                <a:ea typeface="Arial"/>
                <a:cs typeface="Arial"/>
              </a:defRPr>
            </a:lvl9pPr>
          </a:lstStyle>
          <a:p xmlns:a="http://schemas.openxmlformats.org/drawingml/2006/main">
            <a:pPr>
              <a:defRPr sz="750">
                <a:solidFill>
                  <a:srgbClr val="1F3354"/>
                </a:solidFill>
                <a:latin typeface="Arial"/>
                <a:ea typeface="Arial"/>
                <a:cs typeface="Arial"/>
              </a:defRPr>
            </a:pPr>
            <a:r>
              <a:rPr sz="750">
                <a:solidFill>
                  <a:srgbClr val="1F3354"/>
                </a:solidFill>
                <a:latin typeface="Arial"/>
                <a:ea typeface="Arial"/>
                <a:cs typeface="Arial"/>
              </a:rPr>
              <a:t> </a:t>
            </a:r>
          </a:p>
        </p:txBody>
      </p:sp>
      <p:sp>
        <p:nvSpPr>
          <p:cNvPr id="9" name="">
            <a:extLst xmlns:a="http://schemas.openxmlformats.org/drawingml/2006/main">
              <a:ext uri="{FF2B5EF4-FFF2-40B4-BE49-F238E27FC236}">
                <a16:creationId xmlns:a16="http://schemas.microsoft.com/office/drawing/2014/main" id="{BF38BC05-C842-4BB8-8CF6-5817CF426ECA}"/>
              </a:ext>
            </a:extLst>
          </p:cNvPr>
          <p:cNvSpPr>
            <a:spLocks xmlns:a="http://schemas.openxmlformats.org/drawingml/2006/main" noGrp="1"/>
          </p:cNvSpPr>
          <p:nvPr/>
        </p:nvSpPr>
        <p:spPr>
          <a:xfrm xmlns:a="http://schemas.openxmlformats.org/drawingml/2006/main">
            <a:off x="876300" y="3571875"/>
            <a:ext cx="28956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Tổng số vòng chạy: 18 Epochs (Early Stopping)</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Train Loss: 0.0922 | Train Accuracy: 97.79%</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Validation Accuracy đạt 98.01%</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Chênh lệch Loss chỉ ~0.0019 (không quá khớp)</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Trọng số tốt nhất được lưu tại Epoch 14</a:t>
            </a:r>
          </a:p>
        </p:txBody>
      </p:sp>
      <p:sp>
        <p:nvSpPr>
          <p:cNvPr id="10" name="">
            <a:extLst xmlns:a="http://schemas.openxmlformats.org/drawingml/2006/main">
              <a:ext uri="{FF2B5EF4-FFF2-40B4-BE49-F238E27FC236}">
                <a16:creationId xmlns:a16="http://schemas.microsoft.com/office/drawing/2014/main" id="{E73C81C7-876D-466E-982D-B5D7AF731752}"/>
              </a:ext>
            </a:extLst>
          </p:cNvPr>
          <p:cNvSpPr>
            <a:spLocks xmlns:a="http://schemas.openxmlformats.org/drawingml/2006/main" noGrp="1"/>
          </p:cNvSpPr>
          <p:nvPr/>
        </p:nvSpPr>
        <p:spPr>
          <a:xfrm xmlns:a="http://schemas.openxmlformats.org/drawingml/2006/main">
            <a:off x="4381500" y="2047875"/>
            <a:ext cx="3429000" cy="3762375"/>
          </a:xfrm>
          <a:prstGeom xmlns:a="http://schemas.openxmlformats.org/drawingml/2006/main" prst="rect">
            <a:avLst/>
          </a:prstGeom>
          <a:solidFill xmlns:a="http://schemas.openxmlformats.org/drawingml/2006/main">
            <a:srgbClr val="111B2E"/>
          </a:solidFill>
          <a:ln xmlns:a="http://schemas.openxmlformats.org/drawingml/2006/main" w="19050">
            <a:solidFill>
              <a:srgbClr val="059669"/>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1" name="">
            <a:extLst xmlns:a="http://schemas.openxmlformats.org/drawingml/2006/main">
              <a:ext uri="{FF2B5EF4-FFF2-40B4-BE49-F238E27FC236}">
                <a16:creationId xmlns:a16="http://schemas.microsoft.com/office/drawing/2014/main" id="{B188C95A-BF4C-47CD-9827-AD49D956F76F}"/>
              </a:ext>
            </a:extLst>
          </p:cNvPr>
          <p:cNvSpPr>
            <a:spLocks xmlns:a="http://schemas.openxmlformats.org/drawingml/2006/main" noGrp="1"/>
          </p:cNvSpPr>
          <p:nvPr/>
        </p:nvSpPr>
        <p:spPr>
          <a:xfrm xmlns:a="http://schemas.openxmlformats.org/drawingml/2006/main">
            <a:off x="4648200" y="226695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1">
                <a:solidFill>
                  <a:srgbClr val="34D399"/>
                </a:solidFill>
                <a:latin typeface="Arial"/>
                <a:ea typeface="Arial"/>
                <a:cs typeface="Arial"/>
              </a:defRPr>
            </a:defPPr>
            <a:lvl1pPr>
              <a:defRPr sz="1050" b="1">
                <a:solidFill>
                  <a:srgbClr val="34D399"/>
                </a:solidFill>
                <a:latin typeface="Arial"/>
                <a:ea typeface="Arial"/>
                <a:cs typeface="Arial"/>
              </a:defRPr>
            </a:lvl1pPr>
            <a:lvl2pPr>
              <a:defRPr sz="1050" b="1">
                <a:solidFill>
                  <a:srgbClr val="34D399"/>
                </a:solidFill>
                <a:latin typeface="Arial"/>
                <a:ea typeface="Arial"/>
                <a:cs typeface="Arial"/>
              </a:defRPr>
            </a:lvl2pPr>
            <a:lvl3pPr>
              <a:defRPr sz="1050" b="1">
                <a:solidFill>
                  <a:srgbClr val="34D399"/>
                </a:solidFill>
                <a:latin typeface="Arial"/>
                <a:ea typeface="Arial"/>
                <a:cs typeface="Arial"/>
              </a:defRPr>
            </a:lvl3pPr>
            <a:lvl4pPr>
              <a:defRPr sz="1050" b="1">
                <a:solidFill>
                  <a:srgbClr val="34D399"/>
                </a:solidFill>
                <a:latin typeface="Arial"/>
                <a:ea typeface="Arial"/>
                <a:cs typeface="Arial"/>
              </a:defRPr>
            </a:lvl4pPr>
            <a:lvl5pPr>
              <a:defRPr sz="1050" b="1">
                <a:solidFill>
                  <a:srgbClr val="34D399"/>
                </a:solidFill>
                <a:latin typeface="Arial"/>
                <a:ea typeface="Arial"/>
                <a:cs typeface="Arial"/>
              </a:defRPr>
            </a:lvl5pPr>
            <a:lvl6pPr>
              <a:defRPr sz="1050" b="1">
                <a:solidFill>
                  <a:srgbClr val="34D399"/>
                </a:solidFill>
                <a:latin typeface="Arial"/>
                <a:ea typeface="Arial"/>
                <a:cs typeface="Arial"/>
              </a:defRPr>
            </a:lvl6pPr>
            <a:lvl7pPr>
              <a:defRPr sz="1050" b="1">
                <a:solidFill>
                  <a:srgbClr val="34D399"/>
                </a:solidFill>
                <a:latin typeface="Arial"/>
                <a:ea typeface="Arial"/>
                <a:cs typeface="Arial"/>
              </a:defRPr>
            </a:lvl7pPr>
            <a:lvl8pPr>
              <a:defRPr sz="1050" b="1">
                <a:solidFill>
                  <a:srgbClr val="34D399"/>
                </a:solidFill>
                <a:latin typeface="Arial"/>
                <a:ea typeface="Arial"/>
                <a:cs typeface="Arial"/>
              </a:defRPr>
            </a:lvl8pPr>
            <a:lvl9pPr>
              <a:defRPr sz="1050" b="1">
                <a:solidFill>
                  <a:srgbClr val="34D399"/>
                </a:solidFill>
                <a:latin typeface="Arial"/>
                <a:ea typeface="Arial"/>
                <a:cs typeface="Arial"/>
              </a:defRPr>
            </a:lvl9pPr>
          </a:lstStyle>
          <a:p xmlns:a="http://schemas.openxmlformats.org/drawingml/2006/main">
            <a:pPr>
              <a:defRPr sz="1050" b="1">
                <a:solidFill>
                  <a:srgbClr val="34D399"/>
                </a:solidFill>
                <a:latin typeface="Arial"/>
                <a:ea typeface="Arial"/>
                <a:cs typeface="Arial"/>
              </a:defRPr>
            </a:pPr>
            <a:r>
              <a:rPr sz="1050" b="1">
                <a:solidFill>
                  <a:srgbClr val="34D399"/>
                </a:solidFill>
                <a:latin typeface="Arial"/>
                <a:ea typeface="Arial"/>
                <a:cs typeface="Arial"/>
              </a:rPr>
              <a:t>KIỂM ĐỊNH TẬP TEST ĐỘC LẬP</a:t>
            </a:r>
          </a:p>
        </p:txBody>
      </p:sp>
      <p:sp>
        <p:nvSpPr>
          <p:cNvPr id="12" name="">
            <a:extLst xmlns:a="http://schemas.openxmlformats.org/drawingml/2006/main">
              <a:ext uri="{FF2B5EF4-FFF2-40B4-BE49-F238E27FC236}">
                <a16:creationId xmlns:a16="http://schemas.microsoft.com/office/drawing/2014/main" id="{D5713B99-821B-448B-857A-813CD44FBAB9}"/>
              </a:ext>
            </a:extLst>
          </p:cNvPr>
          <p:cNvSpPr>
            <a:spLocks xmlns:a="http://schemas.openxmlformats.org/drawingml/2006/main" noGrp="1"/>
          </p:cNvSpPr>
          <p:nvPr/>
        </p:nvSpPr>
        <p:spPr>
          <a:xfrm xmlns:a="http://schemas.openxmlformats.org/drawingml/2006/main">
            <a:off x="4648200" y="2514600"/>
            <a:ext cx="28956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6EE7B7"/>
                </a:solidFill>
                <a:latin typeface="Arial"/>
                <a:ea typeface="Arial"/>
                <a:cs typeface="Arial"/>
              </a:defRPr>
            </a:defPPr>
            <a:lvl1pPr>
              <a:defRPr sz="3150" b="1">
                <a:solidFill>
                  <a:srgbClr val="6EE7B7"/>
                </a:solidFill>
                <a:latin typeface="Arial"/>
                <a:ea typeface="Arial"/>
                <a:cs typeface="Arial"/>
              </a:defRPr>
            </a:lvl1pPr>
            <a:lvl2pPr>
              <a:defRPr sz="3150" b="1">
                <a:solidFill>
                  <a:srgbClr val="6EE7B7"/>
                </a:solidFill>
                <a:latin typeface="Arial"/>
                <a:ea typeface="Arial"/>
                <a:cs typeface="Arial"/>
              </a:defRPr>
            </a:lvl2pPr>
            <a:lvl3pPr>
              <a:defRPr sz="3150" b="1">
                <a:solidFill>
                  <a:srgbClr val="6EE7B7"/>
                </a:solidFill>
                <a:latin typeface="Arial"/>
                <a:ea typeface="Arial"/>
                <a:cs typeface="Arial"/>
              </a:defRPr>
            </a:lvl3pPr>
            <a:lvl4pPr>
              <a:defRPr sz="3150" b="1">
                <a:solidFill>
                  <a:srgbClr val="6EE7B7"/>
                </a:solidFill>
                <a:latin typeface="Arial"/>
                <a:ea typeface="Arial"/>
                <a:cs typeface="Arial"/>
              </a:defRPr>
            </a:lvl4pPr>
            <a:lvl5pPr>
              <a:defRPr sz="3150" b="1">
                <a:solidFill>
                  <a:srgbClr val="6EE7B7"/>
                </a:solidFill>
                <a:latin typeface="Arial"/>
                <a:ea typeface="Arial"/>
                <a:cs typeface="Arial"/>
              </a:defRPr>
            </a:lvl5pPr>
            <a:lvl6pPr>
              <a:defRPr sz="3150" b="1">
                <a:solidFill>
                  <a:srgbClr val="6EE7B7"/>
                </a:solidFill>
                <a:latin typeface="Arial"/>
                <a:ea typeface="Arial"/>
                <a:cs typeface="Arial"/>
              </a:defRPr>
            </a:lvl6pPr>
            <a:lvl7pPr>
              <a:defRPr sz="3150" b="1">
                <a:solidFill>
                  <a:srgbClr val="6EE7B7"/>
                </a:solidFill>
                <a:latin typeface="Arial"/>
                <a:ea typeface="Arial"/>
                <a:cs typeface="Arial"/>
              </a:defRPr>
            </a:lvl7pPr>
            <a:lvl8pPr>
              <a:defRPr sz="3150" b="1">
                <a:solidFill>
                  <a:srgbClr val="6EE7B7"/>
                </a:solidFill>
                <a:latin typeface="Arial"/>
                <a:ea typeface="Arial"/>
                <a:cs typeface="Arial"/>
              </a:defRPr>
            </a:lvl8pPr>
            <a:lvl9pPr>
              <a:defRPr sz="3150" b="1">
                <a:solidFill>
                  <a:srgbClr val="6EE7B7"/>
                </a:solidFill>
                <a:latin typeface="Arial"/>
                <a:ea typeface="Arial"/>
                <a:cs typeface="Arial"/>
              </a:defRPr>
            </a:lvl9pPr>
          </a:lstStyle>
          <a:p xmlns:a="http://schemas.openxmlformats.org/drawingml/2006/main">
            <a:pPr>
              <a:defRPr sz="3150" b="1">
                <a:solidFill>
                  <a:srgbClr val="6EE7B7"/>
                </a:solidFill>
                <a:latin typeface="Arial"/>
                <a:ea typeface="Arial"/>
                <a:cs typeface="Arial"/>
              </a:defRPr>
            </a:pPr>
            <a:r>
              <a:rPr sz="3150" b="1">
                <a:solidFill>
                  <a:srgbClr val="6EE7B7"/>
                </a:solidFill>
                <a:latin typeface="Arial"/>
                <a:ea typeface="Arial"/>
                <a:cs typeface="Arial"/>
              </a:rPr>
              <a:t>98.09%</a:t>
            </a:r>
          </a:p>
        </p:txBody>
      </p:sp>
      <p:sp>
        <p:nvSpPr>
          <p:cNvPr id="13" name="">
            <a:extLst xmlns:a="http://schemas.openxmlformats.org/drawingml/2006/main">
              <a:ext uri="{FF2B5EF4-FFF2-40B4-BE49-F238E27FC236}">
                <a16:creationId xmlns:a16="http://schemas.microsoft.com/office/drawing/2014/main" id="{E0576354-CB29-4981-B3A1-7B4C2108C653}"/>
              </a:ext>
            </a:extLst>
          </p:cNvPr>
          <p:cNvSpPr>
            <a:spLocks xmlns:a="http://schemas.openxmlformats.org/drawingml/2006/main" noGrp="1"/>
          </p:cNvSpPr>
          <p:nvPr/>
        </p:nvSpPr>
        <p:spPr>
          <a:xfrm xmlns:a="http://schemas.openxmlformats.org/drawingml/2006/main">
            <a:off x="4648200" y="304800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94A3B8"/>
                </a:solidFill>
                <a:latin typeface="Arial"/>
                <a:ea typeface="Arial"/>
                <a:cs typeface="Arial"/>
              </a:defRPr>
            </a:defPPr>
            <a:lvl1pPr>
              <a:defRPr sz="1050" b="0">
                <a:solidFill>
                  <a:srgbClr val="94A3B8"/>
                </a:solidFill>
                <a:latin typeface="Arial"/>
                <a:ea typeface="Arial"/>
                <a:cs typeface="Arial"/>
              </a:defRPr>
            </a:lvl1pPr>
            <a:lvl2pPr>
              <a:defRPr sz="1050" b="0">
                <a:solidFill>
                  <a:srgbClr val="94A3B8"/>
                </a:solidFill>
                <a:latin typeface="Arial"/>
                <a:ea typeface="Arial"/>
                <a:cs typeface="Arial"/>
              </a:defRPr>
            </a:lvl2pPr>
            <a:lvl3pPr>
              <a:defRPr sz="1050" b="0">
                <a:solidFill>
                  <a:srgbClr val="94A3B8"/>
                </a:solidFill>
                <a:latin typeface="Arial"/>
                <a:ea typeface="Arial"/>
                <a:cs typeface="Arial"/>
              </a:defRPr>
            </a:lvl3pPr>
            <a:lvl4pPr>
              <a:defRPr sz="1050" b="0">
                <a:solidFill>
                  <a:srgbClr val="94A3B8"/>
                </a:solidFill>
                <a:latin typeface="Arial"/>
                <a:ea typeface="Arial"/>
                <a:cs typeface="Arial"/>
              </a:defRPr>
            </a:lvl4pPr>
            <a:lvl5pPr>
              <a:defRPr sz="1050" b="0">
                <a:solidFill>
                  <a:srgbClr val="94A3B8"/>
                </a:solidFill>
                <a:latin typeface="Arial"/>
                <a:ea typeface="Arial"/>
                <a:cs typeface="Arial"/>
              </a:defRPr>
            </a:lvl5pPr>
            <a:lvl6pPr>
              <a:defRPr sz="1050" b="0">
                <a:solidFill>
                  <a:srgbClr val="94A3B8"/>
                </a:solidFill>
                <a:latin typeface="Arial"/>
                <a:ea typeface="Arial"/>
                <a:cs typeface="Arial"/>
              </a:defRPr>
            </a:lvl6pPr>
            <a:lvl7pPr>
              <a:defRPr sz="1050" b="0">
                <a:solidFill>
                  <a:srgbClr val="94A3B8"/>
                </a:solidFill>
                <a:latin typeface="Arial"/>
                <a:ea typeface="Arial"/>
                <a:cs typeface="Arial"/>
              </a:defRPr>
            </a:lvl7pPr>
            <a:lvl8pPr>
              <a:defRPr sz="1050" b="0">
                <a:solidFill>
                  <a:srgbClr val="94A3B8"/>
                </a:solidFill>
                <a:latin typeface="Arial"/>
                <a:ea typeface="Arial"/>
                <a:cs typeface="Arial"/>
              </a:defRPr>
            </a:lvl8pPr>
            <a:lvl9pPr>
              <a:defRPr sz="1050" b="0">
                <a:solidFill>
                  <a:srgbClr val="94A3B8"/>
                </a:solidFill>
                <a:latin typeface="Arial"/>
                <a:ea typeface="Arial"/>
                <a:cs typeface="Arial"/>
              </a:defRPr>
            </a:lvl9pPr>
          </a:lstStyle>
          <a:p xmlns:a="http://schemas.openxmlformats.org/drawingml/2006/main">
            <a:pPr>
              <a:defRPr sz="1050" b="0">
                <a:solidFill>
                  <a:srgbClr val="94A3B8"/>
                </a:solidFill>
                <a:latin typeface="Arial"/>
                <a:ea typeface="Arial"/>
                <a:cs typeface="Arial"/>
              </a:defRPr>
            </a:pPr>
            <a:r>
              <a:rPr sz="1050" b="0">
                <a:solidFill>
                  <a:srgbClr val="94A3B8"/>
                </a:solidFill>
                <a:latin typeface="Arial"/>
                <a:ea typeface="Arial"/>
                <a:cs typeface="Arial"/>
              </a:rPr>
              <a:t>Độ chính xác trên 4.811 ảnh (Người hoàn toàn mới)</a:t>
            </a:r>
          </a:p>
        </p:txBody>
      </p:sp>
      <p:sp>
        <p:nvSpPr>
          <p:cNvPr id="14" name="">
            <a:extLst xmlns:a="http://schemas.openxmlformats.org/drawingml/2006/main">
              <a:ext uri="{FF2B5EF4-FFF2-40B4-BE49-F238E27FC236}">
                <a16:creationId xmlns:a16="http://schemas.microsoft.com/office/drawing/2014/main" id="{0F107209-C28C-46F0-A151-878B64B4C215}"/>
              </a:ext>
            </a:extLst>
          </p:cNvPr>
          <p:cNvSpPr>
            <a:spLocks xmlns:a="http://schemas.openxmlformats.org/drawingml/2006/main" noGrp="1"/>
          </p:cNvSpPr>
          <p:nvPr/>
        </p:nvSpPr>
        <p:spPr>
          <a:xfrm xmlns:a="http://schemas.openxmlformats.org/drawingml/2006/main">
            <a:off x="4648200" y="3381375"/>
            <a:ext cx="2895600" cy="9525"/>
          </a:xfrm>
          <a:prstGeom xmlns:a="http://schemas.openxmlformats.org/drawingml/2006/main" prst="rect">
            <a:avLst/>
          </a:prstGeom>
          <a:solidFill xmlns:a="http://schemas.openxmlformats.org/drawingml/2006/main">
            <a:srgbClr val="1F3354"/>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F3354"/>
                </a:solidFill>
                <a:latin typeface="Arial"/>
                <a:ea typeface="Arial"/>
                <a:cs typeface="Arial"/>
              </a:defRPr>
            </a:defPPr>
            <a:lvl1pPr>
              <a:defRPr sz="750">
                <a:solidFill>
                  <a:srgbClr val="1F3354"/>
                </a:solidFill>
                <a:latin typeface="Arial"/>
                <a:ea typeface="Arial"/>
                <a:cs typeface="Arial"/>
              </a:defRPr>
            </a:lvl1pPr>
            <a:lvl2pPr>
              <a:defRPr sz="750">
                <a:solidFill>
                  <a:srgbClr val="1F3354"/>
                </a:solidFill>
                <a:latin typeface="Arial"/>
                <a:ea typeface="Arial"/>
                <a:cs typeface="Arial"/>
              </a:defRPr>
            </a:lvl2pPr>
            <a:lvl3pPr>
              <a:defRPr sz="750">
                <a:solidFill>
                  <a:srgbClr val="1F3354"/>
                </a:solidFill>
                <a:latin typeface="Arial"/>
                <a:ea typeface="Arial"/>
                <a:cs typeface="Arial"/>
              </a:defRPr>
            </a:lvl3pPr>
            <a:lvl4pPr>
              <a:defRPr sz="750">
                <a:solidFill>
                  <a:srgbClr val="1F3354"/>
                </a:solidFill>
                <a:latin typeface="Arial"/>
                <a:ea typeface="Arial"/>
                <a:cs typeface="Arial"/>
              </a:defRPr>
            </a:lvl4pPr>
            <a:lvl5pPr>
              <a:defRPr sz="750">
                <a:solidFill>
                  <a:srgbClr val="1F3354"/>
                </a:solidFill>
                <a:latin typeface="Arial"/>
                <a:ea typeface="Arial"/>
                <a:cs typeface="Arial"/>
              </a:defRPr>
            </a:lvl5pPr>
            <a:lvl6pPr>
              <a:defRPr sz="750">
                <a:solidFill>
                  <a:srgbClr val="1F3354"/>
                </a:solidFill>
                <a:latin typeface="Arial"/>
                <a:ea typeface="Arial"/>
                <a:cs typeface="Arial"/>
              </a:defRPr>
            </a:lvl6pPr>
            <a:lvl7pPr>
              <a:defRPr sz="750">
                <a:solidFill>
                  <a:srgbClr val="1F3354"/>
                </a:solidFill>
                <a:latin typeface="Arial"/>
                <a:ea typeface="Arial"/>
                <a:cs typeface="Arial"/>
              </a:defRPr>
            </a:lvl7pPr>
            <a:lvl8pPr>
              <a:defRPr sz="750">
                <a:solidFill>
                  <a:srgbClr val="1F3354"/>
                </a:solidFill>
                <a:latin typeface="Arial"/>
                <a:ea typeface="Arial"/>
                <a:cs typeface="Arial"/>
              </a:defRPr>
            </a:lvl8pPr>
            <a:lvl9pPr>
              <a:defRPr sz="750">
                <a:solidFill>
                  <a:srgbClr val="1F3354"/>
                </a:solidFill>
                <a:latin typeface="Arial"/>
                <a:ea typeface="Arial"/>
                <a:cs typeface="Arial"/>
              </a:defRPr>
            </a:lvl9pPr>
          </a:lstStyle>
          <a:p xmlns:a="http://schemas.openxmlformats.org/drawingml/2006/main">
            <a:pPr>
              <a:defRPr sz="750">
                <a:solidFill>
                  <a:srgbClr val="1F3354"/>
                </a:solidFill>
                <a:latin typeface="Arial"/>
                <a:ea typeface="Arial"/>
                <a:cs typeface="Arial"/>
              </a:defRPr>
            </a:pPr>
            <a:r>
              <a:rPr sz="750">
                <a:solidFill>
                  <a:srgbClr val="1F3354"/>
                </a:solidFill>
                <a:latin typeface="Arial"/>
                <a:ea typeface="Arial"/>
                <a:cs typeface="Arial"/>
              </a:rPr>
              <a:t> </a:t>
            </a:r>
          </a:p>
        </p:txBody>
      </p:sp>
      <p:sp>
        <p:nvSpPr>
          <p:cNvPr id="15" name="">
            <a:extLst xmlns:a="http://schemas.openxmlformats.org/drawingml/2006/main">
              <a:ext uri="{FF2B5EF4-FFF2-40B4-BE49-F238E27FC236}">
                <a16:creationId xmlns:a16="http://schemas.microsoft.com/office/drawing/2014/main" id="{37D6B674-E4A3-41F3-853D-14F68D8B0CB5}"/>
              </a:ext>
            </a:extLst>
          </p:cNvPr>
          <p:cNvSpPr>
            <a:spLocks xmlns:a="http://schemas.openxmlformats.org/drawingml/2006/main" noGrp="1"/>
          </p:cNvSpPr>
          <p:nvPr/>
        </p:nvSpPr>
        <p:spPr>
          <a:xfrm xmlns:a="http://schemas.openxmlformats.org/drawingml/2006/main">
            <a:off x="4648200" y="3571875"/>
            <a:ext cx="28956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Đánh giá trên 14 Video độc lập giữ riêng</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Độ chính xác cấp Video: 14/14 Video (100%)</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Recall Người thật: 99.88% (chỉ nhầm 3 ảnh)</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Precision Bắt giả mạo: 99.87%</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Tỷ lệ lọt gian lận màn hình cực thấp (3.7%)</a:t>
            </a:r>
          </a:p>
        </p:txBody>
      </p:sp>
      <p:sp>
        <p:nvSpPr>
          <p:cNvPr id="16" name="">
            <a:extLst xmlns:a="http://schemas.openxmlformats.org/drawingml/2006/main">
              <a:ext uri="{FF2B5EF4-FFF2-40B4-BE49-F238E27FC236}">
                <a16:creationId xmlns:a16="http://schemas.microsoft.com/office/drawing/2014/main" id="{EAAE2ACE-ACFD-4E4B-9FB9-2347873F3C51}"/>
              </a:ext>
            </a:extLst>
          </p:cNvPr>
          <p:cNvSpPr>
            <a:spLocks xmlns:a="http://schemas.openxmlformats.org/drawingml/2006/main" noGrp="1"/>
          </p:cNvSpPr>
          <p:nvPr/>
        </p:nvSpPr>
        <p:spPr>
          <a:xfrm xmlns:a="http://schemas.openxmlformats.org/drawingml/2006/main">
            <a:off x="8153400" y="2047875"/>
            <a:ext cx="3429000" cy="3762375"/>
          </a:xfrm>
          <a:prstGeom xmlns:a="http://schemas.openxmlformats.org/drawingml/2006/main" prst="rect">
            <a:avLst/>
          </a:prstGeom>
          <a:solidFill xmlns:a="http://schemas.openxmlformats.org/drawingml/2006/main">
            <a:srgbClr val="111B2E"/>
          </a:solidFill>
          <a:ln xmlns:a="http://schemas.openxmlformats.org/drawingml/2006/main" w="19050">
            <a:solidFill>
              <a:srgbClr val="D97706"/>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7" name="">
            <a:extLst xmlns:a="http://schemas.openxmlformats.org/drawingml/2006/main">
              <a:ext uri="{FF2B5EF4-FFF2-40B4-BE49-F238E27FC236}">
                <a16:creationId xmlns:a16="http://schemas.microsoft.com/office/drawing/2014/main" id="{F68261A1-AD97-4FCA-AEC9-D491FB6C4ED8}"/>
              </a:ext>
            </a:extLst>
          </p:cNvPr>
          <p:cNvSpPr>
            <a:spLocks xmlns:a="http://schemas.openxmlformats.org/drawingml/2006/main" noGrp="1"/>
          </p:cNvSpPr>
          <p:nvPr/>
        </p:nvSpPr>
        <p:spPr>
          <a:xfrm xmlns:a="http://schemas.openxmlformats.org/drawingml/2006/main">
            <a:off x="8420100" y="226695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1">
                <a:solidFill>
                  <a:srgbClr val="FBBF24"/>
                </a:solidFill>
                <a:latin typeface="Arial"/>
                <a:ea typeface="Arial"/>
                <a:cs typeface="Arial"/>
              </a:defRPr>
            </a:defPPr>
            <a:lvl1pPr>
              <a:defRPr sz="1050" b="1">
                <a:solidFill>
                  <a:srgbClr val="FBBF24"/>
                </a:solidFill>
                <a:latin typeface="Arial"/>
                <a:ea typeface="Arial"/>
                <a:cs typeface="Arial"/>
              </a:defRPr>
            </a:lvl1pPr>
            <a:lvl2pPr>
              <a:defRPr sz="1050" b="1">
                <a:solidFill>
                  <a:srgbClr val="FBBF24"/>
                </a:solidFill>
                <a:latin typeface="Arial"/>
                <a:ea typeface="Arial"/>
                <a:cs typeface="Arial"/>
              </a:defRPr>
            </a:lvl2pPr>
            <a:lvl3pPr>
              <a:defRPr sz="1050" b="1">
                <a:solidFill>
                  <a:srgbClr val="FBBF24"/>
                </a:solidFill>
                <a:latin typeface="Arial"/>
                <a:ea typeface="Arial"/>
                <a:cs typeface="Arial"/>
              </a:defRPr>
            </a:lvl3pPr>
            <a:lvl4pPr>
              <a:defRPr sz="1050" b="1">
                <a:solidFill>
                  <a:srgbClr val="FBBF24"/>
                </a:solidFill>
                <a:latin typeface="Arial"/>
                <a:ea typeface="Arial"/>
                <a:cs typeface="Arial"/>
              </a:defRPr>
            </a:lvl4pPr>
            <a:lvl5pPr>
              <a:defRPr sz="1050" b="1">
                <a:solidFill>
                  <a:srgbClr val="FBBF24"/>
                </a:solidFill>
                <a:latin typeface="Arial"/>
                <a:ea typeface="Arial"/>
                <a:cs typeface="Arial"/>
              </a:defRPr>
            </a:lvl5pPr>
            <a:lvl6pPr>
              <a:defRPr sz="1050" b="1">
                <a:solidFill>
                  <a:srgbClr val="FBBF24"/>
                </a:solidFill>
                <a:latin typeface="Arial"/>
                <a:ea typeface="Arial"/>
                <a:cs typeface="Arial"/>
              </a:defRPr>
            </a:lvl6pPr>
            <a:lvl7pPr>
              <a:defRPr sz="1050" b="1">
                <a:solidFill>
                  <a:srgbClr val="FBBF24"/>
                </a:solidFill>
                <a:latin typeface="Arial"/>
                <a:ea typeface="Arial"/>
                <a:cs typeface="Arial"/>
              </a:defRPr>
            </a:lvl7pPr>
            <a:lvl8pPr>
              <a:defRPr sz="1050" b="1">
                <a:solidFill>
                  <a:srgbClr val="FBBF24"/>
                </a:solidFill>
                <a:latin typeface="Arial"/>
                <a:ea typeface="Arial"/>
                <a:cs typeface="Arial"/>
              </a:defRPr>
            </a:lvl8pPr>
            <a:lvl9pPr>
              <a:defRPr sz="1050" b="1">
                <a:solidFill>
                  <a:srgbClr val="FBBF24"/>
                </a:solidFill>
                <a:latin typeface="Arial"/>
                <a:ea typeface="Arial"/>
                <a:cs typeface="Arial"/>
              </a:defRPr>
            </a:lvl9pPr>
          </a:lstStyle>
          <a:p xmlns:a="http://schemas.openxmlformats.org/drawingml/2006/main">
            <a:pPr>
              <a:defRPr sz="1050" b="1">
                <a:solidFill>
                  <a:srgbClr val="FBBF24"/>
                </a:solidFill>
                <a:latin typeface="Arial"/>
                <a:ea typeface="Arial"/>
                <a:cs typeface="Arial"/>
              </a:defRPr>
            </a:pPr>
            <a:r>
              <a:rPr sz="1050" b="1">
                <a:solidFill>
                  <a:srgbClr val="FBBF24"/>
                </a:solidFill>
                <a:latin typeface="Arial"/>
                <a:ea typeface="Arial"/>
                <a:cs typeface="Arial"/>
              </a:rPr>
              <a:t>VẬN HÀNH THỜI GIAN THỰC</a:t>
            </a:r>
          </a:p>
        </p:txBody>
      </p:sp>
      <p:sp>
        <p:nvSpPr>
          <p:cNvPr id="18" name="">
            <a:extLst xmlns:a="http://schemas.openxmlformats.org/drawingml/2006/main">
              <a:ext uri="{FF2B5EF4-FFF2-40B4-BE49-F238E27FC236}">
                <a16:creationId xmlns:a16="http://schemas.microsoft.com/office/drawing/2014/main" id="{6C3B04A2-9059-4C99-AF8F-93E221D81903}"/>
              </a:ext>
            </a:extLst>
          </p:cNvPr>
          <p:cNvSpPr>
            <a:spLocks xmlns:a="http://schemas.openxmlformats.org/drawingml/2006/main" noGrp="1"/>
          </p:cNvSpPr>
          <p:nvPr/>
        </p:nvSpPr>
        <p:spPr>
          <a:xfrm xmlns:a="http://schemas.openxmlformats.org/drawingml/2006/main">
            <a:off x="8420100" y="2514600"/>
            <a:ext cx="28956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BBF24"/>
                </a:solidFill>
                <a:latin typeface="Arial"/>
                <a:ea typeface="Arial"/>
                <a:cs typeface="Arial"/>
              </a:defRPr>
            </a:defPPr>
            <a:lvl1pPr>
              <a:defRPr sz="3150" b="1">
                <a:solidFill>
                  <a:srgbClr val="FBBF24"/>
                </a:solidFill>
                <a:latin typeface="Arial"/>
                <a:ea typeface="Arial"/>
                <a:cs typeface="Arial"/>
              </a:defRPr>
            </a:lvl1pPr>
            <a:lvl2pPr>
              <a:defRPr sz="3150" b="1">
                <a:solidFill>
                  <a:srgbClr val="FBBF24"/>
                </a:solidFill>
                <a:latin typeface="Arial"/>
                <a:ea typeface="Arial"/>
                <a:cs typeface="Arial"/>
              </a:defRPr>
            </a:lvl2pPr>
            <a:lvl3pPr>
              <a:defRPr sz="3150" b="1">
                <a:solidFill>
                  <a:srgbClr val="FBBF24"/>
                </a:solidFill>
                <a:latin typeface="Arial"/>
                <a:ea typeface="Arial"/>
                <a:cs typeface="Arial"/>
              </a:defRPr>
            </a:lvl3pPr>
            <a:lvl4pPr>
              <a:defRPr sz="3150" b="1">
                <a:solidFill>
                  <a:srgbClr val="FBBF24"/>
                </a:solidFill>
                <a:latin typeface="Arial"/>
                <a:ea typeface="Arial"/>
                <a:cs typeface="Arial"/>
              </a:defRPr>
            </a:lvl4pPr>
            <a:lvl5pPr>
              <a:defRPr sz="3150" b="1">
                <a:solidFill>
                  <a:srgbClr val="FBBF24"/>
                </a:solidFill>
                <a:latin typeface="Arial"/>
                <a:ea typeface="Arial"/>
                <a:cs typeface="Arial"/>
              </a:defRPr>
            </a:lvl5pPr>
            <a:lvl6pPr>
              <a:defRPr sz="3150" b="1">
                <a:solidFill>
                  <a:srgbClr val="FBBF24"/>
                </a:solidFill>
                <a:latin typeface="Arial"/>
                <a:ea typeface="Arial"/>
                <a:cs typeface="Arial"/>
              </a:defRPr>
            </a:lvl6pPr>
            <a:lvl7pPr>
              <a:defRPr sz="3150" b="1">
                <a:solidFill>
                  <a:srgbClr val="FBBF24"/>
                </a:solidFill>
                <a:latin typeface="Arial"/>
                <a:ea typeface="Arial"/>
                <a:cs typeface="Arial"/>
              </a:defRPr>
            </a:lvl7pPr>
            <a:lvl8pPr>
              <a:defRPr sz="3150" b="1">
                <a:solidFill>
                  <a:srgbClr val="FBBF24"/>
                </a:solidFill>
                <a:latin typeface="Arial"/>
                <a:ea typeface="Arial"/>
                <a:cs typeface="Arial"/>
              </a:defRPr>
            </a:lvl8pPr>
            <a:lvl9pPr>
              <a:defRPr sz="3150" b="1">
                <a:solidFill>
                  <a:srgbClr val="FBBF24"/>
                </a:solidFill>
                <a:latin typeface="Arial"/>
                <a:ea typeface="Arial"/>
                <a:cs typeface="Arial"/>
              </a:defRPr>
            </a:lvl9pPr>
          </a:lstStyle>
          <a:p xmlns:a="http://schemas.openxmlformats.org/drawingml/2006/main">
            <a:pPr>
              <a:defRPr sz="3150" b="1">
                <a:solidFill>
                  <a:srgbClr val="FBBF24"/>
                </a:solidFill>
                <a:latin typeface="Arial"/>
                <a:ea typeface="Arial"/>
                <a:cs typeface="Arial"/>
              </a:defRPr>
            </a:pPr>
            <a:r>
              <a:rPr sz="3150" b="1">
                <a:solidFill>
                  <a:srgbClr val="FBBF24"/>
                </a:solidFill>
                <a:latin typeface="Arial"/>
                <a:ea typeface="Arial"/>
                <a:cs typeface="Arial"/>
              </a:rPr>
              <a:t>30 FPS</a:t>
            </a:r>
          </a:p>
        </p:txBody>
      </p:sp>
      <p:sp>
        <p:nvSpPr>
          <p:cNvPr id="19" name="">
            <a:extLst xmlns:a="http://schemas.openxmlformats.org/drawingml/2006/main">
              <a:ext uri="{FF2B5EF4-FFF2-40B4-BE49-F238E27FC236}">
                <a16:creationId xmlns:a16="http://schemas.microsoft.com/office/drawing/2014/main" id="{BE641B9A-233B-4850-ABBA-B4F9398293F6}"/>
              </a:ext>
            </a:extLst>
          </p:cNvPr>
          <p:cNvSpPr>
            <a:spLocks xmlns:a="http://schemas.openxmlformats.org/drawingml/2006/main" noGrp="1"/>
          </p:cNvSpPr>
          <p:nvPr/>
        </p:nvSpPr>
        <p:spPr>
          <a:xfrm xmlns:a="http://schemas.openxmlformats.org/drawingml/2006/main">
            <a:off x="8420100" y="304800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94A3B8"/>
                </a:solidFill>
                <a:latin typeface="Arial"/>
                <a:ea typeface="Arial"/>
                <a:cs typeface="Arial"/>
              </a:defRPr>
            </a:defPPr>
            <a:lvl1pPr>
              <a:defRPr sz="1050" b="0">
                <a:solidFill>
                  <a:srgbClr val="94A3B8"/>
                </a:solidFill>
                <a:latin typeface="Arial"/>
                <a:ea typeface="Arial"/>
                <a:cs typeface="Arial"/>
              </a:defRPr>
            </a:lvl1pPr>
            <a:lvl2pPr>
              <a:defRPr sz="1050" b="0">
                <a:solidFill>
                  <a:srgbClr val="94A3B8"/>
                </a:solidFill>
                <a:latin typeface="Arial"/>
                <a:ea typeface="Arial"/>
                <a:cs typeface="Arial"/>
              </a:defRPr>
            </a:lvl2pPr>
            <a:lvl3pPr>
              <a:defRPr sz="1050" b="0">
                <a:solidFill>
                  <a:srgbClr val="94A3B8"/>
                </a:solidFill>
                <a:latin typeface="Arial"/>
                <a:ea typeface="Arial"/>
                <a:cs typeface="Arial"/>
              </a:defRPr>
            </a:lvl3pPr>
            <a:lvl4pPr>
              <a:defRPr sz="1050" b="0">
                <a:solidFill>
                  <a:srgbClr val="94A3B8"/>
                </a:solidFill>
                <a:latin typeface="Arial"/>
                <a:ea typeface="Arial"/>
                <a:cs typeface="Arial"/>
              </a:defRPr>
            </a:lvl4pPr>
            <a:lvl5pPr>
              <a:defRPr sz="1050" b="0">
                <a:solidFill>
                  <a:srgbClr val="94A3B8"/>
                </a:solidFill>
                <a:latin typeface="Arial"/>
                <a:ea typeface="Arial"/>
                <a:cs typeface="Arial"/>
              </a:defRPr>
            </a:lvl5pPr>
            <a:lvl6pPr>
              <a:defRPr sz="1050" b="0">
                <a:solidFill>
                  <a:srgbClr val="94A3B8"/>
                </a:solidFill>
                <a:latin typeface="Arial"/>
                <a:ea typeface="Arial"/>
                <a:cs typeface="Arial"/>
              </a:defRPr>
            </a:lvl6pPr>
            <a:lvl7pPr>
              <a:defRPr sz="1050" b="0">
                <a:solidFill>
                  <a:srgbClr val="94A3B8"/>
                </a:solidFill>
                <a:latin typeface="Arial"/>
                <a:ea typeface="Arial"/>
                <a:cs typeface="Arial"/>
              </a:defRPr>
            </a:lvl7pPr>
            <a:lvl8pPr>
              <a:defRPr sz="1050" b="0">
                <a:solidFill>
                  <a:srgbClr val="94A3B8"/>
                </a:solidFill>
                <a:latin typeface="Arial"/>
                <a:ea typeface="Arial"/>
                <a:cs typeface="Arial"/>
              </a:defRPr>
            </a:lvl8pPr>
            <a:lvl9pPr>
              <a:defRPr sz="1050" b="0">
                <a:solidFill>
                  <a:srgbClr val="94A3B8"/>
                </a:solidFill>
                <a:latin typeface="Arial"/>
                <a:ea typeface="Arial"/>
                <a:cs typeface="Arial"/>
              </a:defRPr>
            </a:lvl9pPr>
          </a:lstStyle>
          <a:p xmlns:a="http://schemas.openxmlformats.org/drawingml/2006/main">
            <a:pPr>
              <a:defRPr sz="1050" b="0">
                <a:solidFill>
                  <a:srgbClr val="94A3B8"/>
                </a:solidFill>
                <a:latin typeface="Arial"/>
                <a:ea typeface="Arial"/>
                <a:cs typeface="Arial"/>
              </a:defRPr>
            </a:pPr>
            <a:r>
              <a:rPr sz="1050" b="0">
                <a:solidFill>
                  <a:srgbClr val="94A3B8"/>
                </a:solidFill>
                <a:latin typeface="Arial"/>
                <a:ea typeface="Arial"/>
                <a:cs typeface="Arial"/>
              </a:rPr>
              <a:t>Tốc độ camera ổn định (Multi-threaded capture)</a:t>
            </a:r>
          </a:p>
        </p:txBody>
      </p:sp>
      <p:sp>
        <p:nvSpPr>
          <p:cNvPr id="20" name="">
            <a:extLst xmlns:a="http://schemas.openxmlformats.org/drawingml/2006/main">
              <a:ext uri="{FF2B5EF4-FFF2-40B4-BE49-F238E27FC236}">
                <a16:creationId xmlns:a16="http://schemas.microsoft.com/office/drawing/2014/main" id="{AA42654E-219E-4864-BE61-683A9062ACE6}"/>
              </a:ext>
            </a:extLst>
          </p:cNvPr>
          <p:cNvSpPr>
            <a:spLocks xmlns:a="http://schemas.openxmlformats.org/drawingml/2006/main" noGrp="1"/>
          </p:cNvSpPr>
          <p:nvPr/>
        </p:nvSpPr>
        <p:spPr>
          <a:xfrm xmlns:a="http://schemas.openxmlformats.org/drawingml/2006/main">
            <a:off x="8420100" y="3381375"/>
            <a:ext cx="2895600" cy="9525"/>
          </a:xfrm>
          <a:prstGeom xmlns:a="http://schemas.openxmlformats.org/drawingml/2006/main" prst="rect">
            <a:avLst/>
          </a:prstGeom>
          <a:solidFill xmlns:a="http://schemas.openxmlformats.org/drawingml/2006/main">
            <a:srgbClr val="1F3354"/>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F3354"/>
                </a:solidFill>
                <a:latin typeface="Arial"/>
                <a:ea typeface="Arial"/>
                <a:cs typeface="Arial"/>
              </a:defRPr>
            </a:defPPr>
            <a:lvl1pPr>
              <a:defRPr sz="750">
                <a:solidFill>
                  <a:srgbClr val="1F3354"/>
                </a:solidFill>
                <a:latin typeface="Arial"/>
                <a:ea typeface="Arial"/>
                <a:cs typeface="Arial"/>
              </a:defRPr>
            </a:lvl1pPr>
            <a:lvl2pPr>
              <a:defRPr sz="750">
                <a:solidFill>
                  <a:srgbClr val="1F3354"/>
                </a:solidFill>
                <a:latin typeface="Arial"/>
                <a:ea typeface="Arial"/>
                <a:cs typeface="Arial"/>
              </a:defRPr>
            </a:lvl2pPr>
            <a:lvl3pPr>
              <a:defRPr sz="750">
                <a:solidFill>
                  <a:srgbClr val="1F3354"/>
                </a:solidFill>
                <a:latin typeface="Arial"/>
                <a:ea typeface="Arial"/>
                <a:cs typeface="Arial"/>
              </a:defRPr>
            </a:lvl3pPr>
            <a:lvl4pPr>
              <a:defRPr sz="750">
                <a:solidFill>
                  <a:srgbClr val="1F3354"/>
                </a:solidFill>
                <a:latin typeface="Arial"/>
                <a:ea typeface="Arial"/>
                <a:cs typeface="Arial"/>
              </a:defRPr>
            </a:lvl4pPr>
            <a:lvl5pPr>
              <a:defRPr sz="750">
                <a:solidFill>
                  <a:srgbClr val="1F3354"/>
                </a:solidFill>
                <a:latin typeface="Arial"/>
                <a:ea typeface="Arial"/>
                <a:cs typeface="Arial"/>
              </a:defRPr>
            </a:lvl5pPr>
            <a:lvl6pPr>
              <a:defRPr sz="750">
                <a:solidFill>
                  <a:srgbClr val="1F3354"/>
                </a:solidFill>
                <a:latin typeface="Arial"/>
                <a:ea typeface="Arial"/>
                <a:cs typeface="Arial"/>
              </a:defRPr>
            </a:lvl6pPr>
            <a:lvl7pPr>
              <a:defRPr sz="750">
                <a:solidFill>
                  <a:srgbClr val="1F3354"/>
                </a:solidFill>
                <a:latin typeface="Arial"/>
                <a:ea typeface="Arial"/>
                <a:cs typeface="Arial"/>
              </a:defRPr>
            </a:lvl7pPr>
            <a:lvl8pPr>
              <a:defRPr sz="750">
                <a:solidFill>
                  <a:srgbClr val="1F3354"/>
                </a:solidFill>
                <a:latin typeface="Arial"/>
                <a:ea typeface="Arial"/>
                <a:cs typeface="Arial"/>
              </a:defRPr>
            </a:lvl8pPr>
            <a:lvl9pPr>
              <a:defRPr sz="750">
                <a:solidFill>
                  <a:srgbClr val="1F3354"/>
                </a:solidFill>
                <a:latin typeface="Arial"/>
                <a:ea typeface="Arial"/>
                <a:cs typeface="Arial"/>
              </a:defRPr>
            </a:lvl9pPr>
          </a:lstStyle>
          <a:p xmlns:a="http://schemas.openxmlformats.org/drawingml/2006/main">
            <a:pPr>
              <a:defRPr sz="750">
                <a:solidFill>
                  <a:srgbClr val="1F3354"/>
                </a:solidFill>
                <a:latin typeface="Arial"/>
                <a:ea typeface="Arial"/>
                <a:cs typeface="Arial"/>
              </a:defRPr>
            </a:pPr>
            <a:r>
              <a:rPr sz="750">
                <a:solidFill>
                  <a:srgbClr val="1F3354"/>
                </a:solidFill>
                <a:latin typeface="Arial"/>
                <a:ea typeface="Arial"/>
                <a:cs typeface="Arial"/>
              </a:rPr>
              <a:t> </a:t>
            </a:r>
          </a:p>
        </p:txBody>
      </p:sp>
      <p:sp>
        <p:nvSpPr>
          <p:cNvPr id="21" name="">
            <a:extLst xmlns:a="http://schemas.openxmlformats.org/drawingml/2006/main">
              <a:ext uri="{FF2B5EF4-FFF2-40B4-BE49-F238E27FC236}">
                <a16:creationId xmlns:a16="http://schemas.microsoft.com/office/drawing/2014/main" id="{A4D009DD-8A32-44B3-8A80-E6083538BB7E}"/>
              </a:ext>
            </a:extLst>
          </p:cNvPr>
          <p:cNvSpPr>
            <a:spLocks xmlns:a="http://schemas.openxmlformats.org/drawingml/2006/main" noGrp="1"/>
          </p:cNvSpPr>
          <p:nvPr/>
        </p:nvSpPr>
        <p:spPr>
          <a:xfrm xmlns:a="http://schemas.openxmlformats.org/drawingml/2006/main">
            <a:off x="8420100" y="3571875"/>
            <a:ext cx="28956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Độ trễ suy luận mô hình CNN: ~6ms trên CPU</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Tổng độ trễ toàn pipeline: 20-30ms mượt mà</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Tự động kết nối lại khi cắm/rút USB camera</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Triệt tiêu 100% khung vàng rác giao diện</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Khả năng nhận diện camera ngoài đạt 99.84%</a:t>
            </a:r>
          </a:p>
        </p:txBody>
      </p:sp>
      <p:sp>
        <p:nvSpPr>
          <p:cNvPr id="22" name="">
            <a:extLst xmlns:a="http://schemas.openxmlformats.org/drawingml/2006/main">
              <a:ext uri="{FF2B5EF4-FFF2-40B4-BE49-F238E27FC236}">
                <a16:creationId xmlns:a16="http://schemas.microsoft.com/office/drawing/2014/main" id="{FA2A9A3E-C777-4C53-83E3-4055303F71F0}"/>
              </a:ext>
            </a:extLst>
          </p:cNvPr>
          <p:cNvSpPr>
            <a:spLocks xmlns:a="http://schemas.openxmlformats.org/drawingml/2006/main" noGrp="1"/>
          </p:cNvSpPr>
          <p:nvPr/>
        </p:nvSpPr>
        <p:spPr>
          <a:xfrm xmlns:a="http://schemas.openxmlformats.org/drawingml/2006/main">
            <a:off x="609600" y="5953125"/>
            <a:ext cx="10972800" cy="428625"/>
          </a:xfrm>
          <a:prstGeom xmlns:a="http://schemas.openxmlformats.org/drawingml/2006/main" prst="rect">
            <a:avLst/>
          </a:prstGeom>
          <a:solidFill xmlns:a="http://schemas.openxmlformats.org/drawingml/2006/main">
            <a:srgbClr val="0E1728"/>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0E1728"/>
                </a:solidFill>
                <a:latin typeface="Arial"/>
                <a:ea typeface="Arial"/>
                <a:cs typeface="Arial"/>
              </a:defRPr>
            </a:defPPr>
            <a:lvl1pPr>
              <a:defRPr sz="750">
                <a:solidFill>
                  <a:srgbClr val="0E1728"/>
                </a:solidFill>
                <a:latin typeface="Arial"/>
                <a:ea typeface="Arial"/>
                <a:cs typeface="Arial"/>
              </a:defRPr>
            </a:lvl1pPr>
            <a:lvl2pPr>
              <a:defRPr sz="750">
                <a:solidFill>
                  <a:srgbClr val="0E1728"/>
                </a:solidFill>
                <a:latin typeface="Arial"/>
                <a:ea typeface="Arial"/>
                <a:cs typeface="Arial"/>
              </a:defRPr>
            </a:lvl2pPr>
            <a:lvl3pPr>
              <a:defRPr sz="750">
                <a:solidFill>
                  <a:srgbClr val="0E1728"/>
                </a:solidFill>
                <a:latin typeface="Arial"/>
                <a:ea typeface="Arial"/>
                <a:cs typeface="Arial"/>
              </a:defRPr>
            </a:lvl3pPr>
            <a:lvl4pPr>
              <a:defRPr sz="750">
                <a:solidFill>
                  <a:srgbClr val="0E1728"/>
                </a:solidFill>
                <a:latin typeface="Arial"/>
                <a:ea typeface="Arial"/>
                <a:cs typeface="Arial"/>
              </a:defRPr>
            </a:lvl4pPr>
            <a:lvl5pPr>
              <a:defRPr sz="750">
                <a:solidFill>
                  <a:srgbClr val="0E1728"/>
                </a:solidFill>
                <a:latin typeface="Arial"/>
                <a:ea typeface="Arial"/>
                <a:cs typeface="Arial"/>
              </a:defRPr>
            </a:lvl5pPr>
            <a:lvl6pPr>
              <a:defRPr sz="750">
                <a:solidFill>
                  <a:srgbClr val="0E1728"/>
                </a:solidFill>
                <a:latin typeface="Arial"/>
                <a:ea typeface="Arial"/>
                <a:cs typeface="Arial"/>
              </a:defRPr>
            </a:lvl6pPr>
            <a:lvl7pPr>
              <a:defRPr sz="750">
                <a:solidFill>
                  <a:srgbClr val="0E1728"/>
                </a:solidFill>
                <a:latin typeface="Arial"/>
                <a:ea typeface="Arial"/>
                <a:cs typeface="Arial"/>
              </a:defRPr>
            </a:lvl7pPr>
            <a:lvl8pPr>
              <a:defRPr sz="750">
                <a:solidFill>
                  <a:srgbClr val="0E1728"/>
                </a:solidFill>
                <a:latin typeface="Arial"/>
                <a:ea typeface="Arial"/>
                <a:cs typeface="Arial"/>
              </a:defRPr>
            </a:lvl8pPr>
            <a:lvl9pPr>
              <a:defRPr sz="750">
                <a:solidFill>
                  <a:srgbClr val="0E1728"/>
                </a:solidFill>
                <a:latin typeface="Arial"/>
                <a:ea typeface="Arial"/>
                <a:cs typeface="Arial"/>
              </a:defRPr>
            </a:lvl9pPr>
          </a:lstStyle>
          <a:p xmlns:a="http://schemas.openxmlformats.org/drawingml/2006/main">
            <a:pPr>
              <a:defRPr sz="750">
                <a:solidFill>
                  <a:srgbClr val="0E1728"/>
                </a:solidFill>
                <a:latin typeface="Arial"/>
                <a:ea typeface="Arial"/>
                <a:cs typeface="Arial"/>
              </a:defRPr>
            </a:pPr>
            <a:r>
              <a:rPr sz="750">
                <a:solidFill>
                  <a:srgbClr val="0E1728"/>
                </a:solidFill>
                <a:latin typeface="Arial"/>
                <a:ea typeface="Arial"/>
                <a:cs typeface="Arial"/>
              </a:rPr>
              <a:t> </a:t>
            </a:r>
          </a:p>
        </p:txBody>
      </p:sp>
      <p:sp>
        <p:nvSpPr>
          <p:cNvPr id="23" name="">
            <a:extLst xmlns:a="http://schemas.openxmlformats.org/drawingml/2006/main">
              <a:ext uri="{FF2B5EF4-FFF2-40B4-BE49-F238E27FC236}">
                <a16:creationId xmlns:a16="http://schemas.microsoft.com/office/drawing/2014/main" id="{CC1478AB-F6F8-49FD-8FEA-E91ACA92D64A}"/>
              </a:ext>
            </a:extLst>
          </p:cNvPr>
          <p:cNvSpPr>
            <a:spLocks xmlns:a="http://schemas.openxmlformats.org/drawingml/2006/main" noGrp="1"/>
          </p:cNvSpPr>
          <p:nvPr/>
        </p:nvSpPr>
        <p:spPr>
          <a:xfrm xmlns:a="http://schemas.openxmlformats.org/drawingml/2006/main">
            <a:off x="800100" y="6076950"/>
            <a:ext cx="10591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TRỌNG SỐ TỐT NHẤT: liveness_cam4k.h5 &amp; web_models/liveness_cam4k.tflite  |  CẢM BIẾN: Camera USB SC-M200  |  NGÀY: 20/10/2026</a:t>
            </a:r>
          </a:p>
        </p:txBody>
      </p:sp>
    </p:spTree>
    <p:extLst>
      <p:ext uri="{BB962C8B-B14F-4D97-AF65-F5344CB8AC3E}">
        <p14:creationId xmlns:p14="http://schemas.microsoft.com/office/powerpoint/2010/main" val="1901487323"/>
      </p:ext>
    </p:extLst>
  </p:cSld>
</p:sld>
</file>

<file path=ppt/slides/slide2.xml><?xml version="1.0" encoding="utf-8"?>
<p:sld xmlns:p="http://schemas.openxmlformats.org/presentationml/2006/main">
  <p:cSld>
    <p:bg>
      <p:bgPr>
        <a:solidFill xmlns:a="http://schemas.openxmlformats.org/drawingml/2006/main">
          <a:srgbClr val="0A0F1D"/>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9CC09EE-171D-458A-BFA3-1A31C0AEB67A}"/>
              </a:ext>
            </a:extLst>
          </p:cNvPr>
          <p:cNvSpPr>
            <a:spLocks xmlns:a="http://schemas.openxmlformats.org/drawingml/2006/main" noGrp="1"/>
          </p:cNvSpPr>
          <p:nvPr/>
        </p:nvSpPr>
        <p:spPr>
          <a:xfrm xmlns:a="http://schemas.openxmlformats.org/drawingml/2006/main">
            <a:off x="6096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QUÁ TRÌNH HUẤN LUYỆN &amp; HỘI TỤ (TRAINING DYNAMICS)</a:t>
            </a:r>
          </a:p>
        </p:txBody>
      </p:sp>
      <p:sp>
        <p:nvSpPr>
          <p:cNvPr id="2" name="">
            <a:extLst xmlns:a="http://schemas.openxmlformats.org/drawingml/2006/main">
              <a:ext uri="{FF2B5EF4-FFF2-40B4-BE49-F238E27FC236}">
                <a16:creationId xmlns:a16="http://schemas.microsoft.com/office/drawing/2014/main" id="{14E7324F-6181-465A-BA78-EA7173AD4249}"/>
              </a:ext>
            </a:extLst>
          </p:cNvPr>
          <p:cNvSpPr>
            <a:spLocks xmlns:a="http://schemas.openxmlformats.org/drawingml/2006/main" noGrp="1"/>
          </p:cNvSpPr>
          <p:nvPr/>
        </p:nvSpPr>
        <p:spPr>
          <a:xfrm xmlns:a="http://schemas.openxmlformats.org/drawingml/2006/main">
            <a:off x="609600" y="49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FFFFFF"/>
                </a:solidFill>
                <a:latin typeface="Arial"/>
                <a:ea typeface="Arial"/>
                <a:cs typeface="Arial"/>
              </a:defRPr>
            </a:defPPr>
            <a:lvl1pPr>
              <a:defRPr sz="2250" b="1">
                <a:solidFill>
                  <a:srgbClr val="FFFFFF"/>
                </a:solidFill>
                <a:latin typeface="Arial"/>
                <a:ea typeface="Arial"/>
                <a:cs typeface="Arial"/>
              </a:defRPr>
            </a:lvl1pPr>
            <a:lvl2pPr>
              <a:defRPr sz="2250" b="1">
                <a:solidFill>
                  <a:srgbClr val="FFFFFF"/>
                </a:solidFill>
                <a:latin typeface="Arial"/>
                <a:ea typeface="Arial"/>
                <a:cs typeface="Arial"/>
              </a:defRPr>
            </a:lvl2pPr>
            <a:lvl3pPr>
              <a:defRPr sz="2250" b="1">
                <a:solidFill>
                  <a:srgbClr val="FFFFFF"/>
                </a:solidFill>
                <a:latin typeface="Arial"/>
                <a:ea typeface="Arial"/>
                <a:cs typeface="Arial"/>
              </a:defRPr>
            </a:lvl3pPr>
            <a:lvl4pPr>
              <a:defRPr sz="2250" b="1">
                <a:solidFill>
                  <a:srgbClr val="FFFFFF"/>
                </a:solidFill>
                <a:latin typeface="Arial"/>
                <a:ea typeface="Arial"/>
                <a:cs typeface="Arial"/>
              </a:defRPr>
            </a:lvl4pPr>
            <a:lvl5pPr>
              <a:defRPr sz="2250" b="1">
                <a:solidFill>
                  <a:srgbClr val="FFFFFF"/>
                </a:solidFill>
                <a:latin typeface="Arial"/>
                <a:ea typeface="Arial"/>
                <a:cs typeface="Arial"/>
              </a:defRPr>
            </a:lvl5pPr>
            <a:lvl6pPr>
              <a:defRPr sz="2250" b="1">
                <a:solidFill>
                  <a:srgbClr val="FFFFFF"/>
                </a:solidFill>
                <a:latin typeface="Arial"/>
                <a:ea typeface="Arial"/>
                <a:cs typeface="Arial"/>
              </a:defRPr>
            </a:lvl6pPr>
            <a:lvl7pPr>
              <a:defRPr sz="2250" b="1">
                <a:solidFill>
                  <a:srgbClr val="FFFFFF"/>
                </a:solidFill>
                <a:latin typeface="Arial"/>
                <a:ea typeface="Arial"/>
                <a:cs typeface="Arial"/>
              </a:defRPr>
            </a:lvl7pPr>
            <a:lvl8pPr>
              <a:defRPr sz="2250" b="1">
                <a:solidFill>
                  <a:srgbClr val="FFFFFF"/>
                </a:solidFill>
                <a:latin typeface="Arial"/>
                <a:ea typeface="Arial"/>
                <a:cs typeface="Arial"/>
              </a:defRPr>
            </a:lvl8pPr>
            <a:lvl9pPr>
              <a:defRPr sz="2250" b="1">
                <a:solidFill>
                  <a:srgbClr val="FFFFFF"/>
                </a:solidFill>
                <a:latin typeface="Arial"/>
                <a:ea typeface="Arial"/>
                <a:cs typeface="Arial"/>
              </a:defRPr>
            </a:lvl9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Quá Trình Huấn Luyện &amp; Biểu Đồ Hội Tụ</a:t>
            </a:r>
          </a:p>
        </p:txBody>
      </p:sp>
      <p:sp>
        <p:nvSpPr>
          <p:cNvPr id="3" name="">
            <a:extLst xmlns:a="http://schemas.openxmlformats.org/drawingml/2006/main">
              <a:ext uri="{FF2B5EF4-FFF2-40B4-BE49-F238E27FC236}">
                <a16:creationId xmlns:a16="http://schemas.microsoft.com/office/drawing/2014/main" id="{4CCCAFDD-9518-49ED-B9C0-D5DE3559727C}"/>
              </a:ext>
            </a:extLst>
          </p:cNvPr>
          <p:cNvSpPr>
            <a:spLocks xmlns:a="http://schemas.openxmlformats.org/drawingml/2006/main" noGrp="1"/>
          </p:cNvSpPr>
          <p:nvPr/>
        </p:nvSpPr>
        <p:spPr>
          <a:xfrm xmlns:a="http://schemas.openxmlformats.org/drawingml/2006/main">
            <a:off x="609600" y="9144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94A3B8"/>
                </a:solidFill>
                <a:latin typeface="Arial"/>
                <a:ea typeface="Arial"/>
                <a:cs typeface="Arial"/>
              </a:defRPr>
            </a:defPPr>
            <a:lvl1pPr>
              <a:defRPr sz="1200" b="0">
                <a:solidFill>
                  <a:srgbClr val="94A3B8"/>
                </a:solidFill>
                <a:latin typeface="Arial"/>
                <a:ea typeface="Arial"/>
                <a:cs typeface="Arial"/>
              </a:defRPr>
            </a:lvl1pPr>
            <a:lvl2pPr>
              <a:defRPr sz="1200" b="0">
                <a:solidFill>
                  <a:srgbClr val="94A3B8"/>
                </a:solidFill>
                <a:latin typeface="Arial"/>
                <a:ea typeface="Arial"/>
                <a:cs typeface="Arial"/>
              </a:defRPr>
            </a:lvl2pPr>
            <a:lvl3pPr>
              <a:defRPr sz="1200" b="0">
                <a:solidFill>
                  <a:srgbClr val="94A3B8"/>
                </a:solidFill>
                <a:latin typeface="Arial"/>
                <a:ea typeface="Arial"/>
                <a:cs typeface="Arial"/>
              </a:defRPr>
            </a:lvl3pPr>
            <a:lvl4pPr>
              <a:defRPr sz="1200" b="0">
                <a:solidFill>
                  <a:srgbClr val="94A3B8"/>
                </a:solidFill>
                <a:latin typeface="Arial"/>
                <a:ea typeface="Arial"/>
                <a:cs typeface="Arial"/>
              </a:defRPr>
            </a:lvl4pPr>
            <a:lvl5pPr>
              <a:defRPr sz="1200" b="0">
                <a:solidFill>
                  <a:srgbClr val="94A3B8"/>
                </a:solidFill>
                <a:latin typeface="Arial"/>
                <a:ea typeface="Arial"/>
                <a:cs typeface="Arial"/>
              </a:defRPr>
            </a:lvl5pPr>
            <a:lvl6pPr>
              <a:defRPr sz="1200" b="0">
                <a:solidFill>
                  <a:srgbClr val="94A3B8"/>
                </a:solidFill>
                <a:latin typeface="Arial"/>
                <a:ea typeface="Arial"/>
                <a:cs typeface="Arial"/>
              </a:defRPr>
            </a:lvl6pPr>
            <a:lvl7pPr>
              <a:defRPr sz="1200" b="0">
                <a:solidFill>
                  <a:srgbClr val="94A3B8"/>
                </a:solidFill>
                <a:latin typeface="Arial"/>
                <a:ea typeface="Arial"/>
                <a:cs typeface="Arial"/>
              </a:defRPr>
            </a:lvl7pPr>
            <a:lvl8pPr>
              <a:defRPr sz="1200" b="0">
                <a:solidFill>
                  <a:srgbClr val="94A3B8"/>
                </a:solidFill>
                <a:latin typeface="Arial"/>
                <a:ea typeface="Arial"/>
                <a:cs typeface="Arial"/>
              </a:defRPr>
            </a:lvl8pPr>
            <a:lvl9pPr>
              <a:defRPr sz="1200" b="0">
                <a:solidFill>
                  <a:srgbClr val="94A3B8"/>
                </a:solidFill>
                <a:latin typeface="Arial"/>
                <a:ea typeface="Arial"/>
                <a:cs typeface="Arial"/>
              </a:defRPr>
            </a:lvl9pPr>
          </a:lstStyle>
          <a:p xmlns:a="http://schemas.openxmlformats.org/drawingml/2006/main">
            <a:pPr>
              <a:defRPr sz="1200" b="0">
                <a:solidFill>
                  <a:srgbClr val="94A3B8"/>
                </a:solidFill>
                <a:latin typeface="Arial"/>
                <a:ea typeface="Arial"/>
                <a:cs typeface="Arial"/>
              </a:defRPr>
            </a:pPr>
            <a:r>
              <a:rPr sz="1200" b="0">
                <a:solidFill>
                  <a:srgbClr val="94A3B8"/>
                </a:solidFill>
                <a:latin typeface="Arial"/>
                <a:ea typeface="Arial"/>
                <a:cs typeface="Arial"/>
              </a:rPr>
              <a:t>Theo dõi biến thiên Loss và Accuracy qua 18 Epochs - Lưu trữ checkpoint tối ưu tại Epoch 14</a:t>
            </a:r>
          </a:p>
        </p:txBody>
      </p:sp>
      <p:sp>
        <p:nvSpPr>
          <p:cNvPr id="4" name="">
            <a:extLst xmlns:a="http://schemas.openxmlformats.org/drawingml/2006/main">
              <a:ext uri="{FF2B5EF4-FFF2-40B4-BE49-F238E27FC236}">
                <a16:creationId xmlns:a16="http://schemas.microsoft.com/office/drawing/2014/main" id="{83718371-0B69-41D9-8EE6-6FA04FE216C4}"/>
              </a:ext>
            </a:extLst>
          </p:cNvPr>
          <p:cNvSpPr>
            <a:spLocks xmlns:a="http://schemas.openxmlformats.org/drawingml/2006/main" noGrp="1"/>
          </p:cNvSpPr>
          <p:nvPr/>
        </p:nvSpPr>
        <p:spPr>
          <a:xfrm xmlns:a="http://schemas.openxmlformats.org/drawingml/2006/main">
            <a:off x="609600" y="64389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64748B"/>
                </a:solidFill>
                <a:latin typeface="Arial"/>
                <a:ea typeface="Arial"/>
                <a:cs typeface="Arial"/>
              </a:defRPr>
            </a:defPPr>
            <a:lvl1pPr>
              <a:defRPr sz="975" b="0">
                <a:solidFill>
                  <a:srgbClr val="64748B"/>
                </a:solidFill>
                <a:latin typeface="Arial"/>
                <a:ea typeface="Arial"/>
                <a:cs typeface="Arial"/>
              </a:defRPr>
            </a:lvl1pPr>
            <a:lvl2pPr>
              <a:defRPr sz="975" b="0">
                <a:solidFill>
                  <a:srgbClr val="64748B"/>
                </a:solidFill>
                <a:latin typeface="Arial"/>
                <a:ea typeface="Arial"/>
                <a:cs typeface="Arial"/>
              </a:defRPr>
            </a:lvl2pPr>
            <a:lvl3pPr>
              <a:defRPr sz="975" b="0">
                <a:solidFill>
                  <a:srgbClr val="64748B"/>
                </a:solidFill>
                <a:latin typeface="Arial"/>
                <a:ea typeface="Arial"/>
                <a:cs typeface="Arial"/>
              </a:defRPr>
            </a:lvl3pPr>
            <a:lvl4pPr>
              <a:defRPr sz="975" b="0">
                <a:solidFill>
                  <a:srgbClr val="64748B"/>
                </a:solidFill>
                <a:latin typeface="Arial"/>
                <a:ea typeface="Arial"/>
                <a:cs typeface="Arial"/>
              </a:defRPr>
            </a:lvl4pPr>
            <a:lvl5pPr>
              <a:defRPr sz="975" b="0">
                <a:solidFill>
                  <a:srgbClr val="64748B"/>
                </a:solidFill>
                <a:latin typeface="Arial"/>
                <a:ea typeface="Arial"/>
                <a:cs typeface="Arial"/>
              </a:defRPr>
            </a:lvl5pPr>
            <a:lvl6pPr>
              <a:defRPr sz="975" b="0">
                <a:solidFill>
                  <a:srgbClr val="64748B"/>
                </a:solidFill>
                <a:latin typeface="Arial"/>
                <a:ea typeface="Arial"/>
                <a:cs typeface="Arial"/>
              </a:defRPr>
            </a:lvl6pPr>
            <a:lvl7pPr>
              <a:defRPr sz="975" b="0">
                <a:solidFill>
                  <a:srgbClr val="64748B"/>
                </a:solidFill>
                <a:latin typeface="Arial"/>
                <a:ea typeface="Arial"/>
                <a:cs typeface="Arial"/>
              </a:defRPr>
            </a:lvl7pPr>
            <a:lvl8pPr>
              <a:defRPr sz="975" b="0">
                <a:solidFill>
                  <a:srgbClr val="64748B"/>
                </a:solidFill>
                <a:latin typeface="Arial"/>
                <a:ea typeface="Arial"/>
                <a:cs typeface="Arial"/>
              </a:defRPr>
            </a:lvl8pPr>
            <a:lvl9pPr>
              <a:defRPr sz="975" b="0">
                <a:solidFill>
                  <a:srgbClr val="64748B"/>
                </a:solidFill>
                <a:latin typeface="Arial"/>
                <a:ea typeface="Arial"/>
                <a:cs typeface="Arial"/>
              </a:defRPr>
            </a:lvl9pPr>
          </a:lstStyle>
          <a:p xmlns:a="http://schemas.openxmlformats.org/drawingml/2006/main">
            <a:pPr>
              <a:defRPr sz="975" b="0">
                <a:solidFill>
                  <a:srgbClr val="64748B"/>
                </a:solidFill>
                <a:latin typeface="Arial"/>
                <a:ea typeface="Arial"/>
                <a:cs typeface="Arial"/>
              </a:defRPr>
            </a:pPr>
            <a:r>
              <a:rPr sz="975" b="0">
                <a:solidFill>
                  <a:srgbClr val="64748B"/>
                </a:solidFill>
                <a:latin typeface="Arial"/>
                <a:ea typeface="Arial"/>
                <a:cs typeface="Arial"/>
              </a:rPr>
              <a:t>FACE ANTI-SPOOFING SYSTEM • CAMERA USB SC-M200</a:t>
            </a:r>
          </a:p>
        </p:txBody>
      </p:sp>
      <p:sp>
        <p:nvSpPr>
          <p:cNvPr id="5" name="">
            <a:extLst xmlns:a="http://schemas.openxmlformats.org/drawingml/2006/main">
              <a:ext uri="{FF2B5EF4-FFF2-40B4-BE49-F238E27FC236}">
                <a16:creationId xmlns:a16="http://schemas.microsoft.com/office/drawing/2014/main" id="{2B6D7ED9-3F72-4508-97C5-E2C0A24C3591}"/>
              </a:ext>
            </a:extLst>
          </p:cNvPr>
          <p:cNvSpPr>
            <a:spLocks xmlns:a="http://schemas.openxmlformats.org/drawingml/2006/main" noGrp="1"/>
          </p:cNvSpPr>
          <p:nvPr/>
        </p:nvSpPr>
        <p:spPr>
          <a:xfrm xmlns:a="http://schemas.openxmlformats.org/drawingml/2006/main">
            <a:off x="11049000" y="64389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SLIDE 02 / 05</a:t>
            </a:r>
          </a:p>
        </p:txBody>
      </p:sp>
      <p:sp>
        <p:nvSpPr>
          <p:cNvPr id="6" name="">
            <a:extLst xmlns:a="http://schemas.openxmlformats.org/drawingml/2006/main">
              <a:ext uri="{FF2B5EF4-FFF2-40B4-BE49-F238E27FC236}">
                <a16:creationId xmlns:a16="http://schemas.microsoft.com/office/drawing/2014/main" id="{9CC00716-A480-40FD-8C69-82F0ADA6AB5F}"/>
              </a:ext>
            </a:extLst>
          </p:cNvPr>
          <p:cNvSpPr>
            <a:spLocks xmlns:a="http://schemas.openxmlformats.org/drawingml/2006/main" noGrp="1"/>
          </p:cNvSpPr>
          <p:nvPr/>
        </p:nvSpPr>
        <p:spPr>
          <a:xfrm xmlns:a="http://schemas.openxmlformats.org/drawingml/2006/main">
            <a:off x="609600" y="1285875"/>
            <a:ext cx="2238375" cy="742950"/>
          </a:xfrm>
          <a:prstGeom xmlns:a="http://schemas.openxmlformats.org/drawingml/2006/main" prst="rect">
            <a:avLst/>
          </a:prstGeom>
          <a:solidFill xmlns:a="http://schemas.openxmlformats.org/drawingml/2006/main">
            <a:srgbClr val="111B2E"/>
          </a:solidFill>
          <a:ln xmlns:a="http://schemas.openxmlformats.org/drawingml/2006/main" w="9525">
            <a:solidFill>
              <a:srgbClr val="2563EB"/>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7" name="">
            <a:extLst xmlns:a="http://schemas.openxmlformats.org/drawingml/2006/main">
              <a:ext uri="{FF2B5EF4-FFF2-40B4-BE49-F238E27FC236}">
                <a16:creationId xmlns:a16="http://schemas.microsoft.com/office/drawing/2014/main" id="{5795F79B-F1D7-4B76-8BC7-466E5AA087D2}"/>
              </a:ext>
            </a:extLst>
          </p:cNvPr>
          <p:cNvSpPr>
            <a:spLocks xmlns:a="http://schemas.openxmlformats.org/drawingml/2006/main" noGrp="1"/>
          </p:cNvSpPr>
          <p:nvPr/>
        </p:nvSpPr>
        <p:spPr>
          <a:xfrm xmlns:a="http://schemas.openxmlformats.org/drawingml/2006/main">
            <a:off x="762000" y="1381125"/>
            <a:ext cx="19335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00" b="1">
                <a:solidFill>
                  <a:srgbClr val="38BDF8"/>
                </a:solidFill>
                <a:latin typeface="Arial"/>
                <a:ea typeface="Arial"/>
                <a:cs typeface="Arial"/>
              </a:defRPr>
            </a:defPPr>
            <a:lvl1pPr>
              <a:defRPr sz="900" b="1">
                <a:solidFill>
                  <a:srgbClr val="38BDF8"/>
                </a:solidFill>
                <a:latin typeface="Arial"/>
                <a:ea typeface="Arial"/>
                <a:cs typeface="Arial"/>
              </a:defRPr>
            </a:lvl1pPr>
            <a:lvl2pPr>
              <a:defRPr sz="900" b="1">
                <a:solidFill>
                  <a:srgbClr val="38BDF8"/>
                </a:solidFill>
                <a:latin typeface="Arial"/>
                <a:ea typeface="Arial"/>
                <a:cs typeface="Arial"/>
              </a:defRPr>
            </a:lvl2pPr>
            <a:lvl3pPr>
              <a:defRPr sz="900" b="1">
                <a:solidFill>
                  <a:srgbClr val="38BDF8"/>
                </a:solidFill>
                <a:latin typeface="Arial"/>
                <a:ea typeface="Arial"/>
                <a:cs typeface="Arial"/>
              </a:defRPr>
            </a:lvl3pPr>
            <a:lvl4pPr>
              <a:defRPr sz="900" b="1">
                <a:solidFill>
                  <a:srgbClr val="38BDF8"/>
                </a:solidFill>
                <a:latin typeface="Arial"/>
                <a:ea typeface="Arial"/>
                <a:cs typeface="Arial"/>
              </a:defRPr>
            </a:lvl4pPr>
            <a:lvl5pPr>
              <a:defRPr sz="900" b="1">
                <a:solidFill>
                  <a:srgbClr val="38BDF8"/>
                </a:solidFill>
                <a:latin typeface="Arial"/>
                <a:ea typeface="Arial"/>
                <a:cs typeface="Arial"/>
              </a:defRPr>
            </a:lvl5pPr>
            <a:lvl6pPr>
              <a:defRPr sz="900" b="1">
                <a:solidFill>
                  <a:srgbClr val="38BDF8"/>
                </a:solidFill>
                <a:latin typeface="Arial"/>
                <a:ea typeface="Arial"/>
                <a:cs typeface="Arial"/>
              </a:defRPr>
            </a:lvl6pPr>
            <a:lvl7pPr>
              <a:defRPr sz="900" b="1">
                <a:solidFill>
                  <a:srgbClr val="38BDF8"/>
                </a:solidFill>
                <a:latin typeface="Arial"/>
                <a:ea typeface="Arial"/>
                <a:cs typeface="Arial"/>
              </a:defRPr>
            </a:lvl7pPr>
            <a:lvl8pPr>
              <a:defRPr sz="900" b="1">
                <a:solidFill>
                  <a:srgbClr val="38BDF8"/>
                </a:solidFill>
                <a:latin typeface="Arial"/>
                <a:ea typeface="Arial"/>
                <a:cs typeface="Arial"/>
              </a:defRPr>
            </a:lvl8pPr>
            <a:lvl9pPr>
              <a:defRPr sz="900" b="1">
                <a:solidFill>
                  <a:srgbClr val="38BDF8"/>
                </a:solidFill>
                <a:latin typeface="Arial"/>
                <a:ea typeface="Arial"/>
                <a:cs typeface="Arial"/>
              </a:defRPr>
            </a:lvl9pPr>
          </a:lstStyle>
          <a:p xmlns:a="http://schemas.openxmlformats.org/drawingml/2006/main">
            <a:pPr>
              <a:defRPr sz="900" b="1">
                <a:solidFill>
                  <a:srgbClr val="38BDF8"/>
                </a:solidFill>
                <a:latin typeface="Arial"/>
                <a:ea typeface="Arial"/>
                <a:cs typeface="Arial"/>
              </a:defRPr>
            </a:pPr>
            <a:r>
              <a:rPr sz="900" b="1">
                <a:solidFill>
                  <a:srgbClr val="38BDF8"/>
                </a:solidFill>
                <a:latin typeface="Arial"/>
                <a:ea typeface="Arial"/>
                <a:cs typeface="Arial"/>
              </a:rPr>
              <a:t>CHECKPOINT TỐI ƯU</a:t>
            </a:r>
          </a:p>
        </p:txBody>
      </p:sp>
      <p:sp>
        <p:nvSpPr>
          <p:cNvPr id="8" name="">
            <a:extLst xmlns:a="http://schemas.openxmlformats.org/drawingml/2006/main">
              <a:ext uri="{FF2B5EF4-FFF2-40B4-BE49-F238E27FC236}">
                <a16:creationId xmlns:a16="http://schemas.microsoft.com/office/drawing/2014/main" id="{65077FDA-8E5F-4EB1-AF82-57849450571E}"/>
              </a:ext>
            </a:extLst>
          </p:cNvPr>
          <p:cNvSpPr>
            <a:spLocks xmlns:a="http://schemas.openxmlformats.org/drawingml/2006/main" noGrp="1"/>
          </p:cNvSpPr>
          <p:nvPr/>
        </p:nvSpPr>
        <p:spPr>
          <a:xfrm xmlns:a="http://schemas.openxmlformats.org/drawingml/2006/main">
            <a:off x="762000" y="1600200"/>
            <a:ext cx="19335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FFFFFF"/>
                </a:solidFill>
                <a:latin typeface="Arial"/>
                <a:ea typeface="Arial"/>
                <a:cs typeface="Arial"/>
              </a:defRPr>
            </a:defPPr>
            <a:lvl1pPr>
              <a:defRPr sz="1950" b="1">
                <a:solidFill>
                  <a:srgbClr val="FFFFFF"/>
                </a:solidFill>
                <a:latin typeface="Arial"/>
                <a:ea typeface="Arial"/>
                <a:cs typeface="Arial"/>
              </a:defRPr>
            </a:lvl1pPr>
            <a:lvl2pPr>
              <a:defRPr sz="1950" b="1">
                <a:solidFill>
                  <a:srgbClr val="FFFFFF"/>
                </a:solidFill>
                <a:latin typeface="Arial"/>
                <a:ea typeface="Arial"/>
                <a:cs typeface="Arial"/>
              </a:defRPr>
            </a:lvl2pPr>
            <a:lvl3pPr>
              <a:defRPr sz="1950" b="1">
                <a:solidFill>
                  <a:srgbClr val="FFFFFF"/>
                </a:solidFill>
                <a:latin typeface="Arial"/>
                <a:ea typeface="Arial"/>
                <a:cs typeface="Arial"/>
              </a:defRPr>
            </a:lvl3pPr>
            <a:lvl4pPr>
              <a:defRPr sz="1950" b="1">
                <a:solidFill>
                  <a:srgbClr val="FFFFFF"/>
                </a:solidFill>
                <a:latin typeface="Arial"/>
                <a:ea typeface="Arial"/>
                <a:cs typeface="Arial"/>
              </a:defRPr>
            </a:lvl4pPr>
            <a:lvl5pPr>
              <a:defRPr sz="1950" b="1">
                <a:solidFill>
                  <a:srgbClr val="FFFFFF"/>
                </a:solidFill>
                <a:latin typeface="Arial"/>
                <a:ea typeface="Arial"/>
                <a:cs typeface="Arial"/>
              </a:defRPr>
            </a:lvl5pPr>
            <a:lvl6pPr>
              <a:defRPr sz="1950" b="1">
                <a:solidFill>
                  <a:srgbClr val="FFFFFF"/>
                </a:solidFill>
                <a:latin typeface="Arial"/>
                <a:ea typeface="Arial"/>
                <a:cs typeface="Arial"/>
              </a:defRPr>
            </a:lvl6pPr>
            <a:lvl7pPr>
              <a:defRPr sz="1950" b="1">
                <a:solidFill>
                  <a:srgbClr val="FFFFFF"/>
                </a:solidFill>
                <a:latin typeface="Arial"/>
                <a:ea typeface="Arial"/>
                <a:cs typeface="Arial"/>
              </a:defRPr>
            </a:lvl7pPr>
            <a:lvl8pPr>
              <a:defRPr sz="1950" b="1">
                <a:solidFill>
                  <a:srgbClr val="FFFFFF"/>
                </a:solidFill>
                <a:latin typeface="Arial"/>
                <a:ea typeface="Arial"/>
                <a:cs typeface="Arial"/>
              </a:defRPr>
            </a:lvl8pPr>
            <a:lvl9pPr>
              <a:defRPr sz="1950" b="1">
                <a:solidFill>
                  <a:srgbClr val="FFFFFF"/>
                </a:solidFill>
                <a:latin typeface="Arial"/>
                <a:ea typeface="Arial"/>
                <a:cs typeface="Arial"/>
              </a:defRPr>
            </a:lvl9pPr>
          </a:lstStyle>
          <a:p xmlns:a="http://schemas.openxmlformats.org/drawingml/2006/main">
            <a:pPr>
              <a:defRPr sz="1950" b="1">
                <a:solidFill>
                  <a:srgbClr val="FFFFFF"/>
                </a:solidFill>
                <a:latin typeface="Arial"/>
                <a:ea typeface="Arial"/>
                <a:cs typeface="Arial"/>
              </a:defRPr>
            </a:pPr>
            <a:r>
              <a:rPr sz="1950" b="1">
                <a:solidFill>
                  <a:srgbClr val="FFFFFF"/>
                </a:solidFill>
                <a:latin typeface="Arial"/>
                <a:ea typeface="Arial"/>
                <a:cs typeface="Arial"/>
              </a:rPr>
              <a:t>Epoch 14 / 18</a:t>
            </a:r>
          </a:p>
        </p:txBody>
      </p:sp>
      <p:sp>
        <p:nvSpPr>
          <p:cNvPr id="9" name="">
            <a:extLst xmlns:a="http://schemas.openxmlformats.org/drawingml/2006/main">
              <a:ext uri="{FF2B5EF4-FFF2-40B4-BE49-F238E27FC236}">
                <a16:creationId xmlns:a16="http://schemas.microsoft.com/office/drawing/2014/main" id="{E02C3C37-BE52-435C-9999-2EEFBB78A867}"/>
              </a:ext>
            </a:extLst>
          </p:cNvPr>
          <p:cNvSpPr>
            <a:spLocks xmlns:a="http://schemas.openxmlformats.org/drawingml/2006/main" noGrp="1"/>
          </p:cNvSpPr>
          <p:nvPr/>
        </p:nvSpPr>
        <p:spPr>
          <a:xfrm xmlns:a="http://schemas.openxmlformats.org/drawingml/2006/main">
            <a:off x="2943225" y="1285875"/>
            <a:ext cx="2238375" cy="742950"/>
          </a:xfrm>
          <a:prstGeom xmlns:a="http://schemas.openxmlformats.org/drawingml/2006/main" prst="rect">
            <a:avLst/>
          </a:prstGeom>
          <a:solidFill xmlns:a="http://schemas.openxmlformats.org/drawingml/2006/main">
            <a:srgbClr val="111B2E"/>
          </a:solidFill>
          <a:ln xmlns:a="http://schemas.openxmlformats.org/drawingml/2006/main" w="9525">
            <a:solidFill>
              <a:srgbClr val="059669"/>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0" name="">
            <a:extLst xmlns:a="http://schemas.openxmlformats.org/drawingml/2006/main">
              <a:ext uri="{FF2B5EF4-FFF2-40B4-BE49-F238E27FC236}">
                <a16:creationId xmlns:a16="http://schemas.microsoft.com/office/drawing/2014/main" id="{D4C42057-4B9C-48FC-A234-4A62094A0731}"/>
              </a:ext>
            </a:extLst>
          </p:cNvPr>
          <p:cNvSpPr>
            <a:spLocks xmlns:a="http://schemas.openxmlformats.org/drawingml/2006/main" noGrp="1"/>
          </p:cNvSpPr>
          <p:nvPr/>
        </p:nvSpPr>
        <p:spPr>
          <a:xfrm xmlns:a="http://schemas.openxmlformats.org/drawingml/2006/main">
            <a:off x="3095625" y="1381125"/>
            <a:ext cx="19335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00" b="1">
                <a:solidFill>
                  <a:srgbClr val="34D399"/>
                </a:solidFill>
                <a:latin typeface="Arial"/>
                <a:ea typeface="Arial"/>
                <a:cs typeface="Arial"/>
              </a:defRPr>
            </a:defPPr>
            <a:lvl1pPr>
              <a:defRPr sz="900" b="1">
                <a:solidFill>
                  <a:srgbClr val="34D399"/>
                </a:solidFill>
                <a:latin typeface="Arial"/>
                <a:ea typeface="Arial"/>
                <a:cs typeface="Arial"/>
              </a:defRPr>
            </a:lvl1pPr>
            <a:lvl2pPr>
              <a:defRPr sz="900" b="1">
                <a:solidFill>
                  <a:srgbClr val="34D399"/>
                </a:solidFill>
                <a:latin typeface="Arial"/>
                <a:ea typeface="Arial"/>
                <a:cs typeface="Arial"/>
              </a:defRPr>
            </a:lvl2pPr>
            <a:lvl3pPr>
              <a:defRPr sz="900" b="1">
                <a:solidFill>
                  <a:srgbClr val="34D399"/>
                </a:solidFill>
                <a:latin typeface="Arial"/>
                <a:ea typeface="Arial"/>
                <a:cs typeface="Arial"/>
              </a:defRPr>
            </a:lvl3pPr>
            <a:lvl4pPr>
              <a:defRPr sz="900" b="1">
                <a:solidFill>
                  <a:srgbClr val="34D399"/>
                </a:solidFill>
                <a:latin typeface="Arial"/>
                <a:ea typeface="Arial"/>
                <a:cs typeface="Arial"/>
              </a:defRPr>
            </a:lvl4pPr>
            <a:lvl5pPr>
              <a:defRPr sz="900" b="1">
                <a:solidFill>
                  <a:srgbClr val="34D399"/>
                </a:solidFill>
                <a:latin typeface="Arial"/>
                <a:ea typeface="Arial"/>
                <a:cs typeface="Arial"/>
              </a:defRPr>
            </a:lvl5pPr>
            <a:lvl6pPr>
              <a:defRPr sz="900" b="1">
                <a:solidFill>
                  <a:srgbClr val="34D399"/>
                </a:solidFill>
                <a:latin typeface="Arial"/>
                <a:ea typeface="Arial"/>
                <a:cs typeface="Arial"/>
              </a:defRPr>
            </a:lvl6pPr>
            <a:lvl7pPr>
              <a:defRPr sz="900" b="1">
                <a:solidFill>
                  <a:srgbClr val="34D399"/>
                </a:solidFill>
                <a:latin typeface="Arial"/>
                <a:ea typeface="Arial"/>
                <a:cs typeface="Arial"/>
              </a:defRPr>
            </a:lvl7pPr>
            <a:lvl8pPr>
              <a:defRPr sz="900" b="1">
                <a:solidFill>
                  <a:srgbClr val="34D399"/>
                </a:solidFill>
                <a:latin typeface="Arial"/>
                <a:ea typeface="Arial"/>
                <a:cs typeface="Arial"/>
              </a:defRPr>
            </a:lvl8pPr>
            <a:lvl9pPr>
              <a:defRPr sz="900" b="1">
                <a:solidFill>
                  <a:srgbClr val="34D399"/>
                </a:solidFill>
                <a:latin typeface="Arial"/>
                <a:ea typeface="Arial"/>
                <a:cs typeface="Arial"/>
              </a:defRPr>
            </a:lvl9pPr>
          </a:lstStyle>
          <a:p xmlns:a="http://schemas.openxmlformats.org/drawingml/2006/main">
            <a:pPr>
              <a:defRPr sz="900" b="1">
                <a:solidFill>
                  <a:srgbClr val="34D399"/>
                </a:solidFill>
                <a:latin typeface="Arial"/>
                <a:ea typeface="Arial"/>
                <a:cs typeface="Arial"/>
              </a:defRPr>
            </a:pPr>
            <a:r>
              <a:rPr sz="900" b="1">
                <a:solidFill>
                  <a:srgbClr val="34D399"/>
                </a:solidFill>
                <a:latin typeface="Arial"/>
                <a:ea typeface="Arial"/>
                <a:cs typeface="Arial"/>
              </a:rPr>
              <a:t>CHÊNH LỆCH LOSS TRAIN/VAL</a:t>
            </a:r>
          </a:p>
        </p:txBody>
      </p:sp>
      <p:sp>
        <p:nvSpPr>
          <p:cNvPr id="11" name="">
            <a:extLst xmlns:a="http://schemas.openxmlformats.org/drawingml/2006/main">
              <a:ext uri="{FF2B5EF4-FFF2-40B4-BE49-F238E27FC236}">
                <a16:creationId xmlns:a16="http://schemas.microsoft.com/office/drawing/2014/main" id="{E61D347B-7892-41FE-9D74-91B713A22751}"/>
              </a:ext>
            </a:extLst>
          </p:cNvPr>
          <p:cNvSpPr>
            <a:spLocks xmlns:a="http://schemas.openxmlformats.org/drawingml/2006/main" noGrp="1"/>
          </p:cNvSpPr>
          <p:nvPr/>
        </p:nvSpPr>
        <p:spPr>
          <a:xfrm xmlns:a="http://schemas.openxmlformats.org/drawingml/2006/main">
            <a:off x="3095625" y="1600200"/>
            <a:ext cx="19335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6EE7B7"/>
                </a:solidFill>
                <a:latin typeface="Arial"/>
                <a:ea typeface="Arial"/>
                <a:cs typeface="Arial"/>
              </a:defRPr>
            </a:defPPr>
            <a:lvl1pPr>
              <a:defRPr sz="1950" b="1">
                <a:solidFill>
                  <a:srgbClr val="6EE7B7"/>
                </a:solidFill>
                <a:latin typeface="Arial"/>
                <a:ea typeface="Arial"/>
                <a:cs typeface="Arial"/>
              </a:defRPr>
            </a:lvl1pPr>
            <a:lvl2pPr>
              <a:defRPr sz="1950" b="1">
                <a:solidFill>
                  <a:srgbClr val="6EE7B7"/>
                </a:solidFill>
                <a:latin typeface="Arial"/>
                <a:ea typeface="Arial"/>
                <a:cs typeface="Arial"/>
              </a:defRPr>
            </a:lvl2pPr>
            <a:lvl3pPr>
              <a:defRPr sz="1950" b="1">
                <a:solidFill>
                  <a:srgbClr val="6EE7B7"/>
                </a:solidFill>
                <a:latin typeface="Arial"/>
                <a:ea typeface="Arial"/>
                <a:cs typeface="Arial"/>
              </a:defRPr>
            </a:lvl3pPr>
            <a:lvl4pPr>
              <a:defRPr sz="1950" b="1">
                <a:solidFill>
                  <a:srgbClr val="6EE7B7"/>
                </a:solidFill>
                <a:latin typeface="Arial"/>
                <a:ea typeface="Arial"/>
                <a:cs typeface="Arial"/>
              </a:defRPr>
            </a:lvl4pPr>
            <a:lvl5pPr>
              <a:defRPr sz="1950" b="1">
                <a:solidFill>
                  <a:srgbClr val="6EE7B7"/>
                </a:solidFill>
                <a:latin typeface="Arial"/>
                <a:ea typeface="Arial"/>
                <a:cs typeface="Arial"/>
              </a:defRPr>
            </a:lvl5pPr>
            <a:lvl6pPr>
              <a:defRPr sz="1950" b="1">
                <a:solidFill>
                  <a:srgbClr val="6EE7B7"/>
                </a:solidFill>
                <a:latin typeface="Arial"/>
                <a:ea typeface="Arial"/>
                <a:cs typeface="Arial"/>
              </a:defRPr>
            </a:lvl6pPr>
            <a:lvl7pPr>
              <a:defRPr sz="1950" b="1">
                <a:solidFill>
                  <a:srgbClr val="6EE7B7"/>
                </a:solidFill>
                <a:latin typeface="Arial"/>
                <a:ea typeface="Arial"/>
                <a:cs typeface="Arial"/>
              </a:defRPr>
            </a:lvl7pPr>
            <a:lvl8pPr>
              <a:defRPr sz="1950" b="1">
                <a:solidFill>
                  <a:srgbClr val="6EE7B7"/>
                </a:solidFill>
                <a:latin typeface="Arial"/>
                <a:ea typeface="Arial"/>
                <a:cs typeface="Arial"/>
              </a:defRPr>
            </a:lvl8pPr>
            <a:lvl9pPr>
              <a:defRPr sz="1950" b="1">
                <a:solidFill>
                  <a:srgbClr val="6EE7B7"/>
                </a:solidFill>
                <a:latin typeface="Arial"/>
                <a:ea typeface="Arial"/>
                <a:cs typeface="Arial"/>
              </a:defRPr>
            </a:lvl9pPr>
          </a:lstStyle>
          <a:p xmlns:a="http://schemas.openxmlformats.org/drawingml/2006/main">
            <a:pPr>
              <a:defRPr sz="1950" b="1">
                <a:solidFill>
                  <a:srgbClr val="6EE7B7"/>
                </a:solidFill>
                <a:latin typeface="Arial"/>
                <a:ea typeface="Arial"/>
                <a:cs typeface="Arial"/>
              </a:defRPr>
            </a:pPr>
            <a:r>
              <a:rPr sz="1950" b="1">
                <a:solidFill>
                  <a:srgbClr val="6EE7B7"/>
                </a:solidFill>
                <a:latin typeface="Arial"/>
                <a:ea typeface="Arial"/>
                <a:cs typeface="Arial"/>
              </a:rPr>
              <a:t>Δ = 0.0019</a:t>
            </a:r>
          </a:p>
        </p:txBody>
      </p:sp>
      <p:graphicFrame>
        <p:nvGraphicFramePr>
          <p:cNvPr id="12" name="">
            <a:extLst xmlns:a="http://schemas.openxmlformats.org/drawingml/2006/main">
              <a:ext uri="{FF2B5EF4-FFF2-40B4-BE49-F238E27FC236}">
                <a16:creationId xmlns:a16="http://schemas.microsoft.com/office/drawing/2014/main" id="{2F4B79F5-F871-4108-AE6B-61F8A2F92946}"/>
              </a:ext>
            </a:extLst>
          </p:cNvPr>
          <p:cNvGraphicFramePr/>
          <p:nvPr/>
        </p:nvGraphicFramePr>
        <p:xfrm>
          <a:off xmlns:a="http://schemas.openxmlformats.org/drawingml/2006/main" x="609600" y="2143125"/>
          <a:ext xmlns:a="http://schemas.openxmlformats.org/drawingml/2006/main" cx="4572000" cy="2333625"/>
        </p:xfrm>
        <a:graphic xmlns:a="http://schemas.openxmlformats.org/drawingml/2006/main">
          <a:graphicData uri="http://schemas.openxmlformats.org/drawingml/2006/table">
            <a:tbl>
              <a:tblPr/>
              <a:tblGrid>
                <a:gridCol w="1714500"/>
                <a:gridCol w="904875"/>
                <a:gridCol w="1952625"/>
              </a:tblGrid>
              <a:tr h="333375">
                <a:tc>
                  <a:txBody>
                    <a:bodyPr>
                      <a:noAutofit/>
                    </a:bodyPr>
                    <a:lstStyle/>
                    <a:p>
                      <a:r>
                        <a:rPr sz="1050" b="1">
                          <a:solidFill>
                            <a:srgbClr val="38BDF8"/>
                          </a:solidFill>
                          <a:latin typeface="Arial"/>
                          <a:ea typeface="Arial"/>
                          <a:cs typeface="Arial"/>
                        </a:rPr>
                        <a:t>Thông số huấn luyện</a:t>
                      </a:r>
                    </a:p>
                  </a:txBody>
                  <a:tcPr marL="91440" marR="91440" marT="45720" marB="45720">
                    <a:lnL w="9525">
                      <a:solidFill>
                        <a:srgbClr val="1F3354"/>
                      </a:solidFill>
                    </a:lnL>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1050" b="1">
                          <a:solidFill>
                            <a:srgbClr val="38BDF8"/>
                          </a:solidFill>
                          <a:latin typeface="Arial"/>
                          <a:ea typeface="Arial"/>
                          <a:cs typeface="Arial"/>
                        </a:rPr>
                        <a:t>Giá trị</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1050" b="1">
                          <a:solidFill>
                            <a:srgbClr val="38BDF8"/>
                          </a:solidFill>
                          <a:latin typeface="Arial"/>
                          <a:ea typeface="Arial"/>
                          <a:cs typeface="Arial"/>
                        </a:rPr>
                        <a:t>Đánh giá chuyên môn</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r>
              <a:tr h="333375">
                <a:tc>
                  <a:txBody>
                    <a:bodyPr>
                      <a:noAutofit/>
                    </a:bodyPr>
                    <a:lstStyle/>
                    <a:p>
                      <a:r>
                        <a:rPr sz="1050" b="1">
                          <a:solidFill>
                            <a:srgbClr val="FFFFFF"/>
                          </a:solidFill>
                          <a:latin typeface="Arial"/>
                          <a:ea typeface="Arial"/>
                          <a:cs typeface="Arial"/>
                        </a:rPr>
                        <a:t>Tổng số Epoch chạy</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1050" b="0">
                          <a:solidFill>
                            <a:srgbClr val="E2E8F0"/>
                          </a:solidFill>
                          <a:latin typeface="Arial"/>
                          <a:ea typeface="Arial"/>
                          <a:cs typeface="Arial"/>
                        </a:rPr>
                        <a:t>18</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Có Early Stopping giám sát chặt</a:t>
                      </a:r>
                    </a:p>
                  </a:txBody>
                  <a:tcPr marL="91440" marR="91440" marT="45720" marB="45720">
                    <a:lnR w="9525">
                      <a:solidFill>
                        <a:srgbClr val="1F3354"/>
                      </a:solidFill>
                    </a:lnR>
                    <a:lnB w="9525">
                      <a:solidFill>
                        <a:srgbClr val="1F3354"/>
                      </a:solidFill>
                    </a:lnB>
                    <a:solidFill>
                      <a:srgbClr val="101B2E"/>
                    </a:solidFill>
                  </a:tcPr>
                </a:tc>
              </a:tr>
              <a:tr h="333375">
                <a:tc>
                  <a:txBody>
                    <a:bodyPr>
                      <a:noAutofit/>
                    </a:bodyPr>
                    <a:lstStyle/>
                    <a:p>
                      <a:r>
                        <a:rPr sz="1050" b="1">
                          <a:solidFill>
                            <a:srgbClr val="FFFFFF"/>
                          </a:solidFill>
                          <a:latin typeface="Arial"/>
                          <a:ea typeface="Arial"/>
                          <a:cs typeface="Arial"/>
                        </a:rPr>
                        <a:t>Epoch tối ưu nhất</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1050" b="0">
                          <a:solidFill>
                            <a:srgbClr val="E2E8F0"/>
                          </a:solidFill>
                          <a:latin typeface="Arial"/>
                          <a:ea typeface="Arial"/>
                          <a:cs typeface="Arial"/>
                        </a:rPr>
                        <a:t>Epoch 14</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1050" b="0">
                          <a:solidFill>
                            <a:srgbClr val="34D399"/>
                          </a:solidFill>
                          <a:latin typeface="Arial"/>
                          <a:ea typeface="Arial"/>
                          <a:cs typeface="Arial"/>
                        </a:rPr>
                        <a:t>Điểm cân bằng loss thấp nhất</a:t>
                      </a:r>
                    </a:p>
                  </a:txBody>
                  <a:tcPr marL="91440" marR="91440" marT="45720" marB="45720">
                    <a:lnR w="9525">
                      <a:solidFill>
                        <a:srgbClr val="1F3354"/>
                      </a:solidFill>
                    </a:lnR>
                    <a:lnB w="9525">
                      <a:solidFill>
                        <a:srgbClr val="1F3354"/>
                      </a:solidFill>
                    </a:lnB>
                    <a:solidFill>
                      <a:srgbClr val="0B1322"/>
                    </a:solidFill>
                  </a:tcPr>
                </a:tc>
              </a:tr>
              <a:tr h="333375">
                <a:tc>
                  <a:txBody>
                    <a:bodyPr>
                      <a:noAutofit/>
                    </a:bodyPr>
                    <a:lstStyle/>
                    <a:p>
                      <a:r>
                        <a:rPr sz="1050" b="1">
                          <a:solidFill>
                            <a:srgbClr val="FFFFFF"/>
                          </a:solidFill>
                          <a:latin typeface="Arial"/>
                          <a:ea typeface="Arial"/>
                          <a:cs typeface="Arial"/>
                        </a:rPr>
                        <a:t>Train Loss (Epoch 14)</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1050" b="0">
                          <a:solidFill>
                            <a:srgbClr val="E2E8F0"/>
                          </a:solidFill>
                          <a:latin typeface="Arial"/>
                          <a:ea typeface="Arial"/>
                          <a:cs typeface="Arial"/>
                        </a:rPr>
                        <a:t>0.0922</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Hội tụ cực kỳ mượt mà từ 0.44</a:t>
                      </a:r>
                    </a:p>
                  </a:txBody>
                  <a:tcPr marL="91440" marR="91440" marT="45720" marB="45720">
                    <a:lnR w="9525">
                      <a:solidFill>
                        <a:srgbClr val="1F3354"/>
                      </a:solidFill>
                    </a:lnR>
                    <a:lnB w="9525">
                      <a:solidFill>
                        <a:srgbClr val="1F3354"/>
                      </a:solidFill>
                    </a:lnB>
                    <a:solidFill>
                      <a:srgbClr val="101B2E"/>
                    </a:solidFill>
                  </a:tcPr>
                </a:tc>
              </a:tr>
              <a:tr h="333375">
                <a:tc>
                  <a:txBody>
                    <a:bodyPr>
                      <a:noAutofit/>
                    </a:bodyPr>
                    <a:lstStyle/>
                    <a:p>
                      <a:r>
                        <a:rPr sz="1050" b="1">
                          <a:solidFill>
                            <a:srgbClr val="FFFFFF"/>
                          </a:solidFill>
                          <a:latin typeface="Arial"/>
                          <a:ea typeface="Arial"/>
                          <a:cs typeface="Arial"/>
                        </a:rPr>
                        <a:t>Val Loss (Epoch 14)</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1050" b="0">
                          <a:solidFill>
                            <a:srgbClr val="E2E8F0"/>
                          </a:solidFill>
                          <a:latin typeface="Arial"/>
                          <a:ea typeface="Arial"/>
                          <a:cs typeface="Arial"/>
                        </a:rPr>
                        <a:t>0.0941</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1050" b="0">
                          <a:solidFill>
                            <a:srgbClr val="34D399"/>
                          </a:solidFill>
                          <a:latin typeface="Arial"/>
                          <a:ea typeface="Arial"/>
                          <a:cs typeface="Arial"/>
                        </a:rPr>
                        <a:t>Bám sát Train Loss (không overfit)</a:t>
                      </a:r>
                    </a:p>
                  </a:txBody>
                  <a:tcPr marL="91440" marR="91440" marT="45720" marB="45720">
                    <a:lnR w="9525">
                      <a:solidFill>
                        <a:srgbClr val="1F3354"/>
                      </a:solidFill>
                    </a:lnR>
                    <a:lnB w="9525">
                      <a:solidFill>
                        <a:srgbClr val="1F3354"/>
                      </a:solidFill>
                    </a:lnB>
                    <a:solidFill>
                      <a:srgbClr val="0B1322"/>
                    </a:solidFill>
                  </a:tcPr>
                </a:tc>
              </a:tr>
              <a:tr h="333375">
                <a:tc>
                  <a:txBody>
                    <a:bodyPr>
                      <a:noAutofit/>
                    </a:bodyPr>
                    <a:lstStyle/>
                    <a:p>
                      <a:r>
                        <a:rPr sz="1050" b="1">
                          <a:solidFill>
                            <a:srgbClr val="FFFFFF"/>
                          </a:solidFill>
                          <a:latin typeface="Arial"/>
                          <a:ea typeface="Arial"/>
                          <a:cs typeface="Arial"/>
                        </a:rPr>
                        <a:t>Train Accuracy</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1050" b="0">
                          <a:solidFill>
                            <a:srgbClr val="E2E8F0"/>
                          </a:solidFill>
                          <a:latin typeface="Arial"/>
                          <a:ea typeface="Arial"/>
                          <a:cs typeface="Arial"/>
                        </a:rPr>
                        <a:t>97.79%</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Thực tế, không bị ăn gian 100%</a:t>
                      </a:r>
                    </a:p>
                  </a:txBody>
                  <a:tcPr marL="91440" marR="91440" marT="45720" marB="45720">
                    <a:lnR w="9525">
                      <a:solidFill>
                        <a:srgbClr val="1F3354"/>
                      </a:solidFill>
                    </a:lnR>
                    <a:lnB w="9525">
                      <a:solidFill>
                        <a:srgbClr val="1F3354"/>
                      </a:solidFill>
                    </a:lnB>
                    <a:solidFill>
                      <a:srgbClr val="101B2E"/>
                    </a:solidFill>
                  </a:tcPr>
                </a:tc>
              </a:tr>
              <a:tr h="333375">
                <a:tc>
                  <a:txBody>
                    <a:bodyPr>
                      <a:noAutofit/>
                    </a:bodyPr>
                    <a:lstStyle/>
                    <a:p>
                      <a:r>
                        <a:rPr sz="1050" b="1">
                          <a:solidFill>
                            <a:srgbClr val="FFFFFF"/>
                          </a:solidFill>
                          <a:latin typeface="Arial"/>
                          <a:ea typeface="Arial"/>
                          <a:cs typeface="Arial"/>
                        </a:rPr>
                        <a:t>Validation Accuracy</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1050" b="0">
                          <a:solidFill>
                            <a:srgbClr val="E2E8F0"/>
                          </a:solidFill>
                          <a:latin typeface="Arial"/>
                          <a:ea typeface="Arial"/>
                          <a:cs typeface="Arial"/>
                        </a:rPr>
                        <a:t>98.01%</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1050" b="0">
                          <a:solidFill>
                            <a:srgbClr val="34D399"/>
                          </a:solidFill>
                          <a:latin typeface="Arial"/>
                          <a:ea typeface="Arial"/>
                          <a:cs typeface="Arial"/>
                        </a:rPr>
                        <a:t>Đồng đều và ổn định cao</a:t>
                      </a:r>
                    </a:p>
                  </a:txBody>
                  <a:tcPr marL="91440" marR="91440" marT="45720" marB="45720">
                    <a:lnR w="9525">
                      <a:solidFill>
                        <a:srgbClr val="1F3354"/>
                      </a:solidFill>
                    </a:lnR>
                    <a:lnB w="9525">
                      <a:solidFill>
                        <a:srgbClr val="1F3354"/>
                      </a:solidFill>
                    </a:lnB>
                    <a:solidFill>
                      <a:srgbClr val="0B1322"/>
                    </a:solidFill>
                  </a:tcPr>
                </a:tc>
              </a:tr>
            </a:tbl>
          </a:graphicData>
        </a:graphic>
      </p:graphicFrame>
      <p:sp>
        <p:nvSpPr>
          <p:cNvPr id="13" name="">
            <a:extLst xmlns:a="http://schemas.openxmlformats.org/drawingml/2006/main">
              <a:ext uri="{FF2B5EF4-FFF2-40B4-BE49-F238E27FC236}">
                <a16:creationId xmlns:a16="http://schemas.microsoft.com/office/drawing/2014/main" id="{78424918-A957-4DFE-AF73-4FDB0202B6A9}"/>
              </a:ext>
            </a:extLst>
          </p:cNvPr>
          <p:cNvSpPr>
            <a:spLocks xmlns:a="http://schemas.openxmlformats.org/drawingml/2006/main" noGrp="1"/>
          </p:cNvSpPr>
          <p:nvPr/>
        </p:nvSpPr>
        <p:spPr>
          <a:xfrm xmlns:a="http://schemas.openxmlformats.org/drawingml/2006/main">
            <a:off x="609600" y="4619625"/>
            <a:ext cx="4572000" cy="1571625"/>
          </a:xfrm>
          <a:prstGeom xmlns:a="http://schemas.openxmlformats.org/drawingml/2006/main" prst="rect">
            <a:avLst/>
          </a:prstGeom>
          <a:solidFill xmlns:a="http://schemas.openxmlformats.org/drawingml/2006/main">
            <a:srgbClr val="111B2E"/>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4" name="">
            <a:extLst xmlns:a="http://schemas.openxmlformats.org/drawingml/2006/main">
              <a:ext uri="{FF2B5EF4-FFF2-40B4-BE49-F238E27FC236}">
                <a16:creationId xmlns:a16="http://schemas.microsoft.com/office/drawing/2014/main" id="{2BA6FD83-EB27-4799-85D3-7B051E3EDC5E}"/>
              </a:ext>
            </a:extLst>
          </p:cNvPr>
          <p:cNvSpPr>
            <a:spLocks xmlns:a="http://schemas.openxmlformats.org/drawingml/2006/main" noGrp="1"/>
          </p:cNvSpPr>
          <p:nvPr/>
        </p:nvSpPr>
        <p:spPr>
          <a:xfrm xmlns:a="http://schemas.openxmlformats.org/drawingml/2006/main">
            <a:off x="800100" y="4743450"/>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38BDF8"/>
                </a:solidFill>
                <a:latin typeface="Arial"/>
                <a:ea typeface="Arial"/>
                <a:cs typeface="Arial"/>
              </a:defRPr>
            </a:defPPr>
            <a:lvl1pPr>
              <a:defRPr sz="1200" b="1">
                <a:solidFill>
                  <a:srgbClr val="38BDF8"/>
                </a:solidFill>
                <a:latin typeface="Arial"/>
                <a:ea typeface="Arial"/>
                <a:cs typeface="Arial"/>
              </a:defRPr>
            </a:lvl1pPr>
            <a:lvl2pPr>
              <a:defRPr sz="1200" b="1">
                <a:solidFill>
                  <a:srgbClr val="38BDF8"/>
                </a:solidFill>
                <a:latin typeface="Arial"/>
                <a:ea typeface="Arial"/>
                <a:cs typeface="Arial"/>
              </a:defRPr>
            </a:lvl2pPr>
            <a:lvl3pPr>
              <a:defRPr sz="1200" b="1">
                <a:solidFill>
                  <a:srgbClr val="38BDF8"/>
                </a:solidFill>
                <a:latin typeface="Arial"/>
                <a:ea typeface="Arial"/>
                <a:cs typeface="Arial"/>
              </a:defRPr>
            </a:lvl3pPr>
            <a:lvl4pPr>
              <a:defRPr sz="1200" b="1">
                <a:solidFill>
                  <a:srgbClr val="38BDF8"/>
                </a:solidFill>
                <a:latin typeface="Arial"/>
                <a:ea typeface="Arial"/>
                <a:cs typeface="Arial"/>
              </a:defRPr>
            </a:lvl4pPr>
            <a:lvl5pPr>
              <a:defRPr sz="1200" b="1">
                <a:solidFill>
                  <a:srgbClr val="38BDF8"/>
                </a:solidFill>
                <a:latin typeface="Arial"/>
                <a:ea typeface="Arial"/>
                <a:cs typeface="Arial"/>
              </a:defRPr>
            </a:lvl5pPr>
            <a:lvl6pPr>
              <a:defRPr sz="1200" b="1">
                <a:solidFill>
                  <a:srgbClr val="38BDF8"/>
                </a:solidFill>
                <a:latin typeface="Arial"/>
                <a:ea typeface="Arial"/>
                <a:cs typeface="Arial"/>
              </a:defRPr>
            </a:lvl6pPr>
            <a:lvl7pPr>
              <a:defRPr sz="1200" b="1">
                <a:solidFill>
                  <a:srgbClr val="38BDF8"/>
                </a:solidFill>
                <a:latin typeface="Arial"/>
                <a:ea typeface="Arial"/>
                <a:cs typeface="Arial"/>
              </a:defRPr>
            </a:lvl7pPr>
            <a:lvl8pPr>
              <a:defRPr sz="1200" b="1">
                <a:solidFill>
                  <a:srgbClr val="38BDF8"/>
                </a:solidFill>
                <a:latin typeface="Arial"/>
                <a:ea typeface="Arial"/>
                <a:cs typeface="Arial"/>
              </a:defRPr>
            </a:lvl8pPr>
            <a:lvl9pPr>
              <a:defRPr sz="1200" b="1">
                <a:solidFill>
                  <a:srgbClr val="38BDF8"/>
                </a:solidFill>
                <a:latin typeface="Arial"/>
                <a:ea typeface="Arial"/>
                <a:cs typeface="Arial"/>
              </a:defRPr>
            </a:lvl9pPr>
          </a:lstStyle>
          <a:p xmlns:a="http://schemas.openxmlformats.org/drawingml/2006/main">
            <a:pPr>
              <a:defRPr sz="1200" b="1">
                <a:solidFill>
                  <a:srgbClr val="38BDF8"/>
                </a:solidFill>
                <a:latin typeface="Arial"/>
                <a:ea typeface="Arial"/>
                <a:cs typeface="Arial"/>
              </a:defRPr>
            </a:pPr>
            <a:r>
              <a:rPr sz="1200" b="1">
                <a:solidFill>
                  <a:srgbClr val="38BDF8"/>
                </a:solidFill>
                <a:latin typeface="Arial"/>
                <a:ea typeface="Arial"/>
                <a:cs typeface="Arial"/>
              </a:rPr>
              <a:t>Nhận Xét Động Học Huấn Luyện:</a:t>
            </a:r>
          </a:p>
        </p:txBody>
      </p:sp>
      <p:sp>
        <p:nvSpPr>
          <p:cNvPr id="15" name="">
            <a:extLst xmlns:a="http://schemas.openxmlformats.org/drawingml/2006/main">
              <a:ext uri="{FF2B5EF4-FFF2-40B4-BE49-F238E27FC236}">
                <a16:creationId xmlns:a16="http://schemas.microsoft.com/office/drawing/2014/main" id="{42A66030-1E4E-4D67-86FF-6BC149979130}"/>
              </a:ext>
            </a:extLst>
          </p:cNvPr>
          <p:cNvSpPr>
            <a:spLocks xmlns:a="http://schemas.openxmlformats.org/drawingml/2006/main" noGrp="1"/>
          </p:cNvSpPr>
          <p:nvPr/>
        </p:nvSpPr>
        <p:spPr>
          <a:xfrm xmlns:a="http://schemas.openxmlformats.org/drawingml/2006/main">
            <a:off x="800100" y="5010150"/>
            <a:ext cx="4191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E2E8F0"/>
                </a:solidFill>
                <a:latin typeface="Arial"/>
                <a:ea typeface="Arial"/>
                <a:cs typeface="Arial"/>
              </a:defRPr>
            </a:defPPr>
            <a:lvl1pPr>
              <a:defRPr sz="1050" b="0">
                <a:solidFill>
                  <a:srgbClr val="E2E8F0"/>
                </a:solidFill>
                <a:latin typeface="Arial"/>
                <a:ea typeface="Arial"/>
                <a:cs typeface="Arial"/>
              </a:defRPr>
            </a:lvl1pPr>
            <a:lvl2pPr>
              <a:defRPr sz="1050" b="0">
                <a:solidFill>
                  <a:srgbClr val="E2E8F0"/>
                </a:solidFill>
                <a:latin typeface="Arial"/>
                <a:ea typeface="Arial"/>
                <a:cs typeface="Arial"/>
              </a:defRPr>
            </a:lvl2pPr>
            <a:lvl3pPr>
              <a:defRPr sz="1050" b="0">
                <a:solidFill>
                  <a:srgbClr val="E2E8F0"/>
                </a:solidFill>
                <a:latin typeface="Arial"/>
                <a:ea typeface="Arial"/>
                <a:cs typeface="Arial"/>
              </a:defRPr>
            </a:lvl3pPr>
            <a:lvl4pPr>
              <a:defRPr sz="1050" b="0">
                <a:solidFill>
                  <a:srgbClr val="E2E8F0"/>
                </a:solidFill>
                <a:latin typeface="Arial"/>
                <a:ea typeface="Arial"/>
                <a:cs typeface="Arial"/>
              </a:defRPr>
            </a:lvl4pPr>
            <a:lvl5pPr>
              <a:defRPr sz="1050" b="0">
                <a:solidFill>
                  <a:srgbClr val="E2E8F0"/>
                </a:solidFill>
                <a:latin typeface="Arial"/>
                <a:ea typeface="Arial"/>
                <a:cs typeface="Arial"/>
              </a:defRPr>
            </a:lvl5pPr>
            <a:lvl6pPr>
              <a:defRPr sz="1050" b="0">
                <a:solidFill>
                  <a:srgbClr val="E2E8F0"/>
                </a:solidFill>
                <a:latin typeface="Arial"/>
                <a:ea typeface="Arial"/>
                <a:cs typeface="Arial"/>
              </a:defRPr>
            </a:lvl6pPr>
            <a:lvl7pPr>
              <a:defRPr sz="1050" b="0">
                <a:solidFill>
                  <a:srgbClr val="E2E8F0"/>
                </a:solidFill>
                <a:latin typeface="Arial"/>
                <a:ea typeface="Arial"/>
                <a:cs typeface="Arial"/>
              </a:defRPr>
            </a:lvl7pPr>
            <a:lvl8pPr>
              <a:defRPr sz="1050" b="0">
                <a:solidFill>
                  <a:srgbClr val="E2E8F0"/>
                </a:solidFill>
                <a:latin typeface="Arial"/>
                <a:ea typeface="Arial"/>
                <a:cs typeface="Arial"/>
              </a:defRPr>
            </a:lvl8pPr>
            <a:lvl9pPr>
              <a:defRPr sz="1050" b="0">
                <a:solidFill>
                  <a:srgbClr val="E2E8F0"/>
                </a:solidFill>
                <a:latin typeface="Arial"/>
                <a:ea typeface="Arial"/>
                <a:cs typeface="Arial"/>
              </a:defRPr>
            </a:lvl9pPr>
          </a:lstStyle>
          <a:p xmlns:a="http://schemas.openxmlformats.org/drawingml/2006/main">
            <a:pPr>
              <a:defRPr sz="1050" b="0">
                <a:solidFill>
                  <a:srgbClr val="E2E8F0"/>
                </a:solidFill>
                <a:latin typeface="Arial"/>
                <a:ea typeface="Arial"/>
                <a:cs typeface="Arial"/>
              </a:defRPr>
            </a:pPr>
            <a:r>
              <a:rPr sz="1050" b="0">
                <a:solidFill>
                  <a:srgbClr val="E2E8F0"/>
                </a:solidFill>
                <a:latin typeface="Arial"/>
                <a:ea typeface="Arial"/>
                <a:cs typeface="Arial"/>
              </a:rPr>
              <a:t>- Đường Train Loss và Val Loss bám sát nhau từ epoch 4 đến 14, không có khoảng phân kỳ.</a:t>
            </a:r>
          </a:p>
          <a:p xmlns:a="http://schemas.openxmlformats.org/drawingml/2006/main">
            <a:pPr>
              <a:defRPr sz="1050" b="0">
                <a:solidFill>
                  <a:srgbClr val="E2E8F0"/>
                </a:solidFill>
                <a:latin typeface="Arial"/>
                <a:ea typeface="Arial"/>
                <a:cs typeface="Arial"/>
              </a:defRPr>
            </a:pPr>
            <a:r>
              <a:rPr sz="1050" b="0">
                <a:solidFill>
                  <a:srgbClr val="E2E8F0"/>
                </a:solidFill>
                <a:latin typeface="Arial"/>
                <a:ea typeface="Arial"/>
                <a:cs typeface="Arial"/>
              </a:rPr>
              <a:t>- Không có hiện tượng học vẹt (Validation loss 0.0941 xấp xỉ Training loss 0.0922).</a:t>
            </a:r>
          </a:p>
          <a:p xmlns:a="http://schemas.openxmlformats.org/drawingml/2006/main">
            <a:pPr>
              <a:defRPr sz="1050" b="0">
                <a:solidFill>
                  <a:srgbClr val="E2E8F0"/>
                </a:solidFill>
                <a:latin typeface="Arial"/>
                <a:ea typeface="Arial"/>
                <a:cs typeface="Arial"/>
              </a:defRPr>
            </a:pPr>
            <a:r>
              <a:rPr sz="1050" b="0">
                <a:solidFill>
                  <a:srgbClr val="E2E8F0"/>
                </a:solidFill>
                <a:latin typeface="Arial"/>
                <a:ea typeface="Arial"/>
                <a:cs typeface="Arial"/>
              </a:rPr>
              <a:t>- Trọng số tốt nhất tại epoch 14 được lưu vào file liveness_cam4k.h5.</a:t>
            </a:r>
          </a:p>
          <a:p xmlns:a="http://schemas.openxmlformats.org/drawingml/2006/main">
            <a:pPr>
              <a:defRPr sz="1050" b="0">
                <a:solidFill>
                  <a:srgbClr val="E2E8F0"/>
                </a:solidFill>
                <a:latin typeface="Arial"/>
                <a:ea typeface="Arial"/>
                <a:cs typeface="Arial"/>
              </a:defRPr>
            </a:pPr>
            <a:r>
              <a:rPr sz="1050" b="0">
                <a:solidFill>
                  <a:srgbClr val="E2E8F0"/>
                </a:solidFill>
                <a:latin typeface="Arial"/>
                <a:ea typeface="Arial"/>
                <a:cs typeface="Arial"/>
              </a:rPr>
              <a:t>- Đã xuất bản đồng thời liveness_cam4k.tflite phục vụ suy luận siêu nhẹ.</a:t>
            </a:r>
          </a:p>
        </p:txBody>
      </p:sp>
      <p:sp>
        <p:nvSpPr>
          <p:cNvPr id="16" name="">
            <a:extLst xmlns:a="http://schemas.openxmlformats.org/drawingml/2006/main">
              <a:ext uri="{FF2B5EF4-FFF2-40B4-BE49-F238E27FC236}">
                <a16:creationId xmlns:a16="http://schemas.microsoft.com/office/drawing/2014/main" id="{701AE398-7985-498A-97BD-D0CFD0C98EB4}"/>
              </a:ext>
            </a:extLst>
          </p:cNvPr>
          <p:cNvSpPr>
            <a:spLocks xmlns:a="http://schemas.openxmlformats.org/drawingml/2006/main" noGrp="1"/>
          </p:cNvSpPr>
          <p:nvPr/>
        </p:nvSpPr>
        <p:spPr>
          <a:xfrm xmlns:a="http://schemas.openxmlformats.org/drawingml/2006/main">
            <a:off x="5372100" y="1285875"/>
            <a:ext cx="6210300" cy="4905375"/>
          </a:xfrm>
          <a:prstGeom xmlns:a="http://schemas.openxmlformats.org/drawingml/2006/main" prst="rect">
            <a:avLst/>
          </a:prstGeom>
          <a:solidFill xmlns:a="http://schemas.openxmlformats.org/drawingml/2006/main">
            <a:srgbClr val="111B2E"/>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7" name="">
            <a:extLst xmlns:a="http://schemas.openxmlformats.org/drawingml/2006/main">
              <a:ext uri="{FF2B5EF4-FFF2-40B4-BE49-F238E27FC236}">
                <a16:creationId xmlns:a16="http://schemas.microsoft.com/office/drawing/2014/main" id="{D1DDAE54-F12A-4F2B-8AC2-F59F8399F2DD}"/>
              </a:ext>
            </a:extLst>
          </p:cNvPr>
          <p:cNvSpPr>
            <a:spLocks xmlns:a="http://schemas.openxmlformats.org/drawingml/2006/main" noGrp="1"/>
          </p:cNvSpPr>
          <p:nvPr/>
        </p:nvSpPr>
        <p:spPr>
          <a:xfrm xmlns:a="http://schemas.openxmlformats.org/drawingml/2006/main">
            <a:off x="5600700" y="1428750"/>
            <a:ext cx="5753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FFFFFF"/>
                </a:solidFill>
                <a:latin typeface="Arial"/>
                <a:ea typeface="Arial"/>
                <a:cs typeface="Arial"/>
              </a:defRPr>
            </a:defPPr>
            <a:lvl1pPr>
              <a:defRPr sz="1200" b="1">
                <a:solidFill>
                  <a:srgbClr val="FFFFFF"/>
                </a:solidFill>
                <a:latin typeface="Arial"/>
                <a:ea typeface="Arial"/>
                <a:cs typeface="Arial"/>
              </a:defRPr>
            </a:lvl1pPr>
            <a:lvl2pPr>
              <a:defRPr sz="1200" b="1">
                <a:solidFill>
                  <a:srgbClr val="FFFFFF"/>
                </a:solidFill>
                <a:latin typeface="Arial"/>
                <a:ea typeface="Arial"/>
                <a:cs typeface="Arial"/>
              </a:defRPr>
            </a:lvl2pPr>
            <a:lvl3pPr>
              <a:defRPr sz="1200" b="1">
                <a:solidFill>
                  <a:srgbClr val="FFFFFF"/>
                </a:solidFill>
                <a:latin typeface="Arial"/>
                <a:ea typeface="Arial"/>
                <a:cs typeface="Arial"/>
              </a:defRPr>
            </a:lvl3pPr>
            <a:lvl4pPr>
              <a:defRPr sz="1200" b="1">
                <a:solidFill>
                  <a:srgbClr val="FFFFFF"/>
                </a:solidFill>
                <a:latin typeface="Arial"/>
                <a:ea typeface="Arial"/>
                <a:cs typeface="Arial"/>
              </a:defRPr>
            </a:lvl4pPr>
            <a:lvl5pPr>
              <a:defRPr sz="1200" b="1">
                <a:solidFill>
                  <a:srgbClr val="FFFFFF"/>
                </a:solidFill>
                <a:latin typeface="Arial"/>
                <a:ea typeface="Arial"/>
                <a:cs typeface="Arial"/>
              </a:defRPr>
            </a:lvl5pPr>
            <a:lvl6pPr>
              <a:defRPr sz="1200" b="1">
                <a:solidFill>
                  <a:srgbClr val="FFFFFF"/>
                </a:solidFill>
                <a:latin typeface="Arial"/>
                <a:ea typeface="Arial"/>
                <a:cs typeface="Arial"/>
              </a:defRPr>
            </a:lvl6pPr>
            <a:lvl7pPr>
              <a:defRPr sz="1200" b="1">
                <a:solidFill>
                  <a:srgbClr val="FFFFFF"/>
                </a:solidFill>
                <a:latin typeface="Arial"/>
                <a:ea typeface="Arial"/>
                <a:cs typeface="Arial"/>
              </a:defRPr>
            </a:lvl7pPr>
            <a:lvl8pPr>
              <a:defRPr sz="1200" b="1">
                <a:solidFill>
                  <a:srgbClr val="FFFFFF"/>
                </a:solidFill>
                <a:latin typeface="Arial"/>
                <a:ea typeface="Arial"/>
                <a:cs typeface="Arial"/>
              </a:defRPr>
            </a:lvl8pPr>
            <a:lvl9pPr>
              <a:defRPr sz="1200" b="1">
                <a:solidFill>
                  <a:srgbClr val="FFFFFF"/>
                </a:solidFill>
                <a:latin typeface="Arial"/>
                <a:ea typeface="Arial"/>
                <a:cs typeface="Arial"/>
              </a:defRPr>
            </a:lvl9pPr>
          </a:lstStyle>
          <a:p xmlns:a="http://schemas.openxmlformats.org/drawingml/2006/main">
            <a:pPr>
              <a:defRPr sz="1200" b="1">
                <a:solidFill>
                  <a:srgbClr val="FFFFFF"/>
                </a:solidFill>
                <a:latin typeface="Arial"/>
                <a:ea typeface="Arial"/>
                <a:cs typeface="Arial"/>
              </a:defRPr>
            </a:pPr>
            <a:r>
              <a:rPr sz="1200" b="1">
                <a:solidFill>
                  <a:srgbClr val="FFFFFF"/>
                </a:solidFill>
                <a:latin typeface="Arial"/>
                <a:ea typeface="Arial"/>
                <a:cs typeface="Arial"/>
              </a:rPr>
              <a:t>Biểu Đồ Hội Tụ Loss &amp; Accuracy (plot_cam4k.png)</a:t>
            </a:r>
          </a:p>
        </p:txBody>
      </p:sp>
      <p:pic>
        <p:nvPicPr>
          <p:cNvPr id="18" name="">
            <a:extLst xmlns:a="http://schemas.openxmlformats.org/drawingml/2006/main">
              <a:ext uri="{FF2B5EF4-FFF2-40B4-BE49-F238E27FC236}">
                <a16:creationId xmlns:a16="http://schemas.microsoft.com/office/drawing/2014/main" id="{8B0D11C1-6958-4EC6-BE3E-2BAF7842CCDE}"/>
              </a:ext>
            </a:extLst>
          </p:cNvPr>
          <p:cNvPicPr>
            <a:picLocks xmlns:a="http://schemas.openxmlformats.org/drawingml/2006/main" noChangeAspect="1"/>
          </p:cNvPicPr>
          <p:nvPr/>
        </p:nvPicPr>
        <p:blipFill>
          <a:blip xmlns:r="http://schemas.openxmlformats.org/officeDocument/2006/relationships" xmlns:a="http://schemas.openxmlformats.org/drawingml/2006/main" r:embed="R2def187b140247a9"/>
          <a:stretch xmlns:a="http://schemas.openxmlformats.org/drawingml/2006/main"/>
        </p:blipFill>
        <p:spPr>
          <a:xfrm xmlns:a="http://schemas.openxmlformats.org/drawingml/2006/main">
            <a:off x="5486400" y="2593181"/>
            <a:ext cx="5981700" cy="2243138"/>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2F743DC1-D77A-43BF-9131-D18AFE5C6972}"/>
              </a:ext>
            </a:extLst>
          </p:cNvPr>
          <p:cNvSpPr>
            <a:spLocks xmlns:a="http://schemas.openxmlformats.org/drawingml/2006/main" noGrp="1"/>
          </p:cNvSpPr>
          <p:nvPr/>
        </p:nvSpPr>
        <p:spPr>
          <a:xfrm xmlns:a="http://schemas.openxmlformats.org/drawingml/2006/main">
            <a:off x="5486400" y="5762625"/>
            <a:ext cx="5981700" cy="333375"/>
          </a:xfrm>
          <a:prstGeom xmlns:a="http://schemas.openxmlformats.org/drawingml/2006/main" prst="rect">
            <a:avLst/>
          </a:prstGeom>
          <a:solidFill xmlns:a="http://schemas.openxmlformats.org/drawingml/2006/main">
            <a:srgbClr val="0E1728"/>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0E1728"/>
                </a:solidFill>
                <a:latin typeface="Arial"/>
                <a:ea typeface="Arial"/>
                <a:cs typeface="Arial"/>
              </a:defRPr>
            </a:defPPr>
            <a:lvl1pPr>
              <a:defRPr sz="750">
                <a:solidFill>
                  <a:srgbClr val="0E1728"/>
                </a:solidFill>
                <a:latin typeface="Arial"/>
                <a:ea typeface="Arial"/>
                <a:cs typeface="Arial"/>
              </a:defRPr>
            </a:lvl1pPr>
            <a:lvl2pPr>
              <a:defRPr sz="750">
                <a:solidFill>
                  <a:srgbClr val="0E1728"/>
                </a:solidFill>
                <a:latin typeface="Arial"/>
                <a:ea typeface="Arial"/>
                <a:cs typeface="Arial"/>
              </a:defRPr>
            </a:lvl2pPr>
            <a:lvl3pPr>
              <a:defRPr sz="750">
                <a:solidFill>
                  <a:srgbClr val="0E1728"/>
                </a:solidFill>
                <a:latin typeface="Arial"/>
                <a:ea typeface="Arial"/>
                <a:cs typeface="Arial"/>
              </a:defRPr>
            </a:lvl3pPr>
            <a:lvl4pPr>
              <a:defRPr sz="750">
                <a:solidFill>
                  <a:srgbClr val="0E1728"/>
                </a:solidFill>
                <a:latin typeface="Arial"/>
                <a:ea typeface="Arial"/>
                <a:cs typeface="Arial"/>
              </a:defRPr>
            </a:lvl4pPr>
            <a:lvl5pPr>
              <a:defRPr sz="750">
                <a:solidFill>
                  <a:srgbClr val="0E1728"/>
                </a:solidFill>
                <a:latin typeface="Arial"/>
                <a:ea typeface="Arial"/>
                <a:cs typeface="Arial"/>
              </a:defRPr>
            </a:lvl5pPr>
            <a:lvl6pPr>
              <a:defRPr sz="750">
                <a:solidFill>
                  <a:srgbClr val="0E1728"/>
                </a:solidFill>
                <a:latin typeface="Arial"/>
                <a:ea typeface="Arial"/>
                <a:cs typeface="Arial"/>
              </a:defRPr>
            </a:lvl6pPr>
            <a:lvl7pPr>
              <a:defRPr sz="750">
                <a:solidFill>
                  <a:srgbClr val="0E1728"/>
                </a:solidFill>
                <a:latin typeface="Arial"/>
                <a:ea typeface="Arial"/>
                <a:cs typeface="Arial"/>
              </a:defRPr>
            </a:lvl7pPr>
            <a:lvl8pPr>
              <a:defRPr sz="750">
                <a:solidFill>
                  <a:srgbClr val="0E1728"/>
                </a:solidFill>
                <a:latin typeface="Arial"/>
                <a:ea typeface="Arial"/>
                <a:cs typeface="Arial"/>
              </a:defRPr>
            </a:lvl8pPr>
            <a:lvl9pPr>
              <a:defRPr sz="750">
                <a:solidFill>
                  <a:srgbClr val="0E1728"/>
                </a:solidFill>
                <a:latin typeface="Arial"/>
                <a:ea typeface="Arial"/>
                <a:cs typeface="Arial"/>
              </a:defRPr>
            </a:lvl9pPr>
          </a:lstStyle>
          <a:p xmlns:a="http://schemas.openxmlformats.org/drawingml/2006/main">
            <a:pPr>
              <a:defRPr sz="750">
                <a:solidFill>
                  <a:srgbClr val="0E1728"/>
                </a:solidFill>
                <a:latin typeface="Arial"/>
                <a:ea typeface="Arial"/>
                <a:cs typeface="Arial"/>
              </a:defRPr>
            </a:pPr>
            <a:r>
              <a:rPr sz="750">
                <a:solidFill>
                  <a:srgbClr val="0E1728"/>
                </a:solidFill>
                <a:latin typeface="Arial"/>
                <a:ea typeface="Arial"/>
                <a:cs typeface="Arial"/>
              </a:rPr>
              <a:t> </a:t>
            </a:r>
          </a:p>
        </p:txBody>
      </p:sp>
      <p:sp>
        <p:nvSpPr>
          <p:cNvPr id="20" name="">
            <a:extLst xmlns:a="http://schemas.openxmlformats.org/drawingml/2006/main">
              <a:ext uri="{FF2B5EF4-FFF2-40B4-BE49-F238E27FC236}">
                <a16:creationId xmlns:a16="http://schemas.microsoft.com/office/drawing/2014/main" id="{7C11638C-C1A4-45A3-813B-B268F023163F}"/>
              </a:ext>
            </a:extLst>
          </p:cNvPr>
          <p:cNvSpPr>
            <a:spLocks xmlns:a="http://schemas.openxmlformats.org/drawingml/2006/main" noGrp="1"/>
          </p:cNvSpPr>
          <p:nvPr/>
        </p:nvSpPr>
        <p:spPr>
          <a:xfrm xmlns:a="http://schemas.openxmlformats.org/drawingml/2006/main">
            <a:off x="5638800" y="58483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94A3B8"/>
                </a:solidFill>
                <a:latin typeface="Arial"/>
                <a:ea typeface="Arial"/>
                <a:cs typeface="Arial"/>
              </a:defRPr>
            </a:defPPr>
            <a:lvl1pPr>
              <a:defRPr sz="975" b="0">
                <a:solidFill>
                  <a:srgbClr val="94A3B8"/>
                </a:solidFill>
                <a:latin typeface="Arial"/>
                <a:ea typeface="Arial"/>
                <a:cs typeface="Arial"/>
              </a:defRPr>
            </a:lvl1pPr>
            <a:lvl2pPr>
              <a:defRPr sz="975" b="0">
                <a:solidFill>
                  <a:srgbClr val="94A3B8"/>
                </a:solidFill>
                <a:latin typeface="Arial"/>
                <a:ea typeface="Arial"/>
                <a:cs typeface="Arial"/>
              </a:defRPr>
            </a:lvl2pPr>
            <a:lvl3pPr>
              <a:defRPr sz="975" b="0">
                <a:solidFill>
                  <a:srgbClr val="94A3B8"/>
                </a:solidFill>
                <a:latin typeface="Arial"/>
                <a:ea typeface="Arial"/>
                <a:cs typeface="Arial"/>
              </a:defRPr>
            </a:lvl3pPr>
            <a:lvl4pPr>
              <a:defRPr sz="975" b="0">
                <a:solidFill>
                  <a:srgbClr val="94A3B8"/>
                </a:solidFill>
                <a:latin typeface="Arial"/>
                <a:ea typeface="Arial"/>
                <a:cs typeface="Arial"/>
              </a:defRPr>
            </a:lvl4pPr>
            <a:lvl5pPr>
              <a:defRPr sz="975" b="0">
                <a:solidFill>
                  <a:srgbClr val="94A3B8"/>
                </a:solidFill>
                <a:latin typeface="Arial"/>
                <a:ea typeface="Arial"/>
                <a:cs typeface="Arial"/>
              </a:defRPr>
            </a:lvl5pPr>
            <a:lvl6pPr>
              <a:defRPr sz="975" b="0">
                <a:solidFill>
                  <a:srgbClr val="94A3B8"/>
                </a:solidFill>
                <a:latin typeface="Arial"/>
                <a:ea typeface="Arial"/>
                <a:cs typeface="Arial"/>
              </a:defRPr>
            </a:lvl6pPr>
            <a:lvl7pPr>
              <a:defRPr sz="975" b="0">
                <a:solidFill>
                  <a:srgbClr val="94A3B8"/>
                </a:solidFill>
                <a:latin typeface="Arial"/>
                <a:ea typeface="Arial"/>
                <a:cs typeface="Arial"/>
              </a:defRPr>
            </a:lvl7pPr>
            <a:lvl8pPr>
              <a:defRPr sz="975" b="0">
                <a:solidFill>
                  <a:srgbClr val="94A3B8"/>
                </a:solidFill>
                <a:latin typeface="Arial"/>
                <a:ea typeface="Arial"/>
                <a:cs typeface="Arial"/>
              </a:defRPr>
            </a:lvl8pPr>
            <a:lvl9pPr>
              <a:defRPr sz="975" b="0">
                <a:solidFill>
                  <a:srgbClr val="94A3B8"/>
                </a:solidFill>
                <a:latin typeface="Arial"/>
                <a:ea typeface="Arial"/>
                <a:cs typeface="Arial"/>
              </a:defRPr>
            </a:lvl9pPr>
          </a:lstStyle>
          <a:p xmlns:a="http://schemas.openxmlformats.org/drawingml/2006/main">
            <a:pPr>
              <a:defRPr sz="975" b="0">
                <a:solidFill>
                  <a:srgbClr val="94A3B8"/>
                </a:solidFill>
                <a:latin typeface="Arial"/>
                <a:ea typeface="Arial"/>
                <a:cs typeface="Arial"/>
              </a:defRPr>
            </a:pPr>
            <a:r>
              <a:rPr sz="975" b="0">
                <a:solidFill>
                  <a:srgbClr val="94A3B8"/>
                </a:solidFill>
                <a:latin typeface="Arial"/>
                <a:ea typeface="Arial"/>
                <a:cs typeface="Arial"/>
              </a:rPr>
              <a:t>Ghi chú: Early Stopping tự động dừng ở Epoch 18; Checkpoint tốt nhất tại Epoch 14.</a:t>
            </a:r>
          </a:p>
        </p:txBody>
      </p:sp>
    </p:spTree>
    <p:extLst>
      <p:ext uri="{BB962C8B-B14F-4D97-AF65-F5344CB8AC3E}">
        <p14:creationId xmlns:p14="http://schemas.microsoft.com/office/powerpoint/2010/main" val="435717407"/>
      </p:ext>
    </p:extLst>
  </p:cSld>
</p:sld>
</file>

<file path=ppt/slides/slide3.xml><?xml version="1.0" encoding="utf-8"?>
<p:sld xmlns:p="http://schemas.openxmlformats.org/presentationml/2006/main">
  <p:cSld>
    <p:bg>
      <p:bgPr>
        <a:solidFill xmlns:a="http://schemas.openxmlformats.org/drawingml/2006/main">
          <a:srgbClr val="0A0F1D"/>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6794C7C-5460-4413-B6F0-501C23D55BD7}"/>
              </a:ext>
            </a:extLst>
          </p:cNvPr>
          <p:cNvSpPr>
            <a:spLocks xmlns:a="http://schemas.openxmlformats.org/drawingml/2006/main" noGrp="1"/>
          </p:cNvSpPr>
          <p:nvPr/>
        </p:nvSpPr>
        <p:spPr>
          <a:xfrm xmlns:a="http://schemas.openxmlformats.org/drawingml/2006/main">
            <a:off x="6096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KIỂM ĐỊNH ĐỘC LẬP TRÊN NGƯỜI MỚI (INDEPENDENT TEST SET)</a:t>
            </a:r>
          </a:p>
        </p:txBody>
      </p:sp>
      <p:sp>
        <p:nvSpPr>
          <p:cNvPr id="2" name="">
            <a:extLst xmlns:a="http://schemas.openxmlformats.org/drawingml/2006/main">
              <a:ext uri="{FF2B5EF4-FFF2-40B4-BE49-F238E27FC236}">
                <a16:creationId xmlns:a16="http://schemas.microsoft.com/office/drawing/2014/main" id="{197863F1-0F3C-41AF-89C4-3391301A290A}"/>
              </a:ext>
            </a:extLst>
          </p:cNvPr>
          <p:cNvSpPr>
            <a:spLocks xmlns:a="http://schemas.openxmlformats.org/drawingml/2006/main" noGrp="1"/>
          </p:cNvSpPr>
          <p:nvPr/>
        </p:nvSpPr>
        <p:spPr>
          <a:xfrm xmlns:a="http://schemas.openxmlformats.org/drawingml/2006/main">
            <a:off x="609600" y="49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FFFFFF"/>
                </a:solidFill>
                <a:latin typeface="Arial"/>
                <a:ea typeface="Arial"/>
                <a:cs typeface="Arial"/>
              </a:defRPr>
            </a:defPPr>
            <a:lvl1pPr>
              <a:defRPr sz="2250" b="1">
                <a:solidFill>
                  <a:srgbClr val="FFFFFF"/>
                </a:solidFill>
                <a:latin typeface="Arial"/>
                <a:ea typeface="Arial"/>
                <a:cs typeface="Arial"/>
              </a:defRPr>
            </a:lvl1pPr>
            <a:lvl2pPr>
              <a:defRPr sz="2250" b="1">
                <a:solidFill>
                  <a:srgbClr val="FFFFFF"/>
                </a:solidFill>
                <a:latin typeface="Arial"/>
                <a:ea typeface="Arial"/>
                <a:cs typeface="Arial"/>
              </a:defRPr>
            </a:lvl2pPr>
            <a:lvl3pPr>
              <a:defRPr sz="2250" b="1">
                <a:solidFill>
                  <a:srgbClr val="FFFFFF"/>
                </a:solidFill>
                <a:latin typeface="Arial"/>
                <a:ea typeface="Arial"/>
                <a:cs typeface="Arial"/>
              </a:defRPr>
            </a:lvl3pPr>
            <a:lvl4pPr>
              <a:defRPr sz="2250" b="1">
                <a:solidFill>
                  <a:srgbClr val="FFFFFF"/>
                </a:solidFill>
                <a:latin typeface="Arial"/>
                <a:ea typeface="Arial"/>
                <a:cs typeface="Arial"/>
              </a:defRPr>
            </a:lvl4pPr>
            <a:lvl5pPr>
              <a:defRPr sz="2250" b="1">
                <a:solidFill>
                  <a:srgbClr val="FFFFFF"/>
                </a:solidFill>
                <a:latin typeface="Arial"/>
                <a:ea typeface="Arial"/>
                <a:cs typeface="Arial"/>
              </a:defRPr>
            </a:lvl5pPr>
            <a:lvl6pPr>
              <a:defRPr sz="2250" b="1">
                <a:solidFill>
                  <a:srgbClr val="FFFFFF"/>
                </a:solidFill>
                <a:latin typeface="Arial"/>
                <a:ea typeface="Arial"/>
                <a:cs typeface="Arial"/>
              </a:defRPr>
            </a:lvl6pPr>
            <a:lvl7pPr>
              <a:defRPr sz="2250" b="1">
                <a:solidFill>
                  <a:srgbClr val="FFFFFF"/>
                </a:solidFill>
                <a:latin typeface="Arial"/>
                <a:ea typeface="Arial"/>
                <a:cs typeface="Arial"/>
              </a:defRPr>
            </a:lvl7pPr>
            <a:lvl8pPr>
              <a:defRPr sz="2250" b="1">
                <a:solidFill>
                  <a:srgbClr val="FFFFFF"/>
                </a:solidFill>
                <a:latin typeface="Arial"/>
                <a:ea typeface="Arial"/>
                <a:cs typeface="Arial"/>
              </a:defRPr>
            </a:lvl8pPr>
            <a:lvl9pPr>
              <a:defRPr sz="2250" b="1">
                <a:solidFill>
                  <a:srgbClr val="FFFFFF"/>
                </a:solidFill>
                <a:latin typeface="Arial"/>
                <a:ea typeface="Arial"/>
                <a:cs typeface="Arial"/>
              </a:defRPr>
            </a:lvl9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Kiểm Định Cấp Độ Khung Hình Tập Test Độc Lập</a:t>
            </a:r>
          </a:p>
        </p:txBody>
      </p:sp>
      <p:sp>
        <p:nvSpPr>
          <p:cNvPr id="3" name="">
            <a:extLst xmlns:a="http://schemas.openxmlformats.org/drawingml/2006/main">
              <a:ext uri="{FF2B5EF4-FFF2-40B4-BE49-F238E27FC236}">
                <a16:creationId xmlns:a16="http://schemas.microsoft.com/office/drawing/2014/main" id="{03711135-BC9C-4BED-9553-FF49824BF1D7}"/>
              </a:ext>
            </a:extLst>
          </p:cNvPr>
          <p:cNvSpPr>
            <a:spLocks xmlns:a="http://schemas.openxmlformats.org/drawingml/2006/main" noGrp="1"/>
          </p:cNvSpPr>
          <p:nvPr/>
        </p:nvSpPr>
        <p:spPr>
          <a:xfrm xmlns:a="http://schemas.openxmlformats.org/drawingml/2006/main">
            <a:off x="609600" y="9144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94A3B8"/>
                </a:solidFill>
                <a:latin typeface="Arial"/>
                <a:ea typeface="Arial"/>
                <a:cs typeface="Arial"/>
              </a:defRPr>
            </a:defPPr>
            <a:lvl1pPr>
              <a:defRPr sz="1200" b="0">
                <a:solidFill>
                  <a:srgbClr val="94A3B8"/>
                </a:solidFill>
                <a:latin typeface="Arial"/>
                <a:ea typeface="Arial"/>
                <a:cs typeface="Arial"/>
              </a:defRPr>
            </a:lvl1pPr>
            <a:lvl2pPr>
              <a:defRPr sz="1200" b="0">
                <a:solidFill>
                  <a:srgbClr val="94A3B8"/>
                </a:solidFill>
                <a:latin typeface="Arial"/>
                <a:ea typeface="Arial"/>
                <a:cs typeface="Arial"/>
              </a:defRPr>
            </a:lvl2pPr>
            <a:lvl3pPr>
              <a:defRPr sz="1200" b="0">
                <a:solidFill>
                  <a:srgbClr val="94A3B8"/>
                </a:solidFill>
                <a:latin typeface="Arial"/>
                <a:ea typeface="Arial"/>
                <a:cs typeface="Arial"/>
              </a:defRPr>
            </a:lvl3pPr>
            <a:lvl4pPr>
              <a:defRPr sz="1200" b="0">
                <a:solidFill>
                  <a:srgbClr val="94A3B8"/>
                </a:solidFill>
                <a:latin typeface="Arial"/>
                <a:ea typeface="Arial"/>
                <a:cs typeface="Arial"/>
              </a:defRPr>
            </a:lvl4pPr>
            <a:lvl5pPr>
              <a:defRPr sz="1200" b="0">
                <a:solidFill>
                  <a:srgbClr val="94A3B8"/>
                </a:solidFill>
                <a:latin typeface="Arial"/>
                <a:ea typeface="Arial"/>
                <a:cs typeface="Arial"/>
              </a:defRPr>
            </a:lvl5pPr>
            <a:lvl6pPr>
              <a:defRPr sz="1200" b="0">
                <a:solidFill>
                  <a:srgbClr val="94A3B8"/>
                </a:solidFill>
                <a:latin typeface="Arial"/>
                <a:ea typeface="Arial"/>
                <a:cs typeface="Arial"/>
              </a:defRPr>
            </a:lvl6pPr>
            <a:lvl7pPr>
              <a:defRPr sz="1200" b="0">
                <a:solidFill>
                  <a:srgbClr val="94A3B8"/>
                </a:solidFill>
                <a:latin typeface="Arial"/>
                <a:ea typeface="Arial"/>
                <a:cs typeface="Arial"/>
              </a:defRPr>
            </a:lvl7pPr>
            <a:lvl8pPr>
              <a:defRPr sz="1200" b="0">
                <a:solidFill>
                  <a:srgbClr val="94A3B8"/>
                </a:solidFill>
                <a:latin typeface="Arial"/>
                <a:ea typeface="Arial"/>
                <a:cs typeface="Arial"/>
              </a:defRPr>
            </a:lvl8pPr>
            <a:lvl9pPr>
              <a:defRPr sz="1200" b="0">
                <a:solidFill>
                  <a:srgbClr val="94A3B8"/>
                </a:solidFill>
                <a:latin typeface="Arial"/>
                <a:ea typeface="Arial"/>
                <a:cs typeface="Arial"/>
              </a:defRPr>
            </a:lvl9pPr>
          </a:lstStyle>
          <a:p xmlns:a="http://schemas.openxmlformats.org/drawingml/2006/main">
            <a:pPr>
              <a:defRPr sz="1200" b="0">
                <a:solidFill>
                  <a:srgbClr val="94A3B8"/>
                </a:solidFill>
                <a:latin typeface="Arial"/>
                <a:ea typeface="Arial"/>
                <a:cs typeface="Arial"/>
              </a:defRPr>
            </a:pPr>
            <a:r>
              <a:rPr sz="1200" b="0">
                <a:solidFill>
                  <a:srgbClr val="94A3B8"/>
                </a:solidFill>
                <a:latin typeface="Arial"/>
                <a:ea typeface="Arial"/>
                <a:cs typeface="Arial"/>
              </a:rPr>
              <a:t>Đánh giá trên 4.811 ảnh khuôn mặt từ 14 video - Người hoàn toàn mới chưa từng xuất hiện trong tập train</a:t>
            </a:r>
          </a:p>
        </p:txBody>
      </p:sp>
      <p:sp>
        <p:nvSpPr>
          <p:cNvPr id="4" name="">
            <a:extLst xmlns:a="http://schemas.openxmlformats.org/drawingml/2006/main">
              <a:ext uri="{FF2B5EF4-FFF2-40B4-BE49-F238E27FC236}">
                <a16:creationId xmlns:a16="http://schemas.microsoft.com/office/drawing/2014/main" id="{3FBE04B5-FF25-48D8-AC8C-536199F1346F}"/>
              </a:ext>
            </a:extLst>
          </p:cNvPr>
          <p:cNvSpPr>
            <a:spLocks xmlns:a="http://schemas.openxmlformats.org/drawingml/2006/main" noGrp="1"/>
          </p:cNvSpPr>
          <p:nvPr/>
        </p:nvSpPr>
        <p:spPr>
          <a:xfrm xmlns:a="http://schemas.openxmlformats.org/drawingml/2006/main">
            <a:off x="609600" y="64389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64748B"/>
                </a:solidFill>
                <a:latin typeface="Arial"/>
                <a:ea typeface="Arial"/>
                <a:cs typeface="Arial"/>
              </a:defRPr>
            </a:defPPr>
            <a:lvl1pPr>
              <a:defRPr sz="975" b="0">
                <a:solidFill>
                  <a:srgbClr val="64748B"/>
                </a:solidFill>
                <a:latin typeface="Arial"/>
                <a:ea typeface="Arial"/>
                <a:cs typeface="Arial"/>
              </a:defRPr>
            </a:lvl1pPr>
            <a:lvl2pPr>
              <a:defRPr sz="975" b="0">
                <a:solidFill>
                  <a:srgbClr val="64748B"/>
                </a:solidFill>
                <a:latin typeface="Arial"/>
                <a:ea typeface="Arial"/>
                <a:cs typeface="Arial"/>
              </a:defRPr>
            </a:lvl2pPr>
            <a:lvl3pPr>
              <a:defRPr sz="975" b="0">
                <a:solidFill>
                  <a:srgbClr val="64748B"/>
                </a:solidFill>
                <a:latin typeface="Arial"/>
                <a:ea typeface="Arial"/>
                <a:cs typeface="Arial"/>
              </a:defRPr>
            </a:lvl3pPr>
            <a:lvl4pPr>
              <a:defRPr sz="975" b="0">
                <a:solidFill>
                  <a:srgbClr val="64748B"/>
                </a:solidFill>
                <a:latin typeface="Arial"/>
                <a:ea typeface="Arial"/>
                <a:cs typeface="Arial"/>
              </a:defRPr>
            </a:lvl4pPr>
            <a:lvl5pPr>
              <a:defRPr sz="975" b="0">
                <a:solidFill>
                  <a:srgbClr val="64748B"/>
                </a:solidFill>
                <a:latin typeface="Arial"/>
                <a:ea typeface="Arial"/>
                <a:cs typeface="Arial"/>
              </a:defRPr>
            </a:lvl5pPr>
            <a:lvl6pPr>
              <a:defRPr sz="975" b="0">
                <a:solidFill>
                  <a:srgbClr val="64748B"/>
                </a:solidFill>
                <a:latin typeface="Arial"/>
                <a:ea typeface="Arial"/>
                <a:cs typeface="Arial"/>
              </a:defRPr>
            </a:lvl6pPr>
            <a:lvl7pPr>
              <a:defRPr sz="975" b="0">
                <a:solidFill>
                  <a:srgbClr val="64748B"/>
                </a:solidFill>
                <a:latin typeface="Arial"/>
                <a:ea typeface="Arial"/>
                <a:cs typeface="Arial"/>
              </a:defRPr>
            </a:lvl7pPr>
            <a:lvl8pPr>
              <a:defRPr sz="975" b="0">
                <a:solidFill>
                  <a:srgbClr val="64748B"/>
                </a:solidFill>
                <a:latin typeface="Arial"/>
                <a:ea typeface="Arial"/>
                <a:cs typeface="Arial"/>
              </a:defRPr>
            </a:lvl8pPr>
            <a:lvl9pPr>
              <a:defRPr sz="975" b="0">
                <a:solidFill>
                  <a:srgbClr val="64748B"/>
                </a:solidFill>
                <a:latin typeface="Arial"/>
                <a:ea typeface="Arial"/>
                <a:cs typeface="Arial"/>
              </a:defRPr>
            </a:lvl9pPr>
          </a:lstStyle>
          <a:p xmlns:a="http://schemas.openxmlformats.org/drawingml/2006/main">
            <a:pPr>
              <a:defRPr sz="975" b="0">
                <a:solidFill>
                  <a:srgbClr val="64748B"/>
                </a:solidFill>
                <a:latin typeface="Arial"/>
                <a:ea typeface="Arial"/>
                <a:cs typeface="Arial"/>
              </a:defRPr>
            </a:pPr>
            <a:r>
              <a:rPr sz="975" b="0">
                <a:solidFill>
                  <a:srgbClr val="64748B"/>
                </a:solidFill>
                <a:latin typeface="Arial"/>
                <a:ea typeface="Arial"/>
                <a:cs typeface="Arial"/>
              </a:rPr>
              <a:t>FACE ANTI-SPOOFING SYSTEM • CAMERA USB SC-M200</a:t>
            </a:r>
          </a:p>
        </p:txBody>
      </p:sp>
      <p:sp>
        <p:nvSpPr>
          <p:cNvPr id="5" name="">
            <a:extLst xmlns:a="http://schemas.openxmlformats.org/drawingml/2006/main">
              <a:ext uri="{FF2B5EF4-FFF2-40B4-BE49-F238E27FC236}">
                <a16:creationId xmlns:a16="http://schemas.microsoft.com/office/drawing/2014/main" id="{87C8E845-3688-42F1-AC6B-24FEC5251CE2}"/>
              </a:ext>
            </a:extLst>
          </p:cNvPr>
          <p:cNvSpPr>
            <a:spLocks xmlns:a="http://schemas.openxmlformats.org/drawingml/2006/main" noGrp="1"/>
          </p:cNvSpPr>
          <p:nvPr/>
        </p:nvSpPr>
        <p:spPr>
          <a:xfrm xmlns:a="http://schemas.openxmlformats.org/drawingml/2006/main">
            <a:off x="11049000" y="64389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SLIDE 03 / 05</a:t>
            </a:r>
          </a:p>
        </p:txBody>
      </p:sp>
      <p:sp>
        <p:nvSpPr>
          <p:cNvPr id="6" name="">
            <a:extLst xmlns:a="http://schemas.openxmlformats.org/drawingml/2006/main">
              <a:ext uri="{FF2B5EF4-FFF2-40B4-BE49-F238E27FC236}">
                <a16:creationId xmlns:a16="http://schemas.microsoft.com/office/drawing/2014/main" id="{CF0BF36A-8BF4-4339-8A4B-5D2D90656EDD}"/>
              </a:ext>
            </a:extLst>
          </p:cNvPr>
          <p:cNvSpPr>
            <a:spLocks xmlns:a="http://schemas.openxmlformats.org/drawingml/2006/main" noGrp="1"/>
          </p:cNvSpPr>
          <p:nvPr/>
        </p:nvSpPr>
        <p:spPr>
          <a:xfrm xmlns:a="http://schemas.openxmlformats.org/drawingml/2006/main">
            <a:off x="609600" y="1285875"/>
            <a:ext cx="3429000" cy="904875"/>
          </a:xfrm>
          <a:prstGeom xmlns:a="http://schemas.openxmlformats.org/drawingml/2006/main" prst="rect">
            <a:avLst/>
          </a:prstGeom>
          <a:solidFill xmlns:a="http://schemas.openxmlformats.org/drawingml/2006/main">
            <a:srgbClr val="111B2E"/>
          </a:solidFill>
          <a:ln xmlns:a="http://schemas.openxmlformats.org/drawingml/2006/main" w="19050">
            <a:solidFill>
              <a:srgbClr val="059669"/>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7" name="">
            <a:extLst xmlns:a="http://schemas.openxmlformats.org/drawingml/2006/main">
              <a:ext uri="{FF2B5EF4-FFF2-40B4-BE49-F238E27FC236}">
                <a16:creationId xmlns:a16="http://schemas.microsoft.com/office/drawing/2014/main" id="{22B69E56-89AA-4BE9-8D00-E1E99A08E853}"/>
              </a:ext>
            </a:extLst>
          </p:cNvPr>
          <p:cNvSpPr>
            <a:spLocks xmlns:a="http://schemas.openxmlformats.org/drawingml/2006/main" noGrp="1"/>
          </p:cNvSpPr>
          <p:nvPr/>
        </p:nvSpPr>
        <p:spPr>
          <a:xfrm xmlns:a="http://schemas.openxmlformats.org/drawingml/2006/main">
            <a:off x="838200" y="13525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6EE7B7"/>
                </a:solidFill>
                <a:latin typeface="Arial"/>
                <a:ea typeface="Arial"/>
                <a:cs typeface="Arial"/>
              </a:defRPr>
            </a:defPPr>
            <a:lvl1pPr>
              <a:defRPr sz="2850" b="1">
                <a:solidFill>
                  <a:srgbClr val="6EE7B7"/>
                </a:solidFill>
                <a:latin typeface="Arial"/>
                <a:ea typeface="Arial"/>
                <a:cs typeface="Arial"/>
              </a:defRPr>
            </a:lvl1pPr>
            <a:lvl2pPr>
              <a:defRPr sz="2850" b="1">
                <a:solidFill>
                  <a:srgbClr val="6EE7B7"/>
                </a:solidFill>
                <a:latin typeface="Arial"/>
                <a:ea typeface="Arial"/>
                <a:cs typeface="Arial"/>
              </a:defRPr>
            </a:lvl2pPr>
            <a:lvl3pPr>
              <a:defRPr sz="2850" b="1">
                <a:solidFill>
                  <a:srgbClr val="6EE7B7"/>
                </a:solidFill>
                <a:latin typeface="Arial"/>
                <a:ea typeface="Arial"/>
                <a:cs typeface="Arial"/>
              </a:defRPr>
            </a:lvl3pPr>
            <a:lvl4pPr>
              <a:defRPr sz="2850" b="1">
                <a:solidFill>
                  <a:srgbClr val="6EE7B7"/>
                </a:solidFill>
                <a:latin typeface="Arial"/>
                <a:ea typeface="Arial"/>
                <a:cs typeface="Arial"/>
              </a:defRPr>
            </a:lvl4pPr>
            <a:lvl5pPr>
              <a:defRPr sz="2850" b="1">
                <a:solidFill>
                  <a:srgbClr val="6EE7B7"/>
                </a:solidFill>
                <a:latin typeface="Arial"/>
                <a:ea typeface="Arial"/>
                <a:cs typeface="Arial"/>
              </a:defRPr>
            </a:lvl5pPr>
            <a:lvl6pPr>
              <a:defRPr sz="2850" b="1">
                <a:solidFill>
                  <a:srgbClr val="6EE7B7"/>
                </a:solidFill>
                <a:latin typeface="Arial"/>
                <a:ea typeface="Arial"/>
                <a:cs typeface="Arial"/>
              </a:defRPr>
            </a:lvl6pPr>
            <a:lvl7pPr>
              <a:defRPr sz="2850" b="1">
                <a:solidFill>
                  <a:srgbClr val="6EE7B7"/>
                </a:solidFill>
                <a:latin typeface="Arial"/>
                <a:ea typeface="Arial"/>
                <a:cs typeface="Arial"/>
              </a:defRPr>
            </a:lvl7pPr>
            <a:lvl8pPr>
              <a:defRPr sz="2850" b="1">
                <a:solidFill>
                  <a:srgbClr val="6EE7B7"/>
                </a:solidFill>
                <a:latin typeface="Arial"/>
                <a:ea typeface="Arial"/>
                <a:cs typeface="Arial"/>
              </a:defRPr>
            </a:lvl8pPr>
            <a:lvl9pPr>
              <a:defRPr sz="2850" b="1">
                <a:solidFill>
                  <a:srgbClr val="6EE7B7"/>
                </a:solidFill>
                <a:latin typeface="Arial"/>
                <a:ea typeface="Arial"/>
                <a:cs typeface="Arial"/>
              </a:defRPr>
            </a:lvl9pPr>
          </a:lstStyle>
          <a:p xmlns:a="http://schemas.openxmlformats.org/drawingml/2006/main">
            <a:pPr>
              <a:defRPr sz="2850" b="1">
                <a:solidFill>
                  <a:srgbClr val="6EE7B7"/>
                </a:solidFill>
                <a:latin typeface="Arial"/>
                <a:ea typeface="Arial"/>
                <a:cs typeface="Arial"/>
              </a:defRPr>
            </a:pPr>
            <a:r>
              <a:rPr sz="2850" b="1">
                <a:solidFill>
                  <a:srgbClr val="6EE7B7"/>
                </a:solidFill>
                <a:latin typeface="Arial"/>
                <a:ea typeface="Arial"/>
                <a:cs typeface="Arial"/>
              </a:rPr>
              <a:t>98.09%</a:t>
            </a:r>
          </a:p>
        </p:txBody>
      </p:sp>
      <p:sp>
        <p:nvSpPr>
          <p:cNvPr id="8" name="">
            <a:extLst xmlns:a="http://schemas.openxmlformats.org/drawingml/2006/main">
              <a:ext uri="{FF2B5EF4-FFF2-40B4-BE49-F238E27FC236}">
                <a16:creationId xmlns:a16="http://schemas.microsoft.com/office/drawing/2014/main" id="{16ED29CD-86BB-46F7-BF80-7EAFE18DB71C}"/>
              </a:ext>
            </a:extLst>
          </p:cNvPr>
          <p:cNvSpPr>
            <a:spLocks xmlns:a="http://schemas.openxmlformats.org/drawingml/2006/main" noGrp="1"/>
          </p:cNvSpPr>
          <p:nvPr/>
        </p:nvSpPr>
        <p:spPr>
          <a:xfrm xmlns:a="http://schemas.openxmlformats.org/drawingml/2006/main">
            <a:off x="838200" y="1828800"/>
            <a:ext cx="2971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94A3B8"/>
                </a:solidFill>
                <a:latin typeface="Arial"/>
                <a:ea typeface="Arial"/>
                <a:cs typeface="Arial"/>
              </a:defRPr>
            </a:defPPr>
            <a:lvl1pPr>
              <a:defRPr sz="1050" b="0">
                <a:solidFill>
                  <a:srgbClr val="94A3B8"/>
                </a:solidFill>
                <a:latin typeface="Arial"/>
                <a:ea typeface="Arial"/>
                <a:cs typeface="Arial"/>
              </a:defRPr>
            </a:lvl1pPr>
            <a:lvl2pPr>
              <a:defRPr sz="1050" b="0">
                <a:solidFill>
                  <a:srgbClr val="94A3B8"/>
                </a:solidFill>
                <a:latin typeface="Arial"/>
                <a:ea typeface="Arial"/>
                <a:cs typeface="Arial"/>
              </a:defRPr>
            </a:lvl2pPr>
            <a:lvl3pPr>
              <a:defRPr sz="1050" b="0">
                <a:solidFill>
                  <a:srgbClr val="94A3B8"/>
                </a:solidFill>
                <a:latin typeface="Arial"/>
                <a:ea typeface="Arial"/>
                <a:cs typeface="Arial"/>
              </a:defRPr>
            </a:lvl3pPr>
            <a:lvl4pPr>
              <a:defRPr sz="1050" b="0">
                <a:solidFill>
                  <a:srgbClr val="94A3B8"/>
                </a:solidFill>
                <a:latin typeface="Arial"/>
                <a:ea typeface="Arial"/>
                <a:cs typeface="Arial"/>
              </a:defRPr>
            </a:lvl4pPr>
            <a:lvl5pPr>
              <a:defRPr sz="1050" b="0">
                <a:solidFill>
                  <a:srgbClr val="94A3B8"/>
                </a:solidFill>
                <a:latin typeface="Arial"/>
                <a:ea typeface="Arial"/>
                <a:cs typeface="Arial"/>
              </a:defRPr>
            </a:lvl5pPr>
            <a:lvl6pPr>
              <a:defRPr sz="1050" b="0">
                <a:solidFill>
                  <a:srgbClr val="94A3B8"/>
                </a:solidFill>
                <a:latin typeface="Arial"/>
                <a:ea typeface="Arial"/>
                <a:cs typeface="Arial"/>
              </a:defRPr>
            </a:lvl6pPr>
            <a:lvl7pPr>
              <a:defRPr sz="1050" b="0">
                <a:solidFill>
                  <a:srgbClr val="94A3B8"/>
                </a:solidFill>
                <a:latin typeface="Arial"/>
                <a:ea typeface="Arial"/>
                <a:cs typeface="Arial"/>
              </a:defRPr>
            </a:lvl7pPr>
            <a:lvl8pPr>
              <a:defRPr sz="1050" b="0">
                <a:solidFill>
                  <a:srgbClr val="94A3B8"/>
                </a:solidFill>
                <a:latin typeface="Arial"/>
                <a:ea typeface="Arial"/>
                <a:cs typeface="Arial"/>
              </a:defRPr>
            </a:lvl8pPr>
            <a:lvl9pPr>
              <a:defRPr sz="1050" b="0">
                <a:solidFill>
                  <a:srgbClr val="94A3B8"/>
                </a:solidFill>
                <a:latin typeface="Arial"/>
                <a:ea typeface="Arial"/>
                <a:cs typeface="Arial"/>
              </a:defRPr>
            </a:lvl9pPr>
          </a:lstStyle>
          <a:p xmlns:a="http://schemas.openxmlformats.org/drawingml/2006/main">
            <a:pPr>
              <a:defRPr sz="1050" b="0">
                <a:solidFill>
                  <a:srgbClr val="94A3B8"/>
                </a:solidFill>
                <a:latin typeface="Arial"/>
                <a:ea typeface="Arial"/>
                <a:cs typeface="Arial"/>
              </a:defRPr>
            </a:pPr>
            <a:r>
              <a:rPr sz="1050" b="0">
                <a:solidFill>
                  <a:srgbClr val="94A3B8"/>
                </a:solidFill>
                <a:latin typeface="Arial"/>
                <a:ea typeface="Arial"/>
                <a:cs typeface="Arial"/>
              </a:rPr>
              <a:t>Độ chính xác toàn tập Test (4.719 / 4.811 ảnh đúng)</a:t>
            </a:r>
          </a:p>
        </p:txBody>
      </p:sp>
      <p:sp>
        <p:nvSpPr>
          <p:cNvPr id="9" name="">
            <a:extLst xmlns:a="http://schemas.openxmlformats.org/drawingml/2006/main">
              <a:ext uri="{FF2B5EF4-FFF2-40B4-BE49-F238E27FC236}">
                <a16:creationId xmlns:a16="http://schemas.microsoft.com/office/drawing/2014/main" id="{2787D7FA-84E8-4EF9-BD28-B58A3B98C67C}"/>
              </a:ext>
            </a:extLst>
          </p:cNvPr>
          <p:cNvSpPr>
            <a:spLocks xmlns:a="http://schemas.openxmlformats.org/drawingml/2006/main" noGrp="1"/>
          </p:cNvSpPr>
          <p:nvPr/>
        </p:nvSpPr>
        <p:spPr>
          <a:xfrm xmlns:a="http://schemas.openxmlformats.org/drawingml/2006/main">
            <a:off x="4381500" y="1285875"/>
            <a:ext cx="3429000" cy="904875"/>
          </a:xfrm>
          <a:prstGeom xmlns:a="http://schemas.openxmlformats.org/drawingml/2006/main" prst="rect">
            <a:avLst/>
          </a:prstGeom>
          <a:solidFill xmlns:a="http://schemas.openxmlformats.org/drawingml/2006/main">
            <a:srgbClr val="111B2E"/>
          </a:solidFill>
          <a:ln xmlns:a="http://schemas.openxmlformats.org/drawingml/2006/main" w="19050">
            <a:solidFill>
              <a:srgbClr val="2563EB"/>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0" name="">
            <a:extLst xmlns:a="http://schemas.openxmlformats.org/drawingml/2006/main">
              <a:ext uri="{FF2B5EF4-FFF2-40B4-BE49-F238E27FC236}">
                <a16:creationId xmlns:a16="http://schemas.microsoft.com/office/drawing/2014/main" id="{F2BB736A-95D6-4BA1-A111-FF0091B711AA}"/>
              </a:ext>
            </a:extLst>
          </p:cNvPr>
          <p:cNvSpPr>
            <a:spLocks xmlns:a="http://schemas.openxmlformats.org/drawingml/2006/main" noGrp="1"/>
          </p:cNvSpPr>
          <p:nvPr/>
        </p:nvSpPr>
        <p:spPr>
          <a:xfrm xmlns:a="http://schemas.openxmlformats.org/drawingml/2006/main">
            <a:off x="4610100" y="13525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7DD3FC"/>
                </a:solidFill>
                <a:latin typeface="Arial"/>
                <a:ea typeface="Arial"/>
                <a:cs typeface="Arial"/>
              </a:defRPr>
            </a:defPPr>
            <a:lvl1pPr>
              <a:defRPr sz="2850" b="1">
                <a:solidFill>
                  <a:srgbClr val="7DD3FC"/>
                </a:solidFill>
                <a:latin typeface="Arial"/>
                <a:ea typeface="Arial"/>
                <a:cs typeface="Arial"/>
              </a:defRPr>
            </a:lvl1pPr>
            <a:lvl2pPr>
              <a:defRPr sz="2850" b="1">
                <a:solidFill>
                  <a:srgbClr val="7DD3FC"/>
                </a:solidFill>
                <a:latin typeface="Arial"/>
                <a:ea typeface="Arial"/>
                <a:cs typeface="Arial"/>
              </a:defRPr>
            </a:lvl2pPr>
            <a:lvl3pPr>
              <a:defRPr sz="2850" b="1">
                <a:solidFill>
                  <a:srgbClr val="7DD3FC"/>
                </a:solidFill>
                <a:latin typeface="Arial"/>
                <a:ea typeface="Arial"/>
                <a:cs typeface="Arial"/>
              </a:defRPr>
            </a:lvl3pPr>
            <a:lvl4pPr>
              <a:defRPr sz="2850" b="1">
                <a:solidFill>
                  <a:srgbClr val="7DD3FC"/>
                </a:solidFill>
                <a:latin typeface="Arial"/>
                <a:ea typeface="Arial"/>
                <a:cs typeface="Arial"/>
              </a:defRPr>
            </a:lvl4pPr>
            <a:lvl5pPr>
              <a:defRPr sz="2850" b="1">
                <a:solidFill>
                  <a:srgbClr val="7DD3FC"/>
                </a:solidFill>
                <a:latin typeface="Arial"/>
                <a:ea typeface="Arial"/>
                <a:cs typeface="Arial"/>
              </a:defRPr>
            </a:lvl5pPr>
            <a:lvl6pPr>
              <a:defRPr sz="2850" b="1">
                <a:solidFill>
                  <a:srgbClr val="7DD3FC"/>
                </a:solidFill>
                <a:latin typeface="Arial"/>
                <a:ea typeface="Arial"/>
                <a:cs typeface="Arial"/>
              </a:defRPr>
            </a:lvl6pPr>
            <a:lvl7pPr>
              <a:defRPr sz="2850" b="1">
                <a:solidFill>
                  <a:srgbClr val="7DD3FC"/>
                </a:solidFill>
                <a:latin typeface="Arial"/>
                <a:ea typeface="Arial"/>
                <a:cs typeface="Arial"/>
              </a:defRPr>
            </a:lvl7pPr>
            <a:lvl8pPr>
              <a:defRPr sz="2850" b="1">
                <a:solidFill>
                  <a:srgbClr val="7DD3FC"/>
                </a:solidFill>
                <a:latin typeface="Arial"/>
                <a:ea typeface="Arial"/>
                <a:cs typeface="Arial"/>
              </a:defRPr>
            </a:lvl8pPr>
            <a:lvl9pPr>
              <a:defRPr sz="2850" b="1">
                <a:solidFill>
                  <a:srgbClr val="7DD3FC"/>
                </a:solidFill>
                <a:latin typeface="Arial"/>
                <a:ea typeface="Arial"/>
                <a:cs typeface="Arial"/>
              </a:defRPr>
            </a:lvl9pPr>
          </a:lstStyle>
          <a:p xmlns:a="http://schemas.openxmlformats.org/drawingml/2006/main">
            <a:pPr>
              <a:defRPr sz="2850" b="1">
                <a:solidFill>
                  <a:srgbClr val="7DD3FC"/>
                </a:solidFill>
                <a:latin typeface="Arial"/>
                <a:ea typeface="Arial"/>
                <a:cs typeface="Arial"/>
              </a:defRPr>
            </a:pPr>
            <a:r>
              <a:rPr sz="2850" b="1">
                <a:solidFill>
                  <a:srgbClr val="7DD3FC"/>
                </a:solidFill>
                <a:latin typeface="Arial"/>
                <a:ea typeface="Arial"/>
                <a:cs typeface="Arial"/>
              </a:rPr>
              <a:t>99.88%</a:t>
            </a:r>
          </a:p>
        </p:txBody>
      </p:sp>
      <p:sp>
        <p:nvSpPr>
          <p:cNvPr id="11" name="">
            <a:extLst xmlns:a="http://schemas.openxmlformats.org/drawingml/2006/main">
              <a:ext uri="{FF2B5EF4-FFF2-40B4-BE49-F238E27FC236}">
                <a16:creationId xmlns:a16="http://schemas.microsoft.com/office/drawing/2014/main" id="{5ACC7E3C-A730-490A-952E-6C617D4D0D24}"/>
              </a:ext>
            </a:extLst>
          </p:cNvPr>
          <p:cNvSpPr>
            <a:spLocks xmlns:a="http://schemas.openxmlformats.org/drawingml/2006/main" noGrp="1"/>
          </p:cNvSpPr>
          <p:nvPr/>
        </p:nvSpPr>
        <p:spPr>
          <a:xfrm xmlns:a="http://schemas.openxmlformats.org/drawingml/2006/main">
            <a:off x="4610100" y="1828800"/>
            <a:ext cx="2971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94A3B8"/>
                </a:solidFill>
                <a:latin typeface="Arial"/>
                <a:ea typeface="Arial"/>
                <a:cs typeface="Arial"/>
              </a:defRPr>
            </a:defPPr>
            <a:lvl1pPr>
              <a:defRPr sz="1050" b="0">
                <a:solidFill>
                  <a:srgbClr val="94A3B8"/>
                </a:solidFill>
                <a:latin typeface="Arial"/>
                <a:ea typeface="Arial"/>
                <a:cs typeface="Arial"/>
              </a:defRPr>
            </a:lvl1pPr>
            <a:lvl2pPr>
              <a:defRPr sz="1050" b="0">
                <a:solidFill>
                  <a:srgbClr val="94A3B8"/>
                </a:solidFill>
                <a:latin typeface="Arial"/>
                <a:ea typeface="Arial"/>
                <a:cs typeface="Arial"/>
              </a:defRPr>
            </a:lvl2pPr>
            <a:lvl3pPr>
              <a:defRPr sz="1050" b="0">
                <a:solidFill>
                  <a:srgbClr val="94A3B8"/>
                </a:solidFill>
                <a:latin typeface="Arial"/>
                <a:ea typeface="Arial"/>
                <a:cs typeface="Arial"/>
              </a:defRPr>
            </a:lvl3pPr>
            <a:lvl4pPr>
              <a:defRPr sz="1050" b="0">
                <a:solidFill>
                  <a:srgbClr val="94A3B8"/>
                </a:solidFill>
                <a:latin typeface="Arial"/>
                <a:ea typeface="Arial"/>
                <a:cs typeface="Arial"/>
              </a:defRPr>
            </a:lvl4pPr>
            <a:lvl5pPr>
              <a:defRPr sz="1050" b="0">
                <a:solidFill>
                  <a:srgbClr val="94A3B8"/>
                </a:solidFill>
                <a:latin typeface="Arial"/>
                <a:ea typeface="Arial"/>
                <a:cs typeface="Arial"/>
              </a:defRPr>
            </a:lvl5pPr>
            <a:lvl6pPr>
              <a:defRPr sz="1050" b="0">
                <a:solidFill>
                  <a:srgbClr val="94A3B8"/>
                </a:solidFill>
                <a:latin typeface="Arial"/>
                <a:ea typeface="Arial"/>
                <a:cs typeface="Arial"/>
              </a:defRPr>
            </a:lvl6pPr>
            <a:lvl7pPr>
              <a:defRPr sz="1050" b="0">
                <a:solidFill>
                  <a:srgbClr val="94A3B8"/>
                </a:solidFill>
                <a:latin typeface="Arial"/>
                <a:ea typeface="Arial"/>
                <a:cs typeface="Arial"/>
              </a:defRPr>
            </a:lvl7pPr>
            <a:lvl8pPr>
              <a:defRPr sz="1050" b="0">
                <a:solidFill>
                  <a:srgbClr val="94A3B8"/>
                </a:solidFill>
                <a:latin typeface="Arial"/>
                <a:ea typeface="Arial"/>
                <a:cs typeface="Arial"/>
              </a:defRPr>
            </a:lvl8pPr>
            <a:lvl9pPr>
              <a:defRPr sz="1050" b="0">
                <a:solidFill>
                  <a:srgbClr val="94A3B8"/>
                </a:solidFill>
                <a:latin typeface="Arial"/>
                <a:ea typeface="Arial"/>
                <a:cs typeface="Arial"/>
              </a:defRPr>
            </a:lvl9pPr>
          </a:lstStyle>
          <a:p xmlns:a="http://schemas.openxmlformats.org/drawingml/2006/main">
            <a:pPr>
              <a:defRPr sz="1050" b="0">
                <a:solidFill>
                  <a:srgbClr val="94A3B8"/>
                </a:solidFill>
                <a:latin typeface="Arial"/>
                <a:ea typeface="Arial"/>
                <a:cs typeface="Arial"/>
              </a:defRPr>
            </a:pPr>
            <a:r>
              <a:rPr sz="1050" b="0">
                <a:solidFill>
                  <a:srgbClr val="94A3B8"/>
                </a:solidFill>
                <a:latin typeface="Arial"/>
                <a:ea typeface="Arial"/>
                <a:cs typeface="Arial"/>
              </a:rPr>
              <a:t>Recall Người Thật (Chỉ nhầm 3 / 2.446 ảnh)</a:t>
            </a:r>
          </a:p>
        </p:txBody>
      </p:sp>
      <p:sp>
        <p:nvSpPr>
          <p:cNvPr id="12" name="">
            <a:extLst xmlns:a="http://schemas.openxmlformats.org/drawingml/2006/main">
              <a:ext uri="{FF2B5EF4-FFF2-40B4-BE49-F238E27FC236}">
                <a16:creationId xmlns:a16="http://schemas.microsoft.com/office/drawing/2014/main" id="{F433162B-ECEA-43C6-A61F-0025178FEBFC}"/>
              </a:ext>
            </a:extLst>
          </p:cNvPr>
          <p:cNvSpPr>
            <a:spLocks xmlns:a="http://schemas.openxmlformats.org/drawingml/2006/main" noGrp="1"/>
          </p:cNvSpPr>
          <p:nvPr/>
        </p:nvSpPr>
        <p:spPr>
          <a:xfrm xmlns:a="http://schemas.openxmlformats.org/drawingml/2006/main">
            <a:off x="8153400" y="1285875"/>
            <a:ext cx="3429000" cy="904875"/>
          </a:xfrm>
          <a:prstGeom xmlns:a="http://schemas.openxmlformats.org/drawingml/2006/main" prst="rect">
            <a:avLst/>
          </a:prstGeom>
          <a:solidFill xmlns:a="http://schemas.openxmlformats.org/drawingml/2006/main">
            <a:srgbClr val="111B2E"/>
          </a:solidFill>
          <a:ln xmlns:a="http://schemas.openxmlformats.org/drawingml/2006/main" w="19050">
            <a:solidFill>
              <a:srgbClr val="D97706"/>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3" name="">
            <a:extLst xmlns:a="http://schemas.openxmlformats.org/drawingml/2006/main">
              <a:ext uri="{FF2B5EF4-FFF2-40B4-BE49-F238E27FC236}">
                <a16:creationId xmlns:a16="http://schemas.microsoft.com/office/drawing/2014/main" id="{768D094E-FB34-460C-B673-951A64B532A0}"/>
              </a:ext>
            </a:extLst>
          </p:cNvPr>
          <p:cNvSpPr>
            <a:spLocks xmlns:a="http://schemas.openxmlformats.org/drawingml/2006/main" noGrp="1"/>
          </p:cNvSpPr>
          <p:nvPr/>
        </p:nvSpPr>
        <p:spPr>
          <a:xfrm xmlns:a="http://schemas.openxmlformats.org/drawingml/2006/main">
            <a:off x="8382000" y="13525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FBBF24"/>
                </a:solidFill>
                <a:latin typeface="Arial"/>
                <a:ea typeface="Arial"/>
                <a:cs typeface="Arial"/>
              </a:defRPr>
            </a:defPPr>
            <a:lvl1pPr>
              <a:defRPr sz="2850" b="1">
                <a:solidFill>
                  <a:srgbClr val="FBBF24"/>
                </a:solidFill>
                <a:latin typeface="Arial"/>
                <a:ea typeface="Arial"/>
                <a:cs typeface="Arial"/>
              </a:defRPr>
            </a:lvl1pPr>
            <a:lvl2pPr>
              <a:defRPr sz="2850" b="1">
                <a:solidFill>
                  <a:srgbClr val="FBBF24"/>
                </a:solidFill>
                <a:latin typeface="Arial"/>
                <a:ea typeface="Arial"/>
                <a:cs typeface="Arial"/>
              </a:defRPr>
            </a:lvl2pPr>
            <a:lvl3pPr>
              <a:defRPr sz="2850" b="1">
                <a:solidFill>
                  <a:srgbClr val="FBBF24"/>
                </a:solidFill>
                <a:latin typeface="Arial"/>
                <a:ea typeface="Arial"/>
                <a:cs typeface="Arial"/>
              </a:defRPr>
            </a:lvl3pPr>
            <a:lvl4pPr>
              <a:defRPr sz="2850" b="1">
                <a:solidFill>
                  <a:srgbClr val="FBBF24"/>
                </a:solidFill>
                <a:latin typeface="Arial"/>
                <a:ea typeface="Arial"/>
                <a:cs typeface="Arial"/>
              </a:defRPr>
            </a:lvl4pPr>
            <a:lvl5pPr>
              <a:defRPr sz="2850" b="1">
                <a:solidFill>
                  <a:srgbClr val="FBBF24"/>
                </a:solidFill>
                <a:latin typeface="Arial"/>
                <a:ea typeface="Arial"/>
                <a:cs typeface="Arial"/>
              </a:defRPr>
            </a:lvl5pPr>
            <a:lvl6pPr>
              <a:defRPr sz="2850" b="1">
                <a:solidFill>
                  <a:srgbClr val="FBBF24"/>
                </a:solidFill>
                <a:latin typeface="Arial"/>
                <a:ea typeface="Arial"/>
                <a:cs typeface="Arial"/>
              </a:defRPr>
            </a:lvl6pPr>
            <a:lvl7pPr>
              <a:defRPr sz="2850" b="1">
                <a:solidFill>
                  <a:srgbClr val="FBBF24"/>
                </a:solidFill>
                <a:latin typeface="Arial"/>
                <a:ea typeface="Arial"/>
                <a:cs typeface="Arial"/>
              </a:defRPr>
            </a:lvl7pPr>
            <a:lvl8pPr>
              <a:defRPr sz="2850" b="1">
                <a:solidFill>
                  <a:srgbClr val="FBBF24"/>
                </a:solidFill>
                <a:latin typeface="Arial"/>
                <a:ea typeface="Arial"/>
                <a:cs typeface="Arial"/>
              </a:defRPr>
            </a:lvl8pPr>
            <a:lvl9pPr>
              <a:defRPr sz="2850" b="1">
                <a:solidFill>
                  <a:srgbClr val="FBBF24"/>
                </a:solidFill>
                <a:latin typeface="Arial"/>
                <a:ea typeface="Arial"/>
                <a:cs typeface="Arial"/>
              </a:defRPr>
            </a:lvl9pPr>
          </a:lstStyle>
          <a:p xmlns:a="http://schemas.openxmlformats.org/drawingml/2006/main">
            <a:pPr>
              <a:defRPr sz="2850" b="1">
                <a:solidFill>
                  <a:srgbClr val="FBBF24"/>
                </a:solidFill>
                <a:latin typeface="Arial"/>
                <a:ea typeface="Arial"/>
                <a:cs typeface="Arial"/>
              </a:defRPr>
            </a:pPr>
            <a:r>
              <a:rPr sz="2850" b="1">
                <a:solidFill>
                  <a:srgbClr val="FBBF24"/>
                </a:solidFill>
                <a:latin typeface="Arial"/>
                <a:ea typeface="Arial"/>
                <a:cs typeface="Arial"/>
              </a:rPr>
              <a:t>99.87%</a:t>
            </a:r>
          </a:p>
        </p:txBody>
      </p:sp>
      <p:sp>
        <p:nvSpPr>
          <p:cNvPr id="14" name="">
            <a:extLst xmlns:a="http://schemas.openxmlformats.org/drawingml/2006/main">
              <a:ext uri="{FF2B5EF4-FFF2-40B4-BE49-F238E27FC236}">
                <a16:creationId xmlns:a16="http://schemas.microsoft.com/office/drawing/2014/main" id="{C77BC443-2400-4E2E-9812-2013B1E07583}"/>
              </a:ext>
            </a:extLst>
          </p:cNvPr>
          <p:cNvSpPr>
            <a:spLocks xmlns:a="http://schemas.openxmlformats.org/drawingml/2006/main" noGrp="1"/>
          </p:cNvSpPr>
          <p:nvPr/>
        </p:nvSpPr>
        <p:spPr>
          <a:xfrm xmlns:a="http://schemas.openxmlformats.org/drawingml/2006/main">
            <a:off x="8382000" y="1828800"/>
            <a:ext cx="2971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94A3B8"/>
                </a:solidFill>
                <a:latin typeface="Arial"/>
                <a:ea typeface="Arial"/>
                <a:cs typeface="Arial"/>
              </a:defRPr>
            </a:defPPr>
            <a:lvl1pPr>
              <a:defRPr sz="1050" b="0">
                <a:solidFill>
                  <a:srgbClr val="94A3B8"/>
                </a:solidFill>
                <a:latin typeface="Arial"/>
                <a:ea typeface="Arial"/>
                <a:cs typeface="Arial"/>
              </a:defRPr>
            </a:lvl1pPr>
            <a:lvl2pPr>
              <a:defRPr sz="1050" b="0">
                <a:solidFill>
                  <a:srgbClr val="94A3B8"/>
                </a:solidFill>
                <a:latin typeface="Arial"/>
                <a:ea typeface="Arial"/>
                <a:cs typeface="Arial"/>
              </a:defRPr>
            </a:lvl2pPr>
            <a:lvl3pPr>
              <a:defRPr sz="1050" b="0">
                <a:solidFill>
                  <a:srgbClr val="94A3B8"/>
                </a:solidFill>
                <a:latin typeface="Arial"/>
                <a:ea typeface="Arial"/>
                <a:cs typeface="Arial"/>
              </a:defRPr>
            </a:lvl3pPr>
            <a:lvl4pPr>
              <a:defRPr sz="1050" b="0">
                <a:solidFill>
                  <a:srgbClr val="94A3B8"/>
                </a:solidFill>
                <a:latin typeface="Arial"/>
                <a:ea typeface="Arial"/>
                <a:cs typeface="Arial"/>
              </a:defRPr>
            </a:lvl4pPr>
            <a:lvl5pPr>
              <a:defRPr sz="1050" b="0">
                <a:solidFill>
                  <a:srgbClr val="94A3B8"/>
                </a:solidFill>
                <a:latin typeface="Arial"/>
                <a:ea typeface="Arial"/>
                <a:cs typeface="Arial"/>
              </a:defRPr>
            </a:lvl5pPr>
            <a:lvl6pPr>
              <a:defRPr sz="1050" b="0">
                <a:solidFill>
                  <a:srgbClr val="94A3B8"/>
                </a:solidFill>
                <a:latin typeface="Arial"/>
                <a:ea typeface="Arial"/>
                <a:cs typeface="Arial"/>
              </a:defRPr>
            </a:lvl6pPr>
            <a:lvl7pPr>
              <a:defRPr sz="1050" b="0">
                <a:solidFill>
                  <a:srgbClr val="94A3B8"/>
                </a:solidFill>
                <a:latin typeface="Arial"/>
                <a:ea typeface="Arial"/>
                <a:cs typeface="Arial"/>
              </a:defRPr>
            </a:lvl7pPr>
            <a:lvl8pPr>
              <a:defRPr sz="1050" b="0">
                <a:solidFill>
                  <a:srgbClr val="94A3B8"/>
                </a:solidFill>
                <a:latin typeface="Arial"/>
                <a:ea typeface="Arial"/>
                <a:cs typeface="Arial"/>
              </a:defRPr>
            </a:lvl8pPr>
            <a:lvl9pPr>
              <a:defRPr sz="1050" b="0">
                <a:solidFill>
                  <a:srgbClr val="94A3B8"/>
                </a:solidFill>
                <a:latin typeface="Arial"/>
                <a:ea typeface="Arial"/>
                <a:cs typeface="Arial"/>
              </a:defRPr>
            </a:lvl9pPr>
          </a:lstStyle>
          <a:p xmlns:a="http://schemas.openxmlformats.org/drawingml/2006/main">
            <a:pPr>
              <a:defRPr sz="1050" b="0">
                <a:solidFill>
                  <a:srgbClr val="94A3B8"/>
                </a:solidFill>
                <a:latin typeface="Arial"/>
                <a:ea typeface="Arial"/>
                <a:cs typeface="Arial"/>
              </a:defRPr>
            </a:pPr>
            <a:r>
              <a:rPr sz="1050" b="0">
                <a:solidFill>
                  <a:srgbClr val="94A3B8"/>
                </a:solidFill>
                <a:latin typeface="Arial"/>
                <a:ea typeface="Arial"/>
                <a:cs typeface="Arial"/>
              </a:rPr>
              <a:t>Precision Bắt Giả Mạo (Chặn gian lận cực nhạy)</a:t>
            </a:r>
          </a:p>
        </p:txBody>
      </p:sp>
      <p:sp>
        <p:nvSpPr>
          <p:cNvPr id="15" name="">
            <a:extLst xmlns:a="http://schemas.openxmlformats.org/drawingml/2006/main">
              <a:ext uri="{FF2B5EF4-FFF2-40B4-BE49-F238E27FC236}">
                <a16:creationId xmlns:a16="http://schemas.microsoft.com/office/drawing/2014/main" id="{B79A8262-CF05-450A-99F4-AD8C8E8535C3}"/>
              </a:ext>
            </a:extLst>
          </p:cNvPr>
          <p:cNvSpPr>
            <a:spLocks xmlns:a="http://schemas.openxmlformats.org/drawingml/2006/main" noGrp="1"/>
          </p:cNvSpPr>
          <p:nvPr/>
        </p:nvSpPr>
        <p:spPr>
          <a:xfrm xmlns:a="http://schemas.openxmlformats.org/drawingml/2006/main">
            <a:off x="609600" y="23336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FFFFFF"/>
                </a:solidFill>
                <a:latin typeface="Arial"/>
                <a:ea typeface="Arial"/>
                <a:cs typeface="Arial"/>
              </a:defRPr>
            </a:defPPr>
            <a:lvl1pPr>
              <a:defRPr sz="1275" b="1">
                <a:solidFill>
                  <a:srgbClr val="FFFFFF"/>
                </a:solidFill>
                <a:latin typeface="Arial"/>
                <a:ea typeface="Arial"/>
                <a:cs typeface="Arial"/>
              </a:defRPr>
            </a:lvl1pPr>
            <a:lvl2pPr>
              <a:defRPr sz="1275" b="1">
                <a:solidFill>
                  <a:srgbClr val="FFFFFF"/>
                </a:solidFill>
                <a:latin typeface="Arial"/>
                <a:ea typeface="Arial"/>
                <a:cs typeface="Arial"/>
              </a:defRPr>
            </a:lvl2pPr>
            <a:lvl3pPr>
              <a:defRPr sz="1275" b="1">
                <a:solidFill>
                  <a:srgbClr val="FFFFFF"/>
                </a:solidFill>
                <a:latin typeface="Arial"/>
                <a:ea typeface="Arial"/>
                <a:cs typeface="Arial"/>
              </a:defRPr>
            </a:lvl3pPr>
            <a:lvl4pPr>
              <a:defRPr sz="1275" b="1">
                <a:solidFill>
                  <a:srgbClr val="FFFFFF"/>
                </a:solidFill>
                <a:latin typeface="Arial"/>
                <a:ea typeface="Arial"/>
                <a:cs typeface="Arial"/>
              </a:defRPr>
            </a:lvl4pPr>
            <a:lvl5pPr>
              <a:defRPr sz="1275" b="1">
                <a:solidFill>
                  <a:srgbClr val="FFFFFF"/>
                </a:solidFill>
                <a:latin typeface="Arial"/>
                <a:ea typeface="Arial"/>
                <a:cs typeface="Arial"/>
              </a:defRPr>
            </a:lvl5pPr>
            <a:lvl6pPr>
              <a:defRPr sz="1275" b="1">
                <a:solidFill>
                  <a:srgbClr val="FFFFFF"/>
                </a:solidFill>
                <a:latin typeface="Arial"/>
                <a:ea typeface="Arial"/>
                <a:cs typeface="Arial"/>
              </a:defRPr>
            </a:lvl6pPr>
            <a:lvl7pPr>
              <a:defRPr sz="1275" b="1">
                <a:solidFill>
                  <a:srgbClr val="FFFFFF"/>
                </a:solidFill>
                <a:latin typeface="Arial"/>
                <a:ea typeface="Arial"/>
                <a:cs typeface="Arial"/>
              </a:defRPr>
            </a:lvl7pPr>
            <a:lvl8pPr>
              <a:defRPr sz="1275" b="1">
                <a:solidFill>
                  <a:srgbClr val="FFFFFF"/>
                </a:solidFill>
                <a:latin typeface="Arial"/>
                <a:ea typeface="Arial"/>
                <a:cs typeface="Arial"/>
              </a:defRPr>
            </a:lvl8pPr>
            <a:lvl9pPr>
              <a:defRPr sz="1275" b="1">
                <a:solidFill>
                  <a:srgbClr val="FFFFFF"/>
                </a:solidFill>
                <a:latin typeface="Arial"/>
                <a:ea typeface="Arial"/>
                <a:cs typeface="Arial"/>
              </a:defRPr>
            </a:lvl9pPr>
          </a:lstStyle>
          <a:p xmlns:a="http://schemas.openxmlformats.org/drawingml/2006/main">
            <a:pPr>
              <a:defRPr sz="1275" b="1">
                <a:solidFill>
                  <a:srgbClr val="FFFFFF"/>
                </a:solidFill>
                <a:latin typeface="Arial"/>
                <a:ea typeface="Arial"/>
                <a:cs typeface="Arial"/>
              </a:defRPr>
            </a:pPr>
            <a:r>
              <a:rPr sz="1275" b="1">
                <a:solidFill>
                  <a:srgbClr val="FFFFFF"/>
                </a:solidFill>
                <a:latin typeface="Arial"/>
                <a:ea typeface="Arial"/>
                <a:cs typeface="Arial"/>
              </a:rPr>
              <a:t>A. Bảng Chỉ Số Phân Loại Chi Tiết (Classification Report)</a:t>
            </a:r>
          </a:p>
        </p:txBody>
      </p:sp>
      <p:graphicFrame>
        <p:nvGraphicFramePr>
          <p:cNvPr id="16" name="">
            <a:extLst xmlns:a="http://schemas.openxmlformats.org/drawingml/2006/main">
              <a:ext uri="{FF2B5EF4-FFF2-40B4-BE49-F238E27FC236}">
                <a16:creationId xmlns:a16="http://schemas.microsoft.com/office/drawing/2014/main" id="{29C17FEC-65D1-4D5B-8DB6-95198C38B354}"/>
              </a:ext>
            </a:extLst>
          </p:cNvPr>
          <p:cNvGraphicFramePr/>
          <p:nvPr/>
        </p:nvGraphicFramePr>
        <p:xfrm>
          <a:off xmlns:a="http://schemas.openxmlformats.org/drawingml/2006/main" x="609600" y="2628900"/>
          <a:ext xmlns:a="http://schemas.openxmlformats.org/drawingml/2006/main" cx="10972800" cy="1571625"/>
        </p:xfrm>
        <a:graphic xmlns:a="http://schemas.openxmlformats.org/drawingml/2006/main">
          <a:graphicData uri="http://schemas.openxmlformats.org/drawingml/2006/table">
            <a:tbl>
              <a:tblPr/>
              <a:tblGrid>
                <a:gridCol w="1809750"/>
                <a:gridCol w="1524000"/>
                <a:gridCol w="1619250"/>
                <a:gridCol w="1619250"/>
                <a:gridCol w="1047750"/>
                <a:gridCol w="3352800"/>
              </a:tblGrid>
              <a:tr h="392906">
                <a:tc>
                  <a:txBody>
                    <a:bodyPr>
                      <a:noAutofit/>
                    </a:bodyPr>
                    <a:lstStyle/>
                    <a:p>
                      <a:r>
                        <a:rPr sz="1050" b="1">
                          <a:solidFill>
                            <a:srgbClr val="38BDF8"/>
                          </a:solidFill>
                          <a:latin typeface="Arial"/>
                          <a:ea typeface="Arial"/>
                          <a:cs typeface="Arial"/>
                        </a:rPr>
                        <a:t>Lớp đối tượng (Class)</a:t>
                      </a:r>
                    </a:p>
                  </a:txBody>
                  <a:tcPr marL="91440" marR="91440" marT="45720" marB="45720">
                    <a:lnL w="9525">
                      <a:solidFill>
                        <a:srgbClr val="1F3354"/>
                      </a:solidFill>
                    </a:lnL>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1050" b="1">
                          <a:solidFill>
                            <a:srgbClr val="38BDF8"/>
                          </a:solidFill>
                          <a:latin typeface="Arial"/>
                          <a:ea typeface="Arial"/>
                          <a:cs typeface="Arial"/>
                        </a:rPr>
                        <a:t>Số lượng (Support)</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1050" b="1">
                          <a:solidFill>
                            <a:srgbClr val="38BDF8"/>
                          </a:solidFill>
                          <a:latin typeface="Arial"/>
                          <a:ea typeface="Arial"/>
                          <a:cs typeface="Arial"/>
                        </a:rPr>
                        <a:t>Precision (Độ chuẩn)</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1050" b="1">
                          <a:solidFill>
                            <a:srgbClr val="38BDF8"/>
                          </a:solidFill>
                          <a:latin typeface="Arial"/>
                          <a:ea typeface="Arial"/>
                          <a:cs typeface="Arial"/>
                        </a:rPr>
                        <a:t>Recall (Độ bao phủ)</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1050" b="1">
                          <a:solidFill>
                            <a:srgbClr val="38BDF8"/>
                          </a:solidFill>
                          <a:latin typeface="Arial"/>
                          <a:ea typeface="Arial"/>
                          <a:cs typeface="Arial"/>
                        </a:rPr>
                        <a:t>F1-Score</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1050" b="1">
                          <a:solidFill>
                            <a:srgbClr val="38BDF8"/>
                          </a:solidFill>
                          <a:latin typeface="Arial"/>
                          <a:ea typeface="Arial"/>
                          <a:cs typeface="Arial"/>
                        </a:rPr>
                        <a:t>Ý nghĩa thực tế</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r>
              <a:tr h="392906">
                <a:tc>
                  <a:txBody>
                    <a:bodyPr>
                      <a:noAutofit/>
                    </a:bodyPr>
                    <a:lstStyle/>
                    <a:p>
                      <a:r>
                        <a:rPr sz="1050" b="1">
                          <a:solidFill>
                            <a:srgbClr val="FFFFFF"/>
                          </a:solidFill>
                          <a:latin typeface="Arial"/>
                          <a:ea typeface="Arial"/>
                          <a:cs typeface="Arial"/>
                        </a:rPr>
                        <a:t>FAKE (Giả mạo)</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1050" b="0">
                          <a:solidFill>
                            <a:srgbClr val="E2E8F0"/>
                          </a:solidFill>
                          <a:latin typeface="Arial"/>
                          <a:ea typeface="Arial"/>
                          <a:cs typeface="Arial"/>
                        </a:rPr>
                        <a:t>2.365 ảnh</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99.87%</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96.24%</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98.02%</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E2E8F0"/>
                          </a:solidFill>
                          <a:latin typeface="Arial"/>
                          <a:ea typeface="Arial"/>
                          <a:cs typeface="Arial"/>
                        </a:rPr>
                        <a:t>Chặn đứng gần như tuyệt đối các đòn phát lại màn hình</a:t>
                      </a:r>
                    </a:p>
                  </a:txBody>
                  <a:tcPr marL="91440" marR="91440" marT="45720" marB="45720">
                    <a:lnR w="9525">
                      <a:solidFill>
                        <a:srgbClr val="1F3354"/>
                      </a:solidFill>
                    </a:lnR>
                    <a:lnB w="9525">
                      <a:solidFill>
                        <a:srgbClr val="1F3354"/>
                      </a:solidFill>
                    </a:lnB>
                    <a:solidFill>
                      <a:srgbClr val="101B2E"/>
                    </a:solidFill>
                  </a:tcPr>
                </a:tc>
              </a:tr>
              <a:tr h="392906">
                <a:tc>
                  <a:txBody>
                    <a:bodyPr>
                      <a:noAutofit/>
                    </a:bodyPr>
                    <a:lstStyle/>
                    <a:p>
                      <a:r>
                        <a:rPr sz="1050" b="1">
                          <a:solidFill>
                            <a:srgbClr val="FFFFFF"/>
                          </a:solidFill>
                          <a:latin typeface="Arial"/>
                          <a:ea typeface="Arial"/>
                          <a:cs typeface="Arial"/>
                        </a:rPr>
                        <a:t>REAL (Người thật)</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1050" b="0">
                          <a:solidFill>
                            <a:srgbClr val="E2E8F0"/>
                          </a:solidFill>
                          <a:latin typeface="Arial"/>
                          <a:ea typeface="Arial"/>
                          <a:cs typeface="Arial"/>
                        </a:rPr>
                        <a:t>2.446 ảnh</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1050" b="0">
                          <a:solidFill>
                            <a:srgbClr val="34D399"/>
                          </a:solidFill>
                          <a:latin typeface="Arial"/>
                          <a:ea typeface="Arial"/>
                          <a:cs typeface="Arial"/>
                        </a:rPr>
                        <a:t>96.48%</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1050" b="0">
                          <a:solidFill>
                            <a:srgbClr val="34D399"/>
                          </a:solidFill>
                          <a:latin typeface="Arial"/>
                          <a:ea typeface="Arial"/>
                          <a:cs typeface="Arial"/>
                        </a:rPr>
                        <a:t>99.88%</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1050" b="0">
                          <a:solidFill>
                            <a:srgbClr val="34D399"/>
                          </a:solidFill>
                          <a:latin typeface="Arial"/>
                          <a:ea typeface="Arial"/>
                          <a:cs typeface="Arial"/>
                        </a:rPr>
                        <a:t>98.15%</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1050" b="0">
                          <a:solidFill>
                            <a:srgbClr val="E2E8F0"/>
                          </a:solidFill>
                          <a:latin typeface="Arial"/>
                          <a:ea typeface="Arial"/>
                          <a:cs typeface="Arial"/>
                        </a:rPr>
                        <a:t>Người dùng thông suốt, tỷ lệ bị từ chối oan cực thấp</a:t>
                      </a:r>
                    </a:p>
                  </a:txBody>
                  <a:tcPr marL="91440" marR="91440" marT="45720" marB="45720">
                    <a:lnR w="9525">
                      <a:solidFill>
                        <a:srgbClr val="1F3354"/>
                      </a:solidFill>
                    </a:lnR>
                    <a:lnB w="9525">
                      <a:solidFill>
                        <a:srgbClr val="1F3354"/>
                      </a:solidFill>
                    </a:lnB>
                    <a:solidFill>
                      <a:srgbClr val="0B1322"/>
                    </a:solidFill>
                  </a:tcPr>
                </a:tc>
              </a:tr>
              <a:tr h="392906">
                <a:tc>
                  <a:txBody>
                    <a:bodyPr>
                      <a:noAutofit/>
                    </a:bodyPr>
                    <a:lstStyle/>
                    <a:p>
                      <a:r>
                        <a:rPr sz="1050" b="1">
                          <a:solidFill>
                            <a:srgbClr val="FFFFFF"/>
                          </a:solidFill>
                          <a:latin typeface="Arial"/>
                          <a:ea typeface="Arial"/>
                          <a:cs typeface="Arial"/>
                        </a:rPr>
                        <a:t>Trung bình toàn bộ</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1050" b="0">
                          <a:solidFill>
                            <a:srgbClr val="E2E8F0"/>
                          </a:solidFill>
                          <a:latin typeface="Arial"/>
                          <a:ea typeface="Arial"/>
                          <a:cs typeface="Arial"/>
                        </a:rPr>
                        <a:t>4.811 ảnh</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98.18%</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98.06%</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34D399"/>
                          </a:solidFill>
                          <a:latin typeface="Arial"/>
                          <a:ea typeface="Arial"/>
                          <a:cs typeface="Arial"/>
                        </a:rPr>
                        <a:t>98.09%</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1050" b="0">
                          <a:solidFill>
                            <a:srgbClr val="E2E8F0"/>
                          </a:solidFill>
                          <a:latin typeface="Arial"/>
                          <a:ea typeface="Arial"/>
                          <a:cs typeface="Arial"/>
                        </a:rPr>
                        <a:t>Cân bằng hoàn hảo giữa bảo mật và trải nghiệm thực tế</a:t>
                      </a:r>
                    </a:p>
                  </a:txBody>
                  <a:tcPr marL="91440" marR="91440" marT="45720" marB="45720">
                    <a:lnR w="9525">
                      <a:solidFill>
                        <a:srgbClr val="1F3354"/>
                      </a:solidFill>
                    </a:lnR>
                    <a:lnB w="9525">
                      <a:solidFill>
                        <a:srgbClr val="1F3354"/>
                      </a:solidFill>
                    </a:lnB>
                    <a:solidFill>
                      <a:srgbClr val="101B2E"/>
                    </a:solidFill>
                  </a:tcPr>
                </a:tc>
              </a:tr>
            </a:tbl>
          </a:graphicData>
        </a:graphic>
      </p:graphicFrame>
      <p:sp>
        <p:nvSpPr>
          <p:cNvPr id="17" name="">
            <a:extLst xmlns:a="http://schemas.openxmlformats.org/drawingml/2006/main">
              <a:ext uri="{FF2B5EF4-FFF2-40B4-BE49-F238E27FC236}">
                <a16:creationId xmlns:a16="http://schemas.microsoft.com/office/drawing/2014/main" id="{E080C1F6-A4E1-489D-ADB2-D53076A8F8A1}"/>
              </a:ext>
            </a:extLst>
          </p:cNvPr>
          <p:cNvSpPr>
            <a:spLocks xmlns:a="http://schemas.openxmlformats.org/drawingml/2006/main" noGrp="1"/>
          </p:cNvSpPr>
          <p:nvPr/>
        </p:nvSpPr>
        <p:spPr>
          <a:xfrm xmlns:a="http://schemas.openxmlformats.org/drawingml/2006/main">
            <a:off x="609600" y="43815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FFFFFF"/>
                </a:solidFill>
                <a:latin typeface="Arial"/>
                <a:ea typeface="Arial"/>
                <a:cs typeface="Arial"/>
              </a:defRPr>
            </a:defPPr>
            <a:lvl1pPr>
              <a:defRPr sz="1275" b="1">
                <a:solidFill>
                  <a:srgbClr val="FFFFFF"/>
                </a:solidFill>
                <a:latin typeface="Arial"/>
                <a:ea typeface="Arial"/>
                <a:cs typeface="Arial"/>
              </a:defRPr>
            </a:lvl1pPr>
            <a:lvl2pPr>
              <a:defRPr sz="1275" b="1">
                <a:solidFill>
                  <a:srgbClr val="FFFFFF"/>
                </a:solidFill>
                <a:latin typeface="Arial"/>
                <a:ea typeface="Arial"/>
                <a:cs typeface="Arial"/>
              </a:defRPr>
            </a:lvl2pPr>
            <a:lvl3pPr>
              <a:defRPr sz="1275" b="1">
                <a:solidFill>
                  <a:srgbClr val="FFFFFF"/>
                </a:solidFill>
                <a:latin typeface="Arial"/>
                <a:ea typeface="Arial"/>
                <a:cs typeface="Arial"/>
              </a:defRPr>
            </a:lvl3pPr>
            <a:lvl4pPr>
              <a:defRPr sz="1275" b="1">
                <a:solidFill>
                  <a:srgbClr val="FFFFFF"/>
                </a:solidFill>
                <a:latin typeface="Arial"/>
                <a:ea typeface="Arial"/>
                <a:cs typeface="Arial"/>
              </a:defRPr>
            </a:lvl4pPr>
            <a:lvl5pPr>
              <a:defRPr sz="1275" b="1">
                <a:solidFill>
                  <a:srgbClr val="FFFFFF"/>
                </a:solidFill>
                <a:latin typeface="Arial"/>
                <a:ea typeface="Arial"/>
                <a:cs typeface="Arial"/>
              </a:defRPr>
            </a:lvl5pPr>
            <a:lvl6pPr>
              <a:defRPr sz="1275" b="1">
                <a:solidFill>
                  <a:srgbClr val="FFFFFF"/>
                </a:solidFill>
                <a:latin typeface="Arial"/>
                <a:ea typeface="Arial"/>
                <a:cs typeface="Arial"/>
              </a:defRPr>
            </a:lvl6pPr>
            <a:lvl7pPr>
              <a:defRPr sz="1275" b="1">
                <a:solidFill>
                  <a:srgbClr val="FFFFFF"/>
                </a:solidFill>
                <a:latin typeface="Arial"/>
                <a:ea typeface="Arial"/>
                <a:cs typeface="Arial"/>
              </a:defRPr>
            </a:lvl7pPr>
            <a:lvl8pPr>
              <a:defRPr sz="1275" b="1">
                <a:solidFill>
                  <a:srgbClr val="FFFFFF"/>
                </a:solidFill>
                <a:latin typeface="Arial"/>
                <a:ea typeface="Arial"/>
                <a:cs typeface="Arial"/>
              </a:defRPr>
            </a:lvl8pPr>
            <a:lvl9pPr>
              <a:defRPr sz="1275" b="1">
                <a:solidFill>
                  <a:srgbClr val="FFFFFF"/>
                </a:solidFill>
                <a:latin typeface="Arial"/>
                <a:ea typeface="Arial"/>
                <a:cs typeface="Arial"/>
              </a:defRPr>
            </a:lvl9pPr>
          </a:lstStyle>
          <a:p xmlns:a="http://schemas.openxmlformats.org/drawingml/2006/main">
            <a:pPr>
              <a:defRPr sz="1275" b="1">
                <a:solidFill>
                  <a:srgbClr val="FFFFFF"/>
                </a:solidFill>
                <a:latin typeface="Arial"/>
                <a:ea typeface="Arial"/>
                <a:cs typeface="Arial"/>
              </a:defRPr>
            </a:pPr>
            <a:r>
              <a:rPr sz="1275" b="1">
                <a:solidFill>
                  <a:srgbClr val="FFFFFF"/>
                </a:solidFill>
                <a:latin typeface="Arial"/>
                <a:ea typeface="Arial"/>
                <a:cs typeface="Arial"/>
              </a:rPr>
              <a:t>B. Ma Trận Nhầm Lẫn Thực Tế (Confusion Matrix trên 4.811 ảnh Test độc lập)</a:t>
            </a:r>
          </a:p>
        </p:txBody>
      </p:sp>
      <p:sp>
        <p:nvSpPr>
          <p:cNvPr id="18" name="">
            <a:extLst xmlns:a="http://schemas.openxmlformats.org/drawingml/2006/main">
              <a:ext uri="{FF2B5EF4-FFF2-40B4-BE49-F238E27FC236}">
                <a16:creationId xmlns:a16="http://schemas.microsoft.com/office/drawing/2014/main" id="{EB564259-121B-4071-A731-A67A9C228FBB}"/>
              </a:ext>
            </a:extLst>
          </p:cNvPr>
          <p:cNvSpPr>
            <a:spLocks xmlns:a="http://schemas.openxmlformats.org/drawingml/2006/main" noGrp="1"/>
          </p:cNvSpPr>
          <p:nvPr/>
        </p:nvSpPr>
        <p:spPr>
          <a:xfrm xmlns:a="http://schemas.openxmlformats.org/drawingml/2006/main">
            <a:off x="609600" y="4686300"/>
            <a:ext cx="5295900" cy="1476375"/>
          </a:xfrm>
          <a:prstGeom xmlns:a="http://schemas.openxmlformats.org/drawingml/2006/main" prst="rect">
            <a:avLst/>
          </a:prstGeom>
          <a:solidFill xmlns:a="http://schemas.openxmlformats.org/drawingml/2006/main">
            <a:srgbClr val="111B2E"/>
          </a:solidFill>
          <a:ln xmlns:a="http://schemas.openxmlformats.org/drawingml/2006/main" w="9525">
            <a:solidFill>
              <a:srgbClr val="D97706"/>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9" name="">
            <a:extLst xmlns:a="http://schemas.openxmlformats.org/drawingml/2006/main">
              <a:ext uri="{FF2B5EF4-FFF2-40B4-BE49-F238E27FC236}">
                <a16:creationId xmlns:a16="http://schemas.microsoft.com/office/drawing/2014/main" id="{1ECC0A38-F35E-463E-B565-DED8DB3BC49D}"/>
              </a:ext>
            </a:extLst>
          </p:cNvPr>
          <p:cNvSpPr>
            <a:spLocks xmlns:a="http://schemas.openxmlformats.org/drawingml/2006/main" noGrp="1"/>
          </p:cNvSpPr>
          <p:nvPr/>
        </p:nvSpPr>
        <p:spPr>
          <a:xfrm xmlns:a="http://schemas.openxmlformats.org/drawingml/2006/main">
            <a:off x="838200" y="4819650"/>
            <a:ext cx="4838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1">
                <a:solidFill>
                  <a:srgbClr val="FBBF24"/>
                </a:solidFill>
                <a:latin typeface="Arial"/>
                <a:ea typeface="Arial"/>
                <a:cs typeface="Arial"/>
              </a:defRPr>
            </a:defPPr>
            <a:lvl1pPr>
              <a:defRPr sz="1050" b="1">
                <a:solidFill>
                  <a:srgbClr val="FBBF24"/>
                </a:solidFill>
                <a:latin typeface="Arial"/>
                <a:ea typeface="Arial"/>
                <a:cs typeface="Arial"/>
              </a:defRPr>
            </a:lvl1pPr>
            <a:lvl2pPr>
              <a:defRPr sz="1050" b="1">
                <a:solidFill>
                  <a:srgbClr val="FBBF24"/>
                </a:solidFill>
                <a:latin typeface="Arial"/>
                <a:ea typeface="Arial"/>
                <a:cs typeface="Arial"/>
              </a:defRPr>
            </a:lvl2pPr>
            <a:lvl3pPr>
              <a:defRPr sz="1050" b="1">
                <a:solidFill>
                  <a:srgbClr val="FBBF24"/>
                </a:solidFill>
                <a:latin typeface="Arial"/>
                <a:ea typeface="Arial"/>
                <a:cs typeface="Arial"/>
              </a:defRPr>
            </a:lvl3pPr>
            <a:lvl4pPr>
              <a:defRPr sz="1050" b="1">
                <a:solidFill>
                  <a:srgbClr val="FBBF24"/>
                </a:solidFill>
                <a:latin typeface="Arial"/>
                <a:ea typeface="Arial"/>
                <a:cs typeface="Arial"/>
              </a:defRPr>
            </a:lvl4pPr>
            <a:lvl5pPr>
              <a:defRPr sz="1050" b="1">
                <a:solidFill>
                  <a:srgbClr val="FBBF24"/>
                </a:solidFill>
                <a:latin typeface="Arial"/>
                <a:ea typeface="Arial"/>
                <a:cs typeface="Arial"/>
              </a:defRPr>
            </a:lvl5pPr>
            <a:lvl6pPr>
              <a:defRPr sz="1050" b="1">
                <a:solidFill>
                  <a:srgbClr val="FBBF24"/>
                </a:solidFill>
                <a:latin typeface="Arial"/>
                <a:ea typeface="Arial"/>
                <a:cs typeface="Arial"/>
              </a:defRPr>
            </a:lvl6pPr>
            <a:lvl7pPr>
              <a:defRPr sz="1050" b="1">
                <a:solidFill>
                  <a:srgbClr val="FBBF24"/>
                </a:solidFill>
                <a:latin typeface="Arial"/>
                <a:ea typeface="Arial"/>
                <a:cs typeface="Arial"/>
              </a:defRPr>
            </a:lvl7pPr>
            <a:lvl8pPr>
              <a:defRPr sz="1050" b="1">
                <a:solidFill>
                  <a:srgbClr val="FBBF24"/>
                </a:solidFill>
                <a:latin typeface="Arial"/>
                <a:ea typeface="Arial"/>
                <a:cs typeface="Arial"/>
              </a:defRPr>
            </a:lvl8pPr>
            <a:lvl9pPr>
              <a:defRPr sz="1050" b="1">
                <a:solidFill>
                  <a:srgbClr val="FBBF24"/>
                </a:solidFill>
                <a:latin typeface="Arial"/>
                <a:ea typeface="Arial"/>
                <a:cs typeface="Arial"/>
              </a:defRPr>
            </a:lvl9pPr>
          </a:lstStyle>
          <a:p xmlns:a="http://schemas.openxmlformats.org/drawingml/2006/main">
            <a:pPr>
              <a:defRPr sz="1050" b="1">
                <a:solidFill>
                  <a:srgbClr val="FBBF24"/>
                </a:solidFill>
                <a:latin typeface="Arial"/>
                <a:ea typeface="Arial"/>
                <a:cs typeface="Arial"/>
              </a:defRPr>
            </a:pPr>
            <a:r>
              <a:rPr sz="1050" b="1">
                <a:solidFill>
                  <a:srgbClr val="FBBF24"/>
                </a:solidFill>
                <a:latin typeface="Arial"/>
                <a:ea typeface="Arial"/>
                <a:cs typeface="Arial"/>
              </a:rPr>
              <a:t>PHÂN TÍCH NHÓM ẢNH FAKE (2.365 ảnh)</a:t>
            </a:r>
          </a:p>
        </p:txBody>
      </p:sp>
      <p:sp>
        <p:nvSpPr>
          <p:cNvPr id="20" name="">
            <a:extLst xmlns:a="http://schemas.openxmlformats.org/drawingml/2006/main">
              <a:ext uri="{FF2B5EF4-FFF2-40B4-BE49-F238E27FC236}">
                <a16:creationId xmlns:a16="http://schemas.microsoft.com/office/drawing/2014/main" id="{94D6EA04-1147-4E75-BA37-B61C36D129F4}"/>
              </a:ext>
            </a:extLst>
          </p:cNvPr>
          <p:cNvSpPr>
            <a:spLocks xmlns:a="http://schemas.openxmlformats.org/drawingml/2006/main" noGrp="1"/>
          </p:cNvSpPr>
          <p:nvPr/>
        </p:nvSpPr>
        <p:spPr>
          <a:xfrm xmlns:a="http://schemas.openxmlformats.org/drawingml/2006/main">
            <a:off x="838200" y="5105400"/>
            <a:ext cx="4838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Đoán đúng FAKE: 2.276 ảnh (96.24%)</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Nhầm sang REAL: 89 ảnh (Tỷ lệ lọt gian lận chỉ 3.7%)</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==&gt; Mức độ bảo vệ cao, ngăn chặn tốt điện thoại, laptop, iPad phát lại.</a:t>
            </a:r>
          </a:p>
        </p:txBody>
      </p:sp>
      <p:sp>
        <p:nvSpPr>
          <p:cNvPr id="21" name="">
            <a:extLst xmlns:a="http://schemas.openxmlformats.org/drawingml/2006/main">
              <a:ext uri="{FF2B5EF4-FFF2-40B4-BE49-F238E27FC236}">
                <a16:creationId xmlns:a16="http://schemas.microsoft.com/office/drawing/2014/main" id="{4B297F5F-4F26-40F5-8644-969FDCFC1D7E}"/>
              </a:ext>
            </a:extLst>
          </p:cNvPr>
          <p:cNvSpPr>
            <a:spLocks xmlns:a="http://schemas.openxmlformats.org/drawingml/2006/main" noGrp="1"/>
          </p:cNvSpPr>
          <p:nvPr/>
        </p:nvSpPr>
        <p:spPr>
          <a:xfrm xmlns:a="http://schemas.openxmlformats.org/drawingml/2006/main">
            <a:off x="6286500" y="4686300"/>
            <a:ext cx="5295900" cy="1476375"/>
          </a:xfrm>
          <a:prstGeom xmlns:a="http://schemas.openxmlformats.org/drawingml/2006/main" prst="rect">
            <a:avLst/>
          </a:prstGeom>
          <a:solidFill xmlns:a="http://schemas.openxmlformats.org/drawingml/2006/main">
            <a:srgbClr val="111B2E"/>
          </a:solidFill>
          <a:ln xmlns:a="http://schemas.openxmlformats.org/drawingml/2006/main" w="9525">
            <a:solidFill>
              <a:srgbClr val="059669"/>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22" name="">
            <a:extLst xmlns:a="http://schemas.openxmlformats.org/drawingml/2006/main">
              <a:ext uri="{FF2B5EF4-FFF2-40B4-BE49-F238E27FC236}">
                <a16:creationId xmlns:a16="http://schemas.microsoft.com/office/drawing/2014/main" id="{C48ED38C-3EE9-4385-B93E-969D64DBFF42}"/>
              </a:ext>
            </a:extLst>
          </p:cNvPr>
          <p:cNvSpPr>
            <a:spLocks xmlns:a="http://schemas.openxmlformats.org/drawingml/2006/main" noGrp="1"/>
          </p:cNvSpPr>
          <p:nvPr/>
        </p:nvSpPr>
        <p:spPr>
          <a:xfrm xmlns:a="http://schemas.openxmlformats.org/drawingml/2006/main">
            <a:off x="6515100" y="4819650"/>
            <a:ext cx="4838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1">
                <a:solidFill>
                  <a:srgbClr val="34D399"/>
                </a:solidFill>
                <a:latin typeface="Arial"/>
                <a:ea typeface="Arial"/>
                <a:cs typeface="Arial"/>
              </a:defRPr>
            </a:defPPr>
            <a:lvl1pPr>
              <a:defRPr sz="1050" b="1">
                <a:solidFill>
                  <a:srgbClr val="34D399"/>
                </a:solidFill>
                <a:latin typeface="Arial"/>
                <a:ea typeface="Arial"/>
                <a:cs typeface="Arial"/>
              </a:defRPr>
            </a:lvl1pPr>
            <a:lvl2pPr>
              <a:defRPr sz="1050" b="1">
                <a:solidFill>
                  <a:srgbClr val="34D399"/>
                </a:solidFill>
                <a:latin typeface="Arial"/>
                <a:ea typeface="Arial"/>
                <a:cs typeface="Arial"/>
              </a:defRPr>
            </a:lvl2pPr>
            <a:lvl3pPr>
              <a:defRPr sz="1050" b="1">
                <a:solidFill>
                  <a:srgbClr val="34D399"/>
                </a:solidFill>
                <a:latin typeface="Arial"/>
                <a:ea typeface="Arial"/>
                <a:cs typeface="Arial"/>
              </a:defRPr>
            </a:lvl3pPr>
            <a:lvl4pPr>
              <a:defRPr sz="1050" b="1">
                <a:solidFill>
                  <a:srgbClr val="34D399"/>
                </a:solidFill>
                <a:latin typeface="Arial"/>
                <a:ea typeface="Arial"/>
                <a:cs typeface="Arial"/>
              </a:defRPr>
            </a:lvl4pPr>
            <a:lvl5pPr>
              <a:defRPr sz="1050" b="1">
                <a:solidFill>
                  <a:srgbClr val="34D399"/>
                </a:solidFill>
                <a:latin typeface="Arial"/>
                <a:ea typeface="Arial"/>
                <a:cs typeface="Arial"/>
              </a:defRPr>
            </a:lvl5pPr>
            <a:lvl6pPr>
              <a:defRPr sz="1050" b="1">
                <a:solidFill>
                  <a:srgbClr val="34D399"/>
                </a:solidFill>
                <a:latin typeface="Arial"/>
                <a:ea typeface="Arial"/>
                <a:cs typeface="Arial"/>
              </a:defRPr>
            </a:lvl6pPr>
            <a:lvl7pPr>
              <a:defRPr sz="1050" b="1">
                <a:solidFill>
                  <a:srgbClr val="34D399"/>
                </a:solidFill>
                <a:latin typeface="Arial"/>
                <a:ea typeface="Arial"/>
                <a:cs typeface="Arial"/>
              </a:defRPr>
            </a:lvl7pPr>
            <a:lvl8pPr>
              <a:defRPr sz="1050" b="1">
                <a:solidFill>
                  <a:srgbClr val="34D399"/>
                </a:solidFill>
                <a:latin typeface="Arial"/>
                <a:ea typeface="Arial"/>
                <a:cs typeface="Arial"/>
              </a:defRPr>
            </a:lvl8pPr>
            <a:lvl9pPr>
              <a:defRPr sz="1050" b="1">
                <a:solidFill>
                  <a:srgbClr val="34D399"/>
                </a:solidFill>
                <a:latin typeface="Arial"/>
                <a:ea typeface="Arial"/>
                <a:cs typeface="Arial"/>
              </a:defRPr>
            </a:lvl9pPr>
          </a:lstStyle>
          <a:p xmlns:a="http://schemas.openxmlformats.org/drawingml/2006/main">
            <a:pPr>
              <a:defRPr sz="1050" b="1">
                <a:solidFill>
                  <a:srgbClr val="34D399"/>
                </a:solidFill>
                <a:latin typeface="Arial"/>
                <a:ea typeface="Arial"/>
                <a:cs typeface="Arial"/>
              </a:defRPr>
            </a:pPr>
            <a:r>
              <a:rPr sz="1050" b="1">
                <a:solidFill>
                  <a:srgbClr val="34D399"/>
                </a:solidFill>
                <a:latin typeface="Arial"/>
                <a:ea typeface="Arial"/>
                <a:cs typeface="Arial"/>
              </a:rPr>
              <a:t>PHÂN TÍCH NHÓM ẢNH REAL (2.446 ảnh)</a:t>
            </a:r>
          </a:p>
        </p:txBody>
      </p:sp>
      <p:sp>
        <p:nvSpPr>
          <p:cNvPr id="23" name="">
            <a:extLst xmlns:a="http://schemas.openxmlformats.org/drawingml/2006/main">
              <a:ext uri="{FF2B5EF4-FFF2-40B4-BE49-F238E27FC236}">
                <a16:creationId xmlns:a16="http://schemas.microsoft.com/office/drawing/2014/main" id="{535B00F1-EF4A-43CA-94CB-C4B3D17B049B}"/>
              </a:ext>
            </a:extLst>
          </p:cNvPr>
          <p:cNvSpPr>
            <a:spLocks xmlns:a="http://schemas.openxmlformats.org/drawingml/2006/main" noGrp="1"/>
          </p:cNvSpPr>
          <p:nvPr/>
        </p:nvSpPr>
        <p:spPr>
          <a:xfrm xmlns:a="http://schemas.openxmlformats.org/drawingml/2006/main">
            <a:off x="6515100" y="5105400"/>
            <a:ext cx="4838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Đoán đúng REAL: 2.443 ảnh (99.88%)</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Nhầm sang FAKE: Đúng 3 ảnh duy nhất (0.12%)</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==&gt; Người thật gần như 100% được xác thực thành công ngay lập tức.</a:t>
            </a:r>
          </a:p>
        </p:txBody>
      </p:sp>
    </p:spTree>
    <p:extLst>
      <p:ext uri="{BB962C8B-B14F-4D97-AF65-F5344CB8AC3E}">
        <p14:creationId xmlns:p14="http://schemas.microsoft.com/office/powerpoint/2010/main" val="821529520"/>
      </p:ext>
    </p:extLst>
  </p:cSld>
</p:sld>
</file>

<file path=ppt/slides/slide4.xml><?xml version="1.0" encoding="utf-8"?>
<p:sld xmlns:p="http://schemas.openxmlformats.org/presentationml/2006/main">
  <p:cSld>
    <p:bg>
      <p:bgPr>
        <a:solidFill xmlns:a="http://schemas.openxmlformats.org/drawingml/2006/main">
          <a:srgbClr val="0A0F1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56B9659-D74A-41DE-A6AD-AC42DCD5D90B}"/>
              </a:ext>
            </a:extLst>
          </p:cNvPr>
          <p:cNvSpPr>
            <a:spLocks xmlns:a="http://schemas.openxmlformats.org/drawingml/2006/main" noGrp="1"/>
          </p:cNvSpPr>
          <p:nvPr/>
        </p:nvSpPr>
        <p:spPr>
          <a:xfrm xmlns:a="http://schemas.openxmlformats.org/drawingml/2006/main">
            <a:off x="6096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ĐÁNH GIÁ CẤP ĐỘ VIDEO &amp; CROSS-CAMERA GENERALIZATION</a:t>
            </a:r>
          </a:p>
        </p:txBody>
      </p:sp>
      <p:sp>
        <p:nvSpPr>
          <p:cNvPr id="2" name="">
            <a:extLst xmlns:a="http://schemas.openxmlformats.org/drawingml/2006/main">
              <a:ext uri="{FF2B5EF4-FFF2-40B4-BE49-F238E27FC236}">
                <a16:creationId xmlns:a16="http://schemas.microsoft.com/office/drawing/2014/main" id="{9D8B8DD0-FCAA-4A52-9F97-70382C91752D}"/>
              </a:ext>
            </a:extLst>
          </p:cNvPr>
          <p:cNvSpPr>
            <a:spLocks xmlns:a="http://schemas.openxmlformats.org/drawingml/2006/main" noGrp="1"/>
          </p:cNvSpPr>
          <p:nvPr/>
        </p:nvSpPr>
        <p:spPr>
          <a:xfrm xmlns:a="http://schemas.openxmlformats.org/drawingml/2006/main">
            <a:off x="609600" y="49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FFFFFF"/>
                </a:solidFill>
                <a:latin typeface="Arial"/>
                <a:ea typeface="Arial"/>
                <a:cs typeface="Arial"/>
              </a:defRPr>
            </a:defPPr>
            <a:lvl1pPr>
              <a:defRPr sz="2250" b="1">
                <a:solidFill>
                  <a:srgbClr val="FFFFFF"/>
                </a:solidFill>
                <a:latin typeface="Arial"/>
                <a:ea typeface="Arial"/>
                <a:cs typeface="Arial"/>
              </a:defRPr>
            </a:lvl1pPr>
            <a:lvl2pPr>
              <a:defRPr sz="2250" b="1">
                <a:solidFill>
                  <a:srgbClr val="FFFFFF"/>
                </a:solidFill>
                <a:latin typeface="Arial"/>
                <a:ea typeface="Arial"/>
                <a:cs typeface="Arial"/>
              </a:defRPr>
            </a:lvl2pPr>
            <a:lvl3pPr>
              <a:defRPr sz="2250" b="1">
                <a:solidFill>
                  <a:srgbClr val="FFFFFF"/>
                </a:solidFill>
                <a:latin typeface="Arial"/>
                <a:ea typeface="Arial"/>
                <a:cs typeface="Arial"/>
              </a:defRPr>
            </a:lvl3pPr>
            <a:lvl4pPr>
              <a:defRPr sz="2250" b="1">
                <a:solidFill>
                  <a:srgbClr val="FFFFFF"/>
                </a:solidFill>
                <a:latin typeface="Arial"/>
                <a:ea typeface="Arial"/>
                <a:cs typeface="Arial"/>
              </a:defRPr>
            </a:lvl4pPr>
            <a:lvl5pPr>
              <a:defRPr sz="2250" b="1">
                <a:solidFill>
                  <a:srgbClr val="FFFFFF"/>
                </a:solidFill>
                <a:latin typeface="Arial"/>
                <a:ea typeface="Arial"/>
                <a:cs typeface="Arial"/>
              </a:defRPr>
            </a:lvl5pPr>
            <a:lvl6pPr>
              <a:defRPr sz="2250" b="1">
                <a:solidFill>
                  <a:srgbClr val="FFFFFF"/>
                </a:solidFill>
                <a:latin typeface="Arial"/>
                <a:ea typeface="Arial"/>
                <a:cs typeface="Arial"/>
              </a:defRPr>
            </a:lvl6pPr>
            <a:lvl7pPr>
              <a:defRPr sz="2250" b="1">
                <a:solidFill>
                  <a:srgbClr val="FFFFFF"/>
                </a:solidFill>
                <a:latin typeface="Arial"/>
                <a:ea typeface="Arial"/>
                <a:cs typeface="Arial"/>
              </a:defRPr>
            </a:lvl7pPr>
            <a:lvl8pPr>
              <a:defRPr sz="2250" b="1">
                <a:solidFill>
                  <a:srgbClr val="FFFFFF"/>
                </a:solidFill>
                <a:latin typeface="Arial"/>
                <a:ea typeface="Arial"/>
                <a:cs typeface="Arial"/>
              </a:defRPr>
            </a:lvl8pPr>
            <a:lvl9pPr>
              <a:defRPr sz="2250" b="1">
                <a:solidFill>
                  <a:srgbClr val="FFFFFF"/>
                </a:solidFill>
                <a:latin typeface="Arial"/>
                <a:ea typeface="Arial"/>
                <a:cs typeface="Arial"/>
              </a:defRPr>
            </a:lvl9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Đánh Giá Cấp Độ Video &amp; Khả Năng Tổng Quát Hóa</a:t>
            </a:r>
          </a:p>
        </p:txBody>
      </p:sp>
      <p:sp>
        <p:nvSpPr>
          <p:cNvPr id="3" name="">
            <a:extLst xmlns:a="http://schemas.openxmlformats.org/drawingml/2006/main">
              <a:ext uri="{FF2B5EF4-FFF2-40B4-BE49-F238E27FC236}">
                <a16:creationId xmlns:a16="http://schemas.microsoft.com/office/drawing/2014/main" id="{BE81FF90-BB0D-4AA6-9A0A-CA586379CE55}"/>
              </a:ext>
            </a:extLst>
          </p:cNvPr>
          <p:cNvSpPr>
            <a:spLocks xmlns:a="http://schemas.openxmlformats.org/drawingml/2006/main" noGrp="1"/>
          </p:cNvSpPr>
          <p:nvPr/>
        </p:nvSpPr>
        <p:spPr>
          <a:xfrm xmlns:a="http://schemas.openxmlformats.org/drawingml/2006/main">
            <a:off x="609600" y="9144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94A3B8"/>
                </a:solidFill>
                <a:latin typeface="Arial"/>
                <a:ea typeface="Arial"/>
                <a:cs typeface="Arial"/>
              </a:defRPr>
            </a:defPPr>
            <a:lvl1pPr>
              <a:defRPr sz="1200" b="0">
                <a:solidFill>
                  <a:srgbClr val="94A3B8"/>
                </a:solidFill>
                <a:latin typeface="Arial"/>
                <a:ea typeface="Arial"/>
                <a:cs typeface="Arial"/>
              </a:defRPr>
            </a:lvl1pPr>
            <a:lvl2pPr>
              <a:defRPr sz="1200" b="0">
                <a:solidFill>
                  <a:srgbClr val="94A3B8"/>
                </a:solidFill>
                <a:latin typeface="Arial"/>
                <a:ea typeface="Arial"/>
                <a:cs typeface="Arial"/>
              </a:defRPr>
            </a:lvl2pPr>
            <a:lvl3pPr>
              <a:defRPr sz="1200" b="0">
                <a:solidFill>
                  <a:srgbClr val="94A3B8"/>
                </a:solidFill>
                <a:latin typeface="Arial"/>
                <a:ea typeface="Arial"/>
                <a:cs typeface="Arial"/>
              </a:defRPr>
            </a:lvl3pPr>
            <a:lvl4pPr>
              <a:defRPr sz="1200" b="0">
                <a:solidFill>
                  <a:srgbClr val="94A3B8"/>
                </a:solidFill>
                <a:latin typeface="Arial"/>
                <a:ea typeface="Arial"/>
                <a:cs typeface="Arial"/>
              </a:defRPr>
            </a:lvl4pPr>
            <a:lvl5pPr>
              <a:defRPr sz="1200" b="0">
                <a:solidFill>
                  <a:srgbClr val="94A3B8"/>
                </a:solidFill>
                <a:latin typeface="Arial"/>
                <a:ea typeface="Arial"/>
                <a:cs typeface="Arial"/>
              </a:defRPr>
            </a:lvl5pPr>
            <a:lvl6pPr>
              <a:defRPr sz="1200" b="0">
                <a:solidFill>
                  <a:srgbClr val="94A3B8"/>
                </a:solidFill>
                <a:latin typeface="Arial"/>
                <a:ea typeface="Arial"/>
                <a:cs typeface="Arial"/>
              </a:defRPr>
            </a:lvl6pPr>
            <a:lvl7pPr>
              <a:defRPr sz="1200" b="0">
                <a:solidFill>
                  <a:srgbClr val="94A3B8"/>
                </a:solidFill>
                <a:latin typeface="Arial"/>
                <a:ea typeface="Arial"/>
                <a:cs typeface="Arial"/>
              </a:defRPr>
            </a:lvl7pPr>
            <a:lvl8pPr>
              <a:defRPr sz="1200" b="0">
                <a:solidFill>
                  <a:srgbClr val="94A3B8"/>
                </a:solidFill>
                <a:latin typeface="Arial"/>
                <a:ea typeface="Arial"/>
                <a:cs typeface="Arial"/>
              </a:defRPr>
            </a:lvl8pPr>
            <a:lvl9pPr>
              <a:defRPr sz="1200" b="0">
                <a:solidFill>
                  <a:srgbClr val="94A3B8"/>
                </a:solidFill>
                <a:latin typeface="Arial"/>
                <a:ea typeface="Arial"/>
                <a:cs typeface="Arial"/>
              </a:defRPr>
            </a:lvl9pPr>
          </a:lstStyle>
          <a:p xmlns:a="http://schemas.openxmlformats.org/drawingml/2006/main">
            <a:pPr>
              <a:defRPr sz="1200" b="0">
                <a:solidFill>
                  <a:srgbClr val="94A3B8"/>
                </a:solidFill>
                <a:latin typeface="Arial"/>
                <a:ea typeface="Arial"/>
                <a:cs typeface="Arial"/>
              </a:defRPr>
            </a:pPr>
            <a:r>
              <a:rPr sz="1200" b="0">
                <a:solidFill>
                  <a:srgbClr val="94A3B8"/>
                </a:solidFill>
                <a:latin typeface="Arial"/>
                <a:ea typeface="Arial"/>
                <a:cs typeface="Arial"/>
              </a:rPr>
              <a:t>100% video kiểm thử dự đoán chính xác nhãn • Kiểm tra chéo Validation 98.88% • Cross-Camera 99.84%</a:t>
            </a:r>
          </a:p>
        </p:txBody>
      </p:sp>
      <p:sp>
        <p:nvSpPr>
          <p:cNvPr id="4" name="">
            <a:extLst xmlns:a="http://schemas.openxmlformats.org/drawingml/2006/main">
              <a:ext uri="{FF2B5EF4-FFF2-40B4-BE49-F238E27FC236}">
                <a16:creationId xmlns:a16="http://schemas.microsoft.com/office/drawing/2014/main" id="{52BA8B79-4314-4F6C-9C69-CAA423322F7B}"/>
              </a:ext>
            </a:extLst>
          </p:cNvPr>
          <p:cNvSpPr>
            <a:spLocks xmlns:a="http://schemas.openxmlformats.org/drawingml/2006/main" noGrp="1"/>
          </p:cNvSpPr>
          <p:nvPr/>
        </p:nvSpPr>
        <p:spPr>
          <a:xfrm xmlns:a="http://schemas.openxmlformats.org/drawingml/2006/main">
            <a:off x="609600" y="64389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64748B"/>
                </a:solidFill>
                <a:latin typeface="Arial"/>
                <a:ea typeface="Arial"/>
                <a:cs typeface="Arial"/>
              </a:defRPr>
            </a:defPPr>
            <a:lvl1pPr>
              <a:defRPr sz="975" b="0">
                <a:solidFill>
                  <a:srgbClr val="64748B"/>
                </a:solidFill>
                <a:latin typeface="Arial"/>
                <a:ea typeface="Arial"/>
                <a:cs typeface="Arial"/>
              </a:defRPr>
            </a:lvl1pPr>
            <a:lvl2pPr>
              <a:defRPr sz="975" b="0">
                <a:solidFill>
                  <a:srgbClr val="64748B"/>
                </a:solidFill>
                <a:latin typeface="Arial"/>
                <a:ea typeface="Arial"/>
                <a:cs typeface="Arial"/>
              </a:defRPr>
            </a:lvl2pPr>
            <a:lvl3pPr>
              <a:defRPr sz="975" b="0">
                <a:solidFill>
                  <a:srgbClr val="64748B"/>
                </a:solidFill>
                <a:latin typeface="Arial"/>
                <a:ea typeface="Arial"/>
                <a:cs typeface="Arial"/>
              </a:defRPr>
            </a:lvl3pPr>
            <a:lvl4pPr>
              <a:defRPr sz="975" b="0">
                <a:solidFill>
                  <a:srgbClr val="64748B"/>
                </a:solidFill>
                <a:latin typeface="Arial"/>
                <a:ea typeface="Arial"/>
                <a:cs typeface="Arial"/>
              </a:defRPr>
            </a:lvl4pPr>
            <a:lvl5pPr>
              <a:defRPr sz="975" b="0">
                <a:solidFill>
                  <a:srgbClr val="64748B"/>
                </a:solidFill>
                <a:latin typeface="Arial"/>
                <a:ea typeface="Arial"/>
                <a:cs typeface="Arial"/>
              </a:defRPr>
            </a:lvl5pPr>
            <a:lvl6pPr>
              <a:defRPr sz="975" b="0">
                <a:solidFill>
                  <a:srgbClr val="64748B"/>
                </a:solidFill>
                <a:latin typeface="Arial"/>
                <a:ea typeface="Arial"/>
                <a:cs typeface="Arial"/>
              </a:defRPr>
            </a:lvl6pPr>
            <a:lvl7pPr>
              <a:defRPr sz="975" b="0">
                <a:solidFill>
                  <a:srgbClr val="64748B"/>
                </a:solidFill>
                <a:latin typeface="Arial"/>
                <a:ea typeface="Arial"/>
                <a:cs typeface="Arial"/>
              </a:defRPr>
            </a:lvl7pPr>
            <a:lvl8pPr>
              <a:defRPr sz="975" b="0">
                <a:solidFill>
                  <a:srgbClr val="64748B"/>
                </a:solidFill>
                <a:latin typeface="Arial"/>
                <a:ea typeface="Arial"/>
                <a:cs typeface="Arial"/>
              </a:defRPr>
            </a:lvl8pPr>
            <a:lvl9pPr>
              <a:defRPr sz="975" b="0">
                <a:solidFill>
                  <a:srgbClr val="64748B"/>
                </a:solidFill>
                <a:latin typeface="Arial"/>
                <a:ea typeface="Arial"/>
                <a:cs typeface="Arial"/>
              </a:defRPr>
            </a:lvl9pPr>
          </a:lstStyle>
          <a:p xmlns:a="http://schemas.openxmlformats.org/drawingml/2006/main">
            <a:pPr>
              <a:defRPr sz="975" b="0">
                <a:solidFill>
                  <a:srgbClr val="64748B"/>
                </a:solidFill>
                <a:latin typeface="Arial"/>
                <a:ea typeface="Arial"/>
                <a:cs typeface="Arial"/>
              </a:defRPr>
            </a:pPr>
            <a:r>
              <a:rPr sz="975" b="0">
                <a:solidFill>
                  <a:srgbClr val="64748B"/>
                </a:solidFill>
                <a:latin typeface="Arial"/>
                <a:ea typeface="Arial"/>
                <a:cs typeface="Arial"/>
              </a:rPr>
              <a:t>FACE ANTI-SPOOFING SYSTEM • CAMERA USB SC-M200</a:t>
            </a:r>
          </a:p>
        </p:txBody>
      </p:sp>
      <p:sp>
        <p:nvSpPr>
          <p:cNvPr id="5" name="">
            <a:extLst xmlns:a="http://schemas.openxmlformats.org/drawingml/2006/main">
              <a:ext uri="{FF2B5EF4-FFF2-40B4-BE49-F238E27FC236}">
                <a16:creationId xmlns:a16="http://schemas.microsoft.com/office/drawing/2014/main" id="{0966452F-EBB8-43A4-ADDA-3E3A898444AC}"/>
              </a:ext>
            </a:extLst>
          </p:cNvPr>
          <p:cNvSpPr>
            <a:spLocks xmlns:a="http://schemas.openxmlformats.org/drawingml/2006/main" noGrp="1"/>
          </p:cNvSpPr>
          <p:nvPr/>
        </p:nvSpPr>
        <p:spPr>
          <a:xfrm xmlns:a="http://schemas.openxmlformats.org/drawingml/2006/main">
            <a:off x="11049000" y="64389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SLIDE 04 / 05</a:t>
            </a:r>
          </a:p>
        </p:txBody>
      </p:sp>
      <p:sp>
        <p:nvSpPr>
          <p:cNvPr id="6" name="">
            <a:extLst xmlns:a="http://schemas.openxmlformats.org/drawingml/2006/main">
              <a:ext uri="{FF2B5EF4-FFF2-40B4-BE49-F238E27FC236}">
                <a16:creationId xmlns:a16="http://schemas.microsoft.com/office/drawing/2014/main" id="{483EC84C-21BD-42AD-8B5C-AE4BFF7F4C5B}"/>
              </a:ext>
            </a:extLst>
          </p:cNvPr>
          <p:cNvSpPr>
            <a:spLocks xmlns:a="http://schemas.openxmlformats.org/drawingml/2006/main" noGrp="1"/>
          </p:cNvSpPr>
          <p:nvPr/>
        </p:nvSpPr>
        <p:spPr>
          <a:xfrm xmlns:a="http://schemas.openxmlformats.org/drawingml/2006/main">
            <a:off x="609600" y="1238250"/>
            <a:ext cx="10972800" cy="428625"/>
          </a:xfrm>
          <a:prstGeom xmlns:a="http://schemas.openxmlformats.org/drawingml/2006/main" prst="rect">
            <a:avLst/>
          </a:prstGeom>
          <a:solidFill xmlns:a="http://schemas.openxmlformats.org/drawingml/2006/main">
            <a:srgbClr val="17253D"/>
          </a:solidFill>
          <a:ln xmlns:a="http://schemas.openxmlformats.org/drawingml/2006/main" w="9525">
            <a:solidFill>
              <a:srgbClr val="2563EB"/>
            </a:solidFill>
          </a:ln>
        </p:spPr>
        <p:txBody>
          <a:bodyPr xmlns:a="http://schemas.openxmlformats.org/drawingml/2006/main">
            <a:noAutofit/>
          </a:bodyPr>
          <a:lstStyle xmlns:a="http://schemas.openxmlformats.org/drawingml/2006/main">
            <a:defPPr>
              <a:defRPr sz="750">
                <a:solidFill>
                  <a:srgbClr val="17253D"/>
                </a:solidFill>
                <a:latin typeface="Arial"/>
                <a:ea typeface="Arial"/>
                <a:cs typeface="Arial"/>
              </a:defRPr>
            </a:defPPr>
            <a:lvl1pPr>
              <a:defRPr sz="750">
                <a:solidFill>
                  <a:srgbClr val="17253D"/>
                </a:solidFill>
                <a:latin typeface="Arial"/>
                <a:ea typeface="Arial"/>
                <a:cs typeface="Arial"/>
              </a:defRPr>
            </a:lvl1pPr>
            <a:lvl2pPr>
              <a:defRPr sz="750">
                <a:solidFill>
                  <a:srgbClr val="17253D"/>
                </a:solidFill>
                <a:latin typeface="Arial"/>
                <a:ea typeface="Arial"/>
                <a:cs typeface="Arial"/>
              </a:defRPr>
            </a:lvl2pPr>
            <a:lvl3pPr>
              <a:defRPr sz="750">
                <a:solidFill>
                  <a:srgbClr val="17253D"/>
                </a:solidFill>
                <a:latin typeface="Arial"/>
                <a:ea typeface="Arial"/>
                <a:cs typeface="Arial"/>
              </a:defRPr>
            </a:lvl3pPr>
            <a:lvl4pPr>
              <a:defRPr sz="750">
                <a:solidFill>
                  <a:srgbClr val="17253D"/>
                </a:solidFill>
                <a:latin typeface="Arial"/>
                <a:ea typeface="Arial"/>
                <a:cs typeface="Arial"/>
              </a:defRPr>
            </a:lvl4pPr>
            <a:lvl5pPr>
              <a:defRPr sz="750">
                <a:solidFill>
                  <a:srgbClr val="17253D"/>
                </a:solidFill>
                <a:latin typeface="Arial"/>
                <a:ea typeface="Arial"/>
                <a:cs typeface="Arial"/>
              </a:defRPr>
            </a:lvl5pPr>
            <a:lvl6pPr>
              <a:defRPr sz="750">
                <a:solidFill>
                  <a:srgbClr val="17253D"/>
                </a:solidFill>
                <a:latin typeface="Arial"/>
                <a:ea typeface="Arial"/>
                <a:cs typeface="Arial"/>
              </a:defRPr>
            </a:lvl6pPr>
            <a:lvl7pPr>
              <a:defRPr sz="750">
                <a:solidFill>
                  <a:srgbClr val="17253D"/>
                </a:solidFill>
                <a:latin typeface="Arial"/>
                <a:ea typeface="Arial"/>
                <a:cs typeface="Arial"/>
              </a:defRPr>
            </a:lvl7pPr>
            <a:lvl8pPr>
              <a:defRPr sz="750">
                <a:solidFill>
                  <a:srgbClr val="17253D"/>
                </a:solidFill>
                <a:latin typeface="Arial"/>
                <a:ea typeface="Arial"/>
                <a:cs typeface="Arial"/>
              </a:defRPr>
            </a:lvl8pPr>
            <a:lvl9pPr>
              <a:defRPr sz="750">
                <a:solidFill>
                  <a:srgbClr val="17253D"/>
                </a:solidFill>
                <a:latin typeface="Arial"/>
                <a:ea typeface="Arial"/>
                <a:cs typeface="Arial"/>
              </a:defRPr>
            </a:lvl9pPr>
          </a:lstStyle>
          <a:p xmlns:a="http://schemas.openxmlformats.org/drawingml/2006/main">
            <a:pPr>
              <a:defRPr sz="750">
                <a:solidFill>
                  <a:srgbClr val="17253D"/>
                </a:solidFill>
                <a:latin typeface="Arial"/>
                <a:ea typeface="Arial"/>
                <a:cs typeface="Arial"/>
              </a:defRPr>
            </a:pPr>
            <a:r>
              <a:rPr sz="750">
                <a:solidFill>
                  <a:srgbClr val="17253D"/>
                </a:solidFill>
                <a:latin typeface="Arial"/>
                <a:ea typeface="Arial"/>
                <a:cs typeface="Arial"/>
              </a:rPr>
              <a:t> </a:t>
            </a:r>
          </a:p>
        </p:txBody>
      </p:sp>
      <p:sp>
        <p:nvSpPr>
          <p:cNvPr id="7" name="">
            <a:extLst xmlns:a="http://schemas.openxmlformats.org/drawingml/2006/main">
              <a:ext uri="{FF2B5EF4-FFF2-40B4-BE49-F238E27FC236}">
                <a16:creationId xmlns:a16="http://schemas.microsoft.com/office/drawing/2014/main" id="{2F22E324-689F-4A78-853C-163BA25F168F}"/>
              </a:ext>
            </a:extLst>
          </p:cNvPr>
          <p:cNvSpPr>
            <a:spLocks xmlns:a="http://schemas.openxmlformats.org/drawingml/2006/main" noGrp="1"/>
          </p:cNvSpPr>
          <p:nvPr/>
        </p:nvSpPr>
        <p:spPr>
          <a:xfrm xmlns:a="http://schemas.openxmlformats.org/drawingml/2006/main">
            <a:off x="838200" y="1352550"/>
            <a:ext cx="1051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6EE7B7"/>
                </a:solidFill>
                <a:latin typeface="Arial"/>
                <a:ea typeface="Arial"/>
                <a:cs typeface="Arial"/>
              </a:defRPr>
            </a:defPPr>
            <a:lvl1pPr>
              <a:defRPr sz="1200" b="1">
                <a:solidFill>
                  <a:srgbClr val="6EE7B7"/>
                </a:solidFill>
                <a:latin typeface="Arial"/>
                <a:ea typeface="Arial"/>
                <a:cs typeface="Arial"/>
              </a:defRPr>
            </a:lvl1pPr>
            <a:lvl2pPr>
              <a:defRPr sz="1200" b="1">
                <a:solidFill>
                  <a:srgbClr val="6EE7B7"/>
                </a:solidFill>
                <a:latin typeface="Arial"/>
                <a:ea typeface="Arial"/>
                <a:cs typeface="Arial"/>
              </a:defRPr>
            </a:lvl2pPr>
            <a:lvl3pPr>
              <a:defRPr sz="1200" b="1">
                <a:solidFill>
                  <a:srgbClr val="6EE7B7"/>
                </a:solidFill>
                <a:latin typeface="Arial"/>
                <a:ea typeface="Arial"/>
                <a:cs typeface="Arial"/>
              </a:defRPr>
            </a:lvl3pPr>
            <a:lvl4pPr>
              <a:defRPr sz="1200" b="1">
                <a:solidFill>
                  <a:srgbClr val="6EE7B7"/>
                </a:solidFill>
                <a:latin typeface="Arial"/>
                <a:ea typeface="Arial"/>
                <a:cs typeface="Arial"/>
              </a:defRPr>
            </a:lvl4pPr>
            <a:lvl5pPr>
              <a:defRPr sz="1200" b="1">
                <a:solidFill>
                  <a:srgbClr val="6EE7B7"/>
                </a:solidFill>
                <a:latin typeface="Arial"/>
                <a:ea typeface="Arial"/>
                <a:cs typeface="Arial"/>
              </a:defRPr>
            </a:lvl5pPr>
            <a:lvl6pPr>
              <a:defRPr sz="1200" b="1">
                <a:solidFill>
                  <a:srgbClr val="6EE7B7"/>
                </a:solidFill>
                <a:latin typeface="Arial"/>
                <a:ea typeface="Arial"/>
                <a:cs typeface="Arial"/>
              </a:defRPr>
            </a:lvl6pPr>
            <a:lvl7pPr>
              <a:defRPr sz="1200" b="1">
                <a:solidFill>
                  <a:srgbClr val="6EE7B7"/>
                </a:solidFill>
                <a:latin typeface="Arial"/>
                <a:ea typeface="Arial"/>
                <a:cs typeface="Arial"/>
              </a:defRPr>
            </a:lvl7pPr>
            <a:lvl8pPr>
              <a:defRPr sz="1200" b="1">
                <a:solidFill>
                  <a:srgbClr val="6EE7B7"/>
                </a:solidFill>
                <a:latin typeface="Arial"/>
                <a:ea typeface="Arial"/>
                <a:cs typeface="Arial"/>
              </a:defRPr>
            </a:lvl8pPr>
            <a:lvl9pPr>
              <a:defRPr sz="1200" b="1">
                <a:solidFill>
                  <a:srgbClr val="6EE7B7"/>
                </a:solidFill>
                <a:latin typeface="Arial"/>
                <a:ea typeface="Arial"/>
                <a:cs typeface="Arial"/>
              </a:defRPr>
            </a:lvl9pPr>
          </a:lstStyle>
          <a:p xmlns:a="http://schemas.openxmlformats.org/drawingml/2006/main">
            <a:pPr>
              <a:defRPr sz="1200" b="1">
                <a:solidFill>
                  <a:srgbClr val="6EE7B7"/>
                </a:solidFill>
                <a:latin typeface="Arial"/>
                <a:ea typeface="Arial"/>
                <a:cs typeface="Arial"/>
              </a:defRPr>
            </a:pPr>
            <a:r>
              <a:rPr sz="1200" b="1">
                <a:solidFill>
                  <a:srgbClr val="6EE7B7"/>
                </a:solidFill>
                <a:latin typeface="Arial"/>
                <a:ea typeface="Arial"/>
                <a:cs typeface="Arial"/>
              </a:rPr>
              <a:t>KẾT QUẢ ĐÁNH GIÁ CẤP ĐỘ VIDEO: 14 / 14 VIDEO TEST ĐẠT ĐỘ CHÍNH XÁC TUYỆT ĐỐI (100%)</a:t>
            </a:r>
          </a:p>
        </p:txBody>
      </p:sp>
      <p:sp>
        <p:nvSpPr>
          <p:cNvPr id="8" name="">
            <a:extLst xmlns:a="http://schemas.openxmlformats.org/drawingml/2006/main">
              <a:ext uri="{FF2B5EF4-FFF2-40B4-BE49-F238E27FC236}">
                <a16:creationId xmlns:a16="http://schemas.microsoft.com/office/drawing/2014/main" id="{3D7A7E82-B9DB-408A-AE28-E85788B28AE6}"/>
              </a:ext>
            </a:extLst>
          </p:cNvPr>
          <p:cNvSpPr>
            <a:spLocks xmlns:a="http://schemas.openxmlformats.org/drawingml/2006/main" noGrp="1"/>
          </p:cNvSpPr>
          <p:nvPr/>
        </p:nvSpPr>
        <p:spPr>
          <a:xfrm xmlns:a="http://schemas.openxmlformats.org/drawingml/2006/main">
            <a:off x="609600" y="1790700"/>
            <a:ext cx="5295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FBBF24"/>
                </a:solidFill>
                <a:latin typeface="Arial"/>
                <a:ea typeface="Arial"/>
                <a:cs typeface="Arial"/>
              </a:defRPr>
            </a:defPPr>
            <a:lvl1pPr>
              <a:defRPr sz="1200" b="1">
                <a:solidFill>
                  <a:srgbClr val="FBBF24"/>
                </a:solidFill>
                <a:latin typeface="Arial"/>
                <a:ea typeface="Arial"/>
                <a:cs typeface="Arial"/>
              </a:defRPr>
            </a:lvl1pPr>
            <a:lvl2pPr>
              <a:defRPr sz="1200" b="1">
                <a:solidFill>
                  <a:srgbClr val="FBBF24"/>
                </a:solidFill>
                <a:latin typeface="Arial"/>
                <a:ea typeface="Arial"/>
                <a:cs typeface="Arial"/>
              </a:defRPr>
            </a:lvl2pPr>
            <a:lvl3pPr>
              <a:defRPr sz="1200" b="1">
                <a:solidFill>
                  <a:srgbClr val="FBBF24"/>
                </a:solidFill>
                <a:latin typeface="Arial"/>
                <a:ea typeface="Arial"/>
                <a:cs typeface="Arial"/>
              </a:defRPr>
            </a:lvl3pPr>
            <a:lvl4pPr>
              <a:defRPr sz="1200" b="1">
                <a:solidFill>
                  <a:srgbClr val="FBBF24"/>
                </a:solidFill>
                <a:latin typeface="Arial"/>
                <a:ea typeface="Arial"/>
                <a:cs typeface="Arial"/>
              </a:defRPr>
            </a:lvl4pPr>
            <a:lvl5pPr>
              <a:defRPr sz="1200" b="1">
                <a:solidFill>
                  <a:srgbClr val="FBBF24"/>
                </a:solidFill>
                <a:latin typeface="Arial"/>
                <a:ea typeface="Arial"/>
                <a:cs typeface="Arial"/>
              </a:defRPr>
            </a:lvl5pPr>
            <a:lvl6pPr>
              <a:defRPr sz="1200" b="1">
                <a:solidFill>
                  <a:srgbClr val="FBBF24"/>
                </a:solidFill>
                <a:latin typeface="Arial"/>
                <a:ea typeface="Arial"/>
                <a:cs typeface="Arial"/>
              </a:defRPr>
            </a:lvl6pPr>
            <a:lvl7pPr>
              <a:defRPr sz="1200" b="1">
                <a:solidFill>
                  <a:srgbClr val="FBBF24"/>
                </a:solidFill>
                <a:latin typeface="Arial"/>
                <a:ea typeface="Arial"/>
                <a:cs typeface="Arial"/>
              </a:defRPr>
            </a:lvl7pPr>
            <a:lvl8pPr>
              <a:defRPr sz="1200" b="1">
                <a:solidFill>
                  <a:srgbClr val="FBBF24"/>
                </a:solidFill>
                <a:latin typeface="Arial"/>
                <a:ea typeface="Arial"/>
                <a:cs typeface="Arial"/>
              </a:defRPr>
            </a:lvl8pPr>
            <a:lvl9pPr>
              <a:defRPr sz="1200" b="1">
                <a:solidFill>
                  <a:srgbClr val="FBBF24"/>
                </a:solidFill>
                <a:latin typeface="Arial"/>
                <a:ea typeface="Arial"/>
                <a:cs typeface="Arial"/>
              </a:defRPr>
            </a:lvl9pPr>
          </a:lstStyle>
          <a:p xmlns:a="http://schemas.openxmlformats.org/drawingml/2006/main">
            <a:pPr>
              <a:defRPr sz="1200" b="1">
                <a:solidFill>
                  <a:srgbClr val="FBBF24"/>
                </a:solidFill>
                <a:latin typeface="Arial"/>
                <a:ea typeface="Arial"/>
                <a:cs typeface="Arial"/>
              </a:defRPr>
            </a:pPr>
            <a:r>
              <a:rPr sz="1200" b="1">
                <a:solidFill>
                  <a:srgbClr val="FBBF24"/>
                </a:solidFill>
                <a:latin typeface="Arial"/>
                <a:ea typeface="Arial"/>
                <a:cs typeface="Arial"/>
              </a:rPr>
              <a:t>7 Video FAKE (Chống giả mạo màn hình)</a:t>
            </a:r>
          </a:p>
        </p:txBody>
      </p:sp>
      <p:graphicFrame>
        <p:nvGraphicFramePr>
          <p:cNvPr id="9" name="">
            <a:extLst xmlns:a="http://schemas.openxmlformats.org/drawingml/2006/main">
              <a:ext uri="{FF2B5EF4-FFF2-40B4-BE49-F238E27FC236}">
                <a16:creationId xmlns:a16="http://schemas.microsoft.com/office/drawing/2014/main" id="{40CCD2A4-A860-4354-8959-EFBDE3EEBB84}"/>
              </a:ext>
            </a:extLst>
          </p:cNvPr>
          <p:cNvGraphicFramePr/>
          <p:nvPr/>
        </p:nvGraphicFramePr>
        <p:xfrm>
          <a:off xmlns:a="http://schemas.openxmlformats.org/drawingml/2006/main" x="609600" y="2057400"/>
          <a:ext xmlns:a="http://schemas.openxmlformats.org/drawingml/2006/main" cx="5295900" cy="2000250"/>
        </p:xfrm>
        <a:graphic xmlns:a="http://schemas.openxmlformats.org/drawingml/2006/main">
          <a:graphicData uri="http://schemas.openxmlformats.org/drawingml/2006/table">
            <a:tbl>
              <a:tblPr/>
              <a:tblGrid>
                <a:gridCol w="1581150"/>
                <a:gridCol w="619125"/>
                <a:gridCol w="714375"/>
                <a:gridCol w="809625"/>
                <a:gridCol w="809625"/>
                <a:gridCol w="762000"/>
              </a:tblGrid>
              <a:tr h="250031">
                <a:tc>
                  <a:txBody>
                    <a:bodyPr>
                      <a:noAutofit/>
                    </a:bodyPr>
                    <a:lstStyle/>
                    <a:p>
                      <a:r>
                        <a:rPr sz="975" b="1">
                          <a:solidFill>
                            <a:srgbClr val="38BDF8"/>
                          </a:solidFill>
                          <a:latin typeface="Arial"/>
                          <a:ea typeface="Arial"/>
                          <a:cs typeface="Arial"/>
                        </a:rPr>
                        <a:t>Tên Video</a:t>
                      </a:r>
                    </a:p>
                  </a:txBody>
                  <a:tcPr marL="91440" marR="91440" marT="45720" marB="45720">
                    <a:lnL w="9525">
                      <a:solidFill>
                        <a:srgbClr val="1F3354"/>
                      </a:solidFill>
                    </a:lnL>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Nhãn</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Frames</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Fake Conf</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Real Conf</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Kết quả</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r>
              <a:tr h="250031">
                <a:tc>
                  <a:txBody>
                    <a:bodyPr>
                      <a:noAutofit/>
                    </a:bodyPr>
                    <a:lstStyle/>
                    <a:p>
                      <a:r>
                        <a:rPr sz="975" b="1">
                          <a:solidFill>
                            <a:srgbClr val="FFFFFF"/>
                          </a:solidFill>
                          <a:latin typeface="Arial"/>
                          <a:ea typeface="Arial"/>
                          <a:cs typeface="Arial"/>
                        </a:rPr>
                        <a:t>fake_REC-0040-A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FAKE</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180</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93.07%</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6.93%</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r h="250031">
                <a:tc>
                  <a:txBody>
                    <a:bodyPr>
                      <a:noAutofit/>
                    </a:bodyPr>
                    <a:lstStyle/>
                    <a:p>
                      <a:r>
                        <a:rPr sz="975" b="1">
                          <a:solidFill>
                            <a:srgbClr val="FFFFFF"/>
                          </a:solidFill>
                          <a:latin typeface="Arial"/>
                          <a:ea typeface="Arial"/>
                          <a:cs typeface="Arial"/>
                        </a:rPr>
                        <a:t>fake_REC-0041-A</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FAKE</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375</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75.41%</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24.59%</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0B1322"/>
                    </a:solidFill>
                  </a:tcPr>
                </a:tc>
              </a:tr>
              <a:tr h="250031">
                <a:tc>
                  <a:txBody>
                    <a:bodyPr>
                      <a:noAutofit/>
                    </a:bodyPr>
                    <a:lstStyle/>
                    <a:p>
                      <a:r>
                        <a:rPr sz="975" b="1">
                          <a:solidFill>
                            <a:srgbClr val="FFFFFF"/>
                          </a:solidFill>
                          <a:latin typeface="Arial"/>
                          <a:ea typeface="Arial"/>
                          <a:cs typeface="Arial"/>
                        </a:rPr>
                        <a:t>fake_REC-0042-A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FAKE</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366</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97.80%</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2.20%</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r h="250031">
                <a:tc>
                  <a:txBody>
                    <a:bodyPr>
                      <a:noAutofit/>
                    </a:bodyPr>
                    <a:lstStyle/>
                    <a:p>
                      <a:r>
                        <a:rPr sz="975" b="1">
                          <a:solidFill>
                            <a:srgbClr val="FFFFFF"/>
                          </a:solidFill>
                          <a:latin typeface="Arial"/>
                          <a:ea typeface="Arial"/>
                          <a:cs typeface="Arial"/>
                        </a:rPr>
                        <a:t>fake_REC-0043-A</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FAKE</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367</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98.98%</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1.02%</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0B1322"/>
                    </a:solidFill>
                  </a:tcPr>
                </a:tc>
              </a:tr>
              <a:tr h="250031">
                <a:tc>
                  <a:txBody>
                    <a:bodyPr>
                      <a:noAutofit/>
                    </a:bodyPr>
                    <a:lstStyle/>
                    <a:p>
                      <a:r>
                        <a:rPr sz="975" b="1">
                          <a:solidFill>
                            <a:srgbClr val="FFFFFF"/>
                          </a:solidFill>
                          <a:latin typeface="Arial"/>
                          <a:ea typeface="Arial"/>
                          <a:cs typeface="Arial"/>
                        </a:rPr>
                        <a:t>fake_REC-0044-A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FAKE</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376</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99.99%</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0.01%</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r h="250031">
                <a:tc>
                  <a:txBody>
                    <a:bodyPr>
                      <a:noAutofit/>
                    </a:bodyPr>
                    <a:lstStyle/>
                    <a:p>
                      <a:r>
                        <a:rPr sz="975" b="1">
                          <a:solidFill>
                            <a:srgbClr val="FFFFFF"/>
                          </a:solidFill>
                          <a:latin typeface="Arial"/>
                          <a:ea typeface="Arial"/>
                          <a:cs typeface="Arial"/>
                        </a:rPr>
                        <a:t>fake_REC-0045-A</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FAKE</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340</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99.49%</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0.51%</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0B1322"/>
                    </a:solidFill>
                  </a:tcPr>
                </a:tc>
              </a:tr>
              <a:tr h="250031">
                <a:tc>
                  <a:txBody>
                    <a:bodyPr>
                      <a:noAutofit/>
                    </a:bodyPr>
                    <a:lstStyle/>
                    <a:p>
                      <a:r>
                        <a:rPr sz="975" b="1">
                          <a:solidFill>
                            <a:srgbClr val="FFFFFF"/>
                          </a:solidFill>
                          <a:latin typeface="Arial"/>
                          <a:ea typeface="Arial"/>
                          <a:cs typeface="Arial"/>
                        </a:rPr>
                        <a:t>fake_REC-0046-A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FAKE</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361</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99.95%</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0.05%</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bl>
          </a:graphicData>
        </a:graphic>
      </p:graphicFrame>
      <p:sp>
        <p:nvSpPr>
          <p:cNvPr id="10" name="">
            <a:extLst xmlns:a="http://schemas.openxmlformats.org/drawingml/2006/main">
              <a:ext uri="{FF2B5EF4-FFF2-40B4-BE49-F238E27FC236}">
                <a16:creationId xmlns:a16="http://schemas.microsoft.com/office/drawing/2014/main" id="{45287756-03BC-45A0-8CB0-0045998ED984}"/>
              </a:ext>
            </a:extLst>
          </p:cNvPr>
          <p:cNvSpPr>
            <a:spLocks xmlns:a="http://schemas.openxmlformats.org/drawingml/2006/main" noGrp="1"/>
          </p:cNvSpPr>
          <p:nvPr/>
        </p:nvSpPr>
        <p:spPr>
          <a:xfrm xmlns:a="http://schemas.openxmlformats.org/drawingml/2006/main">
            <a:off x="6286500" y="1790700"/>
            <a:ext cx="5295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34D399"/>
                </a:solidFill>
                <a:latin typeface="Arial"/>
                <a:ea typeface="Arial"/>
                <a:cs typeface="Arial"/>
              </a:defRPr>
            </a:defPPr>
            <a:lvl1pPr>
              <a:defRPr sz="1200" b="1">
                <a:solidFill>
                  <a:srgbClr val="34D399"/>
                </a:solidFill>
                <a:latin typeface="Arial"/>
                <a:ea typeface="Arial"/>
                <a:cs typeface="Arial"/>
              </a:defRPr>
            </a:lvl1pPr>
            <a:lvl2pPr>
              <a:defRPr sz="1200" b="1">
                <a:solidFill>
                  <a:srgbClr val="34D399"/>
                </a:solidFill>
                <a:latin typeface="Arial"/>
                <a:ea typeface="Arial"/>
                <a:cs typeface="Arial"/>
              </a:defRPr>
            </a:lvl2pPr>
            <a:lvl3pPr>
              <a:defRPr sz="1200" b="1">
                <a:solidFill>
                  <a:srgbClr val="34D399"/>
                </a:solidFill>
                <a:latin typeface="Arial"/>
                <a:ea typeface="Arial"/>
                <a:cs typeface="Arial"/>
              </a:defRPr>
            </a:lvl3pPr>
            <a:lvl4pPr>
              <a:defRPr sz="1200" b="1">
                <a:solidFill>
                  <a:srgbClr val="34D399"/>
                </a:solidFill>
                <a:latin typeface="Arial"/>
                <a:ea typeface="Arial"/>
                <a:cs typeface="Arial"/>
              </a:defRPr>
            </a:lvl4pPr>
            <a:lvl5pPr>
              <a:defRPr sz="1200" b="1">
                <a:solidFill>
                  <a:srgbClr val="34D399"/>
                </a:solidFill>
                <a:latin typeface="Arial"/>
                <a:ea typeface="Arial"/>
                <a:cs typeface="Arial"/>
              </a:defRPr>
            </a:lvl5pPr>
            <a:lvl6pPr>
              <a:defRPr sz="1200" b="1">
                <a:solidFill>
                  <a:srgbClr val="34D399"/>
                </a:solidFill>
                <a:latin typeface="Arial"/>
                <a:ea typeface="Arial"/>
                <a:cs typeface="Arial"/>
              </a:defRPr>
            </a:lvl6pPr>
            <a:lvl7pPr>
              <a:defRPr sz="1200" b="1">
                <a:solidFill>
                  <a:srgbClr val="34D399"/>
                </a:solidFill>
                <a:latin typeface="Arial"/>
                <a:ea typeface="Arial"/>
                <a:cs typeface="Arial"/>
              </a:defRPr>
            </a:lvl7pPr>
            <a:lvl8pPr>
              <a:defRPr sz="1200" b="1">
                <a:solidFill>
                  <a:srgbClr val="34D399"/>
                </a:solidFill>
                <a:latin typeface="Arial"/>
                <a:ea typeface="Arial"/>
                <a:cs typeface="Arial"/>
              </a:defRPr>
            </a:lvl8pPr>
            <a:lvl9pPr>
              <a:defRPr sz="1200" b="1">
                <a:solidFill>
                  <a:srgbClr val="34D399"/>
                </a:solidFill>
                <a:latin typeface="Arial"/>
                <a:ea typeface="Arial"/>
                <a:cs typeface="Arial"/>
              </a:defRPr>
            </a:lvl9pPr>
          </a:lstStyle>
          <a:p xmlns:a="http://schemas.openxmlformats.org/drawingml/2006/main">
            <a:pPr>
              <a:defRPr sz="1200" b="1">
                <a:solidFill>
                  <a:srgbClr val="34D399"/>
                </a:solidFill>
                <a:latin typeface="Arial"/>
                <a:ea typeface="Arial"/>
                <a:cs typeface="Arial"/>
              </a:defRPr>
            </a:pPr>
            <a:r>
              <a:rPr sz="1200" b="1">
                <a:solidFill>
                  <a:srgbClr val="34D399"/>
                </a:solidFill>
                <a:latin typeface="Arial"/>
                <a:ea typeface="Arial"/>
                <a:cs typeface="Arial"/>
              </a:rPr>
              <a:t>7 Video REAL (Nhận diện người thật)</a:t>
            </a:r>
          </a:p>
        </p:txBody>
      </p:sp>
      <p:graphicFrame>
        <p:nvGraphicFramePr>
          <p:cNvPr id="11" name="">
            <a:extLst xmlns:a="http://schemas.openxmlformats.org/drawingml/2006/main">
              <a:ext uri="{FF2B5EF4-FFF2-40B4-BE49-F238E27FC236}">
                <a16:creationId xmlns:a16="http://schemas.microsoft.com/office/drawing/2014/main" id="{7FD48C19-6937-4BE6-8CCE-D032AD512B1F}"/>
              </a:ext>
            </a:extLst>
          </p:cNvPr>
          <p:cNvGraphicFramePr/>
          <p:nvPr/>
        </p:nvGraphicFramePr>
        <p:xfrm>
          <a:off xmlns:a="http://schemas.openxmlformats.org/drawingml/2006/main" x="6286500" y="2057400"/>
          <a:ext xmlns:a="http://schemas.openxmlformats.org/drawingml/2006/main" cx="5295900" cy="2000250"/>
        </p:xfrm>
        <a:graphic xmlns:a="http://schemas.openxmlformats.org/drawingml/2006/main">
          <a:graphicData uri="http://schemas.openxmlformats.org/drawingml/2006/table">
            <a:tbl>
              <a:tblPr/>
              <a:tblGrid>
                <a:gridCol w="1581150"/>
                <a:gridCol w="619125"/>
                <a:gridCol w="714375"/>
                <a:gridCol w="809625"/>
                <a:gridCol w="809625"/>
                <a:gridCol w="762000"/>
              </a:tblGrid>
              <a:tr h="250031">
                <a:tc>
                  <a:txBody>
                    <a:bodyPr>
                      <a:noAutofit/>
                    </a:bodyPr>
                    <a:lstStyle/>
                    <a:p>
                      <a:r>
                        <a:rPr sz="975" b="1">
                          <a:solidFill>
                            <a:srgbClr val="38BDF8"/>
                          </a:solidFill>
                          <a:latin typeface="Arial"/>
                          <a:ea typeface="Arial"/>
                          <a:cs typeface="Arial"/>
                        </a:rPr>
                        <a:t>Tên Video</a:t>
                      </a:r>
                    </a:p>
                  </a:txBody>
                  <a:tcPr marL="91440" marR="91440" marT="45720" marB="45720">
                    <a:lnL w="9525">
                      <a:solidFill>
                        <a:srgbClr val="1F3354"/>
                      </a:solidFill>
                    </a:lnL>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Nhãn</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Frames</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Fake Conf</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Real Conf</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c>
                  <a:txBody>
                    <a:bodyPr>
                      <a:noAutofit/>
                    </a:bodyPr>
                    <a:lstStyle/>
                    <a:p>
                      <a:r>
                        <a:rPr sz="975" b="1">
                          <a:solidFill>
                            <a:srgbClr val="38BDF8"/>
                          </a:solidFill>
                          <a:latin typeface="Arial"/>
                          <a:ea typeface="Arial"/>
                          <a:cs typeface="Arial"/>
                        </a:rPr>
                        <a:t>Kết quả</a:t>
                      </a:r>
                    </a:p>
                  </a:txBody>
                  <a:tcPr marL="91440" marR="91440" marT="45720" marB="45720">
                    <a:lnR w="9525">
                      <a:solidFill>
                        <a:srgbClr val="1F3354"/>
                      </a:solidFill>
                    </a:lnR>
                    <a:lnT w="9525">
                      <a:solidFill>
                        <a:srgbClr val="1F3354"/>
                      </a:solidFill>
                    </a:lnT>
                    <a:lnB w="9525">
                      <a:solidFill>
                        <a:srgbClr val="1F3354"/>
                      </a:solidFill>
                    </a:lnB>
                    <a:solidFill>
                      <a:srgbClr val="17253D"/>
                    </a:solidFill>
                  </a:tcPr>
                </a:tc>
              </a:tr>
              <a:tr h="250031">
                <a:tc>
                  <a:txBody>
                    <a:bodyPr>
                      <a:noAutofit/>
                    </a:bodyPr>
                    <a:lstStyle/>
                    <a:p>
                      <a:r>
                        <a:rPr sz="975" b="1">
                          <a:solidFill>
                            <a:srgbClr val="FFFFFF"/>
                          </a:solidFill>
                          <a:latin typeface="Arial"/>
                          <a:ea typeface="Arial"/>
                          <a:cs typeface="Arial"/>
                        </a:rPr>
                        <a:t>real_REC-0032-A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REAL</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353</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0.00%</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100.0%</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r h="250031">
                <a:tc>
                  <a:txBody>
                    <a:bodyPr>
                      <a:noAutofit/>
                    </a:bodyPr>
                    <a:lstStyle/>
                    <a:p>
                      <a:r>
                        <a:rPr sz="975" b="1">
                          <a:solidFill>
                            <a:srgbClr val="FFFFFF"/>
                          </a:solidFill>
                          <a:latin typeface="Arial"/>
                          <a:ea typeface="Arial"/>
                          <a:cs typeface="Arial"/>
                        </a:rPr>
                        <a:t>real_REC-0033-A</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REAL</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361</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0.00%</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100.0%</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0B1322"/>
                    </a:solidFill>
                  </a:tcPr>
                </a:tc>
              </a:tr>
              <a:tr h="250031">
                <a:tc>
                  <a:txBody>
                    <a:bodyPr>
                      <a:noAutofit/>
                    </a:bodyPr>
                    <a:lstStyle/>
                    <a:p>
                      <a:r>
                        <a:rPr sz="975" b="1">
                          <a:solidFill>
                            <a:srgbClr val="FFFFFF"/>
                          </a:solidFill>
                          <a:latin typeface="Arial"/>
                          <a:ea typeface="Arial"/>
                          <a:cs typeface="Arial"/>
                        </a:rPr>
                        <a:t>real_REC-0034-A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REAL</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351</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0.12%</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99.88%</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r h="250031">
                <a:tc>
                  <a:txBody>
                    <a:bodyPr>
                      <a:noAutofit/>
                    </a:bodyPr>
                    <a:lstStyle/>
                    <a:p>
                      <a:r>
                        <a:rPr sz="975" b="1">
                          <a:solidFill>
                            <a:srgbClr val="FFFFFF"/>
                          </a:solidFill>
                          <a:latin typeface="Arial"/>
                          <a:ea typeface="Arial"/>
                          <a:cs typeface="Arial"/>
                        </a:rPr>
                        <a:t>real_REC-0035-A</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REAL</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356</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1.29%</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98.71%</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0B1322"/>
                    </a:solidFill>
                  </a:tcPr>
                </a:tc>
              </a:tr>
              <a:tr h="250031">
                <a:tc>
                  <a:txBody>
                    <a:bodyPr>
                      <a:noAutofit/>
                    </a:bodyPr>
                    <a:lstStyle/>
                    <a:p>
                      <a:r>
                        <a:rPr sz="975" b="1">
                          <a:solidFill>
                            <a:srgbClr val="FFFFFF"/>
                          </a:solidFill>
                          <a:latin typeface="Arial"/>
                          <a:ea typeface="Arial"/>
                          <a:cs typeface="Arial"/>
                        </a:rPr>
                        <a:t>real_REC-0036-A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REAL</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366</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2.24%</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97.76%</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r h="250031">
                <a:tc>
                  <a:txBody>
                    <a:bodyPr>
                      <a:noAutofit/>
                    </a:bodyPr>
                    <a:lstStyle/>
                    <a:p>
                      <a:r>
                        <a:rPr sz="975" b="1">
                          <a:solidFill>
                            <a:srgbClr val="FFFFFF"/>
                          </a:solidFill>
                          <a:latin typeface="Arial"/>
                          <a:ea typeface="Arial"/>
                          <a:cs typeface="Arial"/>
                        </a:rPr>
                        <a:t>real_REC-0037-A</a:t>
                      </a:r>
                    </a:p>
                  </a:txBody>
                  <a:tcPr marL="91440" marR="91440" marT="45720" marB="45720">
                    <a:lnL w="9525">
                      <a:solidFill>
                        <a:srgbClr val="1F3354"/>
                      </a:solidFill>
                    </a:lnL>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REAL</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356</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0.19%</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34D399"/>
                          </a:solidFill>
                          <a:latin typeface="Arial"/>
                          <a:ea typeface="Arial"/>
                          <a:cs typeface="Arial"/>
                        </a:rPr>
                        <a:t>99.81%</a:t>
                      </a:r>
                    </a:p>
                  </a:txBody>
                  <a:tcPr marL="91440" marR="91440" marT="45720" marB="45720">
                    <a:lnR w="9525">
                      <a:solidFill>
                        <a:srgbClr val="1F3354"/>
                      </a:solidFill>
                    </a:lnR>
                    <a:lnB w="9525">
                      <a:solidFill>
                        <a:srgbClr val="1F3354"/>
                      </a:solidFill>
                    </a:lnB>
                    <a:solidFill>
                      <a:srgbClr val="0B1322"/>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0B1322"/>
                    </a:solidFill>
                  </a:tcPr>
                </a:tc>
              </a:tr>
              <a:tr h="250031">
                <a:tc>
                  <a:txBody>
                    <a:bodyPr>
                      <a:noAutofit/>
                    </a:bodyPr>
                    <a:lstStyle/>
                    <a:p>
                      <a:r>
                        <a:rPr sz="975" b="1">
                          <a:solidFill>
                            <a:srgbClr val="FFFFFF"/>
                          </a:solidFill>
                          <a:latin typeface="Arial"/>
                          <a:ea typeface="Arial"/>
                          <a:cs typeface="Arial"/>
                        </a:rPr>
                        <a:t>real_REC-0038-A</a:t>
                      </a:r>
                    </a:p>
                  </a:txBody>
                  <a:tcPr marL="91440" marR="91440" marT="45720" marB="45720">
                    <a:lnL w="9525">
                      <a:solidFill>
                        <a:srgbClr val="1F3354"/>
                      </a:solidFill>
                    </a:lnL>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REAL</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303</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0.19%</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34D399"/>
                          </a:solidFill>
                          <a:latin typeface="Arial"/>
                          <a:ea typeface="Arial"/>
                          <a:cs typeface="Arial"/>
                        </a:rPr>
                        <a:t>99.81%</a:t>
                      </a:r>
                    </a:p>
                  </a:txBody>
                  <a:tcPr marL="91440" marR="91440" marT="45720" marB="45720">
                    <a:lnR w="9525">
                      <a:solidFill>
                        <a:srgbClr val="1F3354"/>
                      </a:solidFill>
                    </a:lnR>
                    <a:lnB w="9525">
                      <a:solidFill>
                        <a:srgbClr val="1F3354"/>
                      </a:solidFill>
                    </a:lnB>
                    <a:solidFill>
                      <a:srgbClr val="101B2E"/>
                    </a:solidFill>
                  </a:tcPr>
                </a:tc>
                <a:tc>
                  <a:txBody>
                    <a:bodyPr>
                      <a:noAutofit/>
                    </a:bodyPr>
                    <a:lstStyle/>
                    <a:p>
                      <a:r>
                        <a:rPr sz="975" b="0">
                          <a:solidFill>
                            <a:srgbClr val="E2E8F0"/>
                          </a:solidFill>
                          <a:latin typeface="Arial"/>
                          <a:ea typeface="Arial"/>
                          <a:cs typeface="Arial"/>
                        </a:rPr>
                        <a:t>Đúng</a:t>
                      </a:r>
                    </a:p>
                  </a:txBody>
                  <a:tcPr marL="91440" marR="91440" marT="45720" marB="45720">
                    <a:lnR w="9525">
                      <a:solidFill>
                        <a:srgbClr val="1F3354"/>
                      </a:solidFill>
                    </a:lnR>
                    <a:lnB w="9525">
                      <a:solidFill>
                        <a:srgbClr val="1F3354"/>
                      </a:solidFill>
                    </a:lnB>
                    <a:solidFill>
                      <a:srgbClr val="101B2E"/>
                    </a:solidFill>
                  </a:tcPr>
                </a:tc>
              </a:tr>
            </a:tbl>
          </a:graphicData>
        </a:graphic>
      </p:graphicFrame>
      <p:sp>
        <p:nvSpPr>
          <p:cNvPr id="12" name="">
            <a:extLst xmlns:a="http://schemas.openxmlformats.org/drawingml/2006/main">
              <a:ext uri="{FF2B5EF4-FFF2-40B4-BE49-F238E27FC236}">
                <a16:creationId xmlns:a16="http://schemas.microsoft.com/office/drawing/2014/main" id="{10B8A323-43D7-4F89-8466-671C0AFBBFFA}"/>
              </a:ext>
            </a:extLst>
          </p:cNvPr>
          <p:cNvSpPr>
            <a:spLocks xmlns:a="http://schemas.openxmlformats.org/drawingml/2006/main" noGrp="1"/>
          </p:cNvSpPr>
          <p:nvPr/>
        </p:nvSpPr>
        <p:spPr>
          <a:xfrm xmlns:a="http://schemas.openxmlformats.org/drawingml/2006/main">
            <a:off x="609600" y="4238625"/>
            <a:ext cx="5295900" cy="1952625"/>
          </a:xfrm>
          <a:prstGeom xmlns:a="http://schemas.openxmlformats.org/drawingml/2006/main" prst="rect">
            <a:avLst/>
          </a:prstGeom>
          <a:solidFill xmlns:a="http://schemas.openxmlformats.org/drawingml/2006/main">
            <a:srgbClr val="111B2E"/>
          </a:solidFill>
          <a:ln xmlns:a="http://schemas.openxmlformats.org/drawingml/2006/main" w="9525">
            <a:solidFill>
              <a:srgbClr val="2563EB"/>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3" name="">
            <a:extLst xmlns:a="http://schemas.openxmlformats.org/drawingml/2006/main">
              <a:ext uri="{FF2B5EF4-FFF2-40B4-BE49-F238E27FC236}">
                <a16:creationId xmlns:a16="http://schemas.microsoft.com/office/drawing/2014/main" id="{6925E4B5-A56C-4DE1-9EE8-00059825DAC8}"/>
              </a:ext>
            </a:extLst>
          </p:cNvPr>
          <p:cNvSpPr>
            <a:spLocks xmlns:a="http://schemas.openxmlformats.org/drawingml/2006/main" noGrp="1"/>
          </p:cNvSpPr>
          <p:nvPr/>
        </p:nvSpPr>
        <p:spPr>
          <a:xfrm xmlns:a="http://schemas.openxmlformats.org/drawingml/2006/main">
            <a:off x="838200" y="4381500"/>
            <a:ext cx="4838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38BDF8"/>
                </a:solidFill>
                <a:latin typeface="Arial"/>
                <a:ea typeface="Arial"/>
                <a:cs typeface="Arial"/>
              </a:defRPr>
            </a:defPPr>
            <a:lvl1pPr>
              <a:defRPr sz="1275" b="1">
                <a:solidFill>
                  <a:srgbClr val="38BDF8"/>
                </a:solidFill>
                <a:latin typeface="Arial"/>
                <a:ea typeface="Arial"/>
                <a:cs typeface="Arial"/>
              </a:defRPr>
            </a:lvl1pPr>
            <a:lvl2pPr>
              <a:defRPr sz="1275" b="1">
                <a:solidFill>
                  <a:srgbClr val="38BDF8"/>
                </a:solidFill>
                <a:latin typeface="Arial"/>
                <a:ea typeface="Arial"/>
                <a:cs typeface="Arial"/>
              </a:defRPr>
            </a:lvl2pPr>
            <a:lvl3pPr>
              <a:defRPr sz="1275" b="1">
                <a:solidFill>
                  <a:srgbClr val="38BDF8"/>
                </a:solidFill>
                <a:latin typeface="Arial"/>
                <a:ea typeface="Arial"/>
                <a:cs typeface="Arial"/>
              </a:defRPr>
            </a:lvl3pPr>
            <a:lvl4pPr>
              <a:defRPr sz="1275" b="1">
                <a:solidFill>
                  <a:srgbClr val="38BDF8"/>
                </a:solidFill>
                <a:latin typeface="Arial"/>
                <a:ea typeface="Arial"/>
                <a:cs typeface="Arial"/>
              </a:defRPr>
            </a:lvl4pPr>
            <a:lvl5pPr>
              <a:defRPr sz="1275" b="1">
                <a:solidFill>
                  <a:srgbClr val="38BDF8"/>
                </a:solidFill>
                <a:latin typeface="Arial"/>
                <a:ea typeface="Arial"/>
                <a:cs typeface="Arial"/>
              </a:defRPr>
            </a:lvl5pPr>
            <a:lvl6pPr>
              <a:defRPr sz="1275" b="1">
                <a:solidFill>
                  <a:srgbClr val="38BDF8"/>
                </a:solidFill>
                <a:latin typeface="Arial"/>
                <a:ea typeface="Arial"/>
                <a:cs typeface="Arial"/>
              </a:defRPr>
            </a:lvl6pPr>
            <a:lvl7pPr>
              <a:defRPr sz="1275" b="1">
                <a:solidFill>
                  <a:srgbClr val="38BDF8"/>
                </a:solidFill>
                <a:latin typeface="Arial"/>
                <a:ea typeface="Arial"/>
                <a:cs typeface="Arial"/>
              </a:defRPr>
            </a:lvl7pPr>
            <a:lvl8pPr>
              <a:defRPr sz="1275" b="1">
                <a:solidFill>
                  <a:srgbClr val="38BDF8"/>
                </a:solidFill>
                <a:latin typeface="Arial"/>
                <a:ea typeface="Arial"/>
                <a:cs typeface="Arial"/>
              </a:defRPr>
            </a:lvl8pPr>
            <a:lvl9pPr>
              <a:defRPr sz="1275" b="1">
                <a:solidFill>
                  <a:srgbClr val="38BDF8"/>
                </a:solidFill>
                <a:latin typeface="Arial"/>
                <a:ea typeface="Arial"/>
                <a:cs typeface="Arial"/>
              </a:defRPr>
            </a:lvl9pPr>
          </a:lstStyle>
          <a:p xmlns:a="http://schemas.openxmlformats.org/drawingml/2006/main">
            <a:pPr>
              <a:defRPr sz="1275" b="1">
                <a:solidFill>
                  <a:srgbClr val="38BDF8"/>
                </a:solidFill>
                <a:latin typeface="Arial"/>
                <a:ea typeface="Arial"/>
                <a:cs typeface="Arial"/>
              </a:defRPr>
            </a:pPr>
            <a:r>
              <a:rPr sz="1275" b="1">
                <a:solidFill>
                  <a:srgbClr val="38BDF8"/>
                </a:solidFill>
                <a:latin typeface="Arial"/>
                <a:ea typeface="Arial"/>
                <a:cs typeface="Arial"/>
              </a:rPr>
              <a:t>Kiểm Tra Chéo Tập VALIDATION (5.015 ảnh)</a:t>
            </a:r>
          </a:p>
        </p:txBody>
      </p:sp>
      <p:sp>
        <p:nvSpPr>
          <p:cNvPr id="14" name="">
            <a:extLst xmlns:a="http://schemas.openxmlformats.org/drawingml/2006/main">
              <a:ext uri="{FF2B5EF4-FFF2-40B4-BE49-F238E27FC236}">
                <a16:creationId xmlns:a16="http://schemas.microsoft.com/office/drawing/2014/main" id="{BE072884-C63F-43E5-8197-F9F0A1FCD3E4}"/>
              </a:ext>
            </a:extLst>
          </p:cNvPr>
          <p:cNvSpPr>
            <a:spLocks xmlns:a="http://schemas.openxmlformats.org/drawingml/2006/main" noGrp="1"/>
          </p:cNvSpPr>
          <p:nvPr/>
        </p:nvSpPr>
        <p:spPr>
          <a:xfrm xmlns:a="http://schemas.openxmlformats.org/drawingml/2006/main">
            <a:off x="838200" y="4686300"/>
            <a:ext cx="48387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Frame Accuracy: 98.88%  |  Video Accuracy: 14/14 (100%)</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Nhận diện FAKE: 2.538 / 2.546 ảnh đúng (99.69%)</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Nhận diện REAL: 2.421 / 2.469 ảnh đúng (98.06%)</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Phân phối điểm số phân loại rõ ràng, biên phân cách an toàn.</a:t>
            </a:r>
          </a:p>
        </p:txBody>
      </p:sp>
      <p:sp>
        <p:nvSpPr>
          <p:cNvPr id="15" name="">
            <a:extLst xmlns:a="http://schemas.openxmlformats.org/drawingml/2006/main">
              <a:ext uri="{FF2B5EF4-FFF2-40B4-BE49-F238E27FC236}">
                <a16:creationId xmlns:a16="http://schemas.microsoft.com/office/drawing/2014/main" id="{77DD8B4B-86C8-442A-A286-00749403F807}"/>
              </a:ext>
            </a:extLst>
          </p:cNvPr>
          <p:cNvSpPr>
            <a:spLocks xmlns:a="http://schemas.openxmlformats.org/drawingml/2006/main" noGrp="1"/>
          </p:cNvSpPr>
          <p:nvPr/>
        </p:nvSpPr>
        <p:spPr>
          <a:xfrm xmlns:a="http://schemas.openxmlformats.org/drawingml/2006/main">
            <a:off x="6286500" y="4238625"/>
            <a:ext cx="5295900" cy="1952625"/>
          </a:xfrm>
          <a:prstGeom xmlns:a="http://schemas.openxmlformats.org/drawingml/2006/main" prst="rect">
            <a:avLst/>
          </a:prstGeom>
          <a:solidFill xmlns:a="http://schemas.openxmlformats.org/drawingml/2006/main">
            <a:srgbClr val="111B2E"/>
          </a:solidFill>
          <a:ln xmlns:a="http://schemas.openxmlformats.org/drawingml/2006/main" w="9525">
            <a:solidFill>
              <a:srgbClr val="059669"/>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6" name="">
            <a:extLst xmlns:a="http://schemas.openxmlformats.org/drawingml/2006/main">
              <a:ext uri="{FF2B5EF4-FFF2-40B4-BE49-F238E27FC236}">
                <a16:creationId xmlns:a16="http://schemas.microsoft.com/office/drawing/2014/main" id="{7622789D-45D0-48C1-8DB0-4BCA57E62A3D}"/>
              </a:ext>
            </a:extLst>
          </p:cNvPr>
          <p:cNvSpPr>
            <a:spLocks xmlns:a="http://schemas.openxmlformats.org/drawingml/2006/main" noGrp="1"/>
          </p:cNvSpPr>
          <p:nvPr/>
        </p:nvSpPr>
        <p:spPr>
          <a:xfrm xmlns:a="http://schemas.openxmlformats.org/drawingml/2006/main">
            <a:off x="6515100" y="4381500"/>
            <a:ext cx="4838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34D399"/>
                </a:solidFill>
                <a:latin typeface="Arial"/>
                <a:ea typeface="Arial"/>
                <a:cs typeface="Arial"/>
              </a:defRPr>
            </a:defPPr>
            <a:lvl1pPr>
              <a:defRPr sz="1275" b="1">
                <a:solidFill>
                  <a:srgbClr val="34D399"/>
                </a:solidFill>
                <a:latin typeface="Arial"/>
                <a:ea typeface="Arial"/>
                <a:cs typeface="Arial"/>
              </a:defRPr>
            </a:lvl1pPr>
            <a:lvl2pPr>
              <a:defRPr sz="1275" b="1">
                <a:solidFill>
                  <a:srgbClr val="34D399"/>
                </a:solidFill>
                <a:latin typeface="Arial"/>
                <a:ea typeface="Arial"/>
                <a:cs typeface="Arial"/>
              </a:defRPr>
            </a:lvl2pPr>
            <a:lvl3pPr>
              <a:defRPr sz="1275" b="1">
                <a:solidFill>
                  <a:srgbClr val="34D399"/>
                </a:solidFill>
                <a:latin typeface="Arial"/>
                <a:ea typeface="Arial"/>
                <a:cs typeface="Arial"/>
              </a:defRPr>
            </a:lvl3pPr>
            <a:lvl4pPr>
              <a:defRPr sz="1275" b="1">
                <a:solidFill>
                  <a:srgbClr val="34D399"/>
                </a:solidFill>
                <a:latin typeface="Arial"/>
                <a:ea typeface="Arial"/>
                <a:cs typeface="Arial"/>
              </a:defRPr>
            </a:lvl4pPr>
            <a:lvl5pPr>
              <a:defRPr sz="1275" b="1">
                <a:solidFill>
                  <a:srgbClr val="34D399"/>
                </a:solidFill>
                <a:latin typeface="Arial"/>
                <a:ea typeface="Arial"/>
                <a:cs typeface="Arial"/>
              </a:defRPr>
            </a:lvl5pPr>
            <a:lvl6pPr>
              <a:defRPr sz="1275" b="1">
                <a:solidFill>
                  <a:srgbClr val="34D399"/>
                </a:solidFill>
                <a:latin typeface="Arial"/>
                <a:ea typeface="Arial"/>
                <a:cs typeface="Arial"/>
              </a:defRPr>
            </a:lvl6pPr>
            <a:lvl7pPr>
              <a:defRPr sz="1275" b="1">
                <a:solidFill>
                  <a:srgbClr val="34D399"/>
                </a:solidFill>
                <a:latin typeface="Arial"/>
                <a:ea typeface="Arial"/>
                <a:cs typeface="Arial"/>
              </a:defRPr>
            </a:lvl7pPr>
            <a:lvl8pPr>
              <a:defRPr sz="1275" b="1">
                <a:solidFill>
                  <a:srgbClr val="34D399"/>
                </a:solidFill>
                <a:latin typeface="Arial"/>
                <a:ea typeface="Arial"/>
                <a:cs typeface="Arial"/>
              </a:defRPr>
            </a:lvl8pPr>
            <a:lvl9pPr>
              <a:defRPr sz="1275" b="1">
                <a:solidFill>
                  <a:srgbClr val="34D399"/>
                </a:solidFill>
                <a:latin typeface="Arial"/>
                <a:ea typeface="Arial"/>
                <a:cs typeface="Arial"/>
              </a:defRPr>
            </a:lvl9pPr>
          </a:lstStyle>
          <a:p xmlns:a="http://schemas.openxmlformats.org/drawingml/2006/main">
            <a:pPr>
              <a:defRPr sz="1275" b="1">
                <a:solidFill>
                  <a:srgbClr val="34D399"/>
                </a:solidFill>
                <a:latin typeface="Arial"/>
                <a:ea typeface="Arial"/>
                <a:cs typeface="Arial"/>
              </a:defRPr>
            </a:pPr>
            <a:r>
              <a:rPr sz="1275" b="1">
                <a:solidFill>
                  <a:srgbClr val="34D399"/>
                </a:solidFill>
                <a:latin typeface="Arial"/>
                <a:ea typeface="Arial"/>
                <a:cs typeface="Arial"/>
              </a:rPr>
              <a:t>Tổng Quát Hóa Camera Ngoài (Cross-Camera)</a:t>
            </a:r>
          </a:p>
        </p:txBody>
      </p:sp>
      <p:sp>
        <p:nvSpPr>
          <p:cNvPr id="17" name="">
            <a:extLst xmlns:a="http://schemas.openxmlformats.org/drawingml/2006/main">
              <a:ext uri="{FF2B5EF4-FFF2-40B4-BE49-F238E27FC236}">
                <a16:creationId xmlns:a16="http://schemas.microsoft.com/office/drawing/2014/main" id="{53648224-E771-4494-BCDC-A5FD6144F6B8}"/>
              </a:ext>
            </a:extLst>
          </p:cNvPr>
          <p:cNvSpPr>
            <a:spLocks xmlns:a="http://schemas.openxmlformats.org/drawingml/2006/main" noGrp="1"/>
          </p:cNvSpPr>
          <p:nvPr/>
        </p:nvSpPr>
        <p:spPr>
          <a:xfrm xmlns:a="http://schemas.openxmlformats.org/drawingml/2006/main">
            <a:off x="6515100" y="4686300"/>
            <a:ext cx="48387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Thử nghiệm trên dữ liệu camera khác (Project dataset gốc):</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 Nhận diện FAKE camera ngoài: 99.67%</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 Nhận diện REAL camera ngoài: 100.0%</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 Điểm tổng thể camera ngoài: 99.84%</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Chứng minh mô hình học đặc trưng sinh trắc học tổng quát.</a:t>
            </a:r>
          </a:p>
        </p:txBody>
      </p:sp>
    </p:spTree>
    <p:extLst>
      <p:ext uri="{BB962C8B-B14F-4D97-AF65-F5344CB8AC3E}">
        <p14:creationId xmlns:p14="http://schemas.microsoft.com/office/powerpoint/2010/main" val="1022901803"/>
      </p:ext>
    </p:extLst>
  </p:cSld>
</p:sld>
</file>

<file path=ppt/slides/slide5.xml><?xml version="1.0" encoding="utf-8"?>
<p:sld xmlns:p="http://schemas.openxmlformats.org/presentationml/2006/main">
  <p:cSld>
    <p:bg>
      <p:bgPr>
        <a:solidFill xmlns:a="http://schemas.openxmlformats.org/drawingml/2006/main">
          <a:srgbClr val="0A0F1D"/>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F745C59-B14E-482E-B702-69013BF616C3}"/>
              </a:ext>
            </a:extLst>
          </p:cNvPr>
          <p:cNvSpPr>
            <a:spLocks xmlns:a="http://schemas.openxmlformats.org/drawingml/2006/main" noGrp="1"/>
          </p:cNvSpPr>
          <p:nvPr/>
        </p:nvSpPr>
        <p:spPr>
          <a:xfrm xmlns:a="http://schemas.openxmlformats.org/drawingml/2006/main">
            <a:off x="609600" y="2857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VẬN HÀNH THỜI GIAN THỰC &amp; ĐỀ XUẤT TRIỂN KHAI (DEPLOYMENT)</a:t>
            </a:r>
          </a:p>
        </p:txBody>
      </p:sp>
      <p:sp>
        <p:nvSpPr>
          <p:cNvPr id="2" name="">
            <a:extLst xmlns:a="http://schemas.openxmlformats.org/drawingml/2006/main">
              <a:ext uri="{FF2B5EF4-FFF2-40B4-BE49-F238E27FC236}">
                <a16:creationId xmlns:a16="http://schemas.microsoft.com/office/drawing/2014/main" id="{ACF8E4E9-E1E8-4685-8221-C796A46A2E8E}"/>
              </a:ext>
            </a:extLst>
          </p:cNvPr>
          <p:cNvSpPr>
            <a:spLocks xmlns:a="http://schemas.openxmlformats.org/drawingml/2006/main" noGrp="1"/>
          </p:cNvSpPr>
          <p:nvPr/>
        </p:nvSpPr>
        <p:spPr>
          <a:xfrm xmlns:a="http://schemas.openxmlformats.org/drawingml/2006/main">
            <a:off x="609600" y="49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FFFFFF"/>
                </a:solidFill>
                <a:latin typeface="Arial"/>
                <a:ea typeface="Arial"/>
                <a:cs typeface="Arial"/>
              </a:defRPr>
            </a:defPPr>
            <a:lvl1pPr>
              <a:defRPr sz="2250" b="1">
                <a:solidFill>
                  <a:srgbClr val="FFFFFF"/>
                </a:solidFill>
                <a:latin typeface="Arial"/>
                <a:ea typeface="Arial"/>
                <a:cs typeface="Arial"/>
              </a:defRPr>
            </a:lvl1pPr>
            <a:lvl2pPr>
              <a:defRPr sz="2250" b="1">
                <a:solidFill>
                  <a:srgbClr val="FFFFFF"/>
                </a:solidFill>
                <a:latin typeface="Arial"/>
                <a:ea typeface="Arial"/>
                <a:cs typeface="Arial"/>
              </a:defRPr>
            </a:lvl2pPr>
            <a:lvl3pPr>
              <a:defRPr sz="2250" b="1">
                <a:solidFill>
                  <a:srgbClr val="FFFFFF"/>
                </a:solidFill>
                <a:latin typeface="Arial"/>
                <a:ea typeface="Arial"/>
                <a:cs typeface="Arial"/>
              </a:defRPr>
            </a:lvl3pPr>
            <a:lvl4pPr>
              <a:defRPr sz="2250" b="1">
                <a:solidFill>
                  <a:srgbClr val="FFFFFF"/>
                </a:solidFill>
                <a:latin typeface="Arial"/>
                <a:ea typeface="Arial"/>
                <a:cs typeface="Arial"/>
              </a:defRPr>
            </a:lvl4pPr>
            <a:lvl5pPr>
              <a:defRPr sz="2250" b="1">
                <a:solidFill>
                  <a:srgbClr val="FFFFFF"/>
                </a:solidFill>
                <a:latin typeface="Arial"/>
                <a:ea typeface="Arial"/>
                <a:cs typeface="Arial"/>
              </a:defRPr>
            </a:lvl5pPr>
            <a:lvl6pPr>
              <a:defRPr sz="2250" b="1">
                <a:solidFill>
                  <a:srgbClr val="FFFFFF"/>
                </a:solidFill>
                <a:latin typeface="Arial"/>
                <a:ea typeface="Arial"/>
                <a:cs typeface="Arial"/>
              </a:defRPr>
            </a:lvl6pPr>
            <a:lvl7pPr>
              <a:defRPr sz="2250" b="1">
                <a:solidFill>
                  <a:srgbClr val="FFFFFF"/>
                </a:solidFill>
                <a:latin typeface="Arial"/>
                <a:ea typeface="Arial"/>
                <a:cs typeface="Arial"/>
              </a:defRPr>
            </a:lvl7pPr>
            <a:lvl8pPr>
              <a:defRPr sz="2250" b="1">
                <a:solidFill>
                  <a:srgbClr val="FFFFFF"/>
                </a:solidFill>
                <a:latin typeface="Arial"/>
                <a:ea typeface="Arial"/>
                <a:cs typeface="Arial"/>
              </a:defRPr>
            </a:lvl8pPr>
            <a:lvl9pPr>
              <a:defRPr sz="2250" b="1">
                <a:solidFill>
                  <a:srgbClr val="FFFFFF"/>
                </a:solidFill>
                <a:latin typeface="Arial"/>
                <a:ea typeface="Arial"/>
                <a:cs typeface="Arial"/>
              </a:defRPr>
            </a:lvl9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Hiệu Năng Pipeline Thực Tế &amp; Khuyến Nghị Ứng Dụng</a:t>
            </a:r>
          </a:p>
        </p:txBody>
      </p:sp>
      <p:sp>
        <p:nvSpPr>
          <p:cNvPr id="3" name="">
            <a:extLst xmlns:a="http://schemas.openxmlformats.org/drawingml/2006/main">
              <a:ext uri="{FF2B5EF4-FFF2-40B4-BE49-F238E27FC236}">
                <a16:creationId xmlns:a16="http://schemas.microsoft.com/office/drawing/2014/main" id="{3075E71E-D308-4B1F-8BEC-C8893157F5EE}"/>
              </a:ext>
            </a:extLst>
          </p:cNvPr>
          <p:cNvSpPr>
            <a:spLocks xmlns:a="http://schemas.openxmlformats.org/drawingml/2006/main" noGrp="1"/>
          </p:cNvSpPr>
          <p:nvPr/>
        </p:nvSpPr>
        <p:spPr>
          <a:xfrm xmlns:a="http://schemas.openxmlformats.org/drawingml/2006/main">
            <a:off x="609600" y="9144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94A3B8"/>
                </a:solidFill>
                <a:latin typeface="Arial"/>
                <a:ea typeface="Arial"/>
                <a:cs typeface="Arial"/>
              </a:defRPr>
            </a:defPPr>
            <a:lvl1pPr>
              <a:defRPr sz="1200" b="0">
                <a:solidFill>
                  <a:srgbClr val="94A3B8"/>
                </a:solidFill>
                <a:latin typeface="Arial"/>
                <a:ea typeface="Arial"/>
                <a:cs typeface="Arial"/>
              </a:defRPr>
            </a:lvl1pPr>
            <a:lvl2pPr>
              <a:defRPr sz="1200" b="0">
                <a:solidFill>
                  <a:srgbClr val="94A3B8"/>
                </a:solidFill>
                <a:latin typeface="Arial"/>
                <a:ea typeface="Arial"/>
                <a:cs typeface="Arial"/>
              </a:defRPr>
            </a:lvl2pPr>
            <a:lvl3pPr>
              <a:defRPr sz="1200" b="0">
                <a:solidFill>
                  <a:srgbClr val="94A3B8"/>
                </a:solidFill>
                <a:latin typeface="Arial"/>
                <a:ea typeface="Arial"/>
                <a:cs typeface="Arial"/>
              </a:defRPr>
            </a:lvl3pPr>
            <a:lvl4pPr>
              <a:defRPr sz="1200" b="0">
                <a:solidFill>
                  <a:srgbClr val="94A3B8"/>
                </a:solidFill>
                <a:latin typeface="Arial"/>
                <a:ea typeface="Arial"/>
                <a:cs typeface="Arial"/>
              </a:defRPr>
            </a:lvl4pPr>
            <a:lvl5pPr>
              <a:defRPr sz="1200" b="0">
                <a:solidFill>
                  <a:srgbClr val="94A3B8"/>
                </a:solidFill>
                <a:latin typeface="Arial"/>
                <a:ea typeface="Arial"/>
                <a:cs typeface="Arial"/>
              </a:defRPr>
            </a:lvl5pPr>
            <a:lvl6pPr>
              <a:defRPr sz="1200" b="0">
                <a:solidFill>
                  <a:srgbClr val="94A3B8"/>
                </a:solidFill>
                <a:latin typeface="Arial"/>
                <a:ea typeface="Arial"/>
                <a:cs typeface="Arial"/>
              </a:defRPr>
            </a:lvl6pPr>
            <a:lvl7pPr>
              <a:defRPr sz="1200" b="0">
                <a:solidFill>
                  <a:srgbClr val="94A3B8"/>
                </a:solidFill>
                <a:latin typeface="Arial"/>
                <a:ea typeface="Arial"/>
                <a:cs typeface="Arial"/>
              </a:defRPr>
            </a:lvl7pPr>
            <a:lvl8pPr>
              <a:defRPr sz="1200" b="0">
                <a:solidFill>
                  <a:srgbClr val="94A3B8"/>
                </a:solidFill>
                <a:latin typeface="Arial"/>
                <a:ea typeface="Arial"/>
                <a:cs typeface="Arial"/>
              </a:defRPr>
            </a:lvl8pPr>
            <a:lvl9pPr>
              <a:defRPr sz="1200" b="0">
                <a:solidFill>
                  <a:srgbClr val="94A3B8"/>
                </a:solidFill>
                <a:latin typeface="Arial"/>
                <a:ea typeface="Arial"/>
                <a:cs typeface="Arial"/>
              </a:defRPr>
            </a:lvl9pPr>
          </a:lstStyle>
          <a:p xmlns:a="http://schemas.openxmlformats.org/drawingml/2006/main">
            <a:pPr>
              <a:defRPr sz="1200" b="0">
                <a:solidFill>
                  <a:srgbClr val="94A3B8"/>
                </a:solidFill>
                <a:latin typeface="Arial"/>
                <a:ea typeface="Arial"/>
                <a:cs typeface="Arial"/>
              </a:defRPr>
            </a:pPr>
            <a:r>
              <a:rPr sz="1200" b="0">
                <a:solidFill>
                  <a:srgbClr val="94A3B8"/>
                </a:solidFill>
                <a:latin typeface="Arial"/>
                <a:ea typeface="Arial"/>
                <a:cs typeface="Arial"/>
              </a:rPr>
              <a:t>Đặc tính vận hành thời gian thực trên Camera USB SC-M200 và các khuyến nghị kỹ thuật triển khai</a:t>
            </a:r>
          </a:p>
        </p:txBody>
      </p:sp>
      <p:sp>
        <p:nvSpPr>
          <p:cNvPr id="4" name="">
            <a:extLst xmlns:a="http://schemas.openxmlformats.org/drawingml/2006/main">
              <a:ext uri="{FF2B5EF4-FFF2-40B4-BE49-F238E27FC236}">
                <a16:creationId xmlns:a16="http://schemas.microsoft.com/office/drawing/2014/main" id="{A79697EF-95CD-4AF2-932F-7E6F1B42CC7E}"/>
              </a:ext>
            </a:extLst>
          </p:cNvPr>
          <p:cNvSpPr>
            <a:spLocks xmlns:a="http://schemas.openxmlformats.org/drawingml/2006/main" noGrp="1"/>
          </p:cNvSpPr>
          <p:nvPr/>
        </p:nvSpPr>
        <p:spPr>
          <a:xfrm xmlns:a="http://schemas.openxmlformats.org/drawingml/2006/main">
            <a:off x="609600" y="64389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64748B"/>
                </a:solidFill>
                <a:latin typeface="Arial"/>
                <a:ea typeface="Arial"/>
                <a:cs typeface="Arial"/>
              </a:defRPr>
            </a:defPPr>
            <a:lvl1pPr>
              <a:defRPr sz="975" b="0">
                <a:solidFill>
                  <a:srgbClr val="64748B"/>
                </a:solidFill>
                <a:latin typeface="Arial"/>
                <a:ea typeface="Arial"/>
                <a:cs typeface="Arial"/>
              </a:defRPr>
            </a:lvl1pPr>
            <a:lvl2pPr>
              <a:defRPr sz="975" b="0">
                <a:solidFill>
                  <a:srgbClr val="64748B"/>
                </a:solidFill>
                <a:latin typeface="Arial"/>
                <a:ea typeface="Arial"/>
                <a:cs typeface="Arial"/>
              </a:defRPr>
            </a:lvl2pPr>
            <a:lvl3pPr>
              <a:defRPr sz="975" b="0">
                <a:solidFill>
                  <a:srgbClr val="64748B"/>
                </a:solidFill>
                <a:latin typeface="Arial"/>
                <a:ea typeface="Arial"/>
                <a:cs typeface="Arial"/>
              </a:defRPr>
            </a:lvl3pPr>
            <a:lvl4pPr>
              <a:defRPr sz="975" b="0">
                <a:solidFill>
                  <a:srgbClr val="64748B"/>
                </a:solidFill>
                <a:latin typeface="Arial"/>
                <a:ea typeface="Arial"/>
                <a:cs typeface="Arial"/>
              </a:defRPr>
            </a:lvl4pPr>
            <a:lvl5pPr>
              <a:defRPr sz="975" b="0">
                <a:solidFill>
                  <a:srgbClr val="64748B"/>
                </a:solidFill>
                <a:latin typeface="Arial"/>
                <a:ea typeface="Arial"/>
                <a:cs typeface="Arial"/>
              </a:defRPr>
            </a:lvl5pPr>
            <a:lvl6pPr>
              <a:defRPr sz="975" b="0">
                <a:solidFill>
                  <a:srgbClr val="64748B"/>
                </a:solidFill>
                <a:latin typeface="Arial"/>
                <a:ea typeface="Arial"/>
                <a:cs typeface="Arial"/>
              </a:defRPr>
            </a:lvl6pPr>
            <a:lvl7pPr>
              <a:defRPr sz="975" b="0">
                <a:solidFill>
                  <a:srgbClr val="64748B"/>
                </a:solidFill>
                <a:latin typeface="Arial"/>
                <a:ea typeface="Arial"/>
                <a:cs typeface="Arial"/>
              </a:defRPr>
            </a:lvl7pPr>
            <a:lvl8pPr>
              <a:defRPr sz="975" b="0">
                <a:solidFill>
                  <a:srgbClr val="64748B"/>
                </a:solidFill>
                <a:latin typeface="Arial"/>
                <a:ea typeface="Arial"/>
                <a:cs typeface="Arial"/>
              </a:defRPr>
            </a:lvl8pPr>
            <a:lvl9pPr>
              <a:defRPr sz="975" b="0">
                <a:solidFill>
                  <a:srgbClr val="64748B"/>
                </a:solidFill>
                <a:latin typeface="Arial"/>
                <a:ea typeface="Arial"/>
                <a:cs typeface="Arial"/>
              </a:defRPr>
            </a:lvl9pPr>
          </a:lstStyle>
          <a:p xmlns:a="http://schemas.openxmlformats.org/drawingml/2006/main">
            <a:pPr>
              <a:defRPr sz="975" b="0">
                <a:solidFill>
                  <a:srgbClr val="64748B"/>
                </a:solidFill>
                <a:latin typeface="Arial"/>
                <a:ea typeface="Arial"/>
                <a:cs typeface="Arial"/>
              </a:defRPr>
            </a:pPr>
            <a:r>
              <a:rPr sz="975" b="0">
                <a:solidFill>
                  <a:srgbClr val="64748B"/>
                </a:solidFill>
                <a:latin typeface="Arial"/>
                <a:ea typeface="Arial"/>
                <a:cs typeface="Arial"/>
              </a:rPr>
              <a:t>FACE ANTI-SPOOFING SYSTEM • CAMERA USB SC-M200</a:t>
            </a:r>
          </a:p>
        </p:txBody>
      </p:sp>
      <p:sp>
        <p:nvSpPr>
          <p:cNvPr id="5" name="">
            <a:extLst xmlns:a="http://schemas.openxmlformats.org/drawingml/2006/main">
              <a:ext uri="{FF2B5EF4-FFF2-40B4-BE49-F238E27FC236}">
                <a16:creationId xmlns:a16="http://schemas.microsoft.com/office/drawing/2014/main" id="{7091E15D-68F5-4C68-8760-5A53121D01B1}"/>
              </a:ext>
            </a:extLst>
          </p:cNvPr>
          <p:cNvSpPr>
            <a:spLocks xmlns:a="http://schemas.openxmlformats.org/drawingml/2006/main" noGrp="1"/>
          </p:cNvSpPr>
          <p:nvPr/>
        </p:nvSpPr>
        <p:spPr>
          <a:xfrm xmlns:a="http://schemas.openxmlformats.org/drawingml/2006/main">
            <a:off x="11049000" y="64389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38BDF8"/>
                </a:solidFill>
                <a:latin typeface="Arial"/>
                <a:ea typeface="Arial"/>
                <a:cs typeface="Arial"/>
              </a:defRPr>
            </a:defPPr>
            <a:lvl1pPr>
              <a:defRPr sz="975" b="1">
                <a:solidFill>
                  <a:srgbClr val="38BDF8"/>
                </a:solidFill>
                <a:latin typeface="Arial"/>
                <a:ea typeface="Arial"/>
                <a:cs typeface="Arial"/>
              </a:defRPr>
            </a:lvl1pPr>
            <a:lvl2pPr>
              <a:defRPr sz="975" b="1">
                <a:solidFill>
                  <a:srgbClr val="38BDF8"/>
                </a:solidFill>
                <a:latin typeface="Arial"/>
                <a:ea typeface="Arial"/>
                <a:cs typeface="Arial"/>
              </a:defRPr>
            </a:lvl2pPr>
            <a:lvl3pPr>
              <a:defRPr sz="975" b="1">
                <a:solidFill>
                  <a:srgbClr val="38BDF8"/>
                </a:solidFill>
                <a:latin typeface="Arial"/>
                <a:ea typeface="Arial"/>
                <a:cs typeface="Arial"/>
              </a:defRPr>
            </a:lvl3pPr>
            <a:lvl4pPr>
              <a:defRPr sz="975" b="1">
                <a:solidFill>
                  <a:srgbClr val="38BDF8"/>
                </a:solidFill>
                <a:latin typeface="Arial"/>
                <a:ea typeface="Arial"/>
                <a:cs typeface="Arial"/>
              </a:defRPr>
            </a:lvl4pPr>
            <a:lvl5pPr>
              <a:defRPr sz="975" b="1">
                <a:solidFill>
                  <a:srgbClr val="38BDF8"/>
                </a:solidFill>
                <a:latin typeface="Arial"/>
                <a:ea typeface="Arial"/>
                <a:cs typeface="Arial"/>
              </a:defRPr>
            </a:lvl5pPr>
            <a:lvl6pPr>
              <a:defRPr sz="975" b="1">
                <a:solidFill>
                  <a:srgbClr val="38BDF8"/>
                </a:solidFill>
                <a:latin typeface="Arial"/>
                <a:ea typeface="Arial"/>
                <a:cs typeface="Arial"/>
              </a:defRPr>
            </a:lvl6pPr>
            <a:lvl7pPr>
              <a:defRPr sz="975" b="1">
                <a:solidFill>
                  <a:srgbClr val="38BDF8"/>
                </a:solidFill>
                <a:latin typeface="Arial"/>
                <a:ea typeface="Arial"/>
                <a:cs typeface="Arial"/>
              </a:defRPr>
            </a:lvl7pPr>
            <a:lvl8pPr>
              <a:defRPr sz="975" b="1">
                <a:solidFill>
                  <a:srgbClr val="38BDF8"/>
                </a:solidFill>
                <a:latin typeface="Arial"/>
                <a:ea typeface="Arial"/>
                <a:cs typeface="Arial"/>
              </a:defRPr>
            </a:lvl8pPr>
            <a:lvl9pPr>
              <a:defRPr sz="975" b="1">
                <a:solidFill>
                  <a:srgbClr val="38BDF8"/>
                </a:solidFill>
                <a:latin typeface="Arial"/>
                <a:ea typeface="Arial"/>
                <a:cs typeface="Arial"/>
              </a:defRPr>
            </a:lvl9pPr>
          </a:lstStyle>
          <a:p xmlns:a="http://schemas.openxmlformats.org/drawingml/2006/main">
            <a:pPr>
              <a:defRPr sz="975" b="1">
                <a:solidFill>
                  <a:srgbClr val="38BDF8"/>
                </a:solidFill>
                <a:latin typeface="Arial"/>
                <a:ea typeface="Arial"/>
                <a:cs typeface="Arial"/>
              </a:defRPr>
            </a:pPr>
            <a:r>
              <a:rPr sz="975" b="1">
                <a:solidFill>
                  <a:srgbClr val="38BDF8"/>
                </a:solidFill>
                <a:latin typeface="Arial"/>
                <a:ea typeface="Arial"/>
                <a:cs typeface="Arial"/>
              </a:rPr>
              <a:t>SLIDE 05 / 05</a:t>
            </a:r>
          </a:p>
        </p:txBody>
      </p:sp>
      <p:sp>
        <p:nvSpPr>
          <p:cNvPr id="6" name="">
            <a:extLst xmlns:a="http://schemas.openxmlformats.org/drawingml/2006/main">
              <a:ext uri="{FF2B5EF4-FFF2-40B4-BE49-F238E27FC236}">
                <a16:creationId xmlns:a16="http://schemas.microsoft.com/office/drawing/2014/main" id="{2C9F3552-CA79-4569-A4F7-12F1B6ADEA3F}"/>
              </a:ext>
            </a:extLst>
          </p:cNvPr>
          <p:cNvSpPr>
            <a:spLocks xmlns:a="http://schemas.openxmlformats.org/drawingml/2006/main" noGrp="1"/>
          </p:cNvSpPr>
          <p:nvPr/>
        </p:nvSpPr>
        <p:spPr>
          <a:xfrm xmlns:a="http://schemas.openxmlformats.org/drawingml/2006/main">
            <a:off x="609600" y="1285875"/>
            <a:ext cx="3429000" cy="4905375"/>
          </a:xfrm>
          <a:prstGeom xmlns:a="http://schemas.openxmlformats.org/drawingml/2006/main" prst="rect">
            <a:avLst/>
          </a:prstGeom>
          <a:solidFill xmlns:a="http://schemas.openxmlformats.org/drawingml/2006/main">
            <a:srgbClr val="111B2E"/>
          </a:solidFill>
          <a:ln xmlns:a="http://schemas.openxmlformats.org/drawingml/2006/main" w="9525">
            <a:solidFill>
              <a:srgbClr val="2563EB"/>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7" name="">
            <a:extLst xmlns:a="http://schemas.openxmlformats.org/drawingml/2006/main">
              <a:ext uri="{FF2B5EF4-FFF2-40B4-BE49-F238E27FC236}">
                <a16:creationId xmlns:a16="http://schemas.microsoft.com/office/drawing/2014/main" id="{7E572420-C053-4AFB-9104-97AFEC528A0B}"/>
              </a:ext>
            </a:extLst>
          </p:cNvPr>
          <p:cNvSpPr>
            <a:spLocks xmlns:a="http://schemas.openxmlformats.org/drawingml/2006/main" noGrp="1"/>
          </p:cNvSpPr>
          <p:nvPr/>
        </p:nvSpPr>
        <p:spPr>
          <a:xfrm xmlns:a="http://schemas.openxmlformats.org/drawingml/2006/main">
            <a:off x="838200" y="1476375"/>
            <a:ext cx="2971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38BDF8"/>
                </a:solidFill>
                <a:latin typeface="Arial"/>
                <a:ea typeface="Arial"/>
                <a:cs typeface="Arial"/>
              </a:defRPr>
            </a:defPPr>
            <a:lvl1pPr>
              <a:defRPr sz="1350" b="1">
                <a:solidFill>
                  <a:srgbClr val="38BDF8"/>
                </a:solidFill>
                <a:latin typeface="Arial"/>
                <a:ea typeface="Arial"/>
                <a:cs typeface="Arial"/>
              </a:defRPr>
            </a:lvl1pPr>
            <a:lvl2pPr>
              <a:defRPr sz="1350" b="1">
                <a:solidFill>
                  <a:srgbClr val="38BDF8"/>
                </a:solidFill>
                <a:latin typeface="Arial"/>
                <a:ea typeface="Arial"/>
                <a:cs typeface="Arial"/>
              </a:defRPr>
            </a:lvl2pPr>
            <a:lvl3pPr>
              <a:defRPr sz="1350" b="1">
                <a:solidFill>
                  <a:srgbClr val="38BDF8"/>
                </a:solidFill>
                <a:latin typeface="Arial"/>
                <a:ea typeface="Arial"/>
                <a:cs typeface="Arial"/>
              </a:defRPr>
            </a:lvl3pPr>
            <a:lvl4pPr>
              <a:defRPr sz="1350" b="1">
                <a:solidFill>
                  <a:srgbClr val="38BDF8"/>
                </a:solidFill>
                <a:latin typeface="Arial"/>
                <a:ea typeface="Arial"/>
                <a:cs typeface="Arial"/>
              </a:defRPr>
            </a:lvl4pPr>
            <a:lvl5pPr>
              <a:defRPr sz="1350" b="1">
                <a:solidFill>
                  <a:srgbClr val="38BDF8"/>
                </a:solidFill>
                <a:latin typeface="Arial"/>
                <a:ea typeface="Arial"/>
                <a:cs typeface="Arial"/>
              </a:defRPr>
            </a:lvl5pPr>
            <a:lvl6pPr>
              <a:defRPr sz="1350" b="1">
                <a:solidFill>
                  <a:srgbClr val="38BDF8"/>
                </a:solidFill>
                <a:latin typeface="Arial"/>
                <a:ea typeface="Arial"/>
                <a:cs typeface="Arial"/>
              </a:defRPr>
            </a:lvl6pPr>
            <a:lvl7pPr>
              <a:defRPr sz="1350" b="1">
                <a:solidFill>
                  <a:srgbClr val="38BDF8"/>
                </a:solidFill>
                <a:latin typeface="Arial"/>
                <a:ea typeface="Arial"/>
                <a:cs typeface="Arial"/>
              </a:defRPr>
            </a:lvl7pPr>
            <a:lvl8pPr>
              <a:defRPr sz="1350" b="1">
                <a:solidFill>
                  <a:srgbClr val="38BDF8"/>
                </a:solidFill>
                <a:latin typeface="Arial"/>
                <a:ea typeface="Arial"/>
                <a:cs typeface="Arial"/>
              </a:defRPr>
            </a:lvl8pPr>
            <a:lvl9pPr>
              <a:defRPr sz="1350" b="1">
                <a:solidFill>
                  <a:srgbClr val="38BDF8"/>
                </a:solidFill>
                <a:latin typeface="Arial"/>
                <a:ea typeface="Arial"/>
                <a:cs typeface="Arial"/>
              </a:defRPr>
            </a:lvl9pPr>
          </a:lstStyle>
          <a:p xmlns:a="http://schemas.openxmlformats.org/drawingml/2006/main">
            <a:pPr>
              <a:defRPr sz="1350" b="1">
                <a:solidFill>
                  <a:srgbClr val="38BDF8"/>
                </a:solidFill>
                <a:latin typeface="Arial"/>
                <a:ea typeface="Arial"/>
                <a:cs typeface="Arial"/>
              </a:defRPr>
            </a:pPr>
            <a:r>
              <a:rPr sz="1350" b="1">
                <a:solidFill>
                  <a:srgbClr val="38BDF8"/>
                </a:solidFill>
                <a:latin typeface="Arial"/>
                <a:ea typeface="Arial"/>
                <a:cs typeface="Arial"/>
              </a:rPr>
              <a:t>1. HIỆU NĂNG VẬN HÀNH</a:t>
            </a:r>
          </a:p>
        </p:txBody>
      </p:sp>
      <p:sp>
        <p:nvSpPr>
          <p:cNvPr id="8" name="">
            <a:extLst xmlns:a="http://schemas.openxmlformats.org/drawingml/2006/main">
              <a:ext uri="{FF2B5EF4-FFF2-40B4-BE49-F238E27FC236}">
                <a16:creationId xmlns:a16="http://schemas.microsoft.com/office/drawing/2014/main" id="{3EAC9F20-B5EB-4869-A657-0BD1C88678CC}"/>
              </a:ext>
            </a:extLst>
          </p:cNvPr>
          <p:cNvSpPr>
            <a:spLocks xmlns:a="http://schemas.openxmlformats.org/drawingml/2006/main" noGrp="1"/>
          </p:cNvSpPr>
          <p:nvPr/>
        </p:nvSpPr>
        <p:spPr>
          <a:xfrm xmlns:a="http://schemas.openxmlformats.org/drawingml/2006/main">
            <a:off x="838200" y="1743075"/>
            <a:ext cx="2971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94A3B8"/>
                </a:solidFill>
                <a:latin typeface="Arial"/>
                <a:ea typeface="Arial"/>
                <a:cs typeface="Arial"/>
              </a:defRPr>
            </a:defPPr>
            <a:lvl1pPr>
              <a:defRPr sz="975" b="0">
                <a:solidFill>
                  <a:srgbClr val="94A3B8"/>
                </a:solidFill>
                <a:latin typeface="Arial"/>
                <a:ea typeface="Arial"/>
                <a:cs typeface="Arial"/>
              </a:defRPr>
            </a:lvl1pPr>
            <a:lvl2pPr>
              <a:defRPr sz="975" b="0">
                <a:solidFill>
                  <a:srgbClr val="94A3B8"/>
                </a:solidFill>
                <a:latin typeface="Arial"/>
                <a:ea typeface="Arial"/>
                <a:cs typeface="Arial"/>
              </a:defRPr>
            </a:lvl2pPr>
            <a:lvl3pPr>
              <a:defRPr sz="975" b="0">
                <a:solidFill>
                  <a:srgbClr val="94A3B8"/>
                </a:solidFill>
                <a:latin typeface="Arial"/>
                <a:ea typeface="Arial"/>
                <a:cs typeface="Arial"/>
              </a:defRPr>
            </a:lvl3pPr>
            <a:lvl4pPr>
              <a:defRPr sz="975" b="0">
                <a:solidFill>
                  <a:srgbClr val="94A3B8"/>
                </a:solidFill>
                <a:latin typeface="Arial"/>
                <a:ea typeface="Arial"/>
                <a:cs typeface="Arial"/>
              </a:defRPr>
            </a:lvl4pPr>
            <a:lvl5pPr>
              <a:defRPr sz="975" b="0">
                <a:solidFill>
                  <a:srgbClr val="94A3B8"/>
                </a:solidFill>
                <a:latin typeface="Arial"/>
                <a:ea typeface="Arial"/>
                <a:cs typeface="Arial"/>
              </a:defRPr>
            </a:lvl5pPr>
            <a:lvl6pPr>
              <a:defRPr sz="975" b="0">
                <a:solidFill>
                  <a:srgbClr val="94A3B8"/>
                </a:solidFill>
                <a:latin typeface="Arial"/>
                <a:ea typeface="Arial"/>
                <a:cs typeface="Arial"/>
              </a:defRPr>
            </a:lvl6pPr>
            <a:lvl7pPr>
              <a:defRPr sz="975" b="0">
                <a:solidFill>
                  <a:srgbClr val="94A3B8"/>
                </a:solidFill>
                <a:latin typeface="Arial"/>
                <a:ea typeface="Arial"/>
                <a:cs typeface="Arial"/>
              </a:defRPr>
            </a:lvl7pPr>
            <a:lvl8pPr>
              <a:defRPr sz="975" b="0">
                <a:solidFill>
                  <a:srgbClr val="94A3B8"/>
                </a:solidFill>
                <a:latin typeface="Arial"/>
                <a:ea typeface="Arial"/>
                <a:cs typeface="Arial"/>
              </a:defRPr>
            </a:lvl8pPr>
            <a:lvl9pPr>
              <a:defRPr sz="975" b="0">
                <a:solidFill>
                  <a:srgbClr val="94A3B8"/>
                </a:solidFill>
                <a:latin typeface="Arial"/>
                <a:ea typeface="Arial"/>
                <a:cs typeface="Arial"/>
              </a:defRPr>
            </a:lvl9pPr>
          </a:lstStyle>
          <a:p xmlns:a="http://schemas.openxmlformats.org/drawingml/2006/main">
            <a:pPr>
              <a:defRPr sz="975" b="0">
                <a:solidFill>
                  <a:srgbClr val="94A3B8"/>
                </a:solidFill>
                <a:latin typeface="Arial"/>
                <a:ea typeface="Arial"/>
                <a:cs typeface="Arial"/>
              </a:defRPr>
            </a:pPr>
            <a:r>
              <a:rPr sz="975" b="0">
                <a:solidFill>
                  <a:srgbClr val="94A3B8"/>
                </a:solidFill>
                <a:latin typeface="Arial"/>
                <a:ea typeface="Arial"/>
                <a:cs typeface="Arial"/>
              </a:rPr>
              <a:t>MƯỢT MÀ &amp; ỔN ĐỊNH</a:t>
            </a:r>
          </a:p>
        </p:txBody>
      </p:sp>
      <p:sp>
        <p:nvSpPr>
          <p:cNvPr id="9" name="">
            <a:extLst xmlns:a="http://schemas.openxmlformats.org/drawingml/2006/main">
              <a:ext uri="{FF2B5EF4-FFF2-40B4-BE49-F238E27FC236}">
                <a16:creationId xmlns:a16="http://schemas.microsoft.com/office/drawing/2014/main" id="{79B5011C-61BE-42A6-9116-9493B215C8E6}"/>
              </a:ext>
            </a:extLst>
          </p:cNvPr>
          <p:cNvSpPr>
            <a:spLocks xmlns:a="http://schemas.openxmlformats.org/drawingml/2006/main" noGrp="1"/>
          </p:cNvSpPr>
          <p:nvPr/>
        </p:nvSpPr>
        <p:spPr>
          <a:xfrm xmlns:a="http://schemas.openxmlformats.org/drawingml/2006/main">
            <a:off x="838200" y="2019300"/>
            <a:ext cx="2971800" cy="9525"/>
          </a:xfrm>
          <a:prstGeom xmlns:a="http://schemas.openxmlformats.org/drawingml/2006/main" prst="rect">
            <a:avLst/>
          </a:prstGeom>
          <a:solidFill xmlns:a="http://schemas.openxmlformats.org/drawingml/2006/main">
            <a:srgbClr val="1F3354"/>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F3354"/>
                </a:solidFill>
                <a:latin typeface="Arial"/>
                <a:ea typeface="Arial"/>
                <a:cs typeface="Arial"/>
              </a:defRPr>
            </a:defPPr>
            <a:lvl1pPr>
              <a:defRPr sz="750">
                <a:solidFill>
                  <a:srgbClr val="1F3354"/>
                </a:solidFill>
                <a:latin typeface="Arial"/>
                <a:ea typeface="Arial"/>
                <a:cs typeface="Arial"/>
              </a:defRPr>
            </a:lvl1pPr>
            <a:lvl2pPr>
              <a:defRPr sz="750">
                <a:solidFill>
                  <a:srgbClr val="1F3354"/>
                </a:solidFill>
                <a:latin typeface="Arial"/>
                <a:ea typeface="Arial"/>
                <a:cs typeface="Arial"/>
              </a:defRPr>
            </a:lvl2pPr>
            <a:lvl3pPr>
              <a:defRPr sz="750">
                <a:solidFill>
                  <a:srgbClr val="1F3354"/>
                </a:solidFill>
                <a:latin typeface="Arial"/>
                <a:ea typeface="Arial"/>
                <a:cs typeface="Arial"/>
              </a:defRPr>
            </a:lvl3pPr>
            <a:lvl4pPr>
              <a:defRPr sz="750">
                <a:solidFill>
                  <a:srgbClr val="1F3354"/>
                </a:solidFill>
                <a:latin typeface="Arial"/>
                <a:ea typeface="Arial"/>
                <a:cs typeface="Arial"/>
              </a:defRPr>
            </a:lvl4pPr>
            <a:lvl5pPr>
              <a:defRPr sz="750">
                <a:solidFill>
                  <a:srgbClr val="1F3354"/>
                </a:solidFill>
                <a:latin typeface="Arial"/>
                <a:ea typeface="Arial"/>
                <a:cs typeface="Arial"/>
              </a:defRPr>
            </a:lvl5pPr>
            <a:lvl6pPr>
              <a:defRPr sz="750">
                <a:solidFill>
                  <a:srgbClr val="1F3354"/>
                </a:solidFill>
                <a:latin typeface="Arial"/>
                <a:ea typeface="Arial"/>
                <a:cs typeface="Arial"/>
              </a:defRPr>
            </a:lvl6pPr>
            <a:lvl7pPr>
              <a:defRPr sz="750">
                <a:solidFill>
                  <a:srgbClr val="1F3354"/>
                </a:solidFill>
                <a:latin typeface="Arial"/>
                <a:ea typeface="Arial"/>
                <a:cs typeface="Arial"/>
              </a:defRPr>
            </a:lvl7pPr>
            <a:lvl8pPr>
              <a:defRPr sz="750">
                <a:solidFill>
                  <a:srgbClr val="1F3354"/>
                </a:solidFill>
                <a:latin typeface="Arial"/>
                <a:ea typeface="Arial"/>
                <a:cs typeface="Arial"/>
              </a:defRPr>
            </a:lvl8pPr>
            <a:lvl9pPr>
              <a:defRPr sz="750">
                <a:solidFill>
                  <a:srgbClr val="1F3354"/>
                </a:solidFill>
                <a:latin typeface="Arial"/>
                <a:ea typeface="Arial"/>
                <a:cs typeface="Arial"/>
              </a:defRPr>
            </a:lvl9pPr>
          </a:lstStyle>
          <a:p xmlns:a="http://schemas.openxmlformats.org/drawingml/2006/main">
            <a:pPr>
              <a:defRPr sz="750">
                <a:solidFill>
                  <a:srgbClr val="1F3354"/>
                </a:solidFill>
                <a:latin typeface="Arial"/>
                <a:ea typeface="Arial"/>
                <a:cs typeface="Arial"/>
              </a:defRPr>
            </a:pPr>
            <a:r>
              <a:rPr sz="750">
                <a:solidFill>
                  <a:srgbClr val="1F3354"/>
                </a:solidFill>
                <a:latin typeface="Arial"/>
                <a:ea typeface="Arial"/>
                <a:cs typeface="Arial"/>
              </a:rPr>
              <a:t> </a:t>
            </a:r>
          </a:p>
        </p:txBody>
      </p:sp>
      <p:sp>
        <p:nvSpPr>
          <p:cNvPr id="10" name="">
            <a:extLst xmlns:a="http://schemas.openxmlformats.org/drawingml/2006/main">
              <a:ext uri="{FF2B5EF4-FFF2-40B4-BE49-F238E27FC236}">
                <a16:creationId xmlns:a16="http://schemas.microsoft.com/office/drawing/2014/main" id="{6B9B3AE6-57E2-4F7B-ABBD-1BB205A104C5}"/>
              </a:ext>
            </a:extLst>
          </p:cNvPr>
          <p:cNvSpPr>
            <a:spLocks xmlns:a="http://schemas.openxmlformats.org/drawingml/2006/main" noGrp="1"/>
          </p:cNvSpPr>
          <p:nvPr/>
        </p:nvSpPr>
        <p:spPr>
          <a:xfrm xmlns:a="http://schemas.openxmlformats.org/drawingml/2006/main">
            <a:off x="838200" y="2143125"/>
            <a:ext cx="29718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Tốc độ khung hình:</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30 FPS mượt mà ổn định nhờ luồng Multi-threaded Capture Worker riêng biệt.</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Độ trễ suy luận:</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~6ms trên CPU cho mạng CNN; tổng độ trễ toàn bộ pipeline chỉ ~20-30ms.</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Độ ổn định phần cứng:</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Tự động nhận diện &amp; khôi phục luồng video khi cắm/rút camera USB (auto-reconnect).</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Khử nhiễu giao diện:</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Đã triệt tiêu 100% khung vàng rác bằng bộ lọc diện tích &amp; YuNet detector.</a:t>
            </a:r>
          </a:p>
        </p:txBody>
      </p:sp>
      <p:sp>
        <p:nvSpPr>
          <p:cNvPr id="11" name="">
            <a:extLst xmlns:a="http://schemas.openxmlformats.org/drawingml/2006/main">
              <a:ext uri="{FF2B5EF4-FFF2-40B4-BE49-F238E27FC236}">
                <a16:creationId xmlns:a16="http://schemas.microsoft.com/office/drawing/2014/main" id="{56ADA19D-4C8C-4202-935C-E74111930097}"/>
              </a:ext>
            </a:extLst>
          </p:cNvPr>
          <p:cNvSpPr>
            <a:spLocks xmlns:a="http://schemas.openxmlformats.org/drawingml/2006/main" noGrp="1"/>
          </p:cNvSpPr>
          <p:nvPr/>
        </p:nvSpPr>
        <p:spPr>
          <a:xfrm xmlns:a="http://schemas.openxmlformats.org/drawingml/2006/main">
            <a:off x="4381500" y="1285875"/>
            <a:ext cx="3429000" cy="4905375"/>
          </a:xfrm>
          <a:prstGeom xmlns:a="http://schemas.openxmlformats.org/drawingml/2006/main" prst="rect">
            <a:avLst/>
          </a:prstGeom>
          <a:solidFill xmlns:a="http://schemas.openxmlformats.org/drawingml/2006/main">
            <a:srgbClr val="111B2E"/>
          </a:solidFill>
          <a:ln xmlns:a="http://schemas.openxmlformats.org/drawingml/2006/main" w="9525">
            <a:solidFill>
              <a:srgbClr val="059669"/>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2" name="">
            <a:extLst xmlns:a="http://schemas.openxmlformats.org/drawingml/2006/main">
              <a:ext uri="{FF2B5EF4-FFF2-40B4-BE49-F238E27FC236}">
                <a16:creationId xmlns:a16="http://schemas.microsoft.com/office/drawing/2014/main" id="{97EF1FDC-378C-4A7E-82A6-7DB09974B4CC}"/>
              </a:ext>
            </a:extLst>
          </p:cNvPr>
          <p:cNvSpPr>
            <a:spLocks xmlns:a="http://schemas.openxmlformats.org/drawingml/2006/main" noGrp="1"/>
          </p:cNvSpPr>
          <p:nvPr/>
        </p:nvSpPr>
        <p:spPr>
          <a:xfrm xmlns:a="http://schemas.openxmlformats.org/drawingml/2006/main">
            <a:off x="4610100" y="1476375"/>
            <a:ext cx="2971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34D399"/>
                </a:solidFill>
                <a:latin typeface="Arial"/>
                <a:ea typeface="Arial"/>
                <a:cs typeface="Arial"/>
              </a:defRPr>
            </a:defPPr>
            <a:lvl1pPr>
              <a:defRPr sz="1350" b="1">
                <a:solidFill>
                  <a:srgbClr val="34D399"/>
                </a:solidFill>
                <a:latin typeface="Arial"/>
                <a:ea typeface="Arial"/>
                <a:cs typeface="Arial"/>
              </a:defRPr>
            </a:lvl1pPr>
            <a:lvl2pPr>
              <a:defRPr sz="1350" b="1">
                <a:solidFill>
                  <a:srgbClr val="34D399"/>
                </a:solidFill>
                <a:latin typeface="Arial"/>
                <a:ea typeface="Arial"/>
                <a:cs typeface="Arial"/>
              </a:defRPr>
            </a:lvl2pPr>
            <a:lvl3pPr>
              <a:defRPr sz="1350" b="1">
                <a:solidFill>
                  <a:srgbClr val="34D399"/>
                </a:solidFill>
                <a:latin typeface="Arial"/>
                <a:ea typeface="Arial"/>
                <a:cs typeface="Arial"/>
              </a:defRPr>
            </a:lvl3pPr>
            <a:lvl4pPr>
              <a:defRPr sz="1350" b="1">
                <a:solidFill>
                  <a:srgbClr val="34D399"/>
                </a:solidFill>
                <a:latin typeface="Arial"/>
                <a:ea typeface="Arial"/>
                <a:cs typeface="Arial"/>
              </a:defRPr>
            </a:lvl4pPr>
            <a:lvl5pPr>
              <a:defRPr sz="1350" b="1">
                <a:solidFill>
                  <a:srgbClr val="34D399"/>
                </a:solidFill>
                <a:latin typeface="Arial"/>
                <a:ea typeface="Arial"/>
                <a:cs typeface="Arial"/>
              </a:defRPr>
            </a:lvl5pPr>
            <a:lvl6pPr>
              <a:defRPr sz="1350" b="1">
                <a:solidFill>
                  <a:srgbClr val="34D399"/>
                </a:solidFill>
                <a:latin typeface="Arial"/>
                <a:ea typeface="Arial"/>
                <a:cs typeface="Arial"/>
              </a:defRPr>
            </a:lvl6pPr>
            <a:lvl7pPr>
              <a:defRPr sz="1350" b="1">
                <a:solidFill>
                  <a:srgbClr val="34D399"/>
                </a:solidFill>
                <a:latin typeface="Arial"/>
                <a:ea typeface="Arial"/>
                <a:cs typeface="Arial"/>
              </a:defRPr>
            </a:lvl7pPr>
            <a:lvl8pPr>
              <a:defRPr sz="1350" b="1">
                <a:solidFill>
                  <a:srgbClr val="34D399"/>
                </a:solidFill>
                <a:latin typeface="Arial"/>
                <a:ea typeface="Arial"/>
                <a:cs typeface="Arial"/>
              </a:defRPr>
            </a:lvl8pPr>
            <a:lvl9pPr>
              <a:defRPr sz="1350" b="1">
                <a:solidFill>
                  <a:srgbClr val="34D399"/>
                </a:solidFill>
                <a:latin typeface="Arial"/>
                <a:ea typeface="Arial"/>
                <a:cs typeface="Arial"/>
              </a:defRPr>
            </a:lvl9pPr>
          </a:lstStyle>
          <a:p xmlns:a="http://schemas.openxmlformats.org/drawingml/2006/main">
            <a:pPr>
              <a:defRPr sz="1350" b="1">
                <a:solidFill>
                  <a:srgbClr val="34D399"/>
                </a:solidFill>
                <a:latin typeface="Arial"/>
                <a:ea typeface="Arial"/>
                <a:cs typeface="Arial"/>
              </a:defRPr>
            </a:pPr>
            <a:r>
              <a:rPr sz="1350" b="1">
                <a:solidFill>
                  <a:srgbClr val="34D399"/>
                </a:solidFill>
                <a:latin typeface="Arial"/>
                <a:ea typeface="Arial"/>
                <a:cs typeface="Arial"/>
              </a:rPr>
              <a:t>2. ĐIỀU KIỆN TỐI ƯU</a:t>
            </a:r>
          </a:p>
        </p:txBody>
      </p:sp>
      <p:sp>
        <p:nvSpPr>
          <p:cNvPr id="13" name="">
            <a:extLst xmlns:a="http://schemas.openxmlformats.org/drawingml/2006/main">
              <a:ext uri="{FF2B5EF4-FFF2-40B4-BE49-F238E27FC236}">
                <a16:creationId xmlns:a16="http://schemas.microsoft.com/office/drawing/2014/main" id="{7C5AF57B-35E9-4879-A6ED-C1578D1F3542}"/>
              </a:ext>
            </a:extLst>
          </p:cNvPr>
          <p:cNvSpPr>
            <a:spLocks xmlns:a="http://schemas.openxmlformats.org/drawingml/2006/main" noGrp="1"/>
          </p:cNvSpPr>
          <p:nvPr/>
        </p:nvSpPr>
        <p:spPr>
          <a:xfrm xmlns:a="http://schemas.openxmlformats.org/drawingml/2006/main">
            <a:off x="4610100" y="1743075"/>
            <a:ext cx="2971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94A3B8"/>
                </a:solidFill>
                <a:latin typeface="Arial"/>
                <a:ea typeface="Arial"/>
                <a:cs typeface="Arial"/>
              </a:defRPr>
            </a:defPPr>
            <a:lvl1pPr>
              <a:defRPr sz="975" b="0">
                <a:solidFill>
                  <a:srgbClr val="94A3B8"/>
                </a:solidFill>
                <a:latin typeface="Arial"/>
                <a:ea typeface="Arial"/>
                <a:cs typeface="Arial"/>
              </a:defRPr>
            </a:lvl1pPr>
            <a:lvl2pPr>
              <a:defRPr sz="975" b="0">
                <a:solidFill>
                  <a:srgbClr val="94A3B8"/>
                </a:solidFill>
                <a:latin typeface="Arial"/>
                <a:ea typeface="Arial"/>
                <a:cs typeface="Arial"/>
              </a:defRPr>
            </a:lvl2pPr>
            <a:lvl3pPr>
              <a:defRPr sz="975" b="0">
                <a:solidFill>
                  <a:srgbClr val="94A3B8"/>
                </a:solidFill>
                <a:latin typeface="Arial"/>
                <a:ea typeface="Arial"/>
                <a:cs typeface="Arial"/>
              </a:defRPr>
            </a:lvl3pPr>
            <a:lvl4pPr>
              <a:defRPr sz="975" b="0">
                <a:solidFill>
                  <a:srgbClr val="94A3B8"/>
                </a:solidFill>
                <a:latin typeface="Arial"/>
                <a:ea typeface="Arial"/>
                <a:cs typeface="Arial"/>
              </a:defRPr>
            </a:lvl4pPr>
            <a:lvl5pPr>
              <a:defRPr sz="975" b="0">
                <a:solidFill>
                  <a:srgbClr val="94A3B8"/>
                </a:solidFill>
                <a:latin typeface="Arial"/>
                <a:ea typeface="Arial"/>
                <a:cs typeface="Arial"/>
              </a:defRPr>
            </a:lvl5pPr>
            <a:lvl6pPr>
              <a:defRPr sz="975" b="0">
                <a:solidFill>
                  <a:srgbClr val="94A3B8"/>
                </a:solidFill>
                <a:latin typeface="Arial"/>
                <a:ea typeface="Arial"/>
                <a:cs typeface="Arial"/>
              </a:defRPr>
            </a:lvl6pPr>
            <a:lvl7pPr>
              <a:defRPr sz="975" b="0">
                <a:solidFill>
                  <a:srgbClr val="94A3B8"/>
                </a:solidFill>
                <a:latin typeface="Arial"/>
                <a:ea typeface="Arial"/>
                <a:cs typeface="Arial"/>
              </a:defRPr>
            </a:lvl7pPr>
            <a:lvl8pPr>
              <a:defRPr sz="975" b="0">
                <a:solidFill>
                  <a:srgbClr val="94A3B8"/>
                </a:solidFill>
                <a:latin typeface="Arial"/>
                <a:ea typeface="Arial"/>
                <a:cs typeface="Arial"/>
              </a:defRPr>
            </a:lvl8pPr>
            <a:lvl9pPr>
              <a:defRPr sz="975" b="0">
                <a:solidFill>
                  <a:srgbClr val="94A3B8"/>
                </a:solidFill>
                <a:latin typeface="Arial"/>
                <a:ea typeface="Arial"/>
                <a:cs typeface="Arial"/>
              </a:defRPr>
            </a:lvl9pPr>
          </a:lstStyle>
          <a:p xmlns:a="http://schemas.openxmlformats.org/drawingml/2006/main">
            <a:pPr>
              <a:defRPr sz="975" b="0">
                <a:solidFill>
                  <a:srgbClr val="94A3B8"/>
                </a:solidFill>
                <a:latin typeface="Arial"/>
                <a:ea typeface="Arial"/>
                <a:cs typeface="Arial"/>
              </a:defRPr>
            </a:pPr>
            <a:r>
              <a:rPr sz="975" b="0">
                <a:solidFill>
                  <a:srgbClr val="94A3B8"/>
                </a:solidFill>
                <a:latin typeface="Arial"/>
                <a:ea typeface="Arial"/>
                <a:cs typeface="Arial"/>
              </a:rPr>
              <a:t>KHUYẾN NGHỊ SỬ DỤNG</a:t>
            </a:r>
          </a:p>
        </p:txBody>
      </p:sp>
      <p:sp>
        <p:nvSpPr>
          <p:cNvPr id="14" name="">
            <a:extLst xmlns:a="http://schemas.openxmlformats.org/drawingml/2006/main">
              <a:ext uri="{FF2B5EF4-FFF2-40B4-BE49-F238E27FC236}">
                <a16:creationId xmlns:a16="http://schemas.microsoft.com/office/drawing/2014/main" id="{DEB65B14-CABD-49BF-A1E7-43364D91BA68}"/>
              </a:ext>
            </a:extLst>
          </p:cNvPr>
          <p:cNvSpPr>
            <a:spLocks xmlns:a="http://schemas.openxmlformats.org/drawingml/2006/main" noGrp="1"/>
          </p:cNvSpPr>
          <p:nvPr/>
        </p:nvSpPr>
        <p:spPr>
          <a:xfrm xmlns:a="http://schemas.openxmlformats.org/drawingml/2006/main">
            <a:off x="4610100" y="2019300"/>
            <a:ext cx="2971800" cy="9525"/>
          </a:xfrm>
          <a:prstGeom xmlns:a="http://schemas.openxmlformats.org/drawingml/2006/main" prst="rect">
            <a:avLst/>
          </a:prstGeom>
          <a:solidFill xmlns:a="http://schemas.openxmlformats.org/drawingml/2006/main">
            <a:srgbClr val="1F3354"/>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F3354"/>
                </a:solidFill>
                <a:latin typeface="Arial"/>
                <a:ea typeface="Arial"/>
                <a:cs typeface="Arial"/>
              </a:defRPr>
            </a:defPPr>
            <a:lvl1pPr>
              <a:defRPr sz="750">
                <a:solidFill>
                  <a:srgbClr val="1F3354"/>
                </a:solidFill>
                <a:latin typeface="Arial"/>
                <a:ea typeface="Arial"/>
                <a:cs typeface="Arial"/>
              </a:defRPr>
            </a:lvl1pPr>
            <a:lvl2pPr>
              <a:defRPr sz="750">
                <a:solidFill>
                  <a:srgbClr val="1F3354"/>
                </a:solidFill>
                <a:latin typeface="Arial"/>
                <a:ea typeface="Arial"/>
                <a:cs typeface="Arial"/>
              </a:defRPr>
            </a:lvl2pPr>
            <a:lvl3pPr>
              <a:defRPr sz="750">
                <a:solidFill>
                  <a:srgbClr val="1F3354"/>
                </a:solidFill>
                <a:latin typeface="Arial"/>
                <a:ea typeface="Arial"/>
                <a:cs typeface="Arial"/>
              </a:defRPr>
            </a:lvl3pPr>
            <a:lvl4pPr>
              <a:defRPr sz="750">
                <a:solidFill>
                  <a:srgbClr val="1F3354"/>
                </a:solidFill>
                <a:latin typeface="Arial"/>
                <a:ea typeface="Arial"/>
                <a:cs typeface="Arial"/>
              </a:defRPr>
            </a:lvl4pPr>
            <a:lvl5pPr>
              <a:defRPr sz="750">
                <a:solidFill>
                  <a:srgbClr val="1F3354"/>
                </a:solidFill>
                <a:latin typeface="Arial"/>
                <a:ea typeface="Arial"/>
                <a:cs typeface="Arial"/>
              </a:defRPr>
            </a:lvl5pPr>
            <a:lvl6pPr>
              <a:defRPr sz="750">
                <a:solidFill>
                  <a:srgbClr val="1F3354"/>
                </a:solidFill>
                <a:latin typeface="Arial"/>
                <a:ea typeface="Arial"/>
                <a:cs typeface="Arial"/>
              </a:defRPr>
            </a:lvl6pPr>
            <a:lvl7pPr>
              <a:defRPr sz="750">
                <a:solidFill>
                  <a:srgbClr val="1F3354"/>
                </a:solidFill>
                <a:latin typeface="Arial"/>
                <a:ea typeface="Arial"/>
                <a:cs typeface="Arial"/>
              </a:defRPr>
            </a:lvl7pPr>
            <a:lvl8pPr>
              <a:defRPr sz="750">
                <a:solidFill>
                  <a:srgbClr val="1F3354"/>
                </a:solidFill>
                <a:latin typeface="Arial"/>
                <a:ea typeface="Arial"/>
                <a:cs typeface="Arial"/>
              </a:defRPr>
            </a:lvl8pPr>
            <a:lvl9pPr>
              <a:defRPr sz="750">
                <a:solidFill>
                  <a:srgbClr val="1F3354"/>
                </a:solidFill>
                <a:latin typeface="Arial"/>
                <a:ea typeface="Arial"/>
                <a:cs typeface="Arial"/>
              </a:defRPr>
            </a:lvl9pPr>
          </a:lstStyle>
          <a:p xmlns:a="http://schemas.openxmlformats.org/drawingml/2006/main">
            <a:pPr>
              <a:defRPr sz="750">
                <a:solidFill>
                  <a:srgbClr val="1F3354"/>
                </a:solidFill>
                <a:latin typeface="Arial"/>
                <a:ea typeface="Arial"/>
                <a:cs typeface="Arial"/>
              </a:defRPr>
            </a:pPr>
            <a:r>
              <a:rPr sz="750">
                <a:solidFill>
                  <a:srgbClr val="1F3354"/>
                </a:solidFill>
                <a:latin typeface="Arial"/>
                <a:ea typeface="Arial"/>
                <a:cs typeface="Arial"/>
              </a:rPr>
              <a:t> </a:t>
            </a:r>
          </a:p>
        </p:txBody>
      </p:sp>
      <p:sp>
        <p:nvSpPr>
          <p:cNvPr id="15" name="">
            <a:extLst xmlns:a="http://schemas.openxmlformats.org/drawingml/2006/main">
              <a:ext uri="{FF2B5EF4-FFF2-40B4-BE49-F238E27FC236}">
                <a16:creationId xmlns:a16="http://schemas.microsoft.com/office/drawing/2014/main" id="{7C1B6950-3C0E-4BDF-87A4-3172FF4F0387}"/>
              </a:ext>
            </a:extLst>
          </p:cNvPr>
          <p:cNvSpPr>
            <a:spLocks xmlns:a="http://schemas.openxmlformats.org/drawingml/2006/main" noGrp="1"/>
          </p:cNvSpPr>
          <p:nvPr/>
        </p:nvSpPr>
        <p:spPr>
          <a:xfrm xmlns:a="http://schemas.openxmlformats.org/drawingml/2006/main">
            <a:off x="4610100" y="2143125"/>
            <a:ext cx="29718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Góc mặt khuyến nghị:</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Góc chính diện hoặc nghiêng nhẹ trong khoảng ±30° (Yaw / Pitch).</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Khoảng cách camera:</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Từ 40 cm đến 120 cm (kích thước khuôn mặt đạt tối thiểu 80×80 pixel).</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Điều kiện ánh sáng:</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Ánh sáng phòng tiêu chuẩn từ 150 lux đến 800 lux, tránh ngược sáng gắt.</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Loại tấn công chống tốt:</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Tái phát video qua màn hình điện thoại, iPad, laptop, màn hình máy tính.</a:t>
            </a:r>
          </a:p>
        </p:txBody>
      </p:sp>
      <p:sp>
        <p:nvSpPr>
          <p:cNvPr id="16" name="">
            <a:extLst xmlns:a="http://schemas.openxmlformats.org/drawingml/2006/main">
              <a:ext uri="{FF2B5EF4-FFF2-40B4-BE49-F238E27FC236}">
                <a16:creationId xmlns:a16="http://schemas.microsoft.com/office/drawing/2014/main" id="{A79FA2BE-4333-4347-8638-1F3448FD4588}"/>
              </a:ext>
            </a:extLst>
          </p:cNvPr>
          <p:cNvSpPr>
            <a:spLocks xmlns:a="http://schemas.openxmlformats.org/drawingml/2006/main" noGrp="1"/>
          </p:cNvSpPr>
          <p:nvPr/>
        </p:nvSpPr>
        <p:spPr>
          <a:xfrm xmlns:a="http://schemas.openxmlformats.org/drawingml/2006/main">
            <a:off x="8153400" y="1285875"/>
            <a:ext cx="3429000" cy="4905375"/>
          </a:xfrm>
          <a:prstGeom xmlns:a="http://schemas.openxmlformats.org/drawingml/2006/main" prst="rect">
            <a:avLst/>
          </a:prstGeom>
          <a:solidFill xmlns:a="http://schemas.openxmlformats.org/drawingml/2006/main">
            <a:srgbClr val="111B2E"/>
          </a:solidFill>
          <a:ln xmlns:a="http://schemas.openxmlformats.org/drawingml/2006/main" w="9525">
            <a:solidFill>
              <a:srgbClr val="D97706"/>
            </a:solidFill>
          </a:ln>
        </p:spPr>
        <p:txBody>
          <a:bodyPr xmlns:a="http://schemas.openxmlformats.org/drawingml/2006/main">
            <a:noAutofit/>
          </a:bodyPr>
          <a:lstStyle xmlns:a="http://schemas.openxmlformats.org/drawingml/2006/main">
            <a:defPPr>
              <a:defRPr sz="750">
                <a:solidFill>
                  <a:srgbClr val="111B2E"/>
                </a:solidFill>
                <a:latin typeface="Arial"/>
                <a:ea typeface="Arial"/>
                <a:cs typeface="Arial"/>
              </a:defRPr>
            </a:defPPr>
            <a:lvl1pPr>
              <a:defRPr sz="750">
                <a:solidFill>
                  <a:srgbClr val="111B2E"/>
                </a:solidFill>
                <a:latin typeface="Arial"/>
                <a:ea typeface="Arial"/>
                <a:cs typeface="Arial"/>
              </a:defRPr>
            </a:lvl1pPr>
            <a:lvl2pPr>
              <a:defRPr sz="750">
                <a:solidFill>
                  <a:srgbClr val="111B2E"/>
                </a:solidFill>
                <a:latin typeface="Arial"/>
                <a:ea typeface="Arial"/>
                <a:cs typeface="Arial"/>
              </a:defRPr>
            </a:lvl2pPr>
            <a:lvl3pPr>
              <a:defRPr sz="750">
                <a:solidFill>
                  <a:srgbClr val="111B2E"/>
                </a:solidFill>
                <a:latin typeface="Arial"/>
                <a:ea typeface="Arial"/>
                <a:cs typeface="Arial"/>
              </a:defRPr>
            </a:lvl3pPr>
            <a:lvl4pPr>
              <a:defRPr sz="750">
                <a:solidFill>
                  <a:srgbClr val="111B2E"/>
                </a:solidFill>
                <a:latin typeface="Arial"/>
                <a:ea typeface="Arial"/>
                <a:cs typeface="Arial"/>
              </a:defRPr>
            </a:lvl4pPr>
            <a:lvl5pPr>
              <a:defRPr sz="750">
                <a:solidFill>
                  <a:srgbClr val="111B2E"/>
                </a:solidFill>
                <a:latin typeface="Arial"/>
                <a:ea typeface="Arial"/>
                <a:cs typeface="Arial"/>
              </a:defRPr>
            </a:lvl5pPr>
            <a:lvl6pPr>
              <a:defRPr sz="750">
                <a:solidFill>
                  <a:srgbClr val="111B2E"/>
                </a:solidFill>
                <a:latin typeface="Arial"/>
                <a:ea typeface="Arial"/>
                <a:cs typeface="Arial"/>
              </a:defRPr>
            </a:lvl6pPr>
            <a:lvl7pPr>
              <a:defRPr sz="750">
                <a:solidFill>
                  <a:srgbClr val="111B2E"/>
                </a:solidFill>
                <a:latin typeface="Arial"/>
                <a:ea typeface="Arial"/>
                <a:cs typeface="Arial"/>
              </a:defRPr>
            </a:lvl7pPr>
            <a:lvl8pPr>
              <a:defRPr sz="750">
                <a:solidFill>
                  <a:srgbClr val="111B2E"/>
                </a:solidFill>
                <a:latin typeface="Arial"/>
                <a:ea typeface="Arial"/>
                <a:cs typeface="Arial"/>
              </a:defRPr>
            </a:lvl8pPr>
            <a:lvl9pPr>
              <a:defRPr sz="750">
                <a:solidFill>
                  <a:srgbClr val="111B2E"/>
                </a:solidFill>
                <a:latin typeface="Arial"/>
                <a:ea typeface="Arial"/>
                <a:cs typeface="Arial"/>
              </a:defRPr>
            </a:lvl9pPr>
          </a:lstStyle>
          <a:p xmlns:a="http://schemas.openxmlformats.org/drawingml/2006/main">
            <a:pPr>
              <a:defRPr sz="750">
                <a:solidFill>
                  <a:srgbClr val="111B2E"/>
                </a:solidFill>
                <a:latin typeface="Arial"/>
                <a:ea typeface="Arial"/>
                <a:cs typeface="Arial"/>
              </a:defRPr>
            </a:pPr>
            <a:r>
              <a:rPr sz="750">
                <a:solidFill>
                  <a:srgbClr val="111B2E"/>
                </a:solidFill>
                <a:latin typeface="Arial"/>
                <a:ea typeface="Arial"/>
                <a:cs typeface="Arial"/>
              </a:rPr>
              <a:t> </a:t>
            </a:r>
          </a:p>
        </p:txBody>
      </p:sp>
      <p:sp>
        <p:nvSpPr>
          <p:cNvPr id="17" name="">
            <a:extLst xmlns:a="http://schemas.openxmlformats.org/drawingml/2006/main">
              <a:ext uri="{FF2B5EF4-FFF2-40B4-BE49-F238E27FC236}">
                <a16:creationId xmlns:a16="http://schemas.microsoft.com/office/drawing/2014/main" id="{2695E55D-E497-46AA-864E-5E8A785EB602}"/>
              </a:ext>
            </a:extLst>
          </p:cNvPr>
          <p:cNvSpPr>
            <a:spLocks xmlns:a="http://schemas.openxmlformats.org/drawingml/2006/main" noGrp="1"/>
          </p:cNvSpPr>
          <p:nvPr/>
        </p:nvSpPr>
        <p:spPr>
          <a:xfrm xmlns:a="http://schemas.openxmlformats.org/drawingml/2006/main">
            <a:off x="8382000" y="1476375"/>
            <a:ext cx="2971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FBBF24"/>
                </a:solidFill>
                <a:latin typeface="Arial"/>
                <a:ea typeface="Arial"/>
                <a:cs typeface="Arial"/>
              </a:defRPr>
            </a:defPPr>
            <a:lvl1pPr>
              <a:defRPr sz="1350" b="1">
                <a:solidFill>
                  <a:srgbClr val="FBBF24"/>
                </a:solidFill>
                <a:latin typeface="Arial"/>
                <a:ea typeface="Arial"/>
                <a:cs typeface="Arial"/>
              </a:defRPr>
            </a:lvl1pPr>
            <a:lvl2pPr>
              <a:defRPr sz="1350" b="1">
                <a:solidFill>
                  <a:srgbClr val="FBBF24"/>
                </a:solidFill>
                <a:latin typeface="Arial"/>
                <a:ea typeface="Arial"/>
                <a:cs typeface="Arial"/>
              </a:defRPr>
            </a:lvl2pPr>
            <a:lvl3pPr>
              <a:defRPr sz="1350" b="1">
                <a:solidFill>
                  <a:srgbClr val="FBBF24"/>
                </a:solidFill>
                <a:latin typeface="Arial"/>
                <a:ea typeface="Arial"/>
                <a:cs typeface="Arial"/>
              </a:defRPr>
            </a:lvl3pPr>
            <a:lvl4pPr>
              <a:defRPr sz="1350" b="1">
                <a:solidFill>
                  <a:srgbClr val="FBBF24"/>
                </a:solidFill>
                <a:latin typeface="Arial"/>
                <a:ea typeface="Arial"/>
                <a:cs typeface="Arial"/>
              </a:defRPr>
            </a:lvl4pPr>
            <a:lvl5pPr>
              <a:defRPr sz="1350" b="1">
                <a:solidFill>
                  <a:srgbClr val="FBBF24"/>
                </a:solidFill>
                <a:latin typeface="Arial"/>
                <a:ea typeface="Arial"/>
                <a:cs typeface="Arial"/>
              </a:defRPr>
            </a:lvl5pPr>
            <a:lvl6pPr>
              <a:defRPr sz="1350" b="1">
                <a:solidFill>
                  <a:srgbClr val="FBBF24"/>
                </a:solidFill>
                <a:latin typeface="Arial"/>
                <a:ea typeface="Arial"/>
                <a:cs typeface="Arial"/>
              </a:defRPr>
            </a:lvl6pPr>
            <a:lvl7pPr>
              <a:defRPr sz="1350" b="1">
                <a:solidFill>
                  <a:srgbClr val="FBBF24"/>
                </a:solidFill>
                <a:latin typeface="Arial"/>
                <a:ea typeface="Arial"/>
                <a:cs typeface="Arial"/>
              </a:defRPr>
            </a:lvl7pPr>
            <a:lvl8pPr>
              <a:defRPr sz="1350" b="1">
                <a:solidFill>
                  <a:srgbClr val="FBBF24"/>
                </a:solidFill>
                <a:latin typeface="Arial"/>
                <a:ea typeface="Arial"/>
                <a:cs typeface="Arial"/>
              </a:defRPr>
            </a:lvl8pPr>
            <a:lvl9pPr>
              <a:defRPr sz="1350" b="1">
                <a:solidFill>
                  <a:srgbClr val="FBBF24"/>
                </a:solidFill>
                <a:latin typeface="Arial"/>
                <a:ea typeface="Arial"/>
                <a:cs typeface="Arial"/>
              </a:defRPr>
            </a:lvl9pPr>
          </a:lstStyle>
          <a:p xmlns:a="http://schemas.openxmlformats.org/drawingml/2006/main">
            <a:pPr>
              <a:defRPr sz="1350" b="1">
                <a:solidFill>
                  <a:srgbClr val="FBBF24"/>
                </a:solidFill>
                <a:latin typeface="Arial"/>
                <a:ea typeface="Arial"/>
                <a:cs typeface="Arial"/>
              </a:defRPr>
            </a:pPr>
            <a:r>
              <a:rPr sz="1350" b="1">
                <a:solidFill>
                  <a:srgbClr val="FBBF24"/>
                </a:solidFill>
                <a:latin typeface="Arial"/>
                <a:ea typeface="Arial"/>
                <a:cs typeface="Arial"/>
              </a:rPr>
              <a:t>3. RANH GIỚI &amp; ĐỀ XUẤT</a:t>
            </a:r>
          </a:p>
        </p:txBody>
      </p:sp>
      <p:sp>
        <p:nvSpPr>
          <p:cNvPr id="18" name="">
            <a:extLst xmlns:a="http://schemas.openxmlformats.org/drawingml/2006/main">
              <a:ext uri="{FF2B5EF4-FFF2-40B4-BE49-F238E27FC236}">
                <a16:creationId xmlns:a16="http://schemas.microsoft.com/office/drawing/2014/main" id="{7A0E52D9-09B8-429B-9287-4206BCC94073}"/>
              </a:ext>
            </a:extLst>
          </p:cNvPr>
          <p:cNvSpPr>
            <a:spLocks xmlns:a="http://schemas.openxmlformats.org/drawingml/2006/main" noGrp="1"/>
          </p:cNvSpPr>
          <p:nvPr/>
        </p:nvSpPr>
        <p:spPr>
          <a:xfrm xmlns:a="http://schemas.openxmlformats.org/drawingml/2006/main">
            <a:off x="8382000" y="1743075"/>
            <a:ext cx="2971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94A3B8"/>
                </a:solidFill>
                <a:latin typeface="Arial"/>
                <a:ea typeface="Arial"/>
                <a:cs typeface="Arial"/>
              </a:defRPr>
            </a:defPPr>
            <a:lvl1pPr>
              <a:defRPr sz="975" b="0">
                <a:solidFill>
                  <a:srgbClr val="94A3B8"/>
                </a:solidFill>
                <a:latin typeface="Arial"/>
                <a:ea typeface="Arial"/>
                <a:cs typeface="Arial"/>
              </a:defRPr>
            </a:lvl1pPr>
            <a:lvl2pPr>
              <a:defRPr sz="975" b="0">
                <a:solidFill>
                  <a:srgbClr val="94A3B8"/>
                </a:solidFill>
                <a:latin typeface="Arial"/>
                <a:ea typeface="Arial"/>
                <a:cs typeface="Arial"/>
              </a:defRPr>
            </a:lvl2pPr>
            <a:lvl3pPr>
              <a:defRPr sz="975" b="0">
                <a:solidFill>
                  <a:srgbClr val="94A3B8"/>
                </a:solidFill>
                <a:latin typeface="Arial"/>
                <a:ea typeface="Arial"/>
                <a:cs typeface="Arial"/>
              </a:defRPr>
            </a:lvl3pPr>
            <a:lvl4pPr>
              <a:defRPr sz="975" b="0">
                <a:solidFill>
                  <a:srgbClr val="94A3B8"/>
                </a:solidFill>
                <a:latin typeface="Arial"/>
                <a:ea typeface="Arial"/>
                <a:cs typeface="Arial"/>
              </a:defRPr>
            </a:lvl4pPr>
            <a:lvl5pPr>
              <a:defRPr sz="975" b="0">
                <a:solidFill>
                  <a:srgbClr val="94A3B8"/>
                </a:solidFill>
                <a:latin typeface="Arial"/>
                <a:ea typeface="Arial"/>
                <a:cs typeface="Arial"/>
              </a:defRPr>
            </a:lvl5pPr>
            <a:lvl6pPr>
              <a:defRPr sz="975" b="0">
                <a:solidFill>
                  <a:srgbClr val="94A3B8"/>
                </a:solidFill>
                <a:latin typeface="Arial"/>
                <a:ea typeface="Arial"/>
                <a:cs typeface="Arial"/>
              </a:defRPr>
            </a:lvl6pPr>
            <a:lvl7pPr>
              <a:defRPr sz="975" b="0">
                <a:solidFill>
                  <a:srgbClr val="94A3B8"/>
                </a:solidFill>
                <a:latin typeface="Arial"/>
                <a:ea typeface="Arial"/>
                <a:cs typeface="Arial"/>
              </a:defRPr>
            </a:lvl7pPr>
            <a:lvl8pPr>
              <a:defRPr sz="975" b="0">
                <a:solidFill>
                  <a:srgbClr val="94A3B8"/>
                </a:solidFill>
                <a:latin typeface="Arial"/>
                <a:ea typeface="Arial"/>
                <a:cs typeface="Arial"/>
              </a:defRPr>
            </a:lvl8pPr>
            <a:lvl9pPr>
              <a:defRPr sz="975" b="0">
                <a:solidFill>
                  <a:srgbClr val="94A3B8"/>
                </a:solidFill>
                <a:latin typeface="Arial"/>
                <a:ea typeface="Arial"/>
                <a:cs typeface="Arial"/>
              </a:defRPr>
            </a:lvl9pPr>
          </a:lstStyle>
          <a:p xmlns:a="http://schemas.openxmlformats.org/drawingml/2006/main">
            <a:pPr>
              <a:defRPr sz="975" b="0">
                <a:solidFill>
                  <a:srgbClr val="94A3B8"/>
                </a:solidFill>
                <a:latin typeface="Arial"/>
                <a:ea typeface="Arial"/>
                <a:cs typeface="Arial"/>
              </a:defRPr>
            </a:pPr>
            <a:r>
              <a:rPr sz="975" b="0">
                <a:solidFill>
                  <a:srgbClr val="94A3B8"/>
                </a:solidFill>
                <a:latin typeface="Arial"/>
                <a:ea typeface="Arial"/>
                <a:cs typeface="Arial"/>
              </a:rPr>
              <a:t>HƯỚNG NÂNG CẤP</a:t>
            </a:r>
          </a:p>
        </p:txBody>
      </p:sp>
      <p:sp>
        <p:nvSpPr>
          <p:cNvPr id="19" name="">
            <a:extLst xmlns:a="http://schemas.openxmlformats.org/drawingml/2006/main">
              <a:ext uri="{FF2B5EF4-FFF2-40B4-BE49-F238E27FC236}">
                <a16:creationId xmlns:a16="http://schemas.microsoft.com/office/drawing/2014/main" id="{6E7C2AC9-418F-4C08-BA13-2818C7854CDB}"/>
              </a:ext>
            </a:extLst>
          </p:cNvPr>
          <p:cNvSpPr>
            <a:spLocks xmlns:a="http://schemas.openxmlformats.org/drawingml/2006/main" noGrp="1"/>
          </p:cNvSpPr>
          <p:nvPr/>
        </p:nvSpPr>
        <p:spPr>
          <a:xfrm xmlns:a="http://schemas.openxmlformats.org/drawingml/2006/main">
            <a:off x="8382000" y="2019300"/>
            <a:ext cx="2971800" cy="9525"/>
          </a:xfrm>
          <a:prstGeom xmlns:a="http://schemas.openxmlformats.org/drawingml/2006/main" prst="rect">
            <a:avLst/>
          </a:prstGeom>
          <a:solidFill xmlns:a="http://schemas.openxmlformats.org/drawingml/2006/main">
            <a:srgbClr val="1F3354"/>
          </a:solidFill>
          <a:ln xmlns:a="http://schemas.openxmlformats.org/drawingml/2006/main" w="9525">
            <a:solidFill>
              <a:srgbClr val="1F3354"/>
            </a:solidFill>
          </a:ln>
        </p:spPr>
        <p:txBody>
          <a:bodyPr xmlns:a="http://schemas.openxmlformats.org/drawingml/2006/main">
            <a:noAutofit/>
          </a:bodyPr>
          <a:lstStyle xmlns:a="http://schemas.openxmlformats.org/drawingml/2006/main">
            <a:defPPr>
              <a:defRPr sz="750">
                <a:solidFill>
                  <a:srgbClr val="1F3354"/>
                </a:solidFill>
                <a:latin typeface="Arial"/>
                <a:ea typeface="Arial"/>
                <a:cs typeface="Arial"/>
              </a:defRPr>
            </a:defPPr>
            <a:lvl1pPr>
              <a:defRPr sz="750">
                <a:solidFill>
                  <a:srgbClr val="1F3354"/>
                </a:solidFill>
                <a:latin typeface="Arial"/>
                <a:ea typeface="Arial"/>
                <a:cs typeface="Arial"/>
              </a:defRPr>
            </a:lvl1pPr>
            <a:lvl2pPr>
              <a:defRPr sz="750">
                <a:solidFill>
                  <a:srgbClr val="1F3354"/>
                </a:solidFill>
                <a:latin typeface="Arial"/>
                <a:ea typeface="Arial"/>
                <a:cs typeface="Arial"/>
              </a:defRPr>
            </a:lvl2pPr>
            <a:lvl3pPr>
              <a:defRPr sz="750">
                <a:solidFill>
                  <a:srgbClr val="1F3354"/>
                </a:solidFill>
                <a:latin typeface="Arial"/>
                <a:ea typeface="Arial"/>
                <a:cs typeface="Arial"/>
              </a:defRPr>
            </a:lvl3pPr>
            <a:lvl4pPr>
              <a:defRPr sz="750">
                <a:solidFill>
                  <a:srgbClr val="1F3354"/>
                </a:solidFill>
                <a:latin typeface="Arial"/>
                <a:ea typeface="Arial"/>
                <a:cs typeface="Arial"/>
              </a:defRPr>
            </a:lvl4pPr>
            <a:lvl5pPr>
              <a:defRPr sz="750">
                <a:solidFill>
                  <a:srgbClr val="1F3354"/>
                </a:solidFill>
                <a:latin typeface="Arial"/>
                <a:ea typeface="Arial"/>
                <a:cs typeface="Arial"/>
              </a:defRPr>
            </a:lvl5pPr>
            <a:lvl6pPr>
              <a:defRPr sz="750">
                <a:solidFill>
                  <a:srgbClr val="1F3354"/>
                </a:solidFill>
                <a:latin typeface="Arial"/>
                <a:ea typeface="Arial"/>
                <a:cs typeface="Arial"/>
              </a:defRPr>
            </a:lvl6pPr>
            <a:lvl7pPr>
              <a:defRPr sz="750">
                <a:solidFill>
                  <a:srgbClr val="1F3354"/>
                </a:solidFill>
                <a:latin typeface="Arial"/>
                <a:ea typeface="Arial"/>
                <a:cs typeface="Arial"/>
              </a:defRPr>
            </a:lvl7pPr>
            <a:lvl8pPr>
              <a:defRPr sz="750">
                <a:solidFill>
                  <a:srgbClr val="1F3354"/>
                </a:solidFill>
                <a:latin typeface="Arial"/>
                <a:ea typeface="Arial"/>
                <a:cs typeface="Arial"/>
              </a:defRPr>
            </a:lvl8pPr>
            <a:lvl9pPr>
              <a:defRPr sz="750">
                <a:solidFill>
                  <a:srgbClr val="1F3354"/>
                </a:solidFill>
                <a:latin typeface="Arial"/>
                <a:ea typeface="Arial"/>
                <a:cs typeface="Arial"/>
              </a:defRPr>
            </a:lvl9pPr>
          </a:lstStyle>
          <a:p xmlns:a="http://schemas.openxmlformats.org/drawingml/2006/main">
            <a:pPr>
              <a:defRPr sz="750">
                <a:solidFill>
                  <a:srgbClr val="1F3354"/>
                </a:solidFill>
                <a:latin typeface="Arial"/>
                <a:ea typeface="Arial"/>
                <a:cs typeface="Arial"/>
              </a:defRPr>
            </a:pPr>
            <a:r>
              <a:rPr sz="750">
                <a:solidFill>
                  <a:srgbClr val="1F3354"/>
                </a:solidFill>
                <a:latin typeface="Arial"/>
                <a:ea typeface="Arial"/>
                <a:cs typeface="Arial"/>
              </a:rPr>
              <a:t> </a:t>
            </a:r>
          </a:p>
        </p:txBody>
      </p:sp>
      <p:sp>
        <p:nvSpPr>
          <p:cNvPr id="20" name="">
            <a:extLst xmlns:a="http://schemas.openxmlformats.org/drawingml/2006/main">
              <a:ext uri="{FF2B5EF4-FFF2-40B4-BE49-F238E27FC236}">
                <a16:creationId xmlns:a16="http://schemas.microsoft.com/office/drawing/2014/main" id="{06E4AC61-351F-45B0-8159-DA1961422679}"/>
              </a:ext>
            </a:extLst>
          </p:cNvPr>
          <p:cNvSpPr>
            <a:spLocks xmlns:a="http://schemas.openxmlformats.org/drawingml/2006/main" noGrp="1"/>
          </p:cNvSpPr>
          <p:nvPr/>
        </p:nvSpPr>
        <p:spPr>
          <a:xfrm xmlns:a="http://schemas.openxmlformats.org/drawingml/2006/main">
            <a:off x="8382000" y="2143125"/>
            <a:ext cx="29718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E2E8F0"/>
                </a:solidFill>
                <a:latin typeface="Arial"/>
                <a:ea typeface="Arial"/>
                <a:cs typeface="Arial"/>
              </a:defRPr>
            </a:defPPr>
            <a:lvl1pPr>
              <a:defRPr sz="1125" b="0">
                <a:solidFill>
                  <a:srgbClr val="E2E8F0"/>
                </a:solidFill>
                <a:latin typeface="Arial"/>
                <a:ea typeface="Arial"/>
                <a:cs typeface="Arial"/>
              </a:defRPr>
            </a:lvl1pPr>
            <a:lvl2pPr>
              <a:defRPr sz="1125" b="0">
                <a:solidFill>
                  <a:srgbClr val="E2E8F0"/>
                </a:solidFill>
                <a:latin typeface="Arial"/>
                <a:ea typeface="Arial"/>
                <a:cs typeface="Arial"/>
              </a:defRPr>
            </a:lvl2pPr>
            <a:lvl3pPr>
              <a:defRPr sz="1125" b="0">
                <a:solidFill>
                  <a:srgbClr val="E2E8F0"/>
                </a:solidFill>
                <a:latin typeface="Arial"/>
                <a:ea typeface="Arial"/>
                <a:cs typeface="Arial"/>
              </a:defRPr>
            </a:lvl3pPr>
            <a:lvl4pPr>
              <a:defRPr sz="1125" b="0">
                <a:solidFill>
                  <a:srgbClr val="E2E8F0"/>
                </a:solidFill>
                <a:latin typeface="Arial"/>
                <a:ea typeface="Arial"/>
                <a:cs typeface="Arial"/>
              </a:defRPr>
            </a:lvl4pPr>
            <a:lvl5pPr>
              <a:defRPr sz="1125" b="0">
                <a:solidFill>
                  <a:srgbClr val="E2E8F0"/>
                </a:solidFill>
                <a:latin typeface="Arial"/>
                <a:ea typeface="Arial"/>
                <a:cs typeface="Arial"/>
              </a:defRPr>
            </a:lvl5pPr>
            <a:lvl6pPr>
              <a:defRPr sz="1125" b="0">
                <a:solidFill>
                  <a:srgbClr val="E2E8F0"/>
                </a:solidFill>
                <a:latin typeface="Arial"/>
                <a:ea typeface="Arial"/>
                <a:cs typeface="Arial"/>
              </a:defRPr>
            </a:lvl6pPr>
            <a:lvl7pPr>
              <a:defRPr sz="1125" b="0">
                <a:solidFill>
                  <a:srgbClr val="E2E8F0"/>
                </a:solidFill>
                <a:latin typeface="Arial"/>
                <a:ea typeface="Arial"/>
                <a:cs typeface="Arial"/>
              </a:defRPr>
            </a:lvl7pPr>
            <a:lvl8pPr>
              <a:defRPr sz="1125" b="0">
                <a:solidFill>
                  <a:srgbClr val="E2E8F0"/>
                </a:solidFill>
                <a:latin typeface="Arial"/>
                <a:ea typeface="Arial"/>
                <a:cs typeface="Arial"/>
              </a:defRPr>
            </a:lvl8pPr>
            <a:lvl9pPr>
              <a:defRPr sz="1125" b="0">
                <a:solidFill>
                  <a:srgbClr val="E2E8F0"/>
                </a:solidFill>
                <a:latin typeface="Arial"/>
                <a:ea typeface="Arial"/>
                <a:cs typeface="Arial"/>
              </a:defRPr>
            </a:lvl9pPr>
          </a:lstStyle>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Ranh giới cần lưu ý:</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Ảnh in giấy chất lượng thấp hoặc góc quay quá nghiêng (&gt;60°) có thể bị giảm độ tin cậy.</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Tách biệt dữ liệu:</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Model hiện tại được tinh chỉnh chuyên sâu cho Camera USB SC-M200; nếu đổi loại camera khác nên finetune thêm.</a:t>
            </a:r>
          </a:p>
          <a:p xmlns:a="http://schemas.openxmlformats.org/drawingml/2006/main">
            <a:r>
              <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Hướng nâng cấp đề xuất:</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1. Tích hợp kiểm tra cử động tự nhiên (chớp mắt, mỉm cười).</a:t>
            </a:r>
          </a:p>
          <a:p xmlns:a="http://schemas.openxmlformats.org/drawingml/2006/main">
            <a:pPr>
              <a:defRPr sz="1125" b="0">
                <a:solidFill>
                  <a:srgbClr val="E2E8F0"/>
                </a:solidFill>
                <a:latin typeface="Arial"/>
                <a:ea typeface="Arial"/>
                <a:cs typeface="Arial"/>
              </a:defRPr>
            </a:pPr>
            <a:r>
              <a:rPr sz="1125" b="0">
                <a:solidFill>
                  <a:srgbClr val="E2E8F0"/>
                </a:solidFill>
                <a:latin typeface="Arial"/>
                <a:ea typeface="Arial"/>
                <a:cs typeface="Arial"/>
              </a:rPr>
              <a:t>  2. Bổ sung camera cảm biến hồng ngoại (IR) hoặc cảm biến chiều sâu (Depth).</a:t>
            </a:r>
          </a:p>
        </p:txBody>
      </p:sp>
    </p:spTree>
    <p:extLst>
      <p:ext uri="{BB962C8B-B14F-4D97-AF65-F5344CB8AC3E}">
        <p14:creationId xmlns:p14="http://schemas.microsoft.com/office/powerpoint/2010/main" val="11830749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2026-10-20T14:14:38.6210000Z</dcterms:created>
  <dcterms:modified xsi:type="dcterms:W3CDTF">2026-10-20T14:14:38.6210000Z</dcterms:modified>
</coreProperties>
</file>