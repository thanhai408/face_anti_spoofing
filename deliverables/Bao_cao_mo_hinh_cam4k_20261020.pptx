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746fe4ca644797" /><Relationship Type="http://schemas.openxmlformats.org/officeDocument/2006/relationships/extended-properties" Target="/docProps/app.xml" Id="Rb0042f9571fe4425" /><Relationship Type="http://schemas.openxmlformats.org/officeDocument/2006/relationships/officeDocument" Target="/ppt/presentation.xml" Id="R472bbbaccdae45b8" /></Relationships>
</file>

<file path=ppt/presentation.xml><?xml version="1.0" encoding="utf-8"?>
<p:presentation xmlns:p="http://schemas.openxmlformats.org/presentationml/2006/main">
  <p:sldMasterIdLst>
    <p:sldMasterId xmlns:r="http://schemas.openxmlformats.org/officeDocument/2006/relationships" id="2147483648" r:id="R87649a074a124997"/>
  </p:sldMasterIdLst>
  <p:notesMasterIdLst>
    <p:notesMasterId xmlns:r="http://schemas.openxmlformats.org/officeDocument/2006/relationships" r:id="R5dcf16aa83724d8d"/>
  </p:notesMasterIdLst>
  <p:sldIdLst>
    <p:sldId xmlns:r="http://schemas.openxmlformats.org/officeDocument/2006/relationships" id="256" r:id="R6cbcf6601f6f4a9a"/>
    <p:sldId xmlns:r="http://schemas.openxmlformats.org/officeDocument/2006/relationships" id="257" r:id="Rda12b2a4ba5044b2"/>
    <p:sldId xmlns:r="http://schemas.openxmlformats.org/officeDocument/2006/relationships" id="258" r:id="Rcc843cf542f44a0b"/>
    <p:sldId xmlns:r="http://schemas.openxmlformats.org/officeDocument/2006/relationships" id="259" r:id="R92d275b611af46a6"/>
    <p:sldId xmlns:r="http://schemas.openxmlformats.org/officeDocument/2006/relationships" id="260" r:id="R17e5cf249c314c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1be13bd8174b8f" /><Relationship Type="http://schemas.openxmlformats.org/officeDocument/2006/relationships/slideMaster" Target="/ppt/slideMasters/slideMaster1.xml" Id="R87649a074a124997" /><Relationship Type="http://schemas.openxmlformats.org/officeDocument/2006/relationships/notesMaster" Target="/ppt/notesMasters/notesMaster1.xml" Id="R5dcf16aa83724d8d" /><Relationship Type="http://schemas.openxmlformats.org/officeDocument/2006/relationships/presProps" Target="/ppt/presProps.xml" Id="Rc8e61bb08f5d4cb4" /><Relationship Type="http://schemas.openxmlformats.org/officeDocument/2006/relationships/tableStyles" Target="/ppt/tableStyles.xml" Id="R56d65fadb151403d" /><Relationship Type="http://schemas.openxmlformats.org/officeDocument/2006/relationships/slide" Target="/ppt/slides/slide1.xml" Id="R6cbcf6601f6f4a9a" /><Relationship Type="http://schemas.openxmlformats.org/officeDocument/2006/relationships/slide" Target="/ppt/slides/slide2.xml" Id="Rda12b2a4ba5044b2" /><Relationship Type="http://schemas.openxmlformats.org/officeDocument/2006/relationships/slide" Target="/ppt/slides/slide3.xml" Id="Rcc843cf542f44a0b" /><Relationship Type="http://schemas.openxmlformats.org/officeDocument/2006/relationships/slide" Target="/ppt/slides/slide4.xml" Id="R92d275b611af46a6" /><Relationship Type="http://schemas.openxmlformats.org/officeDocument/2006/relationships/slide" Target="/ppt/slides/slide5.xml" Id="R17e5cf249c314c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33096c3ccc49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57df27e6da4dea" /><Relationship Type="http://schemas.openxmlformats.org/officeDocument/2006/relationships/notesMaster" Target="/ppt/notesMasters/notesMaster1.xml" Id="R00c42b1f7b204f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03fce46eb34921" /><Relationship Type="http://schemas.openxmlformats.org/officeDocument/2006/relationships/notesMaster" Target="/ppt/notesMasters/notesMaster1.xml" Id="R72dcc5e60b0a4f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49bd3de7584678" /><Relationship Type="http://schemas.openxmlformats.org/officeDocument/2006/relationships/notesMaster" Target="/ppt/notesMasters/notesMaster1.xml" Id="R08e9420f10144f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f8cbfe216842d6" /><Relationship Type="http://schemas.openxmlformats.org/officeDocument/2006/relationships/notesMaster" Target="/ppt/notesMasters/notesMaster1.xml" Id="R9a9f5f9f35434f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cd48c779614b20" /><Relationship Type="http://schemas.openxmlformats.org/officeDocument/2006/relationships/notesMaster" Target="/ppt/notesMasters/notesMaster1.xml" Id="Rcfb1ce58f69f49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tóm lược 3 trụ cột kết quả chính từ file evaluation.json: Quá trình huấn luyện không overfit (Epoch 14), kiểm định độc lập trên người mới đạt 98.09% (14/14 video 100%), và khả năng tổng quát hóa trên camera ngoài đạt 99.84%.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phân tích động học huấn luyện: Train Loss đạt 0.0922, Val Loss đạt 0.0941, chênh lệch chỉ 0.0019 chứng minh mô hình không hề bị overfit. Early Stopping lưu lại trọng số tối ưu tại epoch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trình bày chi tiết kiểm định trên tập Test 4.811 ảnh. Người trong tập test hoàn toàn mới. Recall Real đạt 99.88% (chỉ nhầm 3 ảnh). Precision Fake đạt 99.87% giúp chặn đứng gian lận.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trình bày bảng 14 video test với kết quả 14/14 đạt 100%. Validation đạt 98.88%. Thử nghiệm camera ngoài đạt 99.84% chứng minh khả năng tổng quát hóa cross-camera vượt trội.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tổng kết các chỉ số vận hành thực tế: tốc độ 30 FPS, độ trễ 6ms, tự động kết nối lại camera USB. Nêu rõ điều kiện hoạt động tối ưu cũng như các ranh giới thực tế và đề xuất nâng cấp tiếp theo.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161a98bea441e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10918b919d440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3404300d67a469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ffe2a16ef4340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abc986d58f405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6a990c01384b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28EBBA-1440-46DC-B660-076F1231AF9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97D2F53-486B-4A5A-ABA8-17F8AA72A6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158EEA7-B2F8-44B9-9C80-ADF9E389475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E24CBF-C89E-4317-9D8A-ABC2D7CB5A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2D55695-219F-4613-A25B-EDE9E8398DC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49A7F4-DC95-4ED7-9111-6114AE6852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2982BF-2B16-4186-85DB-EE497EC7D8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82E7D6D-DA58-4A83-94BB-F9539DA3F5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B379D0-437B-494D-8948-BE0DED16DA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D4FD02-8D2E-4B67-964E-95A2C7B04C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aa9e38397e4e1c" /><Relationship Type="http://schemas.openxmlformats.org/officeDocument/2006/relationships/slideLayout" Target="/ppt/slideLayouts/slideLayout1.xml" Id="R235a79e7db0a41a7" /><Relationship Type="http://schemas.openxmlformats.org/officeDocument/2006/relationships/slideLayout" Target="/ppt/slideLayouts/slideLayout2.xml" Id="R881912c92b024ee8" /><Relationship Type="http://schemas.openxmlformats.org/officeDocument/2006/relationships/slideLayout" Target="/ppt/slideLayouts/slideLayout3.xml" Id="R89890b815be2418a" /><Relationship Type="http://schemas.openxmlformats.org/officeDocument/2006/relationships/slideLayout" Target="/ppt/slideLayouts/slideLayout4.xml" Id="R03dd1ae3cd474fab" /><Relationship Type="http://schemas.openxmlformats.org/officeDocument/2006/relationships/slideLayout" Target="/ppt/slideLayouts/slideLayout5.xml" Id="R56aeded7864b45b9" /><Relationship Type="http://schemas.openxmlformats.org/officeDocument/2006/relationships/slideLayout" Target="/ppt/slideLayouts/slideLayout6.xml" Id="R1bbc3f3e1a8c45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5a79e7db0a41a7"/>
    <p:sldLayoutId xmlns:r="http://schemas.openxmlformats.org/officeDocument/2006/relationships" id="2147483650" r:id="R881912c92b024ee8"/>
    <p:sldLayoutId xmlns:r="http://schemas.openxmlformats.org/officeDocument/2006/relationships" id="2147483651" r:id="R89890b815be2418a"/>
    <p:sldLayoutId xmlns:r="http://schemas.openxmlformats.org/officeDocument/2006/relationships" id="2147483652" r:id="R03dd1ae3cd474fab"/>
    <p:sldLayoutId xmlns:r="http://schemas.openxmlformats.org/officeDocument/2006/relationships" id="2147483653" r:id="R56aeded7864b45b9"/>
    <p:sldLayoutId xmlns:r="http://schemas.openxmlformats.org/officeDocument/2006/relationships" id="2147483654" r:id="R1bbc3f3e1a8c45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672e4dc4714d65" /><Relationship Type="http://schemas.openxmlformats.org/officeDocument/2006/relationships/notesSlide" Target="/ppt/notesSlides/notesSlide1.xml" Id="Ra7d40b9358da42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f6e7360c5d94ef2" /><Relationship Type="http://schemas.openxmlformats.org/officeDocument/2006/relationships/image" Target="/ppt/media/image.png" Id="Rc099c9cd6fa0453a" /><Relationship Type="http://schemas.openxmlformats.org/officeDocument/2006/relationships/notesSlide" Target="/ppt/notesSlides/notesSlide2.xml" Id="R9cb20ef263c545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d62380f2bbb4cc8" /><Relationship Type="http://schemas.openxmlformats.org/officeDocument/2006/relationships/notesSlide" Target="/ppt/notesSlides/notesSlide3.xml" Id="R0d99a8c5128940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27327da1b4341e0" /><Relationship Type="http://schemas.openxmlformats.org/officeDocument/2006/relationships/notesSlide" Target="/ppt/notesSlides/notesSlide4.xml" Id="R94fdaa41fdbe4a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f89cecea604d83" /><Relationship Type="http://schemas.openxmlformats.org/officeDocument/2006/relationships/notesSlide" Target="/ppt/notesSlides/notesSlide5.xml" Id="R9278b71ba0534b0d" /></Relationships>
</file>

<file path=ppt/slides/slide1.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00FAF18-45C2-4880-93D2-3D6B9F213D72}"/>
              </a:ext>
            </a:extLst>
          </p:cNvPr>
          <p:cNvSpPr>
            <a:spLocks xmlns:a="http://schemas.openxmlformats.org/drawingml/2006/main" noGrp="1"/>
          </p:cNvSpPr>
          <p:nvPr/>
        </p:nvSpPr>
        <p:spPr>
          <a:xfrm xmlns:a="http://schemas.openxmlformats.org/drawingml/2006/main">
            <a:off x="609600" y="619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8BDF8"/>
                </a:solidFill>
                <a:latin typeface="Arial"/>
                <a:ea typeface="Arial"/>
                <a:cs typeface="Arial"/>
              </a:defRPr>
            </a:defPPr>
            <a:lvl1pPr>
              <a:defRPr sz="1650" b="1">
                <a:solidFill>
                  <a:srgbClr val="38BDF8"/>
                </a:solidFill>
                <a:latin typeface="Arial"/>
                <a:ea typeface="Arial"/>
                <a:cs typeface="Arial"/>
              </a:defRPr>
            </a:lvl1pPr>
            <a:lvl2pPr>
              <a:defRPr sz="1650" b="1">
                <a:solidFill>
                  <a:srgbClr val="38BDF8"/>
                </a:solidFill>
                <a:latin typeface="Arial"/>
                <a:ea typeface="Arial"/>
                <a:cs typeface="Arial"/>
              </a:defRPr>
            </a:lvl2pPr>
            <a:lvl3pPr>
              <a:defRPr sz="1650" b="1">
                <a:solidFill>
                  <a:srgbClr val="38BDF8"/>
                </a:solidFill>
                <a:latin typeface="Arial"/>
                <a:ea typeface="Arial"/>
                <a:cs typeface="Arial"/>
              </a:defRPr>
            </a:lvl3pPr>
            <a:lvl4pPr>
              <a:defRPr sz="1650" b="1">
                <a:solidFill>
                  <a:srgbClr val="38BDF8"/>
                </a:solidFill>
                <a:latin typeface="Arial"/>
                <a:ea typeface="Arial"/>
                <a:cs typeface="Arial"/>
              </a:defRPr>
            </a:lvl4pPr>
            <a:lvl5pPr>
              <a:defRPr sz="1650" b="1">
                <a:solidFill>
                  <a:srgbClr val="38BDF8"/>
                </a:solidFill>
                <a:latin typeface="Arial"/>
                <a:ea typeface="Arial"/>
                <a:cs typeface="Arial"/>
              </a:defRPr>
            </a:lvl5pPr>
            <a:lvl6pPr>
              <a:defRPr sz="1650" b="1">
                <a:solidFill>
                  <a:srgbClr val="38BDF8"/>
                </a:solidFill>
                <a:latin typeface="Arial"/>
                <a:ea typeface="Arial"/>
                <a:cs typeface="Arial"/>
              </a:defRPr>
            </a:lvl6pPr>
            <a:lvl7pPr>
              <a:defRPr sz="1650" b="1">
                <a:solidFill>
                  <a:srgbClr val="38BDF8"/>
                </a:solidFill>
                <a:latin typeface="Arial"/>
                <a:ea typeface="Arial"/>
                <a:cs typeface="Arial"/>
              </a:defRPr>
            </a:lvl7pPr>
            <a:lvl8pPr>
              <a:defRPr sz="1650" b="1">
                <a:solidFill>
                  <a:srgbClr val="38BDF8"/>
                </a:solidFill>
                <a:latin typeface="Arial"/>
                <a:ea typeface="Arial"/>
                <a:cs typeface="Arial"/>
              </a:defRPr>
            </a:lvl8pPr>
            <a:lvl9pPr>
              <a:defRPr sz="1650" b="1">
                <a:solidFill>
                  <a:srgbClr val="38BDF8"/>
                </a:solidFill>
                <a:latin typeface="Arial"/>
                <a:ea typeface="Arial"/>
                <a:cs typeface="Arial"/>
              </a:defRPr>
            </a:lvl9pPr>
          </a:lstStyle>
          <a:p xmlns:a="http://schemas.openxmlformats.org/drawingml/2006/main">
            <a:pPr>
              <a:defRPr sz="1650" b="1">
                <a:solidFill>
                  <a:srgbClr val="38BDF8"/>
                </a:solidFill>
                <a:latin typeface="Arial"/>
                <a:ea typeface="Arial"/>
                <a:cs typeface="Arial"/>
              </a:defRPr>
            </a:pPr>
            <a:r>
              <a:rPr sz="1650" b="1">
                <a:solidFill>
                  <a:srgbClr val="38BDF8"/>
                </a:solidFill>
                <a:latin typeface="Arial"/>
                <a:ea typeface="Arial"/>
                <a:cs typeface="Arial"/>
              </a:rPr>
              <a:t>DỰ ÁN FACE ANTI-SPOOFING</a:t>
            </a:r>
          </a:p>
        </p:txBody>
      </p:sp>
      <p:sp>
        <p:nvSpPr>
          <p:cNvPr id="2" name="">
            <a:extLst xmlns:a="http://schemas.openxmlformats.org/drawingml/2006/main">
              <a:ext uri="{FF2B5EF4-FFF2-40B4-BE49-F238E27FC236}">
                <a16:creationId xmlns:a16="http://schemas.microsoft.com/office/drawing/2014/main" id="{9683EA5F-E5F9-41BE-878D-D3BCB4E29006}"/>
              </a:ext>
            </a:extLst>
          </p:cNvPr>
          <p:cNvSpPr>
            <a:spLocks xmlns:a="http://schemas.openxmlformats.org/drawingml/2006/main" noGrp="1"/>
          </p:cNvSpPr>
          <p:nvPr/>
        </p:nvSpPr>
        <p:spPr>
          <a:xfrm xmlns:a="http://schemas.openxmlformats.org/drawingml/2006/main">
            <a:off x="609600" y="1000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F8FAFC"/>
                </a:solidFill>
                <a:latin typeface="Arial"/>
                <a:ea typeface="Arial"/>
                <a:cs typeface="Arial"/>
              </a:defRPr>
            </a:defPPr>
            <a:lvl1pPr>
              <a:defRPr sz="3000" b="1">
                <a:solidFill>
                  <a:srgbClr val="F8FAFC"/>
                </a:solidFill>
                <a:latin typeface="Arial"/>
                <a:ea typeface="Arial"/>
                <a:cs typeface="Arial"/>
              </a:defRPr>
            </a:lvl1pPr>
            <a:lvl2pPr>
              <a:defRPr sz="3000" b="1">
                <a:solidFill>
                  <a:srgbClr val="F8FAFC"/>
                </a:solidFill>
                <a:latin typeface="Arial"/>
                <a:ea typeface="Arial"/>
                <a:cs typeface="Arial"/>
              </a:defRPr>
            </a:lvl2pPr>
            <a:lvl3pPr>
              <a:defRPr sz="3000" b="1">
                <a:solidFill>
                  <a:srgbClr val="F8FAFC"/>
                </a:solidFill>
                <a:latin typeface="Arial"/>
                <a:ea typeface="Arial"/>
                <a:cs typeface="Arial"/>
              </a:defRPr>
            </a:lvl3pPr>
            <a:lvl4pPr>
              <a:defRPr sz="3000" b="1">
                <a:solidFill>
                  <a:srgbClr val="F8FAFC"/>
                </a:solidFill>
                <a:latin typeface="Arial"/>
                <a:ea typeface="Arial"/>
                <a:cs typeface="Arial"/>
              </a:defRPr>
            </a:lvl4pPr>
            <a:lvl5pPr>
              <a:defRPr sz="3000" b="1">
                <a:solidFill>
                  <a:srgbClr val="F8FAFC"/>
                </a:solidFill>
                <a:latin typeface="Arial"/>
                <a:ea typeface="Arial"/>
                <a:cs typeface="Arial"/>
              </a:defRPr>
            </a:lvl5pPr>
            <a:lvl6pPr>
              <a:defRPr sz="3000" b="1">
                <a:solidFill>
                  <a:srgbClr val="F8FAFC"/>
                </a:solidFill>
                <a:latin typeface="Arial"/>
                <a:ea typeface="Arial"/>
                <a:cs typeface="Arial"/>
              </a:defRPr>
            </a:lvl6pPr>
            <a:lvl7pPr>
              <a:defRPr sz="3000" b="1">
                <a:solidFill>
                  <a:srgbClr val="F8FAFC"/>
                </a:solidFill>
                <a:latin typeface="Arial"/>
                <a:ea typeface="Arial"/>
                <a:cs typeface="Arial"/>
              </a:defRPr>
            </a:lvl7pPr>
            <a:lvl8pPr>
              <a:defRPr sz="3000" b="1">
                <a:solidFill>
                  <a:srgbClr val="F8FAFC"/>
                </a:solidFill>
                <a:latin typeface="Arial"/>
                <a:ea typeface="Arial"/>
                <a:cs typeface="Arial"/>
              </a:defRPr>
            </a:lvl8pPr>
            <a:lvl9pPr>
              <a:defRPr sz="3000" b="1">
                <a:solidFill>
                  <a:srgbClr val="F8FAFC"/>
                </a:solidFill>
                <a:latin typeface="Arial"/>
                <a:ea typeface="Arial"/>
                <a:cs typeface="Arial"/>
              </a:defRPr>
            </a:lvl9pPr>
          </a:lstStyle>
          <a:p xmlns:a="http://schemas.openxmlformats.org/drawingml/2006/main">
            <a:pPr>
              <a:defRPr sz="3000" b="1">
                <a:solidFill>
                  <a:srgbClr val="F8FAFC"/>
                </a:solidFill>
                <a:latin typeface="Arial"/>
                <a:ea typeface="Arial"/>
                <a:cs typeface="Arial"/>
              </a:defRPr>
            </a:pPr>
            <a:r>
              <a:rPr sz="3000" b="1">
                <a:solidFill>
                  <a:srgbClr val="F8FAFC"/>
                </a:solidFill>
                <a:latin typeface="Arial"/>
                <a:ea typeface="Arial"/>
                <a:cs typeface="Arial"/>
              </a:rPr>
              <a:t>Báo Cáo Đánh Giá Mô Hình &amp; Số Liệu Thực Nghiệm</a:t>
            </a:r>
          </a:p>
        </p:txBody>
      </p:sp>
      <p:sp>
        <p:nvSpPr>
          <p:cNvPr id="3" name="">
            <a:extLst xmlns:a="http://schemas.openxmlformats.org/drawingml/2006/main">
              <a:ext uri="{FF2B5EF4-FFF2-40B4-BE49-F238E27FC236}">
                <a16:creationId xmlns:a16="http://schemas.microsoft.com/office/drawing/2014/main" id="{F2D0B46B-F7DC-4081-ABF1-8317244F2295}"/>
              </a:ext>
            </a:extLst>
          </p:cNvPr>
          <p:cNvSpPr>
            <a:spLocks xmlns:a="http://schemas.openxmlformats.org/drawingml/2006/main" noGrp="1"/>
          </p:cNvSpPr>
          <p:nvPr/>
        </p:nvSpPr>
        <p:spPr>
          <a:xfrm xmlns:a="http://schemas.openxmlformats.org/drawingml/2006/main">
            <a:off x="609600" y="19812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94A3B8"/>
                </a:solidFill>
                <a:latin typeface="Arial"/>
                <a:ea typeface="Arial"/>
                <a:cs typeface="Arial"/>
              </a:defRPr>
            </a:defPPr>
            <a:lvl1pPr>
              <a:defRPr sz="1650" b="0">
                <a:solidFill>
                  <a:srgbClr val="94A3B8"/>
                </a:solidFill>
                <a:latin typeface="Arial"/>
                <a:ea typeface="Arial"/>
                <a:cs typeface="Arial"/>
              </a:defRPr>
            </a:lvl1pPr>
            <a:lvl2pPr>
              <a:defRPr sz="1650" b="0">
                <a:solidFill>
                  <a:srgbClr val="94A3B8"/>
                </a:solidFill>
                <a:latin typeface="Arial"/>
                <a:ea typeface="Arial"/>
                <a:cs typeface="Arial"/>
              </a:defRPr>
            </a:lvl2pPr>
            <a:lvl3pPr>
              <a:defRPr sz="1650" b="0">
                <a:solidFill>
                  <a:srgbClr val="94A3B8"/>
                </a:solidFill>
                <a:latin typeface="Arial"/>
                <a:ea typeface="Arial"/>
                <a:cs typeface="Arial"/>
              </a:defRPr>
            </a:lvl3pPr>
            <a:lvl4pPr>
              <a:defRPr sz="1650" b="0">
                <a:solidFill>
                  <a:srgbClr val="94A3B8"/>
                </a:solidFill>
                <a:latin typeface="Arial"/>
                <a:ea typeface="Arial"/>
                <a:cs typeface="Arial"/>
              </a:defRPr>
            </a:lvl4pPr>
            <a:lvl5pPr>
              <a:defRPr sz="1650" b="0">
                <a:solidFill>
                  <a:srgbClr val="94A3B8"/>
                </a:solidFill>
                <a:latin typeface="Arial"/>
                <a:ea typeface="Arial"/>
                <a:cs typeface="Arial"/>
              </a:defRPr>
            </a:lvl5pPr>
            <a:lvl6pPr>
              <a:defRPr sz="1650" b="0">
                <a:solidFill>
                  <a:srgbClr val="94A3B8"/>
                </a:solidFill>
                <a:latin typeface="Arial"/>
                <a:ea typeface="Arial"/>
                <a:cs typeface="Arial"/>
              </a:defRPr>
            </a:lvl6pPr>
            <a:lvl7pPr>
              <a:defRPr sz="1650" b="0">
                <a:solidFill>
                  <a:srgbClr val="94A3B8"/>
                </a:solidFill>
                <a:latin typeface="Arial"/>
                <a:ea typeface="Arial"/>
                <a:cs typeface="Arial"/>
              </a:defRPr>
            </a:lvl7pPr>
            <a:lvl8pPr>
              <a:defRPr sz="1650" b="0">
                <a:solidFill>
                  <a:srgbClr val="94A3B8"/>
                </a:solidFill>
                <a:latin typeface="Arial"/>
                <a:ea typeface="Arial"/>
                <a:cs typeface="Arial"/>
              </a:defRPr>
            </a:lvl8pPr>
            <a:lvl9pPr>
              <a:defRPr sz="1650" b="0">
                <a:solidFill>
                  <a:srgbClr val="94A3B8"/>
                </a:solidFill>
                <a:latin typeface="Arial"/>
                <a:ea typeface="Arial"/>
                <a:cs typeface="Arial"/>
              </a:defRPr>
            </a:lvl9pPr>
          </a:lstStyle>
          <a:p xmlns:a="http://schemas.openxmlformats.org/drawingml/2006/main">
            <a:pPr>
              <a:defRPr sz="1650" b="0">
                <a:solidFill>
                  <a:srgbClr val="94A3B8"/>
                </a:solidFill>
                <a:latin typeface="Arial"/>
                <a:ea typeface="Arial"/>
                <a:cs typeface="Arial"/>
              </a:defRPr>
            </a:pPr>
            <a:r>
              <a:rPr sz="1650" b="0">
                <a:solidFill>
                  <a:srgbClr val="94A3B8"/>
                </a:solidFill>
                <a:latin typeface="Arial"/>
                <a:ea typeface="Arial"/>
                <a:cs typeface="Arial"/>
              </a:rPr>
              <a:t>Kiểm định thẩm định chi tiết model liveness_cam4k.h5 trên dữ liệu Camera USB SC-M200</a:t>
            </a:r>
          </a:p>
        </p:txBody>
      </p:sp>
      <p:sp>
        <p:nvSpPr>
          <p:cNvPr id="4" name="">
            <a:extLst xmlns:a="http://schemas.openxmlformats.org/drawingml/2006/main">
              <a:ext uri="{FF2B5EF4-FFF2-40B4-BE49-F238E27FC236}">
                <a16:creationId xmlns:a16="http://schemas.microsoft.com/office/drawing/2014/main" id="{EB23CA1E-A507-4C65-8E43-D44E25EBD079}"/>
              </a:ext>
            </a:extLst>
          </p:cNvPr>
          <p:cNvSpPr>
            <a:spLocks xmlns:a="http://schemas.openxmlformats.org/drawingml/2006/main" noGrp="1"/>
          </p:cNvSpPr>
          <p:nvPr/>
        </p:nvSpPr>
        <p:spPr>
          <a:xfrm xmlns:a="http://schemas.openxmlformats.org/drawingml/2006/main">
            <a:off x="609600" y="2619375"/>
            <a:ext cx="3429000" cy="2952750"/>
          </a:xfrm>
          <a:prstGeom xmlns:a="http://schemas.openxmlformats.org/drawingml/2006/main" prst="rect">
            <a:avLst/>
          </a:prstGeom>
          <a:solidFill xmlns:a="http://schemas.openxmlformats.org/drawingml/2006/main">
            <a:srgbClr val="131F33"/>
          </a:solidFill>
          <a:ln xmlns:a="http://schemas.openxmlformats.org/drawingml/2006/main" w="9525">
            <a:solidFill>
              <a:srgbClr val="223652"/>
            </a:solidFill>
          </a:ln>
        </p:spPr>
        <p:txBody>
          <a:bodyPr xmlns:a="http://schemas.openxmlformats.org/drawingml/2006/main">
            <a:noAutofit/>
          </a:bodyPr>
          <a:lstStyle xmlns:a="http://schemas.openxmlformats.org/drawingml/2006/main">
            <a:defPPr>
              <a:defRPr sz="750">
                <a:solidFill>
                  <a:srgbClr val="131F33"/>
                </a:solidFill>
                <a:latin typeface="Arial"/>
                <a:ea typeface="Arial"/>
                <a:cs typeface="Arial"/>
              </a:defRPr>
            </a:defPPr>
            <a:lvl1pPr>
              <a:defRPr sz="750">
                <a:solidFill>
                  <a:srgbClr val="131F33"/>
                </a:solidFill>
                <a:latin typeface="Arial"/>
                <a:ea typeface="Arial"/>
                <a:cs typeface="Arial"/>
              </a:defRPr>
            </a:lvl1pPr>
            <a:lvl2pPr>
              <a:defRPr sz="750">
                <a:solidFill>
                  <a:srgbClr val="131F33"/>
                </a:solidFill>
                <a:latin typeface="Arial"/>
                <a:ea typeface="Arial"/>
                <a:cs typeface="Arial"/>
              </a:defRPr>
            </a:lvl2pPr>
            <a:lvl3pPr>
              <a:defRPr sz="750">
                <a:solidFill>
                  <a:srgbClr val="131F33"/>
                </a:solidFill>
                <a:latin typeface="Arial"/>
                <a:ea typeface="Arial"/>
                <a:cs typeface="Arial"/>
              </a:defRPr>
            </a:lvl3pPr>
            <a:lvl4pPr>
              <a:defRPr sz="750">
                <a:solidFill>
                  <a:srgbClr val="131F33"/>
                </a:solidFill>
                <a:latin typeface="Arial"/>
                <a:ea typeface="Arial"/>
                <a:cs typeface="Arial"/>
              </a:defRPr>
            </a:lvl4pPr>
            <a:lvl5pPr>
              <a:defRPr sz="750">
                <a:solidFill>
                  <a:srgbClr val="131F33"/>
                </a:solidFill>
                <a:latin typeface="Arial"/>
                <a:ea typeface="Arial"/>
                <a:cs typeface="Arial"/>
              </a:defRPr>
            </a:lvl5pPr>
            <a:lvl6pPr>
              <a:defRPr sz="750">
                <a:solidFill>
                  <a:srgbClr val="131F33"/>
                </a:solidFill>
                <a:latin typeface="Arial"/>
                <a:ea typeface="Arial"/>
                <a:cs typeface="Arial"/>
              </a:defRPr>
            </a:lvl6pPr>
            <a:lvl7pPr>
              <a:defRPr sz="750">
                <a:solidFill>
                  <a:srgbClr val="131F33"/>
                </a:solidFill>
                <a:latin typeface="Arial"/>
                <a:ea typeface="Arial"/>
                <a:cs typeface="Arial"/>
              </a:defRPr>
            </a:lvl7pPr>
            <a:lvl8pPr>
              <a:defRPr sz="750">
                <a:solidFill>
                  <a:srgbClr val="131F33"/>
                </a:solidFill>
                <a:latin typeface="Arial"/>
                <a:ea typeface="Arial"/>
                <a:cs typeface="Arial"/>
              </a:defRPr>
            </a:lvl8pPr>
            <a:lvl9pPr>
              <a:defRPr sz="750">
                <a:solidFill>
                  <a:srgbClr val="131F33"/>
                </a:solidFill>
                <a:latin typeface="Arial"/>
                <a:ea typeface="Arial"/>
                <a:cs typeface="Arial"/>
              </a:defRPr>
            </a:lvl9pPr>
          </a:lstStyle>
          <a:p xmlns:a="http://schemas.openxmlformats.org/drawingml/2006/main">
            <a:pPr>
              <a:defRPr sz="750">
                <a:solidFill>
                  <a:srgbClr val="131F33"/>
                </a:solidFill>
                <a:latin typeface="Arial"/>
                <a:ea typeface="Arial"/>
                <a:cs typeface="Arial"/>
              </a:defRPr>
            </a:pPr>
            <a:r>
              <a:rPr sz="750">
                <a:solidFill>
                  <a:srgbClr val="131F33"/>
                </a:solidFill>
                <a:latin typeface="Arial"/>
                <a:ea typeface="Arial"/>
                <a:cs typeface="Arial"/>
              </a:rPr>
              <a:t> </a:t>
            </a:r>
          </a:p>
        </p:txBody>
      </p:sp>
      <p:sp>
        <p:nvSpPr>
          <p:cNvPr id="5" name="">
            <a:extLst xmlns:a="http://schemas.openxmlformats.org/drawingml/2006/main">
              <a:ext uri="{FF2B5EF4-FFF2-40B4-BE49-F238E27FC236}">
                <a16:creationId xmlns:a16="http://schemas.microsoft.com/office/drawing/2014/main" id="{CF284022-5444-480E-9E4A-379F43396B3D}"/>
              </a:ext>
            </a:extLst>
          </p:cNvPr>
          <p:cNvSpPr>
            <a:spLocks xmlns:a="http://schemas.openxmlformats.org/drawingml/2006/main" noGrp="1"/>
          </p:cNvSpPr>
          <p:nvPr/>
        </p:nvSpPr>
        <p:spPr>
          <a:xfrm xmlns:a="http://schemas.openxmlformats.org/drawingml/2006/main">
            <a:off x="857250" y="28575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8BDF8"/>
                </a:solidFill>
                <a:latin typeface="Arial"/>
                <a:ea typeface="Arial"/>
                <a:cs typeface="Arial"/>
              </a:defRPr>
            </a:defPPr>
            <a:lvl1pPr>
              <a:defRPr sz="1650" b="1">
                <a:solidFill>
                  <a:srgbClr val="38BDF8"/>
                </a:solidFill>
                <a:latin typeface="Arial"/>
                <a:ea typeface="Arial"/>
                <a:cs typeface="Arial"/>
              </a:defRPr>
            </a:lvl1pPr>
            <a:lvl2pPr>
              <a:defRPr sz="1650" b="1">
                <a:solidFill>
                  <a:srgbClr val="38BDF8"/>
                </a:solidFill>
                <a:latin typeface="Arial"/>
                <a:ea typeface="Arial"/>
                <a:cs typeface="Arial"/>
              </a:defRPr>
            </a:lvl2pPr>
            <a:lvl3pPr>
              <a:defRPr sz="1650" b="1">
                <a:solidFill>
                  <a:srgbClr val="38BDF8"/>
                </a:solidFill>
                <a:latin typeface="Arial"/>
                <a:ea typeface="Arial"/>
                <a:cs typeface="Arial"/>
              </a:defRPr>
            </a:lvl3pPr>
            <a:lvl4pPr>
              <a:defRPr sz="1650" b="1">
                <a:solidFill>
                  <a:srgbClr val="38BDF8"/>
                </a:solidFill>
                <a:latin typeface="Arial"/>
                <a:ea typeface="Arial"/>
                <a:cs typeface="Arial"/>
              </a:defRPr>
            </a:lvl4pPr>
            <a:lvl5pPr>
              <a:defRPr sz="1650" b="1">
                <a:solidFill>
                  <a:srgbClr val="38BDF8"/>
                </a:solidFill>
                <a:latin typeface="Arial"/>
                <a:ea typeface="Arial"/>
                <a:cs typeface="Arial"/>
              </a:defRPr>
            </a:lvl5pPr>
            <a:lvl6pPr>
              <a:defRPr sz="1650" b="1">
                <a:solidFill>
                  <a:srgbClr val="38BDF8"/>
                </a:solidFill>
                <a:latin typeface="Arial"/>
                <a:ea typeface="Arial"/>
                <a:cs typeface="Arial"/>
              </a:defRPr>
            </a:lvl6pPr>
            <a:lvl7pPr>
              <a:defRPr sz="1650" b="1">
                <a:solidFill>
                  <a:srgbClr val="38BDF8"/>
                </a:solidFill>
                <a:latin typeface="Arial"/>
                <a:ea typeface="Arial"/>
                <a:cs typeface="Arial"/>
              </a:defRPr>
            </a:lvl7pPr>
            <a:lvl8pPr>
              <a:defRPr sz="1650" b="1">
                <a:solidFill>
                  <a:srgbClr val="38BDF8"/>
                </a:solidFill>
                <a:latin typeface="Arial"/>
                <a:ea typeface="Arial"/>
                <a:cs typeface="Arial"/>
              </a:defRPr>
            </a:lvl8pPr>
            <a:lvl9pPr>
              <a:defRPr sz="1650" b="1">
                <a:solidFill>
                  <a:srgbClr val="38BDF8"/>
                </a:solidFill>
                <a:latin typeface="Arial"/>
                <a:ea typeface="Arial"/>
                <a:cs typeface="Arial"/>
              </a:defRPr>
            </a:lvl9pPr>
          </a:lstStyle>
          <a:p xmlns:a="http://schemas.openxmlformats.org/drawingml/2006/main">
            <a:pPr>
              <a:defRPr sz="1650" b="1">
                <a:solidFill>
                  <a:srgbClr val="38BDF8"/>
                </a:solidFill>
                <a:latin typeface="Arial"/>
                <a:ea typeface="Arial"/>
                <a:cs typeface="Arial"/>
              </a:defRPr>
            </a:pPr>
            <a:r>
              <a:rPr sz="1650" b="1">
                <a:solidFill>
                  <a:srgbClr val="38BDF8"/>
                </a:solidFill>
                <a:latin typeface="Arial"/>
                <a:ea typeface="Arial"/>
                <a:cs typeface="Arial"/>
              </a:rPr>
              <a:t>1. Huấn Luyện Hội Tụ</a:t>
            </a:r>
          </a:p>
        </p:txBody>
      </p:sp>
      <p:sp>
        <p:nvSpPr>
          <p:cNvPr id="6" name="">
            <a:extLst xmlns:a="http://schemas.openxmlformats.org/drawingml/2006/main">
              <a:ext uri="{FF2B5EF4-FFF2-40B4-BE49-F238E27FC236}">
                <a16:creationId xmlns:a16="http://schemas.microsoft.com/office/drawing/2014/main" id="{BA83C712-7515-49FC-8F0C-9E88883442B6}"/>
              </a:ext>
            </a:extLst>
          </p:cNvPr>
          <p:cNvSpPr>
            <a:spLocks xmlns:a="http://schemas.openxmlformats.org/drawingml/2006/main" noGrp="1"/>
          </p:cNvSpPr>
          <p:nvPr/>
        </p:nvSpPr>
        <p:spPr>
          <a:xfrm xmlns:a="http://schemas.openxmlformats.org/drawingml/2006/main">
            <a:off x="857250" y="3286125"/>
            <a:ext cx="29337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F8FAFC"/>
                </a:solidFill>
                <a:latin typeface="Arial"/>
                <a:ea typeface="Arial"/>
                <a:cs typeface="Arial"/>
              </a:defRPr>
            </a:defPPr>
            <a:lvl1pPr>
              <a:defRPr sz="1275" b="0">
                <a:solidFill>
                  <a:srgbClr val="F8FAFC"/>
                </a:solidFill>
                <a:latin typeface="Arial"/>
                <a:ea typeface="Arial"/>
                <a:cs typeface="Arial"/>
              </a:defRPr>
            </a:lvl1pPr>
            <a:lvl2pPr>
              <a:defRPr sz="1275" b="0">
                <a:solidFill>
                  <a:srgbClr val="F8FAFC"/>
                </a:solidFill>
                <a:latin typeface="Arial"/>
                <a:ea typeface="Arial"/>
                <a:cs typeface="Arial"/>
              </a:defRPr>
            </a:lvl2pPr>
            <a:lvl3pPr>
              <a:defRPr sz="1275" b="0">
                <a:solidFill>
                  <a:srgbClr val="F8FAFC"/>
                </a:solidFill>
                <a:latin typeface="Arial"/>
                <a:ea typeface="Arial"/>
                <a:cs typeface="Arial"/>
              </a:defRPr>
            </a:lvl3pPr>
            <a:lvl4pPr>
              <a:defRPr sz="1275" b="0">
                <a:solidFill>
                  <a:srgbClr val="F8FAFC"/>
                </a:solidFill>
                <a:latin typeface="Arial"/>
                <a:ea typeface="Arial"/>
                <a:cs typeface="Arial"/>
              </a:defRPr>
            </a:lvl4pPr>
            <a:lvl5pPr>
              <a:defRPr sz="1275" b="0">
                <a:solidFill>
                  <a:srgbClr val="F8FAFC"/>
                </a:solidFill>
                <a:latin typeface="Arial"/>
                <a:ea typeface="Arial"/>
                <a:cs typeface="Arial"/>
              </a:defRPr>
            </a:lvl5pPr>
            <a:lvl6pPr>
              <a:defRPr sz="1275" b="0">
                <a:solidFill>
                  <a:srgbClr val="F8FAFC"/>
                </a:solidFill>
                <a:latin typeface="Arial"/>
                <a:ea typeface="Arial"/>
                <a:cs typeface="Arial"/>
              </a:defRPr>
            </a:lvl6pPr>
            <a:lvl7pPr>
              <a:defRPr sz="1275" b="0">
                <a:solidFill>
                  <a:srgbClr val="F8FAFC"/>
                </a:solidFill>
                <a:latin typeface="Arial"/>
                <a:ea typeface="Arial"/>
                <a:cs typeface="Arial"/>
              </a:defRPr>
            </a:lvl7pPr>
            <a:lvl8pPr>
              <a:defRPr sz="1275" b="0">
                <a:solidFill>
                  <a:srgbClr val="F8FAFC"/>
                </a:solidFill>
                <a:latin typeface="Arial"/>
                <a:ea typeface="Arial"/>
                <a:cs typeface="Arial"/>
              </a:defRPr>
            </a:lvl8pPr>
            <a:lvl9pPr>
              <a:defRPr sz="1275" b="0">
                <a:solidFill>
                  <a:srgbClr val="F8FAFC"/>
                </a:solidFill>
                <a:latin typeface="Arial"/>
                <a:ea typeface="Arial"/>
                <a:cs typeface="Arial"/>
              </a:defRPr>
            </a:lvl9pPr>
          </a:lstStyle>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18 Epochs (Early Stopping)</a:t>
            </a:r>
          </a:p>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Checkpoint tối ưu: Epoch 14</a:t>
            </a:r>
          </a:p>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Train Loss: 0.0922</a:t>
            </a:r>
          </a:p>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Validation Loss: 0.0941</a:t>
            </a:r>
          </a:p>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Chênh lệch loss chỉ ~0.0019</a:t>
            </a:r>
          </a:p>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Tuyệt đối không overfit</a:t>
            </a:r>
          </a:p>
        </p:txBody>
      </p:sp>
      <p:sp>
        <p:nvSpPr>
          <p:cNvPr id="7" name="">
            <a:extLst xmlns:a="http://schemas.openxmlformats.org/drawingml/2006/main">
              <a:ext uri="{FF2B5EF4-FFF2-40B4-BE49-F238E27FC236}">
                <a16:creationId xmlns:a16="http://schemas.microsoft.com/office/drawing/2014/main" id="{14784ED6-166F-4712-927B-1DE1077D137C}"/>
              </a:ext>
            </a:extLst>
          </p:cNvPr>
          <p:cNvSpPr>
            <a:spLocks xmlns:a="http://schemas.openxmlformats.org/drawingml/2006/main" noGrp="1"/>
          </p:cNvSpPr>
          <p:nvPr/>
        </p:nvSpPr>
        <p:spPr>
          <a:xfrm xmlns:a="http://schemas.openxmlformats.org/drawingml/2006/main">
            <a:off x="4381500" y="2619375"/>
            <a:ext cx="3429000" cy="2952750"/>
          </a:xfrm>
          <a:prstGeom xmlns:a="http://schemas.openxmlformats.org/drawingml/2006/main" prst="rect">
            <a:avLst/>
          </a:prstGeom>
          <a:solidFill xmlns:a="http://schemas.openxmlformats.org/drawingml/2006/main">
            <a:srgbClr val="131F33"/>
          </a:solidFill>
          <a:ln xmlns:a="http://schemas.openxmlformats.org/drawingml/2006/main" w="9525">
            <a:solidFill>
              <a:srgbClr val="223652"/>
            </a:solidFill>
          </a:ln>
        </p:spPr>
        <p:txBody>
          <a:bodyPr xmlns:a="http://schemas.openxmlformats.org/drawingml/2006/main">
            <a:noAutofit/>
          </a:bodyPr>
          <a:lstStyle xmlns:a="http://schemas.openxmlformats.org/drawingml/2006/main">
            <a:defPPr>
              <a:defRPr sz="750">
                <a:solidFill>
                  <a:srgbClr val="131F33"/>
                </a:solidFill>
                <a:latin typeface="Arial"/>
                <a:ea typeface="Arial"/>
                <a:cs typeface="Arial"/>
              </a:defRPr>
            </a:defPPr>
            <a:lvl1pPr>
              <a:defRPr sz="750">
                <a:solidFill>
                  <a:srgbClr val="131F33"/>
                </a:solidFill>
                <a:latin typeface="Arial"/>
                <a:ea typeface="Arial"/>
                <a:cs typeface="Arial"/>
              </a:defRPr>
            </a:lvl1pPr>
            <a:lvl2pPr>
              <a:defRPr sz="750">
                <a:solidFill>
                  <a:srgbClr val="131F33"/>
                </a:solidFill>
                <a:latin typeface="Arial"/>
                <a:ea typeface="Arial"/>
                <a:cs typeface="Arial"/>
              </a:defRPr>
            </a:lvl2pPr>
            <a:lvl3pPr>
              <a:defRPr sz="750">
                <a:solidFill>
                  <a:srgbClr val="131F33"/>
                </a:solidFill>
                <a:latin typeface="Arial"/>
                <a:ea typeface="Arial"/>
                <a:cs typeface="Arial"/>
              </a:defRPr>
            </a:lvl3pPr>
            <a:lvl4pPr>
              <a:defRPr sz="750">
                <a:solidFill>
                  <a:srgbClr val="131F33"/>
                </a:solidFill>
                <a:latin typeface="Arial"/>
                <a:ea typeface="Arial"/>
                <a:cs typeface="Arial"/>
              </a:defRPr>
            </a:lvl4pPr>
            <a:lvl5pPr>
              <a:defRPr sz="750">
                <a:solidFill>
                  <a:srgbClr val="131F33"/>
                </a:solidFill>
                <a:latin typeface="Arial"/>
                <a:ea typeface="Arial"/>
                <a:cs typeface="Arial"/>
              </a:defRPr>
            </a:lvl5pPr>
            <a:lvl6pPr>
              <a:defRPr sz="750">
                <a:solidFill>
                  <a:srgbClr val="131F33"/>
                </a:solidFill>
                <a:latin typeface="Arial"/>
                <a:ea typeface="Arial"/>
                <a:cs typeface="Arial"/>
              </a:defRPr>
            </a:lvl6pPr>
            <a:lvl7pPr>
              <a:defRPr sz="750">
                <a:solidFill>
                  <a:srgbClr val="131F33"/>
                </a:solidFill>
                <a:latin typeface="Arial"/>
                <a:ea typeface="Arial"/>
                <a:cs typeface="Arial"/>
              </a:defRPr>
            </a:lvl7pPr>
            <a:lvl8pPr>
              <a:defRPr sz="750">
                <a:solidFill>
                  <a:srgbClr val="131F33"/>
                </a:solidFill>
                <a:latin typeface="Arial"/>
                <a:ea typeface="Arial"/>
                <a:cs typeface="Arial"/>
              </a:defRPr>
            </a:lvl8pPr>
            <a:lvl9pPr>
              <a:defRPr sz="750">
                <a:solidFill>
                  <a:srgbClr val="131F33"/>
                </a:solidFill>
                <a:latin typeface="Arial"/>
                <a:ea typeface="Arial"/>
                <a:cs typeface="Arial"/>
              </a:defRPr>
            </a:lvl9pPr>
          </a:lstStyle>
          <a:p xmlns:a="http://schemas.openxmlformats.org/drawingml/2006/main">
            <a:pPr>
              <a:defRPr sz="750">
                <a:solidFill>
                  <a:srgbClr val="131F33"/>
                </a:solidFill>
                <a:latin typeface="Arial"/>
                <a:ea typeface="Arial"/>
                <a:cs typeface="Arial"/>
              </a:defRPr>
            </a:pPr>
            <a:r>
              <a:rPr sz="750">
                <a:solidFill>
                  <a:srgbClr val="131F33"/>
                </a:solidFill>
                <a:latin typeface="Arial"/>
                <a:ea typeface="Arial"/>
                <a:cs typeface="Arial"/>
              </a:rPr>
              <a:t> </a:t>
            </a:r>
          </a:p>
        </p:txBody>
      </p:sp>
      <p:sp>
        <p:nvSpPr>
          <p:cNvPr id="8" name="">
            <a:extLst xmlns:a="http://schemas.openxmlformats.org/drawingml/2006/main">
              <a:ext uri="{FF2B5EF4-FFF2-40B4-BE49-F238E27FC236}">
                <a16:creationId xmlns:a16="http://schemas.microsoft.com/office/drawing/2014/main" id="{CE676795-CA81-46D5-A6E3-D9F86B0D3CD0}"/>
              </a:ext>
            </a:extLst>
          </p:cNvPr>
          <p:cNvSpPr>
            <a:spLocks xmlns:a="http://schemas.openxmlformats.org/drawingml/2006/main" noGrp="1"/>
          </p:cNvSpPr>
          <p:nvPr/>
        </p:nvSpPr>
        <p:spPr>
          <a:xfrm xmlns:a="http://schemas.openxmlformats.org/drawingml/2006/main">
            <a:off x="4629150" y="28575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4D399"/>
                </a:solidFill>
                <a:latin typeface="Arial"/>
                <a:ea typeface="Arial"/>
                <a:cs typeface="Arial"/>
              </a:defRPr>
            </a:defPPr>
            <a:lvl1pPr>
              <a:defRPr sz="1650" b="1">
                <a:solidFill>
                  <a:srgbClr val="34D399"/>
                </a:solidFill>
                <a:latin typeface="Arial"/>
                <a:ea typeface="Arial"/>
                <a:cs typeface="Arial"/>
              </a:defRPr>
            </a:lvl1pPr>
            <a:lvl2pPr>
              <a:defRPr sz="1650" b="1">
                <a:solidFill>
                  <a:srgbClr val="34D399"/>
                </a:solidFill>
                <a:latin typeface="Arial"/>
                <a:ea typeface="Arial"/>
                <a:cs typeface="Arial"/>
              </a:defRPr>
            </a:lvl2pPr>
            <a:lvl3pPr>
              <a:defRPr sz="1650" b="1">
                <a:solidFill>
                  <a:srgbClr val="34D399"/>
                </a:solidFill>
                <a:latin typeface="Arial"/>
                <a:ea typeface="Arial"/>
                <a:cs typeface="Arial"/>
              </a:defRPr>
            </a:lvl3pPr>
            <a:lvl4pPr>
              <a:defRPr sz="1650" b="1">
                <a:solidFill>
                  <a:srgbClr val="34D399"/>
                </a:solidFill>
                <a:latin typeface="Arial"/>
                <a:ea typeface="Arial"/>
                <a:cs typeface="Arial"/>
              </a:defRPr>
            </a:lvl4pPr>
            <a:lvl5pPr>
              <a:defRPr sz="1650" b="1">
                <a:solidFill>
                  <a:srgbClr val="34D399"/>
                </a:solidFill>
                <a:latin typeface="Arial"/>
                <a:ea typeface="Arial"/>
                <a:cs typeface="Arial"/>
              </a:defRPr>
            </a:lvl5pPr>
            <a:lvl6pPr>
              <a:defRPr sz="1650" b="1">
                <a:solidFill>
                  <a:srgbClr val="34D399"/>
                </a:solidFill>
                <a:latin typeface="Arial"/>
                <a:ea typeface="Arial"/>
                <a:cs typeface="Arial"/>
              </a:defRPr>
            </a:lvl6pPr>
            <a:lvl7pPr>
              <a:defRPr sz="1650" b="1">
                <a:solidFill>
                  <a:srgbClr val="34D399"/>
                </a:solidFill>
                <a:latin typeface="Arial"/>
                <a:ea typeface="Arial"/>
                <a:cs typeface="Arial"/>
              </a:defRPr>
            </a:lvl7pPr>
            <a:lvl8pPr>
              <a:defRPr sz="1650" b="1">
                <a:solidFill>
                  <a:srgbClr val="34D399"/>
                </a:solidFill>
                <a:latin typeface="Arial"/>
                <a:ea typeface="Arial"/>
                <a:cs typeface="Arial"/>
              </a:defRPr>
            </a:lvl8pPr>
            <a:lvl9pPr>
              <a:defRPr sz="1650" b="1">
                <a:solidFill>
                  <a:srgbClr val="34D399"/>
                </a:solidFill>
                <a:latin typeface="Arial"/>
                <a:ea typeface="Arial"/>
                <a:cs typeface="Arial"/>
              </a:defRPr>
            </a:lvl9pPr>
          </a:lstStyle>
          <a:p xmlns:a="http://schemas.openxmlformats.org/drawingml/2006/main">
            <a:pPr>
              <a:defRPr sz="1650" b="1">
                <a:solidFill>
                  <a:srgbClr val="34D399"/>
                </a:solidFill>
                <a:latin typeface="Arial"/>
                <a:ea typeface="Arial"/>
                <a:cs typeface="Arial"/>
              </a:defRPr>
            </a:pPr>
            <a:r>
              <a:rPr sz="1650" b="1">
                <a:solidFill>
                  <a:srgbClr val="34D399"/>
                </a:solidFill>
                <a:latin typeface="Arial"/>
                <a:ea typeface="Arial"/>
                <a:cs typeface="Arial"/>
              </a:rPr>
              <a:t>2. Kiểm Định Độc Lập</a:t>
            </a:r>
          </a:p>
        </p:txBody>
      </p:sp>
      <p:sp>
        <p:nvSpPr>
          <p:cNvPr id="9" name="">
            <a:extLst xmlns:a="http://schemas.openxmlformats.org/drawingml/2006/main">
              <a:ext uri="{FF2B5EF4-FFF2-40B4-BE49-F238E27FC236}">
                <a16:creationId xmlns:a16="http://schemas.microsoft.com/office/drawing/2014/main" id="{7BF47EEA-576A-4ED5-9072-6D7AE1BD85A8}"/>
              </a:ext>
            </a:extLst>
          </p:cNvPr>
          <p:cNvSpPr>
            <a:spLocks xmlns:a="http://schemas.openxmlformats.org/drawingml/2006/main" noGrp="1"/>
          </p:cNvSpPr>
          <p:nvPr/>
        </p:nvSpPr>
        <p:spPr>
          <a:xfrm xmlns:a="http://schemas.openxmlformats.org/drawingml/2006/main">
            <a:off x="4629150" y="3286125"/>
            <a:ext cx="29337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F8FAFC"/>
                </a:solidFill>
                <a:latin typeface="Arial"/>
                <a:ea typeface="Arial"/>
                <a:cs typeface="Arial"/>
              </a:defRPr>
            </a:defPPr>
            <a:lvl1pPr>
              <a:defRPr sz="1275" b="0">
                <a:solidFill>
                  <a:srgbClr val="F8FAFC"/>
                </a:solidFill>
                <a:latin typeface="Arial"/>
                <a:ea typeface="Arial"/>
                <a:cs typeface="Arial"/>
              </a:defRPr>
            </a:lvl1pPr>
            <a:lvl2pPr>
              <a:defRPr sz="1275" b="0">
                <a:solidFill>
                  <a:srgbClr val="F8FAFC"/>
                </a:solidFill>
                <a:latin typeface="Arial"/>
                <a:ea typeface="Arial"/>
                <a:cs typeface="Arial"/>
              </a:defRPr>
            </a:lvl2pPr>
            <a:lvl3pPr>
              <a:defRPr sz="1275" b="0">
                <a:solidFill>
                  <a:srgbClr val="F8FAFC"/>
                </a:solidFill>
                <a:latin typeface="Arial"/>
                <a:ea typeface="Arial"/>
                <a:cs typeface="Arial"/>
              </a:defRPr>
            </a:lvl3pPr>
            <a:lvl4pPr>
              <a:defRPr sz="1275" b="0">
                <a:solidFill>
                  <a:srgbClr val="F8FAFC"/>
                </a:solidFill>
                <a:latin typeface="Arial"/>
                <a:ea typeface="Arial"/>
                <a:cs typeface="Arial"/>
              </a:defRPr>
            </a:lvl4pPr>
            <a:lvl5pPr>
              <a:defRPr sz="1275" b="0">
                <a:solidFill>
                  <a:srgbClr val="F8FAFC"/>
                </a:solidFill>
                <a:latin typeface="Arial"/>
                <a:ea typeface="Arial"/>
                <a:cs typeface="Arial"/>
              </a:defRPr>
            </a:lvl5pPr>
            <a:lvl6pPr>
              <a:defRPr sz="1275" b="0">
                <a:solidFill>
                  <a:srgbClr val="F8FAFC"/>
                </a:solidFill>
                <a:latin typeface="Arial"/>
                <a:ea typeface="Arial"/>
                <a:cs typeface="Arial"/>
              </a:defRPr>
            </a:lvl6pPr>
            <a:lvl7pPr>
              <a:defRPr sz="1275" b="0">
                <a:solidFill>
                  <a:srgbClr val="F8FAFC"/>
                </a:solidFill>
                <a:latin typeface="Arial"/>
                <a:ea typeface="Arial"/>
                <a:cs typeface="Arial"/>
              </a:defRPr>
            </a:lvl7pPr>
            <a:lvl8pPr>
              <a:defRPr sz="1275" b="0">
                <a:solidFill>
                  <a:srgbClr val="F8FAFC"/>
                </a:solidFill>
                <a:latin typeface="Arial"/>
                <a:ea typeface="Arial"/>
                <a:cs typeface="Arial"/>
              </a:defRPr>
            </a:lvl8pPr>
            <a:lvl9pPr>
              <a:defRPr sz="1275" b="0">
                <a:solidFill>
                  <a:srgbClr val="F8FAFC"/>
                </a:solidFill>
                <a:latin typeface="Arial"/>
                <a:ea typeface="Arial"/>
                <a:cs typeface="Arial"/>
              </a:defRPr>
            </a:lvl9pPr>
          </a:lstStyle>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Tập Test: 4.811 ảnh (người mới)</a:t>
            </a:r>
          </a:p>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Test Frame Acc: 98.09%</a:t>
            </a:r>
          </a:p>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Test Video Acc: 14/14 (100%)</a:t>
            </a:r>
          </a:p>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Recall Real: 99.88% (chỉ nhầm 3 ảnh)</a:t>
            </a:r>
          </a:p>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Precision Fake: 99.87%</a:t>
            </a:r>
          </a:p>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Tỷ lệ lọt gian lận chỉ 3.7%</a:t>
            </a:r>
          </a:p>
        </p:txBody>
      </p:sp>
      <p:sp>
        <p:nvSpPr>
          <p:cNvPr id="10" name="">
            <a:extLst xmlns:a="http://schemas.openxmlformats.org/drawingml/2006/main">
              <a:ext uri="{FF2B5EF4-FFF2-40B4-BE49-F238E27FC236}">
                <a16:creationId xmlns:a16="http://schemas.microsoft.com/office/drawing/2014/main" id="{A8EA6A84-2DAA-4044-8F0E-7C896996F2DD}"/>
              </a:ext>
            </a:extLst>
          </p:cNvPr>
          <p:cNvSpPr>
            <a:spLocks xmlns:a="http://schemas.openxmlformats.org/drawingml/2006/main" noGrp="1"/>
          </p:cNvSpPr>
          <p:nvPr/>
        </p:nvSpPr>
        <p:spPr>
          <a:xfrm xmlns:a="http://schemas.openxmlformats.org/drawingml/2006/main">
            <a:off x="8153400" y="2619375"/>
            <a:ext cx="3429000" cy="2952750"/>
          </a:xfrm>
          <a:prstGeom xmlns:a="http://schemas.openxmlformats.org/drawingml/2006/main" prst="rect">
            <a:avLst/>
          </a:prstGeom>
          <a:solidFill xmlns:a="http://schemas.openxmlformats.org/drawingml/2006/main">
            <a:srgbClr val="131F33"/>
          </a:solidFill>
          <a:ln xmlns:a="http://schemas.openxmlformats.org/drawingml/2006/main" w="9525">
            <a:solidFill>
              <a:srgbClr val="223652"/>
            </a:solidFill>
          </a:ln>
        </p:spPr>
        <p:txBody>
          <a:bodyPr xmlns:a="http://schemas.openxmlformats.org/drawingml/2006/main">
            <a:noAutofit/>
          </a:bodyPr>
          <a:lstStyle xmlns:a="http://schemas.openxmlformats.org/drawingml/2006/main">
            <a:defPPr>
              <a:defRPr sz="750">
                <a:solidFill>
                  <a:srgbClr val="131F33"/>
                </a:solidFill>
                <a:latin typeface="Arial"/>
                <a:ea typeface="Arial"/>
                <a:cs typeface="Arial"/>
              </a:defRPr>
            </a:defPPr>
            <a:lvl1pPr>
              <a:defRPr sz="750">
                <a:solidFill>
                  <a:srgbClr val="131F33"/>
                </a:solidFill>
                <a:latin typeface="Arial"/>
                <a:ea typeface="Arial"/>
                <a:cs typeface="Arial"/>
              </a:defRPr>
            </a:lvl1pPr>
            <a:lvl2pPr>
              <a:defRPr sz="750">
                <a:solidFill>
                  <a:srgbClr val="131F33"/>
                </a:solidFill>
                <a:latin typeface="Arial"/>
                <a:ea typeface="Arial"/>
                <a:cs typeface="Arial"/>
              </a:defRPr>
            </a:lvl2pPr>
            <a:lvl3pPr>
              <a:defRPr sz="750">
                <a:solidFill>
                  <a:srgbClr val="131F33"/>
                </a:solidFill>
                <a:latin typeface="Arial"/>
                <a:ea typeface="Arial"/>
                <a:cs typeface="Arial"/>
              </a:defRPr>
            </a:lvl3pPr>
            <a:lvl4pPr>
              <a:defRPr sz="750">
                <a:solidFill>
                  <a:srgbClr val="131F33"/>
                </a:solidFill>
                <a:latin typeface="Arial"/>
                <a:ea typeface="Arial"/>
                <a:cs typeface="Arial"/>
              </a:defRPr>
            </a:lvl4pPr>
            <a:lvl5pPr>
              <a:defRPr sz="750">
                <a:solidFill>
                  <a:srgbClr val="131F33"/>
                </a:solidFill>
                <a:latin typeface="Arial"/>
                <a:ea typeface="Arial"/>
                <a:cs typeface="Arial"/>
              </a:defRPr>
            </a:lvl5pPr>
            <a:lvl6pPr>
              <a:defRPr sz="750">
                <a:solidFill>
                  <a:srgbClr val="131F33"/>
                </a:solidFill>
                <a:latin typeface="Arial"/>
                <a:ea typeface="Arial"/>
                <a:cs typeface="Arial"/>
              </a:defRPr>
            </a:lvl6pPr>
            <a:lvl7pPr>
              <a:defRPr sz="750">
                <a:solidFill>
                  <a:srgbClr val="131F33"/>
                </a:solidFill>
                <a:latin typeface="Arial"/>
                <a:ea typeface="Arial"/>
                <a:cs typeface="Arial"/>
              </a:defRPr>
            </a:lvl7pPr>
            <a:lvl8pPr>
              <a:defRPr sz="750">
                <a:solidFill>
                  <a:srgbClr val="131F33"/>
                </a:solidFill>
                <a:latin typeface="Arial"/>
                <a:ea typeface="Arial"/>
                <a:cs typeface="Arial"/>
              </a:defRPr>
            </a:lvl8pPr>
            <a:lvl9pPr>
              <a:defRPr sz="750">
                <a:solidFill>
                  <a:srgbClr val="131F33"/>
                </a:solidFill>
                <a:latin typeface="Arial"/>
                <a:ea typeface="Arial"/>
                <a:cs typeface="Arial"/>
              </a:defRPr>
            </a:lvl9pPr>
          </a:lstStyle>
          <a:p xmlns:a="http://schemas.openxmlformats.org/drawingml/2006/main">
            <a:pPr>
              <a:defRPr sz="750">
                <a:solidFill>
                  <a:srgbClr val="131F33"/>
                </a:solidFill>
                <a:latin typeface="Arial"/>
                <a:ea typeface="Arial"/>
                <a:cs typeface="Arial"/>
              </a:defRPr>
            </a:pPr>
            <a:r>
              <a:rPr sz="750">
                <a:solidFill>
                  <a:srgbClr val="131F33"/>
                </a:solidFill>
                <a:latin typeface="Arial"/>
                <a:ea typeface="Arial"/>
                <a:cs typeface="Arial"/>
              </a:rPr>
              <a:t> </a:t>
            </a:r>
          </a:p>
        </p:txBody>
      </p:sp>
      <p:sp>
        <p:nvSpPr>
          <p:cNvPr id="11" name="">
            <a:extLst xmlns:a="http://schemas.openxmlformats.org/drawingml/2006/main">
              <a:ext uri="{FF2B5EF4-FFF2-40B4-BE49-F238E27FC236}">
                <a16:creationId xmlns:a16="http://schemas.microsoft.com/office/drawing/2014/main" id="{595EB346-B2E7-4ED2-B76B-3A03EC27C83E}"/>
              </a:ext>
            </a:extLst>
          </p:cNvPr>
          <p:cNvSpPr>
            <a:spLocks xmlns:a="http://schemas.openxmlformats.org/drawingml/2006/main" noGrp="1"/>
          </p:cNvSpPr>
          <p:nvPr/>
        </p:nvSpPr>
        <p:spPr>
          <a:xfrm xmlns:a="http://schemas.openxmlformats.org/drawingml/2006/main">
            <a:off x="8401050" y="28575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FBBF24"/>
                </a:solidFill>
                <a:latin typeface="Arial"/>
                <a:ea typeface="Arial"/>
                <a:cs typeface="Arial"/>
              </a:defRPr>
            </a:defPPr>
            <a:lvl1pPr>
              <a:defRPr sz="1650" b="1">
                <a:solidFill>
                  <a:srgbClr val="FBBF24"/>
                </a:solidFill>
                <a:latin typeface="Arial"/>
                <a:ea typeface="Arial"/>
                <a:cs typeface="Arial"/>
              </a:defRPr>
            </a:lvl1pPr>
            <a:lvl2pPr>
              <a:defRPr sz="1650" b="1">
                <a:solidFill>
                  <a:srgbClr val="FBBF24"/>
                </a:solidFill>
                <a:latin typeface="Arial"/>
                <a:ea typeface="Arial"/>
                <a:cs typeface="Arial"/>
              </a:defRPr>
            </a:lvl2pPr>
            <a:lvl3pPr>
              <a:defRPr sz="1650" b="1">
                <a:solidFill>
                  <a:srgbClr val="FBBF24"/>
                </a:solidFill>
                <a:latin typeface="Arial"/>
                <a:ea typeface="Arial"/>
                <a:cs typeface="Arial"/>
              </a:defRPr>
            </a:lvl3pPr>
            <a:lvl4pPr>
              <a:defRPr sz="1650" b="1">
                <a:solidFill>
                  <a:srgbClr val="FBBF24"/>
                </a:solidFill>
                <a:latin typeface="Arial"/>
                <a:ea typeface="Arial"/>
                <a:cs typeface="Arial"/>
              </a:defRPr>
            </a:lvl4pPr>
            <a:lvl5pPr>
              <a:defRPr sz="1650" b="1">
                <a:solidFill>
                  <a:srgbClr val="FBBF24"/>
                </a:solidFill>
                <a:latin typeface="Arial"/>
                <a:ea typeface="Arial"/>
                <a:cs typeface="Arial"/>
              </a:defRPr>
            </a:lvl5pPr>
            <a:lvl6pPr>
              <a:defRPr sz="1650" b="1">
                <a:solidFill>
                  <a:srgbClr val="FBBF24"/>
                </a:solidFill>
                <a:latin typeface="Arial"/>
                <a:ea typeface="Arial"/>
                <a:cs typeface="Arial"/>
              </a:defRPr>
            </a:lvl6pPr>
            <a:lvl7pPr>
              <a:defRPr sz="1650" b="1">
                <a:solidFill>
                  <a:srgbClr val="FBBF24"/>
                </a:solidFill>
                <a:latin typeface="Arial"/>
                <a:ea typeface="Arial"/>
                <a:cs typeface="Arial"/>
              </a:defRPr>
            </a:lvl7pPr>
            <a:lvl8pPr>
              <a:defRPr sz="1650" b="1">
                <a:solidFill>
                  <a:srgbClr val="FBBF24"/>
                </a:solidFill>
                <a:latin typeface="Arial"/>
                <a:ea typeface="Arial"/>
                <a:cs typeface="Arial"/>
              </a:defRPr>
            </a:lvl8pPr>
            <a:lvl9pPr>
              <a:defRPr sz="1650" b="1">
                <a:solidFill>
                  <a:srgbClr val="FBBF24"/>
                </a:solidFill>
                <a:latin typeface="Arial"/>
                <a:ea typeface="Arial"/>
                <a:cs typeface="Arial"/>
              </a:defRPr>
            </a:lvl9pPr>
          </a:lstStyle>
          <a:p xmlns:a="http://schemas.openxmlformats.org/drawingml/2006/main">
            <a:pPr>
              <a:defRPr sz="1650" b="1">
                <a:solidFill>
                  <a:srgbClr val="FBBF24"/>
                </a:solidFill>
                <a:latin typeface="Arial"/>
                <a:ea typeface="Arial"/>
                <a:cs typeface="Arial"/>
              </a:defRPr>
            </a:pPr>
            <a:r>
              <a:rPr sz="1650" b="1">
                <a:solidFill>
                  <a:srgbClr val="FBBF24"/>
                </a:solidFill>
                <a:latin typeface="Arial"/>
                <a:ea typeface="Arial"/>
                <a:cs typeface="Arial"/>
              </a:rPr>
              <a:t>3. Tổng Quát Hóa &amp; Vận Hành</a:t>
            </a:r>
          </a:p>
        </p:txBody>
      </p:sp>
      <p:sp>
        <p:nvSpPr>
          <p:cNvPr id="12" name="">
            <a:extLst xmlns:a="http://schemas.openxmlformats.org/drawingml/2006/main">
              <a:ext uri="{FF2B5EF4-FFF2-40B4-BE49-F238E27FC236}">
                <a16:creationId xmlns:a16="http://schemas.microsoft.com/office/drawing/2014/main" id="{CDC51DEC-BB2C-4EBB-9E2B-8D4888F3BC2E}"/>
              </a:ext>
            </a:extLst>
          </p:cNvPr>
          <p:cNvSpPr>
            <a:spLocks xmlns:a="http://schemas.openxmlformats.org/drawingml/2006/main" noGrp="1"/>
          </p:cNvSpPr>
          <p:nvPr/>
        </p:nvSpPr>
        <p:spPr>
          <a:xfrm xmlns:a="http://schemas.openxmlformats.org/drawingml/2006/main">
            <a:off x="8401050" y="3286125"/>
            <a:ext cx="29337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F8FAFC"/>
                </a:solidFill>
                <a:latin typeface="Arial"/>
                <a:ea typeface="Arial"/>
                <a:cs typeface="Arial"/>
              </a:defRPr>
            </a:defPPr>
            <a:lvl1pPr>
              <a:defRPr sz="1275" b="0">
                <a:solidFill>
                  <a:srgbClr val="F8FAFC"/>
                </a:solidFill>
                <a:latin typeface="Arial"/>
                <a:ea typeface="Arial"/>
                <a:cs typeface="Arial"/>
              </a:defRPr>
            </a:lvl1pPr>
            <a:lvl2pPr>
              <a:defRPr sz="1275" b="0">
                <a:solidFill>
                  <a:srgbClr val="F8FAFC"/>
                </a:solidFill>
                <a:latin typeface="Arial"/>
                <a:ea typeface="Arial"/>
                <a:cs typeface="Arial"/>
              </a:defRPr>
            </a:lvl2pPr>
            <a:lvl3pPr>
              <a:defRPr sz="1275" b="0">
                <a:solidFill>
                  <a:srgbClr val="F8FAFC"/>
                </a:solidFill>
                <a:latin typeface="Arial"/>
                <a:ea typeface="Arial"/>
                <a:cs typeface="Arial"/>
              </a:defRPr>
            </a:lvl3pPr>
            <a:lvl4pPr>
              <a:defRPr sz="1275" b="0">
                <a:solidFill>
                  <a:srgbClr val="F8FAFC"/>
                </a:solidFill>
                <a:latin typeface="Arial"/>
                <a:ea typeface="Arial"/>
                <a:cs typeface="Arial"/>
              </a:defRPr>
            </a:lvl4pPr>
            <a:lvl5pPr>
              <a:defRPr sz="1275" b="0">
                <a:solidFill>
                  <a:srgbClr val="F8FAFC"/>
                </a:solidFill>
                <a:latin typeface="Arial"/>
                <a:ea typeface="Arial"/>
                <a:cs typeface="Arial"/>
              </a:defRPr>
            </a:lvl5pPr>
            <a:lvl6pPr>
              <a:defRPr sz="1275" b="0">
                <a:solidFill>
                  <a:srgbClr val="F8FAFC"/>
                </a:solidFill>
                <a:latin typeface="Arial"/>
                <a:ea typeface="Arial"/>
                <a:cs typeface="Arial"/>
              </a:defRPr>
            </a:lvl6pPr>
            <a:lvl7pPr>
              <a:defRPr sz="1275" b="0">
                <a:solidFill>
                  <a:srgbClr val="F8FAFC"/>
                </a:solidFill>
                <a:latin typeface="Arial"/>
                <a:ea typeface="Arial"/>
                <a:cs typeface="Arial"/>
              </a:defRPr>
            </a:lvl7pPr>
            <a:lvl8pPr>
              <a:defRPr sz="1275" b="0">
                <a:solidFill>
                  <a:srgbClr val="F8FAFC"/>
                </a:solidFill>
                <a:latin typeface="Arial"/>
                <a:ea typeface="Arial"/>
                <a:cs typeface="Arial"/>
              </a:defRPr>
            </a:lvl8pPr>
            <a:lvl9pPr>
              <a:defRPr sz="1275" b="0">
                <a:solidFill>
                  <a:srgbClr val="F8FAFC"/>
                </a:solidFill>
                <a:latin typeface="Arial"/>
                <a:ea typeface="Arial"/>
                <a:cs typeface="Arial"/>
              </a:defRPr>
            </a:lvl9pPr>
          </a:lstStyle>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Validation Acc: 98.88% (5.015 ảnh)</a:t>
            </a:r>
          </a:p>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Generalization Camera Ngoài: 99.84%</a:t>
            </a:r>
          </a:p>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Tốc độ: 30 FPS mượt mà</a:t>
            </a:r>
          </a:p>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Độ trễ suy luận mô hình: ~6ms</a:t>
            </a:r>
          </a:p>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Auto-reconnect camera USB</a:t>
            </a:r>
          </a:p>
          <a:p xmlns:a="http://schemas.openxmlformats.org/drawingml/2006/main">
            <a:pPr>
              <a:defRPr sz="1275" b="0">
                <a:solidFill>
                  <a:srgbClr val="F8FAFC"/>
                </a:solidFill>
                <a:latin typeface="Arial"/>
                <a:ea typeface="Arial"/>
                <a:cs typeface="Arial"/>
              </a:defRPr>
            </a:pPr>
            <a:r>
              <a:rPr sz="1275" b="0">
                <a:solidFill>
                  <a:srgbClr val="F8FAFC"/>
                </a:solidFill>
                <a:latin typeface="Arial"/>
                <a:ea typeface="Arial"/>
                <a:cs typeface="Arial"/>
              </a:rPr>
              <a:t>• Đã loại bỏ 100% khung vàng rác</a:t>
            </a:r>
          </a:p>
        </p:txBody>
      </p:sp>
      <p:sp>
        <p:nvSpPr>
          <p:cNvPr id="13" name="">
            <a:extLst xmlns:a="http://schemas.openxmlformats.org/drawingml/2006/main">
              <a:ext uri="{FF2B5EF4-FFF2-40B4-BE49-F238E27FC236}">
                <a16:creationId xmlns:a16="http://schemas.microsoft.com/office/drawing/2014/main" id="{BD15AE53-E61F-4C06-AD2A-C7D735F10D2C}"/>
              </a:ext>
            </a:extLst>
          </p:cNvPr>
          <p:cNvSpPr>
            <a:spLocks xmlns:a="http://schemas.openxmlformats.org/drawingml/2006/main" noGrp="1"/>
          </p:cNvSpPr>
          <p:nvPr/>
        </p:nvSpPr>
        <p:spPr>
          <a:xfrm xmlns:a="http://schemas.openxmlformats.org/drawingml/2006/main">
            <a:off x="609600" y="60007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94A3B8"/>
                </a:solidFill>
                <a:latin typeface="Arial"/>
                <a:ea typeface="Arial"/>
                <a:cs typeface="Arial"/>
              </a:defRPr>
            </a:defPPr>
            <a:lvl1pPr>
              <a:defRPr sz="1200" b="0">
                <a:solidFill>
                  <a:srgbClr val="94A3B8"/>
                </a:solidFill>
                <a:latin typeface="Arial"/>
                <a:ea typeface="Arial"/>
                <a:cs typeface="Arial"/>
              </a:defRPr>
            </a:lvl1pPr>
            <a:lvl2pPr>
              <a:defRPr sz="1200" b="0">
                <a:solidFill>
                  <a:srgbClr val="94A3B8"/>
                </a:solidFill>
                <a:latin typeface="Arial"/>
                <a:ea typeface="Arial"/>
                <a:cs typeface="Arial"/>
              </a:defRPr>
            </a:lvl2pPr>
            <a:lvl3pPr>
              <a:defRPr sz="1200" b="0">
                <a:solidFill>
                  <a:srgbClr val="94A3B8"/>
                </a:solidFill>
                <a:latin typeface="Arial"/>
                <a:ea typeface="Arial"/>
                <a:cs typeface="Arial"/>
              </a:defRPr>
            </a:lvl3pPr>
            <a:lvl4pPr>
              <a:defRPr sz="1200" b="0">
                <a:solidFill>
                  <a:srgbClr val="94A3B8"/>
                </a:solidFill>
                <a:latin typeface="Arial"/>
                <a:ea typeface="Arial"/>
                <a:cs typeface="Arial"/>
              </a:defRPr>
            </a:lvl4pPr>
            <a:lvl5pPr>
              <a:defRPr sz="1200" b="0">
                <a:solidFill>
                  <a:srgbClr val="94A3B8"/>
                </a:solidFill>
                <a:latin typeface="Arial"/>
                <a:ea typeface="Arial"/>
                <a:cs typeface="Arial"/>
              </a:defRPr>
            </a:lvl5pPr>
            <a:lvl6pPr>
              <a:defRPr sz="1200" b="0">
                <a:solidFill>
                  <a:srgbClr val="94A3B8"/>
                </a:solidFill>
                <a:latin typeface="Arial"/>
                <a:ea typeface="Arial"/>
                <a:cs typeface="Arial"/>
              </a:defRPr>
            </a:lvl6pPr>
            <a:lvl7pPr>
              <a:defRPr sz="1200" b="0">
                <a:solidFill>
                  <a:srgbClr val="94A3B8"/>
                </a:solidFill>
                <a:latin typeface="Arial"/>
                <a:ea typeface="Arial"/>
                <a:cs typeface="Arial"/>
              </a:defRPr>
            </a:lvl7pPr>
            <a:lvl8pPr>
              <a:defRPr sz="1200" b="0">
                <a:solidFill>
                  <a:srgbClr val="94A3B8"/>
                </a:solidFill>
                <a:latin typeface="Arial"/>
                <a:ea typeface="Arial"/>
                <a:cs typeface="Arial"/>
              </a:defRPr>
            </a:lvl8pPr>
            <a:lvl9pPr>
              <a:defRPr sz="1200" b="0">
                <a:solidFill>
                  <a:srgbClr val="94A3B8"/>
                </a:solidFill>
                <a:latin typeface="Arial"/>
                <a:ea typeface="Arial"/>
                <a:cs typeface="Arial"/>
              </a:defRPr>
            </a:lvl9pPr>
          </a:lstStyle>
          <a:p xmlns:a="http://schemas.openxmlformats.org/drawingml/2006/main">
            <a:pPr>
              <a:defRPr sz="1200" b="0">
                <a:solidFill>
                  <a:srgbClr val="94A3B8"/>
                </a:solidFill>
                <a:latin typeface="Arial"/>
                <a:ea typeface="Arial"/>
                <a:cs typeface="Arial"/>
              </a:defRPr>
            </a:pPr>
            <a:r>
              <a:rPr sz="1200" b="0">
                <a:solidFill>
                  <a:srgbClr val="94A3B8"/>
                </a:solidFill>
                <a:latin typeface="Arial"/>
                <a:ea typeface="Arial"/>
                <a:cs typeface="Arial"/>
              </a:rPr>
              <a:t>Ngày báo cáo: 20/10/2026  |  Model: liveness_cam4k.h5 &amp; liveness_cam4k.tflite</a:t>
            </a:r>
          </a:p>
        </p:txBody>
      </p:sp>
      <p:sp>
        <p:nvSpPr>
          <p:cNvPr id="14" name="">
            <a:extLst xmlns:a="http://schemas.openxmlformats.org/drawingml/2006/main">
              <a:ext uri="{FF2B5EF4-FFF2-40B4-BE49-F238E27FC236}">
                <a16:creationId xmlns:a16="http://schemas.microsoft.com/office/drawing/2014/main" id="{D5EB1780-BE6B-4B2F-AA5B-DB9E356656BA}"/>
              </a:ext>
            </a:extLst>
          </p:cNvPr>
          <p:cNvSpPr>
            <a:spLocks xmlns:a="http://schemas.openxmlformats.org/drawingml/2006/main" noGrp="1"/>
          </p:cNvSpPr>
          <p:nvPr/>
        </p:nvSpPr>
        <p:spPr>
          <a:xfrm xmlns:a="http://schemas.openxmlformats.org/drawingml/2006/main">
            <a:off x="11049000" y="6000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94A3B8"/>
                </a:solidFill>
                <a:latin typeface="Arial"/>
                <a:ea typeface="Arial"/>
                <a:cs typeface="Arial"/>
              </a:defRPr>
            </a:defPPr>
            <a:lvl1pPr>
              <a:defRPr sz="1050" b="0">
                <a:solidFill>
                  <a:srgbClr val="94A3B8"/>
                </a:solidFill>
                <a:latin typeface="Arial"/>
                <a:ea typeface="Arial"/>
                <a:cs typeface="Arial"/>
              </a:defRPr>
            </a:lvl1pPr>
            <a:lvl2pPr>
              <a:defRPr sz="1050" b="0">
                <a:solidFill>
                  <a:srgbClr val="94A3B8"/>
                </a:solidFill>
                <a:latin typeface="Arial"/>
                <a:ea typeface="Arial"/>
                <a:cs typeface="Arial"/>
              </a:defRPr>
            </a:lvl2pPr>
            <a:lvl3pPr>
              <a:defRPr sz="1050" b="0">
                <a:solidFill>
                  <a:srgbClr val="94A3B8"/>
                </a:solidFill>
                <a:latin typeface="Arial"/>
                <a:ea typeface="Arial"/>
                <a:cs typeface="Arial"/>
              </a:defRPr>
            </a:lvl3pPr>
            <a:lvl4pPr>
              <a:defRPr sz="1050" b="0">
                <a:solidFill>
                  <a:srgbClr val="94A3B8"/>
                </a:solidFill>
                <a:latin typeface="Arial"/>
                <a:ea typeface="Arial"/>
                <a:cs typeface="Arial"/>
              </a:defRPr>
            </a:lvl4pPr>
            <a:lvl5pPr>
              <a:defRPr sz="1050" b="0">
                <a:solidFill>
                  <a:srgbClr val="94A3B8"/>
                </a:solidFill>
                <a:latin typeface="Arial"/>
                <a:ea typeface="Arial"/>
                <a:cs typeface="Arial"/>
              </a:defRPr>
            </a:lvl5pPr>
            <a:lvl6pPr>
              <a:defRPr sz="1050" b="0">
                <a:solidFill>
                  <a:srgbClr val="94A3B8"/>
                </a:solidFill>
                <a:latin typeface="Arial"/>
                <a:ea typeface="Arial"/>
                <a:cs typeface="Arial"/>
              </a:defRPr>
            </a:lvl6pPr>
            <a:lvl7pPr>
              <a:defRPr sz="1050" b="0">
                <a:solidFill>
                  <a:srgbClr val="94A3B8"/>
                </a:solidFill>
                <a:latin typeface="Arial"/>
                <a:ea typeface="Arial"/>
                <a:cs typeface="Arial"/>
              </a:defRPr>
            </a:lvl7pPr>
            <a:lvl8pPr>
              <a:defRPr sz="1050" b="0">
                <a:solidFill>
                  <a:srgbClr val="94A3B8"/>
                </a:solidFill>
                <a:latin typeface="Arial"/>
                <a:ea typeface="Arial"/>
                <a:cs typeface="Arial"/>
              </a:defRPr>
            </a:lvl8pPr>
            <a:lvl9pPr>
              <a:defRPr sz="1050" b="0">
                <a:solidFill>
                  <a:srgbClr val="94A3B8"/>
                </a:solidFill>
                <a:latin typeface="Arial"/>
                <a:ea typeface="Arial"/>
                <a:cs typeface="Arial"/>
              </a:defRPr>
            </a:lvl9pPr>
          </a:lstStyle>
          <a:p xmlns:a="http://schemas.openxmlformats.org/drawingml/2006/main">
            <a:pPr>
              <a:defRPr sz="1050" b="0">
                <a:solidFill>
                  <a:srgbClr val="94A3B8"/>
                </a:solidFill>
                <a:latin typeface="Arial"/>
                <a:ea typeface="Arial"/>
                <a:cs typeface="Arial"/>
              </a:defRPr>
            </a:pPr>
            <a:r>
              <a:rPr sz="1050" b="0">
                <a:solidFill>
                  <a:srgbClr val="94A3B8"/>
                </a:solidFill>
                <a:latin typeface="Arial"/>
                <a:ea typeface="Arial"/>
                <a:cs typeface="Arial"/>
              </a:rPr>
              <a:t>01 / 05</a:t>
            </a:r>
          </a:p>
        </p:txBody>
      </p:sp>
    </p:spTree>
    <p:extLst>
      <p:ext uri="{BB962C8B-B14F-4D97-AF65-F5344CB8AC3E}">
        <p14:creationId xmlns:p14="http://schemas.microsoft.com/office/powerpoint/2010/main" val="2086827086"/>
      </p:ext>
    </p:extLst>
  </p:cSld>
</p:sld>
</file>

<file path=ppt/slides/slide2.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3CA9526-BC04-4578-9192-77CF94136A0C}"/>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F8FAFC"/>
                </a:solidFill>
                <a:latin typeface="Arial"/>
                <a:ea typeface="Arial"/>
                <a:cs typeface="Arial"/>
              </a:defRPr>
            </a:defPPr>
            <a:lvl1pPr>
              <a:defRPr sz="2550" b="1">
                <a:solidFill>
                  <a:srgbClr val="F8FAFC"/>
                </a:solidFill>
                <a:latin typeface="Arial"/>
                <a:ea typeface="Arial"/>
                <a:cs typeface="Arial"/>
              </a:defRPr>
            </a:lvl1pPr>
            <a:lvl2pPr>
              <a:defRPr sz="2550" b="1">
                <a:solidFill>
                  <a:srgbClr val="F8FAFC"/>
                </a:solidFill>
                <a:latin typeface="Arial"/>
                <a:ea typeface="Arial"/>
                <a:cs typeface="Arial"/>
              </a:defRPr>
            </a:lvl2pPr>
            <a:lvl3pPr>
              <a:defRPr sz="2550" b="1">
                <a:solidFill>
                  <a:srgbClr val="F8FAFC"/>
                </a:solidFill>
                <a:latin typeface="Arial"/>
                <a:ea typeface="Arial"/>
                <a:cs typeface="Arial"/>
              </a:defRPr>
            </a:lvl3pPr>
            <a:lvl4pPr>
              <a:defRPr sz="2550" b="1">
                <a:solidFill>
                  <a:srgbClr val="F8FAFC"/>
                </a:solidFill>
                <a:latin typeface="Arial"/>
                <a:ea typeface="Arial"/>
                <a:cs typeface="Arial"/>
              </a:defRPr>
            </a:lvl4pPr>
            <a:lvl5pPr>
              <a:defRPr sz="2550" b="1">
                <a:solidFill>
                  <a:srgbClr val="F8FAFC"/>
                </a:solidFill>
                <a:latin typeface="Arial"/>
                <a:ea typeface="Arial"/>
                <a:cs typeface="Arial"/>
              </a:defRPr>
            </a:lvl5pPr>
            <a:lvl6pPr>
              <a:defRPr sz="2550" b="1">
                <a:solidFill>
                  <a:srgbClr val="F8FAFC"/>
                </a:solidFill>
                <a:latin typeface="Arial"/>
                <a:ea typeface="Arial"/>
                <a:cs typeface="Arial"/>
              </a:defRPr>
            </a:lvl6pPr>
            <a:lvl7pPr>
              <a:defRPr sz="2550" b="1">
                <a:solidFill>
                  <a:srgbClr val="F8FAFC"/>
                </a:solidFill>
                <a:latin typeface="Arial"/>
                <a:ea typeface="Arial"/>
                <a:cs typeface="Arial"/>
              </a:defRPr>
            </a:lvl7pPr>
            <a:lvl8pPr>
              <a:defRPr sz="2550" b="1">
                <a:solidFill>
                  <a:srgbClr val="F8FAFC"/>
                </a:solidFill>
                <a:latin typeface="Arial"/>
                <a:ea typeface="Arial"/>
                <a:cs typeface="Arial"/>
              </a:defRPr>
            </a:lvl8pPr>
            <a:lvl9pPr>
              <a:defRPr sz="2550" b="1">
                <a:solidFill>
                  <a:srgbClr val="F8FAFC"/>
                </a:solidFill>
                <a:latin typeface="Arial"/>
                <a:ea typeface="Arial"/>
                <a:cs typeface="Arial"/>
              </a:defRPr>
            </a:lvl9pPr>
          </a:lstStyle>
          <a:p xmlns:a="http://schemas.openxmlformats.org/drawingml/2006/main">
            <a:pPr>
              <a:defRPr sz="2550" b="1">
                <a:solidFill>
                  <a:srgbClr val="F8FAFC"/>
                </a:solidFill>
                <a:latin typeface="Arial"/>
                <a:ea typeface="Arial"/>
                <a:cs typeface="Arial"/>
              </a:defRPr>
            </a:pPr>
            <a:r>
              <a:rPr sz="2550" b="1">
                <a:solidFill>
                  <a:srgbClr val="F8FAFC"/>
                </a:solidFill>
                <a:latin typeface="Arial"/>
                <a:ea typeface="Arial"/>
                <a:cs typeface="Arial"/>
              </a:rPr>
              <a:t>Quá Trình Huấn Luyện &amp; Đồ Thị Hội Tụ</a:t>
            </a:r>
          </a:p>
        </p:txBody>
      </p:sp>
      <p:sp>
        <p:nvSpPr>
          <p:cNvPr id="2" name="">
            <a:extLst xmlns:a="http://schemas.openxmlformats.org/drawingml/2006/main">
              <a:ext uri="{FF2B5EF4-FFF2-40B4-BE49-F238E27FC236}">
                <a16:creationId xmlns:a16="http://schemas.microsoft.com/office/drawing/2014/main" id="{965BE64C-830F-43E8-B471-8C934F46F9AB}"/>
              </a:ext>
            </a:extLst>
          </p:cNvPr>
          <p:cNvSpPr>
            <a:spLocks xmlns:a="http://schemas.openxmlformats.org/drawingml/2006/main" noGrp="1"/>
          </p:cNvSpPr>
          <p:nvPr/>
        </p:nvSpPr>
        <p:spPr>
          <a:xfrm xmlns:a="http://schemas.openxmlformats.org/drawingml/2006/main">
            <a:off x="609600" y="8572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38BDF8"/>
                </a:solidFill>
                <a:latin typeface="Arial"/>
                <a:ea typeface="Arial"/>
                <a:cs typeface="Arial"/>
              </a:defRPr>
            </a:defPPr>
            <a:lvl1pPr>
              <a:defRPr sz="1350" b="1">
                <a:solidFill>
                  <a:srgbClr val="38BDF8"/>
                </a:solidFill>
                <a:latin typeface="Arial"/>
                <a:ea typeface="Arial"/>
                <a:cs typeface="Arial"/>
              </a:defRPr>
            </a:lvl1pPr>
            <a:lvl2pPr>
              <a:defRPr sz="1350" b="1">
                <a:solidFill>
                  <a:srgbClr val="38BDF8"/>
                </a:solidFill>
                <a:latin typeface="Arial"/>
                <a:ea typeface="Arial"/>
                <a:cs typeface="Arial"/>
              </a:defRPr>
            </a:lvl2pPr>
            <a:lvl3pPr>
              <a:defRPr sz="1350" b="1">
                <a:solidFill>
                  <a:srgbClr val="38BDF8"/>
                </a:solidFill>
                <a:latin typeface="Arial"/>
                <a:ea typeface="Arial"/>
                <a:cs typeface="Arial"/>
              </a:defRPr>
            </a:lvl3pPr>
            <a:lvl4pPr>
              <a:defRPr sz="1350" b="1">
                <a:solidFill>
                  <a:srgbClr val="38BDF8"/>
                </a:solidFill>
                <a:latin typeface="Arial"/>
                <a:ea typeface="Arial"/>
                <a:cs typeface="Arial"/>
              </a:defRPr>
            </a:lvl4pPr>
            <a:lvl5pPr>
              <a:defRPr sz="1350" b="1">
                <a:solidFill>
                  <a:srgbClr val="38BDF8"/>
                </a:solidFill>
                <a:latin typeface="Arial"/>
                <a:ea typeface="Arial"/>
                <a:cs typeface="Arial"/>
              </a:defRPr>
            </a:lvl5pPr>
            <a:lvl6pPr>
              <a:defRPr sz="1350" b="1">
                <a:solidFill>
                  <a:srgbClr val="38BDF8"/>
                </a:solidFill>
                <a:latin typeface="Arial"/>
                <a:ea typeface="Arial"/>
                <a:cs typeface="Arial"/>
              </a:defRPr>
            </a:lvl6pPr>
            <a:lvl7pPr>
              <a:defRPr sz="1350" b="1">
                <a:solidFill>
                  <a:srgbClr val="38BDF8"/>
                </a:solidFill>
                <a:latin typeface="Arial"/>
                <a:ea typeface="Arial"/>
                <a:cs typeface="Arial"/>
              </a:defRPr>
            </a:lvl7pPr>
            <a:lvl8pPr>
              <a:defRPr sz="1350" b="1">
                <a:solidFill>
                  <a:srgbClr val="38BDF8"/>
                </a:solidFill>
                <a:latin typeface="Arial"/>
                <a:ea typeface="Arial"/>
                <a:cs typeface="Arial"/>
              </a:defRPr>
            </a:lvl8pPr>
            <a:lvl9pPr>
              <a:defRPr sz="1350" b="1">
                <a:solidFill>
                  <a:srgbClr val="38BDF8"/>
                </a:solidFill>
                <a:latin typeface="Arial"/>
                <a:ea typeface="Arial"/>
                <a:cs typeface="Arial"/>
              </a:defRPr>
            </a:lvl9pPr>
          </a:lstStyle>
          <a:p xmlns:a="http://schemas.openxmlformats.org/drawingml/2006/main">
            <a:pPr>
              <a:defRPr sz="1350" b="1">
                <a:solidFill>
                  <a:srgbClr val="38BDF8"/>
                </a:solidFill>
                <a:latin typeface="Arial"/>
                <a:ea typeface="Arial"/>
                <a:cs typeface="Arial"/>
              </a:defRPr>
            </a:pPr>
            <a:r>
              <a:rPr sz="1350" b="1">
                <a:solidFill>
                  <a:srgbClr val="38BDF8"/>
                </a:solidFill>
                <a:latin typeface="Arial"/>
                <a:ea typeface="Arial"/>
                <a:cs typeface="Arial"/>
              </a:rPr>
              <a:t>THEO DÕI LOSS VÀ ACCURACY QUA 18 EPOCHS - CHECKPOINT EPOCH 14</a:t>
            </a:r>
          </a:p>
        </p:txBody>
      </p:sp>
      <p:sp>
        <p:nvSpPr>
          <p:cNvPr id="3" name="">
            <a:extLst xmlns:a="http://schemas.openxmlformats.org/drawingml/2006/main">
              <a:ext uri="{FF2B5EF4-FFF2-40B4-BE49-F238E27FC236}">
                <a16:creationId xmlns:a16="http://schemas.microsoft.com/office/drawing/2014/main" id="{ED6F2FE7-2701-4F9A-AF20-603688D07C35}"/>
              </a:ext>
            </a:extLst>
          </p:cNvPr>
          <p:cNvSpPr>
            <a:spLocks xmlns:a="http://schemas.openxmlformats.org/drawingml/2006/main" noGrp="1"/>
          </p:cNvSpPr>
          <p:nvPr/>
        </p:nvSpPr>
        <p:spPr>
          <a:xfrm xmlns:a="http://schemas.openxmlformats.org/drawingml/2006/main">
            <a:off x="609600" y="64198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94A3B8"/>
                </a:solidFill>
                <a:latin typeface="Arial"/>
                <a:ea typeface="Arial"/>
                <a:cs typeface="Arial"/>
              </a:defRPr>
            </a:defPPr>
            <a:lvl1pPr>
              <a:defRPr sz="1050" b="0">
                <a:solidFill>
                  <a:srgbClr val="94A3B8"/>
                </a:solidFill>
                <a:latin typeface="Arial"/>
                <a:ea typeface="Arial"/>
                <a:cs typeface="Arial"/>
              </a:defRPr>
            </a:lvl1pPr>
            <a:lvl2pPr>
              <a:defRPr sz="1050" b="0">
                <a:solidFill>
                  <a:srgbClr val="94A3B8"/>
                </a:solidFill>
                <a:latin typeface="Arial"/>
                <a:ea typeface="Arial"/>
                <a:cs typeface="Arial"/>
              </a:defRPr>
            </a:lvl2pPr>
            <a:lvl3pPr>
              <a:defRPr sz="1050" b="0">
                <a:solidFill>
                  <a:srgbClr val="94A3B8"/>
                </a:solidFill>
                <a:latin typeface="Arial"/>
                <a:ea typeface="Arial"/>
                <a:cs typeface="Arial"/>
              </a:defRPr>
            </a:lvl3pPr>
            <a:lvl4pPr>
              <a:defRPr sz="1050" b="0">
                <a:solidFill>
                  <a:srgbClr val="94A3B8"/>
                </a:solidFill>
                <a:latin typeface="Arial"/>
                <a:ea typeface="Arial"/>
                <a:cs typeface="Arial"/>
              </a:defRPr>
            </a:lvl4pPr>
            <a:lvl5pPr>
              <a:defRPr sz="1050" b="0">
                <a:solidFill>
                  <a:srgbClr val="94A3B8"/>
                </a:solidFill>
                <a:latin typeface="Arial"/>
                <a:ea typeface="Arial"/>
                <a:cs typeface="Arial"/>
              </a:defRPr>
            </a:lvl5pPr>
            <a:lvl6pPr>
              <a:defRPr sz="1050" b="0">
                <a:solidFill>
                  <a:srgbClr val="94A3B8"/>
                </a:solidFill>
                <a:latin typeface="Arial"/>
                <a:ea typeface="Arial"/>
                <a:cs typeface="Arial"/>
              </a:defRPr>
            </a:lvl6pPr>
            <a:lvl7pPr>
              <a:defRPr sz="1050" b="0">
                <a:solidFill>
                  <a:srgbClr val="94A3B8"/>
                </a:solidFill>
                <a:latin typeface="Arial"/>
                <a:ea typeface="Arial"/>
                <a:cs typeface="Arial"/>
              </a:defRPr>
            </a:lvl7pPr>
            <a:lvl8pPr>
              <a:defRPr sz="1050" b="0">
                <a:solidFill>
                  <a:srgbClr val="94A3B8"/>
                </a:solidFill>
                <a:latin typeface="Arial"/>
                <a:ea typeface="Arial"/>
                <a:cs typeface="Arial"/>
              </a:defRPr>
            </a:lvl8pPr>
            <a:lvl9pPr>
              <a:defRPr sz="1050" b="0">
                <a:solidFill>
                  <a:srgbClr val="94A3B8"/>
                </a:solidFill>
                <a:latin typeface="Arial"/>
                <a:ea typeface="Arial"/>
                <a:cs typeface="Arial"/>
              </a:defRPr>
            </a:lvl9pPr>
          </a:lstStyle>
          <a:p xmlns:a="http://schemas.openxmlformats.org/drawingml/2006/main">
            <a:pPr>
              <a:defRPr sz="1050" b="0">
                <a:solidFill>
                  <a:srgbClr val="94A3B8"/>
                </a:solidFill>
                <a:latin typeface="Arial"/>
                <a:ea typeface="Arial"/>
                <a:cs typeface="Arial"/>
              </a:defRPr>
            </a:pPr>
            <a:r>
              <a:rPr sz="1050" b="0">
                <a:solidFill>
                  <a:srgbClr val="94A3B8"/>
                </a:solidFill>
                <a:latin typeface="Arial"/>
                <a:ea typeface="Arial"/>
                <a:cs typeface="Arial"/>
              </a:rPr>
              <a:t>FACE ANTI-SPOOFING • CAMERA USB SC-M200 • EVALUATION REPORT</a:t>
            </a:r>
          </a:p>
        </p:txBody>
      </p:sp>
      <p:sp>
        <p:nvSpPr>
          <p:cNvPr id="4" name="">
            <a:extLst xmlns:a="http://schemas.openxmlformats.org/drawingml/2006/main">
              <a:ext uri="{FF2B5EF4-FFF2-40B4-BE49-F238E27FC236}">
                <a16:creationId xmlns:a16="http://schemas.microsoft.com/office/drawing/2014/main" id="{87E85866-40BB-420E-89F3-A79655180739}"/>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94A3B8"/>
                </a:solidFill>
                <a:latin typeface="Arial"/>
                <a:ea typeface="Arial"/>
                <a:cs typeface="Arial"/>
              </a:defRPr>
            </a:defPPr>
            <a:lvl1pPr>
              <a:defRPr sz="1050" b="0">
                <a:solidFill>
                  <a:srgbClr val="94A3B8"/>
                </a:solidFill>
                <a:latin typeface="Arial"/>
                <a:ea typeface="Arial"/>
                <a:cs typeface="Arial"/>
              </a:defRPr>
            </a:lvl1pPr>
            <a:lvl2pPr>
              <a:defRPr sz="1050" b="0">
                <a:solidFill>
                  <a:srgbClr val="94A3B8"/>
                </a:solidFill>
                <a:latin typeface="Arial"/>
                <a:ea typeface="Arial"/>
                <a:cs typeface="Arial"/>
              </a:defRPr>
            </a:lvl2pPr>
            <a:lvl3pPr>
              <a:defRPr sz="1050" b="0">
                <a:solidFill>
                  <a:srgbClr val="94A3B8"/>
                </a:solidFill>
                <a:latin typeface="Arial"/>
                <a:ea typeface="Arial"/>
                <a:cs typeface="Arial"/>
              </a:defRPr>
            </a:lvl3pPr>
            <a:lvl4pPr>
              <a:defRPr sz="1050" b="0">
                <a:solidFill>
                  <a:srgbClr val="94A3B8"/>
                </a:solidFill>
                <a:latin typeface="Arial"/>
                <a:ea typeface="Arial"/>
                <a:cs typeface="Arial"/>
              </a:defRPr>
            </a:lvl4pPr>
            <a:lvl5pPr>
              <a:defRPr sz="1050" b="0">
                <a:solidFill>
                  <a:srgbClr val="94A3B8"/>
                </a:solidFill>
                <a:latin typeface="Arial"/>
                <a:ea typeface="Arial"/>
                <a:cs typeface="Arial"/>
              </a:defRPr>
            </a:lvl5pPr>
            <a:lvl6pPr>
              <a:defRPr sz="1050" b="0">
                <a:solidFill>
                  <a:srgbClr val="94A3B8"/>
                </a:solidFill>
                <a:latin typeface="Arial"/>
                <a:ea typeface="Arial"/>
                <a:cs typeface="Arial"/>
              </a:defRPr>
            </a:lvl6pPr>
            <a:lvl7pPr>
              <a:defRPr sz="1050" b="0">
                <a:solidFill>
                  <a:srgbClr val="94A3B8"/>
                </a:solidFill>
                <a:latin typeface="Arial"/>
                <a:ea typeface="Arial"/>
                <a:cs typeface="Arial"/>
              </a:defRPr>
            </a:lvl7pPr>
            <a:lvl8pPr>
              <a:defRPr sz="1050" b="0">
                <a:solidFill>
                  <a:srgbClr val="94A3B8"/>
                </a:solidFill>
                <a:latin typeface="Arial"/>
                <a:ea typeface="Arial"/>
                <a:cs typeface="Arial"/>
              </a:defRPr>
            </a:lvl8pPr>
            <a:lvl9pPr>
              <a:defRPr sz="1050" b="0">
                <a:solidFill>
                  <a:srgbClr val="94A3B8"/>
                </a:solidFill>
                <a:latin typeface="Arial"/>
                <a:ea typeface="Arial"/>
                <a:cs typeface="Arial"/>
              </a:defRPr>
            </a:lvl9pPr>
          </a:lstStyle>
          <a:p xmlns:a="http://schemas.openxmlformats.org/drawingml/2006/main">
            <a:pPr>
              <a:defRPr sz="1050" b="0">
                <a:solidFill>
                  <a:srgbClr val="94A3B8"/>
                </a:solidFill>
                <a:latin typeface="Arial"/>
                <a:ea typeface="Arial"/>
                <a:cs typeface="Arial"/>
              </a:defRPr>
            </a:pPr>
            <a:r>
              <a:rPr sz="1050" b="0">
                <a:solidFill>
                  <a:srgbClr val="94A3B8"/>
                </a:solidFill>
                <a:latin typeface="Arial"/>
                <a:ea typeface="Arial"/>
                <a:cs typeface="Arial"/>
              </a:rPr>
              <a:t>02 / 05</a:t>
            </a:r>
          </a:p>
        </p:txBody>
      </p:sp>
      <p:sp>
        <p:nvSpPr>
          <p:cNvPr id="5" name="">
            <a:extLst xmlns:a="http://schemas.openxmlformats.org/drawingml/2006/main">
              <a:ext uri="{FF2B5EF4-FFF2-40B4-BE49-F238E27FC236}">
                <a16:creationId xmlns:a16="http://schemas.microsoft.com/office/drawing/2014/main" id="{C80DE3BE-AF4B-4ED1-9180-D9070F30E3DB}"/>
              </a:ext>
            </a:extLst>
          </p:cNvPr>
          <p:cNvSpPr>
            <a:spLocks xmlns:a="http://schemas.openxmlformats.org/drawingml/2006/main" noGrp="1"/>
          </p:cNvSpPr>
          <p:nvPr/>
        </p:nvSpPr>
        <p:spPr>
          <a:xfrm xmlns:a="http://schemas.openxmlformats.org/drawingml/2006/main">
            <a:off x="609600" y="1333500"/>
            <a:ext cx="4572000" cy="4810125"/>
          </a:xfrm>
          <a:prstGeom xmlns:a="http://schemas.openxmlformats.org/drawingml/2006/main" prst="rect">
            <a:avLst/>
          </a:prstGeom>
          <a:solidFill xmlns:a="http://schemas.openxmlformats.org/drawingml/2006/main">
            <a:srgbClr val="131F33"/>
          </a:solidFill>
          <a:ln xmlns:a="http://schemas.openxmlformats.org/drawingml/2006/main" w="9525">
            <a:solidFill>
              <a:srgbClr val="223652"/>
            </a:solidFill>
          </a:ln>
        </p:spPr>
        <p:txBody>
          <a:bodyPr xmlns:a="http://schemas.openxmlformats.org/drawingml/2006/main">
            <a:noAutofit/>
          </a:bodyPr>
          <a:lstStyle xmlns:a="http://schemas.openxmlformats.org/drawingml/2006/main">
            <a:defPPr>
              <a:defRPr sz="750">
                <a:solidFill>
                  <a:srgbClr val="131F33"/>
                </a:solidFill>
                <a:latin typeface="Arial"/>
                <a:ea typeface="Arial"/>
                <a:cs typeface="Arial"/>
              </a:defRPr>
            </a:defPPr>
            <a:lvl1pPr>
              <a:defRPr sz="750">
                <a:solidFill>
                  <a:srgbClr val="131F33"/>
                </a:solidFill>
                <a:latin typeface="Arial"/>
                <a:ea typeface="Arial"/>
                <a:cs typeface="Arial"/>
              </a:defRPr>
            </a:lvl1pPr>
            <a:lvl2pPr>
              <a:defRPr sz="750">
                <a:solidFill>
                  <a:srgbClr val="131F33"/>
                </a:solidFill>
                <a:latin typeface="Arial"/>
                <a:ea typeface="Arial"/>
                <a:cs typeface="Arial"/>
              </a:defRPr>
            </a:lvl2pPr>
            <a:lvl3pPr>
              <a:defRPr sz="750">
                <a:solidFill>
                  <a:srgbClr val="131F33"/>
                </a:solidFill>
                <a:latin typeface="Arial"/>
                <a:ea typeface="Arial"/>
                <a:cs typeface="Arial"/>
              </a:defRPr>
            </a:lvl3pPr>
            <a:lvl4pPr>
              <a:defRPr sz="750">
                <a:solidFill>
                  <a:srgbClr val="131F33"/>
                </a:solidFill>
                <a:latin typeface="Arial"/>
                <a:ea typeface="Arial"/>
                <a:cs typeface="Arial"/>
              </a:defRPr>
            </a:lvl4pPr>
            <a:lvl5pPr>
              <a:defRPr sz="750">
                <a:solidFill>
                  <a:srgbClr val="131F33"/>
                </a:solidFill>
                <a:latin typeface="Arial"/>
                <a:ea typeface="Arial"/>
                <a:cs typeface="Arial"/>
              </a:defRPr>
            </a:lvl5pPr>
            <a:lvl6pPr>
              <a:defRPr sz="750">
                <a:solidFill>
                  <a:srgbClr val="131F33"/>
                </a:solidFill>
                <a:latin typeface="Arial"/>
                <a:ea typeface="Arial"/>
                <a:cs typeface="Arial"/>
              </a:defRPr>
            </a:lvl6pPr>
            <a:lvl7pPr>
              <a:defRPr sz="750">
                <a:solidFill>
                  <a:srgbClr val="131F33"/>
                </a:solidFill>
                <a:latin typeface="Arial"/>
                <a:ea typeface="Arial"/>
                <a:cs typeface="Arial"/>
              </a:defRPr>
            </a:lvl7pPr>
            <a:lvl8pPr>
              <a:defRPr sz="750">
                <a:solidFill>
                  <a:srgbClr val="131F33"/>
                </a:solidFill>
                <a:latin typeface="Arial"/>
                <a:ea typeface="Arial"/>
                <a:cs typeface="Arial"/>
              </a:defRPr>
            </a:lvl8pPr>
            <a:lvl9pPr>
              <a:defRPr sz="750">
                <a:solidFill>
                  <a:srgbClr val="131F33"/>
                </a:solidFill>
                <a:latin typeface="Arial"/>
                <a:ea typeface="Arial"/>
                <a:cs typeface="Arial"/>
              </a:defRPr>
            </a:lvl9pPr>
          </a:lstStyle>
          <a:p xmlns:a="http://schemas.openxmlformats.org/drawingml/2006/main">
            <a:pPr>
              <a:defRPr sz="750">
                <a:solidFill>
                  <a:srgbClr val="131F33"/>
                </a:solidFill>
                <a:latin typeface="Arial"/>
                <a:ea typeface="Arial"/>
                <a:cs typeface="Arial"/>
              </a:defRPr>
            </a:pPr>
            <a:r>
              <a:rPr sz="750">
                <a:solidFill>
                  <a:srgbClr val="131F33"/>
                </a:solidFill>
                <a:latin typeface="Arial"/>
                <a:ea typeface="Arial"/>
                <a:cs typeface="Arial"/>
              </a:rPr>
              <a:t> </a:t>
            </a:r>
          </a:p>
        </p:txBody>
      </p:sp>
      <p:sp>
        <p:nvSpPr>
          <p:cNvPr id="6" name="">
            <a:extLst xmlns:a="http://schemas.openxmlformats.org/drawingml/2006/main">
              <a:ext uri="{FF2B5EF4-FFF2-40B4-BE49-F238E27FC236}">
                <a16:creationId xmlns:a16="http://schemas.microsoft.com/office/drawing/2014/main" id="{F49ABD3A-AD6D-450E-97AB-8A054DC9CA35}"/>
              </a:ext>
            </a:extLst>
          </p:cNvPr>
          <p:cNvSpPr>
            <a:spLocks xmlns:a="http://schemas.openxmlformats.org/drawingml/2006/main" noGrp="1"/>
          </p:cNvSpPr>
          <p:nvPr/>
        </p:nvSpPr>
        <p:spPr>
          <a:xfrm xmlns:a="http://schemas.openxmlformats.org/drawingml/2006/main">
            <a:off x="838200" y="1524000"/>
            <a:ext cx="411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8BDF8"/>
                </a:solidFill>
                <a:latin typeface="Arial"/>
                <a:ea typeface="Arial"/>
                <a:cs typeface="Arial"/>
              </a:defRPr>
            </a:defPPr>
            <a:lvl1pPr>
              <a:defRPr sz="1500" b="1">
                <a:solidFill>
                  <a:srgbClr val="38BDF8"/>
                </a:solidFill>
                <a:latin typeface="Arial"/>
                <a:ea typeface="Arial"/>
                <a:cs typeface="Arial"/>
              </a:defRPr>
            </a:lvl1pPr>
            <a:lvl2pPr>
              <a:defRPr sz="1500" b="1">
                <a:solidFill>
                  <a:srgbClr val="38BDF8"/>
                </a:solidFill>
                <a:latin typeface="Arial"/>
                <a:ea typeface="Arial"/>
                <a:cs typeface="Arial"/>
              </a:defRPr>
            </a:lvl2pPr>
            <a:lvl3pPr>
              <a:defRPr sz="1500" b="1">
                <a:solidFill>
                  <a:srgbClr val="38BDF8"/>
                </a:solidFill>
                <a:latin typeface="Arial"/>
                <a:ea typeface="Arial"/>
                <a:cs typeface="Arial"/>
              </a:defRPr>
            </a:lvl3pPr>
            <a:lvl4pPr>
              <a:defRPr sz="1500" b="1">
                <a:solidFill>
                  <a:srgbClr val="38BDF8"/>
                </a:solidFill>
                <a:latin typeface="Arial"/>
                <a:ea typeface="Arial"/>
                <a:cs typeface="Arial"/>
              </a:defRPr>
            </a:lvl4pPr>
            <a:lvl5pPr>
              <a:defRPr sz="1500" b="1">
                <a:solidFill>
                  <a:srgbClr val="38BDF8"/>
                </a:solidFill>
                <a:latin typeface="Arial"/>
                <a:ea typeface="Arial"/>
                <a:cs typeface="Arial"/>
              </a:defRPr>
            </a:lvl5pPr>
            <a:lvl6pPr>
              <a:defRPr sz="1500" b="1">
                <a:solidFill>
                  <a:srgbClr val="38BDF8"/>
                </a:solidFill>
                <a:latin typeface="Arial"/>
                <a:ea typeface="Arial"/>
                <a:cs typeface="Arial"/>
              </a:defRPr>
            </a:lvl6pPr>
            <a:lvl7pPr>
              <a:defRPr sz="1500" b="1">
                <a:solidFill>
                  <a:srgbClr val="38BDF8"/>
                </a:solidFill>
                <a:latin typeface="Arial"/>
                <a:ea typeface="Arial"/>
                <a:cs typeface="Arial"/>
              </a:defRPr>
            </a:lvl7pPr>
            <a:lvl8pPr>
              <a:defRPr sz="1500" b="1">
                <a:solidFill>
                  <a:srgbClr val="38BDF8"/>
                </a:solidFill>
                <a:latin typeface="Arial"/>
                <a:ea typeface="Arial"/>
                <a:cs typeface="Arial"/>
              </a:defRPr>
            </a:lvl8pPr>
            <a:lvl9pPr>
              <a:defRPr sz="1500" b="1">
                <a:solidFill>
                  <a:srgbClr val="38BDF8"/>
                </a:solidFill>
                <a:latin typeface="Arial"/>
                <a:ea typeface="Arial"/>
                <a:cs typeface="Arial"/>
              </a:defRPr>
            </a:lvl9pPr>
          </a:lstStyle>
          <a:p xmlns:a="http://schemas.openxmlformats.org/drawingml/2006/main">
            <a:pPr>
              <a:defRPr sz="1500" b="1">
                <a:solidFill>
                  <a:srgbClr val="38BDF8"/>
                </a:solidFill>
                <a:latin typeface="Arial"/>
                <a:ea typeface="Arial"/>
                <a:cs typeface="Arial"/>
              </a:defRPr>
            </a:pPr>
            <a:r>
              <a:rPr sz="1500" b="1">
                <a:solidFill>
                  <a:srgbClr val="38BDF8"/>
                </a:solidFill>
                <a:latin typeface="Arial"/>
                <a:ea typeface="Arial"/>
                <a:cs typeface="Arial"/>
              </a:rPr>
              <a:t>Chỉ Số Chi Tiết Quá Trình Huấn Luyện</a:t>
            </a:r>
          </a:p>
        </p:txBody>
      </p:sp>
      <p:graphicFrame>
        <p:nvGraphicFramePr>
          <p:cNvPr id="7" name="">
            <a:extLst xmlns:a="http://schemas.openxmlformats.org/drawingml/2006/main">
              <a:ext uri="{FF2B5EF4-FFF2-40B4-BE49-F238E27FC236}">
                <a16:creationId xmlns:a16="http://schemas.microsoft.com/office/drawing/2014/main" id="{99C452BA-6AC7-4C3F-9AAC-074791CCE58C}"/>
              </a:ext>
            </a:extLst>
          </p:cNvPr>
          <p:cNvGraphicFramePr/>
          <p:nvPr/>
        </p:nvGraphicFramePr>
        <p:xfrm>
          <a:off xmlns:a="http://schemas.openxmlformats.org/drawingml/2006/main" x="838200" y="1905000"/>
          <a:ext xmlns:a="http://schemas.openxmlformats.org/drawingml/2006/main" cx="4095750" cy="2428875"/>
        </p:xfrm>
        <a:graphic xmlns:a="http://schemas.openxmlformats.org/drawingml/2006/main">
          <a:graphicData uri="http://schemas.openxmlformats.org/drawingml/2006/table">
            <a:tbl>
              <a:tblPr/>
              <a:tblGrid>
                <a:gridCol w="1524000"/>
                <a:gridCol w="904875"/>
                <a:gridCol w="1666875"/>
              </a:tblGrid>
              <a:tr h="346982">
                <a:tc>
                  <a:txBody>
                    <a:bodyPr>
                      <a:noAutofit/>
                    </a:bodyPr>
                    <a:lstStyle/>
                    <a:p>
                      <a:r>
                        <a:rPr sz="1050" b="1">
                          <a:solidFill>
                            <a:srgbClr val="38BDF8"/>
                          </a:solidFill>
                          <a:latin typeface="Arial"/>
                          <a:ea typeface="Arial"/>
                          <a:cs typeface="Arial"/>
                        </a:rPr>
                        <a:t>Thông số</a:t>
                      </a:r>
                    </a:p>
                  </a:txBody>
                  <a:tcPr marL="91440" marR="91440" marT="45720" marB="45720">
                    <a:lnL w="9525">
                      <a:solidFill>
                        <a:srgbClr val="223652"/>
                      </a:solidFill>
                    </a:lnL>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1050" b="1">
                          <a:solidFill>
                            <a:srgbClr val="38BDF8"/>
                          </a:solidFill>
                          <a:latin typeface="Arial"/>
                          <a:ea typeface="Arial"/>
                          <a:cs typeface="Arial"/>
                        </a:rPr>
                        <a:t>Giá trị</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1050" b="1">
                          <a:solidFill>
                            <a:srgbClr val="38BDF8"/>
                          </a:solidFill>
                          <a:latin typeface="Arial"/>
                          <a:ea typeface="Arial"/>
                          <a:cs typeface="Arial"/>
                        </a:rPr>
                        <a:t>Nhận xét chuyên môn</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r>
              <a:tr h="346982">
                <a:tc>
                  <a:txBody>
                    <a:bodyPr>
                      <a:noAutofit/>
                    </a:bodyPr>
                    <a:lstStyle/>
                    <a:p>
                      <a:r>
                        <a:rPr sz="1050" b="1">
                          <a:solidFill>
                            <a:srgbClr val="F8FAFC"/>
                          </a:solidFill>
                          <a:latin typeface="Arial"/>
                          <a:ea typeface="Arial"/>
                          <a:cs typeface="Arial"/>
                        </a:rPr>
                        <a:t>Tổng Epochs chạy</a:t>
                      </a:r>
                    </a:p>
                  </a:txBody>
                  <a:tcPr marL="91440" marR="91440" marT="45720" marB="45720">
                    <a:lnL w="9525">
                      <a:solidFill>
                        <a:srgbClr val="223652"/>
                      </a:solidFill>
                    </a:lnL>
                    <a:lnR w="9525">
                      <a:solidFill>
                        <a:srgbClr val="223652"/>
                      </a:solidFill>
                    </a:lnR>
                    <a:lnB w="9525">
                      <a:solidFill>
                        <a:srgbClr val="223652"/>
                      </a:solidFill>
                    </a:lnB>
                    <a:solidFill>
                      <a:srgbClr val="101B2C"/>
                    </a:solidFill>
                  </a:tcPr>
                </a:tc>
                <a:tc>
                  <a:txBody>
                    <a:bodyPr>
                      <a:noAutofit/>
                    </a:bodyPr>
                    <a:lstStyle/>
                    <a:p>
                      <a:r>
                        <a:rPr sz="1050" b="0">
                          <a:solidFill>
                            <a:srgbClr val="94A3B8"/>
                          </a:solidFill>
                          <a:latin typeface="Arial"/>
                          <a:ea typeface="Arial"/>
                          <a:cs typeface="Arial"/>
                        </a:rPr>
                        <a:t>18</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1050" b="0">
                          <a:solidFill>
                            <a:srgbClr val="34D399"/>
                          </a:solidFill>
                          <a:latin typeface="Arial"/>
                          <a:ea typeface="Arial"/>
                          <a:cs typeface="Arial"/>
                        </a:rPr>
                        <a:t>Early Stopping giám sát val_loss</a:t>
                      </a:r>
                    </a:p>
                  </a:txBody>
                  <a:tcPr marL="91440" marR="91440" marT="45720" marB="45720">
                    <a:lnR w="9525">
                      <a:solidFill>
                        <a:srgbClr val="223652"/>
                      </a:solidFill>
                    </a:lnR>
                    <a:lnB w="9525">
                      <a:solidFill>
                        <a:srgbClr val="223652"/>
                      </a:solidFill>
                    </a:lnB>
                    <a:solidFill>
                      <a:srgbClr val="101B2C"/>
                    </a:solidFill>
                  </a:tcPr>
                </a:tc>
              </a:tr>
              <a:tr h="346982">
                <a:tc>
                  <a:txBody>
                    <a:bodyPr>
                      <a:noAutofit/>
                    </a:bodyPr>
                    <a:lstStyle/>
                    <a:p>
                      <a:r>
                        <a:rPr sz="1050" b="1">
                          <a:solidFill>
                            <a:srgbClr val="F8FAFC"/>
                          </a:solidFill>
                          <a:latin typeface="Arial"/>
                          <a:ea typeface="Arial"/>
                          <a:cs typeface="Arial"/>
                        </a:rPr>
                        <a:t>Epoch tốt nhất</a:t>
                      </a:r>
                    </a:p>
                  </a:txBody>
                  <a:tcPr marL="91440" marR="91440" marT="45720" marB="45720">
                    <a:lnL w="9525">
                      <a:solidFill>
                        <a:srgbClr val="223652"/>
                      </a:solidFill>
                    </a:lnL>
                    <a:lnR w="9525">
                      <a:solidFill>
                        <a:srgbClr val="223652"/>
                      </a:solidFill>
                    </a:lnR>
                    <a:lnB w="9525">
                      <a:solidFill>
                        <a:srgbClr val="223652"/>
                      </a:solidFill>
                    </a:lnB>
                    <a:solidFill>
                      <a:srgbClr val="0B1320"/>
                    </a:solidFill>
                  </a:tcPr>
                </a:tc>
                <a:tc>
                  <a:txBody>
                    <a:bodyPr>
                      <a:noAutofit/>
                    </a:bodyPr>
                    <a:lstStyle/>
                    <a:p>
                      <a:r>
                        <a:rPr sz="1050" b="0">
                          <a:solidFill>
                            <a:srgbClr val="94A3B8"/>
                          </a:solidFill>
                          <a:latin typeface="Arial"/>
                          <a:ea typeface="Arial"/>
                          <a:cs typeface="Arial"/>
                        </a:rPr>
                        <a:t>Epoch 14</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1050" b="0">
                          <a:solidFill>
                            <a:srgbClr val="34D399"/>
                          </a:solidFill>
                          <a:latin typeface="Arial"/>
                          <a:ea typeface="Arial"/>
                          <a:cs typeface="Arial"/>
                        </a:rPr>
                        <a:t>Điểm tối ưu tổng hòa, loss thấp nhất</a:t>
                      </a:r>
                    </a:p>
                  </a:txBody>
                  <a:tcPr marL="91440" marR="91440" marT="45720" marB="45720">
                    <a:lnR w="9525">
                      <a:solidFill>
                        <a:srgbClr val="223652"/>
                      </a:solidFill>
                    </a:lnR>
                    <a:lnB w="9525">
                      <a:solidFill>
                        <a:srgbClr val="223652"/>
                      </a:solidFill>
                    </a:lnB>
                    <a:solidFill>
                      <a:srgbClr val="0B1320"/>
                    </a:solidFill>
                  </a:tcPr>
                </a:tc>
              </a:tr>
              <a:tr h="346982">
                <a:tc>
                  <a:txBody>
                    <a:bodyPr>
                      <a:noAutofit/>
                    </a:bodyPr>
                    <a:lstStyle/>
                    <a:p>
                      <a:r>
                        <a:rPr sz="1050" b="1">
                          <a:solidFill>
                            <a:srgbClr val="F8FAFC"/>
                          </a:solidFill>
                          <a:latin typeface="Arial"/>
                          <a:ea typeface="Arial"/>
                          <a:cs typeface="Arial"/>
                        </a:rPr>
                        <a:t>Train Loss</a:t>
                      </a:r>
                    </a:p>
                  </a:txBody>
                  <a:tcPr marL="91440" marR="91440" marT="45720" marB="45720">
                    <a:lnL w="9525">
                      <a:solidFill>
                        <a:srgbClr val="223652"/>
                      </a:solidFill>
                    </a:lnL>
                    <a:lnR w="9525">
                      <a:solidFill>
                        <a:srgbClr val="223652"/>
                      </a:solidFill>
                    </a:lnR>
                    <a:lnB w="9525">
                      <a:solidFill>
                        <a:srgbClr val="223652"/>
                      </a:solidFill>
                    </a:lnB>
                    <a:solidFill>
                      <a:srgbClr val="101B2C"/>
                    </a:solidFill>
                  </a:tcPr>
                </a:tc>
                <a:tc>
                  <a:txBody>
                    <a:bodyPr>
                      <a:noAutofit/>
                    </a:bodyPr>
                    <a:lstStyle/>
                    <a:p>
                      <a:r>
                        <a:rPr sz="1050" b="0">
                          <a:solidFill>
                            <a:srgbClr val="94A3B8"/>
                          </a:solidFill>
                          <a:latin typeface="Arial"/>
                          <a:ea typeface="Arial"/>
                          <a:cs typeface="Arial"/>
                        </a:rPr>
                        <a:t>0.0922</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1050" b="0">
                          <a:solidFill>
                            <a:srgbClr val="34D399"/>
                          </a:solidFill>
                          <a:latin typeface="Arial"/>
                          <a:ea typeface="Arial"/>
                          <a:cs typeface="Arial"/>
                        </a:rPr>
                        <a:t>Hội tụ cực kỳ mượt mà từ mức 0.44</a:t>
                      </a:r>
                    </a:p>
                  </a:txBody>
                  <a:tcPr marL="91440" marR="91440" marT="45720" marB="45720">
                    <a:lnR w="9525">
                      <a:solidFill>
                        <a:srgbClr val="223652"/>
                      </a:solidFill>
                    </a:lnR>
                    <a:lnB w="9525">
                      <a:solidFill>
                        <a:srgbClr val="223652"/>
                      </a:solidFill>
                    </a:lnB>
                    <a:solidFill>
                      <a:srgbClr val="101B2C"/>
                    </a:solidFill>
                  </a:tcPr>
                </a:tc>
              </a:tr>
              <a:tr h="346982">
                <a:tc>
                  <a:txBody>
                    <a:bodyPr>
                      <a:noAutofit/>
                    </a:bodyPr>
                    <a:lstStyle/>
                    <a:p>
                      <a:r>
                        <a:rPr sz="1050" b="1">
                          <a:solidFill>
                            <a:srgbClr val="F8FAFC"/>
                          </a:solidFill>
                          <a:latin typeface="Arial"/>
                          <a:ea typeface="Arial"/>
                          <a:cs typeface="Arial"/>
                        </a:rPr>
                        <a:t>Validation Loss</a:t>
                      </a:r>
                    </a:p>
                  </a:txBody>
                  <a:tcPr marL="91440" marR="91440" marT="45720" marB="45720">
                    <a:lnL w="9525">
                      <a:solidFill>
                        <a:srgbClr val="223652"/>
                      </a:solidFill>
                    </a:lnL>
                    <a:lnR w="9525">
                      <a:solidFill>
                        <a:srgbClr val="223652"/>
                      </a:solidFill>
                    </a:lnR>
                    <a:lnB w="9525">
                      <a:solidFill>
                        <a:srgbClr val="223652"/>
                      </a:solidFill>
                    </a:lnB>
                    <a:solidFill>
                      <a:srgbClr val="0B1320"/>
                    </a:solidFill>
                  </a:tcPr>
                </a:tc>
                <a:tc>
                  <a:txBody>
                    <a:bodyPr>
                      <a:noAutofit/>
                    </a:bodyPr>
                    <a:lstStyle/>
                    <a:p>
                      <a:r>
                        <a:rPr sz="1050" b="0">
                          <a:solidFill>
                            <a:srgbClr val="94A3B8"/>
                          </a:solidFill>
                          <a:latin typeface="Arial"/>
                          <a:ea typeface="Arial"/>
                          <a:cs typeface="Arial"/>
                        </a:rPr>
                        <a:t>0.0941</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1050" b="0">
                          <a:solidFill>
                            <a:srgbClr val="34D399"/>
                          </a:solidFill>
                          <a:latin typeface="Arial"/>
                          <a:ea typeface="Arial"/>
                          <a:cs typeface="Arial"/>
                        </a:rPr>
                        <a:t>Chênh lệch ~0.0019, không quá khớp</a:t>
                      </a:r>
                    </a:p>
                  </a:txBody>
                  <a:tcPr marL="91440" marR="91440" marT="45720" marB="45720">
                    <a:lnR w="9525">
                      <a:solidFill>
                        <a:srgbClr val="223652"/>
                      </a:solidFill>
                    </a:lnR>
                    <a:lnB w="9525">
                      <a:solidFill>
                        <a:srgbClr val="223652"/>
                      </a:solidFill>
                    </a:lnB>
                    <a:solidFill>
                      <a:srgbClr val="0B1320"/>
                    </a:solidFill>
                  </a:tcPr>
                </a:tc>
              </a:tr>
              <a:tr h="346982">
                <a:tc>
                  <a:txBody>
                    <a:bodyPr>
                      <a:noAutofit/>
                    </a:bodyPr>
                    <a:lstStyle/>
                    <a:p>
                      <a:r>
                        <a:rPr sz="1050" b="1">
                          <a:solidFill>
                            <a:srgbClr val="F8FAFC"/>
                          </a:solidFill>
                          <a:latin typeface="Arial"/>
                          <a:ea typeface="Arial"/>
                          <a:cs typeface="Arial"/>
                        </a:rPr>
                        <a:t>Train Accuracy</a:t>
                      </a:r>
                    </a:p>
                  </a:txBody>
                  <a:tcPr marL="91440" marR="91440" marT="45720" marB="45720">
                    <a:lnL w="9525">
                      <a:solidFill>
                        <a:srgbClr val="223652"/>
                      </a:solidFill>
                    </a:lnL>
                    <a:lnR w="9525">
                      <a:solidFill>
                        <a:srgbClr val="223652"/>
                      </a:solidFill>
                    </a:lnR>
                    <a:lnB w="9525">
                      <a:solidFill>
                        <a:srgbClr val="223652"/>
                      </a:solidFill>
                    </a:lnB>
                    <a:solidFill>
                      <a:srgbClr val="101B2C"/>
                    </a:solidFill>
                  </a:tcPr>
                </a:tc>
                <a:tc>
                  <a:txBody>
                    <a:bodyPr>
                      <a:noAutofit/>
                    </a:bodyPr>
                    <a:lstStyle/>
                    <a:p>
                      <a:r>
                        <a:rPr sz="1050" b="0">
                          <a:solidFill>
                            <a:srgbClr val="94A3B8"/>
                          </a:solidFill>
                          <a:latin typeface="Arial"/>
                          <a:ea typeface="Arial"/>
                          <a:cs typeface="Arial"/>
                        </a:rPr>
                        <a:t>97.79%</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1050" b="0">
                          <a:solidFill>
                            <a:srgbClr val="34D399"/>
                          </a:solidFill>
                          <a:latin typeface="Arial"/>
                          <a:ea typeface="Arial"/>
                          <a:cs typeface="Arial"/>
                        </a:rPr>
                        <a:t>Thực tế, không bị ăn gian 100%</a:t>
                      </a:r>
                    </a:p>
                  </a:txBody>
                  <a:tcPr marL="91440" marR="91440" marT="45720" marB="45720">
                    <a:lnR w="9525">
                      <a:solidFill>
                        <a:srgbClr val="223652"/>
                      </a:solidFill>
                    </a:lnR>
                    <a:lnB w="9525">
                      <a:solidFill>
                        <a:srgbClr val="223652"/>
                      </a:solidFill>
                    </a:lnB>
                    <a:solidFill>
                      <a:srgbClr val="101B2C"/>
                    </a:solidFill>
                  </a:tcPr>
                </a:tc>
              </a:tr>
              <a:tr h="346982">
                <a:tc>
                  <a:txBody>
                    <a:bodyPr>
                      <a:noAutofit/>
                    </a:bodyPr>
                    <a:lstStyle/>
                    <a:p>
                      <a:r>
                        <a:rPr sz="1050" b="1">
                          <a:solidFill>
                            <a:srgbClr val="F8FAFC"/>
                          </a:solidFill>
                          <a:latin typeface="Arial"/>
                          <a:ea typeface="Arial"/>
                          <a:cs typeface="Arial"/>
                        </a:rPr>
                        <a:t>Validation Accuracy</a:t>
                      </a:r>
                    </a:p>
                  </a:txBody>
                  <a:tcPr marL="91440" marR="91440" marT="45720" marB="45720">
                    <a:lnL w="9525">
                      <a:solidFill>
                        <a:srgbClr val="223652"/>
                      </a:solidFill>
                    </a:lnL>
                    <a:lnR w="9525">
                      <a:solidFill>
                        <a:srgbClr val="223652"/>
                      </a:solidFill>
                    </a:lnR>
                    <a:lnB w="9525">
                      <a:solidFill>
                        <a:srgbClr val="223652"/>
                      </a:solidFill>
                    </a:lnB>
                    <a:solidFill>
                      <a:srgbClr val="0B1320"/>
                    </a:solidFill>
                  </a:tcPr>
                </a:tc>
                <a:tc>
                  <a:txBody>
                    <a:bodyPr>
                      <a:noAutofit/>
                    </a:bodyPr>
                    <a:lstStyle/>
                    <a:p>
                      <a:r>
                        <a:rPr sz="1050" b="0">
                          <a:solidFill>
                            <a:srgbClr val="94A3B8"/>
                          </a:solidFill>
                          <a:latin typeface="Arial"/>
                          <a:ea typeface="Arial"/>
                          <a:cs typeface="Arial"/>
                        </a:rPr>
                        <a:t>98.01%</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1050" b="0">
                          <a:solidFill>
                            <a:srgbClr val="34D399"/>
                          </a:solidFill>
                          <a:latin typeface="Arial"/>
                          <a:ea typeface="Arial"/>
                          <a:cs typeface="Arial"/>
                        </a:rPr>
                        <a:t>Ổn định và đồng đều với tập Train</a:t>
                      </a:r>
                    </a:p>
                  </a:txBody>
                  <a:tcPr marL="91440" marR="91440" marT="45720" marB="45720">
                    <a:lnR w="9525">
                      <a:solidFill>
                        <a:srgbClr val="223652"/>
                      </a:solidFill>
                    </a:lnR>
                    <a:lnB w="9525">
                      <a:solidFill>
                        <a:srgbClr val="223652"/>
                      </a:solidFill>
                    </a:lnB>
                    <a:solidFill>
                      <a:srgbClr val="0B1320"/>
                    </a:solidFill>
                  </a:tcPr>
                </a:tc>
              </a:tr>
            </a:tbl>
          </a:graphicData>
        </a:graphic>
      </p:graphicFrame>
      <p:sp>
        <p:nvSpPr>
          <p:cNvPr id="8" name="">
            <a:extLst xmlns:a="http://schemas.openxmlformats.org/drawingml/2006/main">
              <a:ext uri="{FF2B5EF4-FFF2-40B4-BE49-F238E27FC236}">
                <a16:creationId xmlns:a16="http://schemas.microsoft.com/office/drawing/2014/main" id="{1695E56F-B458-49C7-AE15-B5725FA614DF}"/>
              </a:ext>
            </a:extLst>
          </p:cNvPr>
          <p:cNvSpPr>
            <a:spLocks xmlns:a="http://schemas.openxmlformats.org/drawingml/2006/main" noGrp="1"/>
          </p:cNvSpPr>
          <p:nvPr/>
        </p:nvSpPr>
        <p:spPr>
          <a:xfrm xmlns:a="http://schemas.openxmlformats.org/drawingml/2006/main">
            <a:off x="838200" y="4524375"/>
            <a:ext cx="4114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1">
                <a:solidFill>
                  <a:srgbClr val="34D399"/>
                </a:solidFill>
                <a:latin typeface="Arial"/>
                <a:ea typeface="Arial"/>
                <a:cs typeface="Arial"/>
              </a:defRPr>
            </a:defPPr>
            <a:lvl1pPr>
              <a:defRPr sz="1275" b="1">
                <a:solidFill>
                  <a:srgbClr val="34D399"/>
                </a:solidFill>
                <a:latin typeface="Arial"/>
                <a:ea typeface="Arial"/>
                <a:cs typeface="Arial"/>
              </a:defRPr>
            </a:lvl1pPr>
            <a:lvl2pPr>
              <a:defRPr sz="1275" b="1">
                <a:solidFill>
                  <a:srgbClr val="34D399"/>
                </a:solidFill>
                <a:latin typeface="Arial"/>
                <a:ea typeface="Arial"/>
                <a:cs typeface="Arial"/>
              </a:defRPr>
            </a:lvl2pPr>
            <a:lvl3pPr>
              <a:defRPr sz="1275" b="1">
                <a:solidFill>
                  <a:srgbClr val="34D399"/>
                </a:solidFill>
                <a:latin typeface="Arial"/>
                <a:ea typeface="Arial"/>
                <a:cs typeface="Arial"/>
              </a:defRPr>
            </a:lvl3pPr>
            <a:lvl4pPr>
              <a:defRPr sz="1275" b="1">
                <a:solidFill>
                  <a:srgbClr val="34D399"/>
                </a:solidFill>
                <a:latin typeface="Arial"/>
                <a:ea typeface="Arial"/>
                <a:cs typeface="Arial"/>
              </a:defRPr>
            </a:lvl4pPr>
            <a:lvl5pPr>
              <a:defRPr sz="1275" b="1">
                <a:solidFill>
                  <a:srgbClr val="34D399"/>
                </a:solidFill>
                <a:latin typeface="Arial"/>
                <a:ea typeface="Arial"/>
                <a:cs typeface="Arial"/>
              </a:defRPr>
            </a:lvl5pPr>
            <a:lvl6pPr>
              <a:defRPr sz="1275" b="1">
                <a:solidFill>
                  <a:srgbClr val="34D399"/>
                </a:solidFill>
                <a:latin typeface="Arial"/>
                <a:ea typeface="Arial"/>
                <a:cs typeface="Arial"/>
              </a:defRPr>
            </a:lvl6pPr>
            <a:lvl7pPr>
              <a:defRPr sz="1275" b="1">
                <a:solidFill>
                  <a:srgbClr val="34D399"/>
                </a:solidFill>
                <a:latin typeface="Arial"/>
                <a:ea typeface="Arial"/>
                <a:cs typeface="Arial"/>
              </a:defRPr>
            </a:lvl7pPr>
            <a:lvl8pPr>
              <a:defRPr sz="1275" b="1">
                <a:solidFill>
                  <a:srgbClr val="34D399"/>
                </a:solidFill>
                <a:latin typeface="Arial"/>
                <a:ea typeface="Arial"/>
                <a:cs typeface="Arial"/>
              </a:defRPr>
            </a:lvl8pPr>
            <a:lvl9pPr>
              <a:defRPr sz="1275" b="1">
                <a:solidFill>
                  <a:srgbClr val="34D399"/>
                </a:solidFill>
                <a:latin typeface="Arial"/>
                <a:ea typeface="Arial"/>
                <a:cs typeface="Arial"/>
              </a:defRPr>
            </a:lvl9pPr>
          </a:lstStyle>
          <a:p xmlns:a="http://schemas.openxmlformats.org/drawingml/2006/main">
            <a:pPr>
              <a:defRPr sz="1275" b="1">
                <a:solidFill>
                  <a:srgbClr val="34D399"/>
                </a:solidFill>
                <a:latin typeface="Arial"/>
                <a:ea typeface="Arial"/>
                <a:cs typeface="Arial"/>
              </a:defRPr>
            </a:pPr>
            <a:r>
              <a:rPr sz="1275" b="1">
                <a:solidFill>
                  <a:srgbClr val="34D399"/>
                </a:solidFill>
                <a:latin typeface="Arial"/>
                <a:ea typeface="Arial"/>
                <a:cs typeface="Arial"/>
              </a:rPr>
              <a:t>Nhận xét động học huấn luyện:</a:t>
            </a:r>
          </a:p>
        </p:txBody>
      </p:sp>
      <p:sp>
        <p:nvSpPr>
          <p:cNvPr id="9" name="">
            <a:extLst xmlns:a="http://schemas.openxmlformats.org/drawingml/2006/main">
              <a:ext uri="{FF2B5EF4-FFF2-40B4-BE49-F238E27FC236}">
                <a16:creationId xmlns:a16="http://schemas.microsoft.com/office/drawing/2014/main" id="{A1B59A53-1614-4BAA-8E68-8FA8DDB9D16C}"/>
              </a:ext>
            </a:extLst>
          </p:cNvPr>
          <p:cNvSpPr>
            <a:spLocks xmlns:a="http://schemas.openxmlformats.org/drawingml/2006/main" noGrp="1"/>
          </p:cNvSpPr>
          <p:nvPr/>
        </p:nvSpPr>
        <p:spPr>
          <a:xfrm xmlns:a="http://schemas.openxmlformats.org/drawingml/2006/main">
            <a:off x="838200" y="4810125"/>
            <a:ext cx="4114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F8FAFC"/>
                </a:solidFill>
                <a:latin typeface="Arial"/>
                <a:ea typeface="Arial"/>
                <a:cs typeface="Arial"/>
              </a:defRPr>
            </a:defPPr>
            <a:lvl1pPr>
              <a:defRPr sz="1125" b="0">
                <a:solidFill>
                  <a:srgbClr val="F8FAFC"/>
                </a:solidFill>
                <a:latin typeface="Arial"/>
                <a:ea typeface="Arial"/>
                <a:cs typeface="Arial"/>
              </a:defRPr>
            </a:lvl1pPr>
            <a:lvl2pPr>
              <a:defRPr sz="1125" b="0">
                <a:solidFill>
                  <a:srgbClr val="F8FAFC"/>
                </a:solidFill>
                <a:latin typeface="Arial"/>
                <a:ea typeface="Arial"/>
                <a:cs typeface="Arial"/>
              </a:defRPr>
            </a:lvl2pPr>
            <a:lvl3pPr>
              <a:defRPr sz="1125" b="0">
                <a:solidFill>
                  <a:srgbClr val="F8FAFC"/>
                </a:solidFill>
                <a:latin typeface="Arial"/>
                <a:ea typeface="Arial"/>
                <a:cs typeface="Arial"/>
              </a:defRPr>
            </a:lvl3pPr>
            <a:lvl4pPr>
              <a:defRPr sz="1125" b="0">
                <a:solidFill>
                  <a:srgbClr val="F8FAFC"/>
                </a:solidFill>
                <a:latin typeface="Arial"/>
                <a:ea typeface="Arial"/>
                <a:cs typeface="Arial"/>
              </a:defRPr>
            </a:lvl4pPr>
            <a:lvl5pPr>
              <a:defRPr sz="1125" b="0">
                <a:solidFill>
                  <a:srgbClr val="F8FAFC"/>
                </a:solidFill>
                <a:latin typeface="Arial"/>
                <a:ea typeface="Arial"/>
                <a:cs typeface="Arial"/>
              </a:defRPr>
            </a:lvl5pPr>
            <a:lvl6pPr>
              <a:defRPr sz="1125" b="0">
                <a:solidFill>
                  <a:srgbClr val="F8FAFC"/>
                </a:solidFill>
                <a:latin typeface="Arial"/>
                <a:ea typeface="Arial"/>
                <a:cs typeface="Arial"/>
              </a:defRPr>
            </a:lvl6pPr>
            <a:lvl7pPr>
              <a:defRPr sz="1125" b="0">
                <a:solidFill>
                  <a:srgbClr val="F8FAFC"/>
                </a:solidFill>
                <a:latin typeface="Arial"/>
                <a:ea typeface="Arial"/>
                <a:cs typeface="Arial"/>
              </a:defRPr>
            </a:lvl7pPr>
            <a:lvl8pPr>
              <a:defRPr sz="1125" b="0">
                <a:solidFill>
                  <a:srgbClr val="F8FAFC"/>
                </a:solidFill>
                <a:latin typeface="Arial"/>
                <a:ea typeface="Arial"/>
                <a:cs typeface="Arial"/>
              </a:defRPr>
            </a:lvl8pPr>
            <a:lvl9pPr>
              <a:defRPr sz="1125" b="0">
                <a:solidFill>
                  <a:srgbClr val="F8FAFC"/>
                </a:solidFill>
                <a:latin typeface="Arial"/>
                <a:ea typeface="Arial"/>
                <a:cs typeface="Arial"/>
              </a:defRPr>
            </a:lvl9pPr>
          </a:lstStyle>
          <a:p xmlns:a="http://schemas.openxmlformats.org/drawingml/2006/main">
            <a:pPr>
              <a:defRPr sz="1125" b="0">
                <a:solidFill>
                  <a:srgbClr val="F8FAFC"/>
                </a:solidFill>
                <a:latin typeface="Arial"/>
                <a:ea typeface="Arial"/>
                <a:cs typeface="Arial"/>
              </a:defRPr>
            </a:pPr>
            <a:r>
              <a:rPr sz="1125" b="0">
                <a:solidFill>
                  <a:srgbClr val="F8FAFC"/>
                </a:solidFill>
                <a:latin typeface="Arial"/>
                <a:ea typeface="Arial"/>
                <a:cs typeface="Arial"/>
              </a:rPr>
              <a:t>• Đường Train Loss và Val Loss bám sát nhau từ epoch 4 đến epoch 14, hoàn toàn không phân kỳ.</a:t>
            </a:r>
          </a:p>
          <a:p xmlns:a="http://schemas.openxmlformats.org/drawingml/2006/main">
            <a:pPr>
              <a:defRPr sz="1125" b="0">
                <a:solidFill>
                  <a:srgbClr val="F8FAFC"/>
                </a:solidFill>
                <a:latin typeface="Arial"/>
                <a:ea typeface="Arial"/>
                <a:cs typeface="Arial"/>
              </a:defRPr>
            </a:pPr>
            <a:r>
              <a:rPr sz="1125" b="0">
                <a:solidFill>
                  <a:srgbClr val="F8FAFC"/>
                </a:solidFill>
                <a:latin typeface="Arial"/>
                <a:ea typeface="Arial"/>
                <a:cs typeface="Arial"/>
              </a:rPr>
              <a:t>• Checkpoint Epoch 14 được khôi phục làm trọng số chính thức (liveness_cam4k.h5).</a:t>
            </a:r>
          </a:p>
          <a:p xmlns:a="http://schemas.openxmlformats.org/drawingml/2006/main">
            <a:pPr>
              <a:defRPr sz="1125" b="0">
                <a:solidFill>
                  <a:srgbClr val="F8FAFC"/>
                </a:solidFill>
                <a:latin typeface="Arial"/>
                <a:ea typeface="Arial"/>
                <a:cs typeface="Arial"/>
              </a:defRPr>
            </a:pPr>
            <a:r>
              <a:rPr sz="1125" b="0">
                <a:solidFill>
                  <a:srgbClr val="F8FAFC"/>
                </a:solidFill>
                <a:latin typeface="Arial"/>
                <a:ea typeface="Arial"/>
                <a:cs typeface="Arial"/>
              </a:rPr>
              <a:t>• Model xuất khẩu thêm bản liveness_cam4k.tflite phục vụ suy luận siêu nhẹ trên web/edge.</a:t>
            </a:r>
          </a:p>
        </p:txBody>
      </p:sp>
      <p:sp>
        <p:nvSpPr>
          <p:cNvPr id="10" name="">
            <a:extLst xmlns:a="http://schemas.openxmlformats.org/drawingml/2006/main">
              <a:ext uri="{FF2B5EF4-FFF2-40B4-BE49-F238E27FC236}">
                <a16:creationId xmlns:a16="http://schemas.microsoft.com/office/drawing/2014/main" id="{51A36F4E-DF4D-4A01-85D2-CBBB9773C676}"/>
              </a:ext>
            </a:extLst>
          </p:cNvPr>
          <p:cNvSpPr>
            <a:spLocks xmlns:a="http://schemas.openxmlformats.org/drawingml/2006/main" noGrp="1"/>
          </p:cNvSpPr>
          <p:nvPr/>
        </p:nvSpPr>
        <p:spPr>
          <a:xfrm xmlns:a="http://schemas.openxmlformats.org/drawingml/2006/main">
            <a:off x="5372100" y="1333500"/>
            <a:ext cx="6210300" cy="4810125"/>
          </a:xfrm>
          <a:prstGeom xmlns:a="http://schemas.openxmlformats.org/drawingml/2006/main" prst="rect">
            <a:avLst/>
          </a:prstGeom>
          <a:solidFill xmlns:a="http://schemas.openxmlformats.org/drawingml/2006/main">
            <a:srgbClr val="131F33"/>
          </a:solidFill>
          <a:ln xmlns:a="http://schemas.openxmlformats.org/drawingml/2006/main" w="9525">
            <a:solidFill>
              <a:srgbClr val="223652"/>
            </a:solidFill>
          </a:ln>
        </p:spPr>
        <p:txBody>
          <a:bodyPr xmlns:a="http://schemas.openxmlformats.org/drawingml/2006/main">
            <a:noAutofit/>
          </a:bodyPr>
          <a:lstStyle xmlns:a="http://schemas.openxmlformats.org/drawingml/2006/main">
            <a:defPPr>
              <a:defRPr sz="750">
                <a:solidFill>
                  <a:srgbClr val="131F33"/>
                </a:solidFill>
                <a:latin typeface="Arial"/>
                <a:ea typeface="Arial"/>
                <a:cs typeface="Arial"/>
              </a:defRPr>
            </a:defPPr>
            <a:lvl1pPr>
              <a:defRPr sz="750">
                <a:solidFill>
                  <a:srgbClr val="131F33"/>
                </a:solidFill>
                <a:latin typeface="Arial"/>
                <a:ea typeface="Arial"/>
                <a:cs typeface="Arial"/>
              </a:defRPr>
            </a:lvl1pPr>
            <a:lvl2pPr>
              <a:defRPr sz="750">
                <a:solidFill>
                  <a:srgbClr val="131F33"/>
                </a:solidFill>
                <a:latin typeface="Arial"/>
                <a:ea typeface="Arial"/>
                <a:cs typeface="Arial"/>
              </a:defRPr>
            </a:lvl2pPr>
            <a:lvl3pPr>
              <a:defRPr sz="750">
                <a:solidFill>
                  <a:srgbClr val="131F33"/>
                </a:solidFill>
                <a:latin typeface="Arial"/>
                <a:ea typeface="Arial"/>
                <a:cs typeface="Arial"/>
              </a:defRPr>
            </a:lvl3pPr>
            <a:lvl4pPr>
              <a:defRPr sz="750">
                <a:solidFill>
                  <a:srgbClr val="131F33"/>
                </a:solidFill>
                <a:latin typeface="Arial"/>
                <a:ea typeface="Arial"/>
                <a:cs typeface="Arial"/>
              </a:defRPr>
            </a:lvl4pPr>
            <a:lvl5pPr>
              <a:defRPr sz="750">
                <a:solidFill>
                  <a:srgbClr val="131F33"/>
                </a:solidFill>
                <a:latin typeface="Arial"/>
                <a:ea typeface="Arial"/>
                <a:cs typeface="Arial"/>
              </a:defRPr>
            </a:lvl5pPr>
            <a:lvl6pPr>
              <a:defRPr sz="750">
                <a:solidFill>
                  <a:srgbClr val="131F33"/>
                </a:solidFill>
                <a:latin typeface="Arial"/>
                <a:ea typeface="Arial"/>
                <a:cs typeface="Arial"/>
              </a:defRPr>
            </a:lvl6pPr>
            <a:lvl7pPr>
              <a:defRPr sz="750">
                <a:solidFill>
                  <a:srgbClr val="131F33"/>
                </a:solidFill>
                <a:latin typeface="Arial"/>
                <a:ea typeface="Arial"/>
                <a:cs typeface="Arial"/>
              </a:defRPr>
            </a:lvl7pPr>
            <a:lvl8pPr>
              <a:defRPr sz="750">
                <a:solidFill>
                  <a:srgbClr val="131F33"/>
                </a:solidFill>
                <a:latin typeface="Arial"/>
                <a:ea typeface="Arial"/>
                <a:cs typeface="Arial"/>
              </a:defRPr>
            </a:lvl8pPr>
            <a:lvl9pPr>
              <a:defRPr sz="750">
                <a:solidFill>
                  <a:srgbClr val="131F33"/>
                </a:solidFill>
                <a:latin typeface="Arial"/>
                <a:ea typeface="Arial"/>
                <a:cs typeface="Arial"/>
              </a:defRPr>
            </a:lvl9pPr>
          </a:lstStyle>
          <a:p xmlns:a="http://schemas.openxmlformats.org/drawingml/2006/main">
            <a:pPr>
              <a:defRPr sz="750">
                <a:solidFill>
                  <a:srgbClr val="131F33"/>
                </a:solidFill>
                <a:latin typeface="Arial"/>
                <a:ea typeface="Arial"/>
                <a:cs typeface="Arial"/>
              </a:defRPr>
            </a:pPr>
            <a:r>
              <a:rPr sz="750">
                <a:solidFill>
                  <a:srgbClr val="131F33"/>
                </a:solidFill>
                <a:latin typeface="Arial"/>
                <a:ea typeface="Arial"/>
                <a:cs typeface="Arial"/>
              </a:rPr>
              <a:t> </a:t>
            </a:r>
          </a:p>
        </p:txBody>
      </p:sp>
      <p:sp>
        <p:nvSpPr>
          <p:cNvPr id="11" name="">
            <a:extLst xmlns:a="http://schemas.openxmlformats.org/drawingml/2006/main">
              <a:ext uri="{FF2B5EF4-FFF2-40B4-BE49-F238E27FC236}">
                <a16:creationId xmlns:a16="http://schemas.microsoft.com/office/drawing/2014/main" id="{FFEE5BC0-45B7-4D4E-84DF-33B3FE6E1DA0}"/>
              </a:ext>
            </a:extLst>
          </p:cNvPr>
          <p:cNvSpPr>
            <a:spLocks xmlns:a="http://schemas.openxmlformats.org/drawingml/2006/main" noGrp="1"/>
          </p:cNvSpPr>
          <p:nvPr/>
        </p:nvSpPr>
        <p:spPr>
          <a:xfrm xmlns:a="http://schemas.openxmlformats.org/drawingml/2006/main">
            <a:off x="5600700" y="1524000"/>
            <a:ext cx="575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F8FAFC"/>
                </a:solidFill>
                <a:latin typeface="Arial"/>
                <a:ea typeface="Arial"/>
                <a:cs typeface="Arial"/>
              </a:defRPr>
            </a:defPPr>
            <a:lvl1pPr>
              <a:defRPr sz="1350" b="1">
                <a:solidFill>
                  <a:srgbClr val="F8FAFC"/>
                </a:solidFill>
                <a:latin typeface="Arial"/>
                <a:ea typeface="Arial"/>
                <a:cs typeface="Arial"/>
              </a:defRPr>
            </a:lvl1pPr>
            <a:lvl2pPr>
              <a:defRPr sz="1350" b="1">
                <a:solidFill>
                  <a:srgbClr val="F8FAFC"/>
                </a:solidFill>
                <a:latin typeface="Arial"/>
                <a:ea typeface="Arial"/>
                <a:cs typeface="Arial"/>
              </a:defRPr>
            </a:lvl2pPr>
            <a:lvl3pPr>
              <a:defRPr sz="1350" b="1">
                <a:solidFill>
                  <a:srgbClr val="F8FAFC"/>
                </a:solidFill>
                <a:latin typeface="Arial"/>
                <a:ea typeface="Arial"/>
                <a:cs typeface="Arial"/>
              </a:defRPr>
            </a:lvl3pPr>
            <a:lvl4pPr>
              <a:defRPr sz="1350" b="1">
                <a:solidFill>
                  <a:srgbClr val="F8FAFC"/>
                </a:solidFill>
                <a:latin typeface="Arial"/>
                <a:ea typeface="Arial"/>
                <a:cs typeface="Arial"/>
              </a:defRPr>
            </a:lvl4pPr>
            <a:lvl5pPr>
              <a:defRPr sz="1350" b="1">
                <a:solidFill>
                  <a:srgbClr val="F8FAFC"/>
                </a:solidFill>
                <a:latin typeface="Arial"/>
                <a:ea typeface="Arial"/>
                <a:cs typeface="Arial"/>
              </a:defRPr>
            </a:lvl5pPr>
            <a:lvl6pPr>
              <a:defRPr sz="1350" b="1">
                <a:solidFill>
                  <a:srgbClr val="F8FAFC"/>
                </a:solidFill>
                <a:latin typeface="Arial"/>
                <a:ea typeface="Arial"/>
                <a:cs typeface="Arial"/>
              </a:defRPr>
            </a:lvl6pPr>
            <a:lvl7pPr>
              <a:defRPr sz="1350" b="1">
                <a:solidFill>
                  <a:srgbClr val="F8FAFC"/>
                </a:solidFill>
                <a:latin typeface="Arial"/>
                <a:ea typeface="Arial"/>
                <a:cs typeface="Arial"/>
              </a:defRPr>
            </a:lvl7pPr>
            <a:lvl8pPr>
              <a:defRPr sz="1350" b="1">
                <a:solidFill>
                  <a:srgbClr val="F8FAFC"/>
                </a:solidFill>
                <a:latin typeface="Arial"/>
                <a:ea typeface="Arial"/>
                <a:cs typeface="Arial"/>
              </a:defRPr>
            </a:lvl8pPr>
            <a:lvl9pPr>
              <a:defRPr sz="1350" b="1">
                <a:solidFill>
                  <a:srgbClr val="F8FAFC"/>
                </a:solidFill>
                <a:latin typeface="Arial"/>
                <a:ea typeface="Arial"/>
                <a:cs typeface="Arial"/>
              </a:defRPr>
            </a:lvl9pPr>
          </a:lstStyle>
          <a:p xmlns:a="http://schemas.openxmlformats.org/drawingml/2006/main">
            <a:pPr>
              <a:defRPr sz="1350" b="1">
                <a:solidFill>
                  <a:srgbClr val="F8FAFC"/>
                </a:solidFill>
                <a:latin typeface="Arial"/>
                <a:ea typeface="Arial"/>
                <a:cs typeface="Arial"/>
              </a:defRPr>
            </a:pPr>
            <a:r>
              <a:rPr sz="1350" b="1">
                <a:solidFill>
                  <a:srgbClr val="F8FAFC"/>
                </a:solidFill>
                <a:latin typeface="Arial"/>
                <a:ea typeface="Arial"/>
                <a:cs typeface="Arial"/>
              </a:rPr>
              <a:t>Biểu Đồ Hội Tụ Loss &amp; Accuracy (plot_cam4k.png)</a:t>
            </a:r>
          </a:p>
        </p:txBody>
      </p:sp>
      <p:pic>
        <p:nvPicPr>
          <p:cNvPr id="12" name="">
            <a:extLst xmlns:a="http://schemas.openxmlformats.org/drawingml/2006/main">
              <a:ext uri="{FF2B5EF4-FFF2-40B4-BE49-F238E27FC236}">
                <a16:creationId xmlns:a16="http://schemas.microsoft.com/office/drawing/2014/main" id="{CC3BC84C-944C-4245-A0AE-B136DFE8C1E4}"/>
              </a:ext>
            </a:extLst>
          </p:cNvPr>
          <p:cNvPicPr>
            <a:picLocks xmlns:a="http://schemas.openxmlformats.org/drawingml/2006/main" noChangeAspect="1"/>
          </p:cNvPicPr>
          <p:nvPr/>
        </p:nvPicPr>
        <p:blipFill>
          <a:blip xmlns:r="http://schemas.openxmlformats.org/officeDocument/2006/relationships" xmlns:a="http://schemas.openxmlformats.org/drawingml/2006/main" r:embed="Rc099c9cd6fa0453a"/>
          <a:stretch xmlns:a="http://schemas.openxmlformats.org/drawingml/2006/main"/>
        </p:blipFill>
        <p:spPr>
          <a:xfrm xmlns:a="http://schemas.openxmlformats.org/drawingml/2006/main">
            <a:off x="5486400" y="2831306"/>
            <a:ext cx="5981700" cy="2243138"/>
          </a:xfrm>
          <a:prstGeom xmlns:a="http://schemas.openxmlformats.org/drawingml/2006/main" prst="rect">
            <a:avLst/>
          </a:prstGeom>
        </p:spPr>
      </p:pic>
    </p:spTree>
    <p:extLst>
      <p:ext uri="{BB962C8B-B14F-4D97-AF65-F5344CB8AC3E}">
        <p14:creationId xmlns:p14="http://schemas.microsoft.com/office/powerpoint/2010/main" val="1720445295"/>
      </p:ext>
    </p:extLst>
  </p:cSld>
</p:sld>
</file>

<file path=ppt/slides/slide3.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EB4B3C9-318C-471F-8B26-7295F42C007B}"/>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F8FAFC"/>
                </a:solidFill>
                <a:latin typeface="Arial"/>
                <a:ea typeface="Arial"/>
                <a:cs typeface="Arial"/>
              </a:defRPr>
            </a:defPPr>
            <a:lvl1pPr>
              <a:defRPr sz="2550" b="1">
                <a:solidFill>
                  <a:srgbClr val="F8FAFC"/>
                </a:solidFill>
                <a:latin typeface="Arial"/>
                <a:ea typeface="Arial"/>
                <a:cs typeface="Arial"/>
              </a:defRPr>
            </a:lvl1pPr>
            <a:lvl2pPr>
              <a:defRPr sz="2550" b="1">
                <a:solidFill>
                  <a:srgbClr val="F8FAFC"/>
                </a:solidFill>
                <a:latin typeface="Arial"/>
                <a:ea typeface="Arial"/>
                <a:cs typeface="Arial"/>
              </a:defRPr>
            </a:lvl2pPr>
            <a:lvl3pPr>
              <a:defRPr sz="2550" b="1">
                <a:solidFill>
                  <a:srgbClr val="F8FAFC"/>
                </a:solidFill>
                <a:latin typeface="Arial"/>
                <a:ea typeface="Arial"/>
                <a:cs typeface="Arial"/>
              </a:defRPr>
            </a:lvl3pPr>
            <a:lvl4pPr>
              <a:defRPr sz="2550" b="1">
                <a:solidFill>
                  <a:srgbClr val="F8FAFC"/>
                </a:solidFill>
                <a:latin typeface="Arial"/>
                <a:ea typeface="Arial"/>
                <a:cs typeface="Arial"/>
              </a:defRPr>
            </a:lvl4pPr>
            <a:lvl5pPr>
              <a:defRPr sz="2550" b="1">
                <a:solidFill>
                  <a:srgbClr val="F8FAFC"/>
                </a:solidFill>
                <a:latin typeface="Arial"/>
                <a:ea typeface="Arial"/>
                <a:cs typeface="Arial"/>
              </a:defRPr>
            </a:lvl5pPr>
            <a:lvl6pPr>
              <a:defRPr sz="2550" b="1">
                <a:solidFill>
                  <a:srgbClr val="F8FAFC"/>
                </a:solidFill>
                <a:latin typeface="Arial"/>
                <a:ea typeface="Arial"/>
                <a:cs typeface="Arial"/>
              </a:defRPr>
            </a:lvl6pPr>
            <a:lvl7pPr>
              <a:defRPr sz="2550" b="1">
                <a:solidFill>
                  <a:srgbClr val="F8FAFC"/>
                </a:solidFill>
                <a:latin typeface="Arial"/>
                <a:ea typeface="Arial"/>
                <a:cs typeface="Arial"/>
              </a:defRPr>
            </a:lvl7pPr>
            <a:lvl8pPr>
              <a:defRPr sz="2550" b="1">
                <a:solidFill>
                  <a:srgbClr val="F8FAFC"/>
                </a:solidFill>
                <a:latin typeface="Arial"/>
                <a:ea typeface="Arial"/>
                <a:cs typeface="Arial"/>
              </a:defRPr>
            </a:lvl8pPr>
            <a:lvl9pPr>
              <a:defRPr sz="2550" b="1">
                <a:solidFill>
                  <a:srgbClr val="F8FAFC"/>
                </a:solidFill>
                <a:latin typeface="Arial"/>
                <a:ea typeface="Arial"/>
                <a:cs typeface="Arial"/>
              </a:defRPr>
            </a:lvl9pPr>
          </a:lstStyle>
          <a:p xmlns:a="http://schemas.openxmlformats.org/drawingml/2006/main">
            <a:pPr>
              <a:defRPr sz="2550" b="1">
                <a:solidFill>
                  <a:srgbClr val="F8FAFC"/>
                </a:solidFill>
                <a:latin typeface="Arial"/>
                <a:ea typeface="Arial"/>
                <a:cs typeface="Arial"/>
              </a:defRPr>
            </a:pPr>
            <a:r>
              <a:rPr sz="2550" b="1">
                <a:solidFill>
                  <a:srgbClr val="F8FAFC"/>
                </a:solidFill>
                <a:latin typeface="Arial"/>
                <a:ea typeface="Arial"/>
                <a:cs typeface="Arial"/>
              </a:rPr>
              <a:t>Kiểm Định Cấp Độ Khung Hình Tập Test Độc Lập</a:t>
            </a:r>
          </a:p>
        </p:txBody>
      </p:sp>
      <p:sp>
        <p:nvSpPr>
          <p:cNvPr id="2" name="">
            <a:extLst xmlns:a="http://schemas.openxmlformats.org/drawingml/2006/main">
              <a:ext uri="{FF2B5EF4-FFF2-40B4-BE49-F238E27FC236}">
                <a16:creationId xmlns:a16="http://schemas.microsoft.com/office/drawing/2014/main" id="{D0A3DDEC-079C-4285-A616-02AD1892DB6B}"/>
              </a:ext>
            </a:extLst>
          </p:cNvPr>
          <p:cNvSpPr>
            <a:spLocks xmlns:a="http://schemas.openxmlformats.org/drawingml/2006/main" noGrp="1"/>
          </p:cNvSpPr>
          <p:nvPr/>
        </p:nvSpPr>
        <p:spPr>
          <a:xfrm xmlns:a="http://schemas.openxmlformats.org/drawingml/2006/main">
            <a:off x="609600" y="8572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38BDF8"/>
                </a:solidFill>
                <a:latin typeface="Arial"/>
                <a:ea typeface="Arial"/>
                <a:cs typeface="Arial"/>
              </a:defRPr>
            </a:defPPr>
            <a:lvl1pPr>
              <a:defRPr sz="1350" b="1">
                <a:solidFill>
                  <a:srgbClr val="38BDF8"/>
                </a:solidFill>
                <a:latin typeface="Arial"/>
                <a:ea typeface="Arial"/>
                <a:cs typeface="Arial"/>
              </a:defRPr>
            </a:lvl1pPr>
            <a:lvl2pPr>
              <a:defRPr sz="1350" b="1">
                <a:solidFill>
                  <a:srgbClr val="38BDF8"/>
                </a:solidFill>
                <a:latin typeface="Arial"/>
                <a:ea typeface="Arial"/>
                <a:cs typeface="Arial"/>
              </a:defRPr>
            </a:lvl2pPr>
            <a:lvl3pPr>
              <a:defRPr sz="1350" b="1">
                <a:solidFill>
                  <a:srgbClr val="38BDF8"/>
                </a:solidFill>
                <a:latin typeface="Arial"/>
                <a:ea typeface="Arial"/>
                <a:cs typeface="Arial"/>
              </a:defRPr>
            </a:lvl3pPr>
            <a:lvl4pPr>
              <a:defRPr sz="1350" b="1">
                <a:solidFill>
                  <a:srgbClr val="38BDF8"/>
                </a:solidFill>
                <a:latin typeface="Arial"/>
                <a:ea typeface="Arial"/>
                <a:cs typeface="Arial"/>
              </a:defRPr>
            </a:lvl4pPr>
            <a:lvl5pPr>
              <a:defRPr sz="1350" b="1">
                <a:solidFill>
                  <a:srgbClr val="38BDF8"/>
                </a:solidFill>
                <a:latin typeface="Arial"/>
                <a:ea typeface="Arial"/>
                <a:cs typeface="Arial"/>
              </a:defRPr>
            </a:lvl5pPr>
            <a:lvl6pPr>
              <a:defRPr sz="1350" b="1">
                <a:solidFill>
                  <a:srgbClr val="38BDF8"/>
                </a:solidFill>
                <a:latin typeface="Arial"/>
                <a:ea typeface="Arial"/>
                <a:cs typeface="Arial"/>
              </a:defRPr>
            </a:lvl6pPr>
            <a:lvl7pPr>
              <a:defRPr sz="1350" b="1">
                <a:solidFill>
                  <a:srgbClr val="38BDF8"/>
                </a:solidFill>
                <a:latin typeface="Arial"/>
                <a:ea typeface="Arial"/>
                <a:cs typeface="Arial"/>
              </a:defRPr>
            </a:lvl7pPr>
            <a:lvl8pPr>
              <a:defRPr sz="1350" b="1">
                <a:solidFill>
                  <a:srgbClr val="38BDF8"/>
                </a:solidFill>
                <a:latin typeface="Arial"/>
                <a:ea typeface="Arial"/>
                <a:cs typeface="Arial"/>
              </a:defRPr>
            </a:lvl8pPr>
            <a:lvl9pPr>
              <a:defRPr sz="1350" b="1">
                <a:solidFill>
                  <a:srgbClr val="38BDF8"/>
                </a:solidFill>
                <a:latin typeface="Arial"/>
                <a:ea typeface="Arial"/>
                <a:cs typeface="Arial"/>
              </a:defRPr>
            </a:lvl9pPr>
          </a:lstStyle>
          <a:p xmlns:a="http://schemas.openxmlformats.org/drawingml/2006/main">
            <a:pPr>
              <a:defRPr sz="1350" b="1">
                <a:solidFill>
                  <a:srgbClr val="38BDF8"/>
                </a:solidFill>
                <a:latin typeface="Arial"/>
                <a:ea typeface="Arial"/>
                <a:cs typeface="Arial"/>
              </a:defRPr>
            </a:pPr>
            <a:r>
              <a:rPr sz="1350" b="1">
                <a:solidFill>
                  <a:srgbClr val="38BDF8"/>
                </a:solidFill>
                <a:latin typeface="Arial"/>
                <a:ea typeface="Arial"/>
                <a:cs typeface="Arial"/>
              </a:rPr>
              <a:t>4.811 ẢNH KHUÔN MẶT TỪ 14 VIDEO - NGƯỜI HOÀN TOÀN MỚI CHƯA TỪNG XUẤT HIỆN</a:t>
            </a:r>
          </a:p>
        </p:txBody>
      </p:sp>
      <p:sp>
        <p:nvSpPr>
          <p:cNvPr id="3" name="">
            <a:extLst xmlns:a="http://schemas.openxmlformats.org/drawingml/2006/main">
              <a:ext uri="{FF2B5EF4-FFF2-40B4-BE49-F238E27FC236}">
                <a16:creationId xmlns:a16="http://schemas.microsoft.com/office/drawing/2014/main" id="{80C903E6-865D-4D9E-9317-2AD1040559FA}"/>
              </a:ext>
            </a:extLst>
          </p:cNvPr>
          <p:cNvSpPr>
            <a:spLocks xmlns:a="http://schemas.openxmlformats.org/drawingml/2006/main" noGrp="1"/>
          </p:cNvSpPr>
          <p:nvPr/>
        </p:nvSpPr>
        <p:spPr>
          <a:xfrm xmlns:a="http://schemas.openxmlformats.org/drawingml/2006/main">
            <a:off x="609600" y="64198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94A3B8"/>
                </a:solidFill>
                <a:latin typeface="Arial"/>
                <a:ea typeface="Arial"/>
                <a:cs typeface="Arial"/>
              </a:defRPr>
            </a:defPPr>
            <a:lvl1pPr>
              <a:defRPr sz="1050" b="0">
                <a:solidFill>
                  <a:srgbClr val="94A3B8"/>
                </a:solidFill>
                <a:latin typeface="Arial"/>
                <a:ea typeface="Arial"/>
                <a:cs typeface="Arial"/>
              </a:defRPr>
            </a:lvl1pPr>
            <a:lvl2pPr>
              <a:defRPr sz="1050" b="0">
                <a:solidFill>
                  <a:srgbClr val="94A3B8"/>
                </a:solidFill>
                <a:latin typeface="Arial"/>
                <a:ea typeface="Arial"/>
                <a:cs typeface="Arial"/>
              </a:defRPr>
            </a:lvl2pPr>
            <a:lvl3pPr>
              <a:defRPr sz="1050" b="0">
                <a:solidFill>
                  <a:srgbClr val="94A3B8"/>
                </a:solidFill>
                <a:latin typeface="Arial"/>
                <a:ea typeface="Arial"/>
                <a:cs typeface="Arial"/>
              </a:defRPr>
            </a:lvl3pPr>
            <a:lvl4pPr>
              <a:defRPr sz="1050" b="0">
                <a:solidFill>
                  <a:srgbClr val="94A3B8"/>
                </a:solidFill>
                <a:latin typeface="Arial"/>
                <a:ea typeface="Arial"/>
                <a:cs typeface="Arial"/>
              </a:defRPr>
            </a:lvl4pPr>
            <a:lvl5pPr>
              <a:defRPr sz="1050" b="0">
                <a:solidFill>
                  <a:srgbClr val="94A3B8"/>
                </a:solidFill>
                <a:latin typeface="Arial"/>
                <a:ea typeface="Arial"/>
                <a:cs typeface="Arial"/>
              </a:defRPr>
            </a:lvl5pPr>
            <a:lvl6pPr>
              <a:defRPr sz="1050" b="0">
                <a:solidFill>
                  <a:srgbClr val="94A3B8"/>
                </a:solidFill>
                <a:latin typeface="Arial"/>
                <a:ea typeface="Arial"/>
                <a:cs typeface="Arial"/>
              </a:defRPr>
            </a:lvl6pPr>
            <a:lvl7pPr>
              <a:defRPr sz="1050" b="0">
                <a:solidFill>
                  <a:srgbClr val="94A3B8"/>
                </a:solidFill>
                <a:latin typeface="Arial"/>
                <a:ea typeface="Arial"/>
                <a:cs typeface="Arial"/>
              </a:defRPr>
            </a:lvl7pPr>
            <a:lvl8pPr>
              <a:defRPr sz="1050" b="0">
                <a:solidFill>
                  <a:srgbClr val="94A3B8"/>
                </a:solidFill>
                <a:latin typeface="Arial"/>
                <a:ea typeface="Arial"/>
                <a:cs typeface="Arial"/>
              </a:defRPr>
            </a:lvl8pPr>
            <a:lvl9pPr>
              <a:defRPr sz="1050" b="0">
                <a:solidFill>
                  <a:srgbClr val="94A3B8"/>
                </a:solidFill>
                <a:latin typeface="Arial"/>
                <a:ea typeface="Arial"/>
                <a:cs typeface="Arial"/>
              </a:defRPr>
            </a:lvl9pPr>
          </a:lstStyle>
          <a:p xmlns:a="http://schemas.openxmlformats.org/drawingml/2006/main">
            <a:pPr>
              <a:defRPr sz="1050" b="0">
                <a:solidFill>
                  <a:srgbClr val="94A3B8"/>
                </a:solidFill>
                <a:latin typeface="Arial"/>
                <a:ea typeface="Arial"/>
                <a:cs typeface="Arial"/>
              </a:defRPr>
            </a:pPr>
            <a:r>
              <a:rPr sz="1050" b="0">
                <a:solidFill>
                  <a:srgbClr val="94A3B8"/>
                </a:solidFill>
                <a:latin typeface="Arial"/>
                <a:ea typeface="Arial"/>
                <a:cs typeface="Arial"/>
              </a:rPr>
              <a:t>FACE ANTI-SPOOFING • CAMERA USB SC-M200 • EVALUATION REPORT</a:t>
            </a:r>
          </a:p>
        </p:txBody>
      </p:sp>
      <p:sp>
        <p:nvSpPr>
          <p:cNvPr id="4" name="">
            <a:extLst xmlns:a="http://schemas.openxmlformats.org/drawingml/2006/main">
              <a:ext uri="{FF2B5EF4-FFF2-40B4-BE49-F238E27FC236}">
                <a16:creationId xmlns:a16="http://schemas.microsoft.com/office/drawing/2014/main" id="{33C33440-E15A-49B3-B5F3-4E7AC36BE28C}"/>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94A3B8"/>
                </a:solidFill>
                <a:latin typeface="Arial"/>
                <a:ea typeface="Arial"/>
                <a:cs typeface="Arial"/>
              </a:defRPr>
            </a:defPPr>
            <a:lvl1pPr>
              <a:defRPr sz="1050" b="0">
                <a:solidFill>
                  <a:srgbClr val="94A3B8"/>
                </a:solidFill>
                <a:latin typeface="Arial"/>
                <a:ea typeface="Arial"/>
                <a:cs typeface="Arial"/>
              </a:defRPr>
            </a:lvl1pPr>
            <a:lvl2pPr>
              <a:defRPr sz="1050" b="0">
                <a:solidFill>
                  <a:srgbClr val="94A3B8"/>
                </a:solidFill>
                <a:latin typeface="Arial"/>
                <a:ea typeface="Arial"/>
                <a:cs typeface="Arial"/>
              </a:defRPr>
            </a:lvl2pPr>
            <a:lvl3pPr>
              <a:defRPr sz="1050" b="0">
                <a:solidFill>
                  <a:srgbClr val="94A3B8"/>
                </a:solidFill>
                <a:latin typeface="Arial"/>
                <a:ea typeface="Arial"/>
                <a:cs typeface="Arial"/>
              </a:defRPr>
            </a:lvl3pPr>
            <a:lvl4pPr>
              <a:defRPr sz="1050" b="0">
                <a:solidFill>
                  <a:srgbClr val="94A3B8"/>
                </a:solidFill>
                <a:latin typeface="Arial"/>
                <a:ea typeface="Arial"/>
                <a:cs typeface="Arial"/>
              </a:defRPr>
            </a:lvl4pPr>
            <a:lvl5pPr>
              <a:defRPr sz="1050" b="0">
                <a:solidFill>
                  <a:srgbClr val="94A3B8"/>
                </a:solidFill>
                <a:latin typeface="Arial"/>
                <a:ea typeface="Arial"/>
                <a:cs typeface="Arial"/>
              </a:defRPr>
            </a:lvl5pPr>
            <a:lvl6pPr>
              <a:defRPr sz="1050" b="0">
                <a:solidFill>
                  <a:srgbClr val="94A3B8"/>
                </a:solidFill>
                <a:latin typeface="Arial"/>
                <a:ea typeface="Arial"/>
                <a:cs typeface="Arial"/>
              </a:defRPr>
            </a:lvl6pPr>
            <a:lvl7pPr>
              <a:defRPr sz="1050" b="0">
                <a:solidFill>
                  <a:srgbClr val="94A3B8"/>
                </a:solidFill>
                <a:latin typeface="Arial"/>
                <a:ea typeface="Arial"/>
                <a:cs typeface="Arial"/>
              </a:defRPr>
            </a:lvl7pPr>
            <a:lvl8pPr>
              <a:defRPr sz="1050" b="0">
                <a:solidFill>
                  <a:srgbClr val="94A3B8"/>
                </a:solidFill>
                <a:latin typeface="Arial"/>
                <a:ea typeface="Arial"/>
                <a:cs typeface="Arial"/>
              </a:defRPr>
            </a:lvl8pPr>
            <a:lvl9pPr>
              <a:defRPr sz="1050" b="0">
                <a:solidFill>
                  <a:srgbClr val="94A3B8"/>
                </a:solidFill>
                <a:latin typeface="Arial"/>
                <a:ea typeface="Arial"/>
                <a:cs typeface="Arial"/>
              </a:defRPr>
            </a:lvl9pPr>
          </a:lstStyle>
          <a:p xmlns:a="http://schemas.openxmlformats.org/drawingml/2006/main">
            <a:pPr>
              <a:defRPr sz="1050" b="0">
                <a:solidFill>
                  <a:srgbClr val="94A3B8"/>
                </a:solidFill>
                <a:latin typeface="Arial"/>
                <a:ea typeface="Arial"/>
                <a:cs typeface="Arial"/>
              </a:defRPr>
            </a:pPr>
            <a:r>
              <a:rPr sz="1050" b="0">
                <a:solidFill>
                  <a:srgbClr val="94A3B8"/>
                </a:solidFill>
                <a:latin typeface="Arial"/>
                <a:ea typeface="Arial"/>
                <a:cs typeface="Arial"/>
              </a:rPr>
              <a:t>03 / 05</a:t>
            </a:r>
          </a:p>
        </p:txBody>
      </p:sp>
      <p:sp>
        <p:nvSpPr>
          <p:cNvPr id="5" name="">
            <a:extLst xmlns:a="http://schemas.openxmlformats.org/drawingml/2006/main">
              <a:ext uri="{FF2B5EF4-FFF2-40B4-BE49-F238E27FC236}">
                <a16:creationId xmlns:a16="http://schemas.microsoft.com/office/drawing/2014/main" id="{0C9CFA7B-61F7-40C2-A2A3-5675AAD2205A}"/>
              </a:ext>
            </a:extLst>
          </p:cNvPr>
          <p:cNvSpPr>
            <a:spLocks xmlns:a="http://schemas.openxmlformats.org/drawingml/2006/main" noGrp="1"/>
          </p:cNvSpPr>
          <p:nvPr/>
        </p:nvSpPr>
        <p:spPr>
          <a:xfrm xmlns:a="http://schemas.openxmlformats.org/drawingml/2006/main">
            <a:off x="609600" y="1285875"/>
            <a:ext cx="3429000" cy="904875"/>
          </a:xfrm>
          <a:prstGeom xmlns:a="http://schemas.openxmlformats.org/drawingml/2006/main" prst="rect">
            <a:avLst/>
          </a:prstGeom>
          <a:solidFill xmlns:a="http://schemas.openxmlformats.org/drawingml/2006/main">
            <a:srgbClr val="131F33"/>
          </a:solidFill>
          <a:ln xmlns:a="http://schemas.openxmlformats.org/drawingml/2006/main" w="9525">
            <a:solidFill>
              <a:srgbClr val="223652"/>
            </a:solidFill>
          </a:ln>
        </p:spPr>
        <p:txBody>
          <a:bodyPr xmlns:a="http://schemas.openxmlformats.org/drawingml/2006/main">
            <a:noAutofit/>
          </a:bodyPr>
          <a:lstStyle xmlns:a="http://schemas.openxmlformats.org/drawingml/2006/main">
            <a:defPPr>
              <a:defRPr sz="750">
                <a:solidFill>
                  <a:srgbClr val="131F33"/>
                </a:solidFill>
                <a:latin typeface="Arial"/>
                <a:ea typeface="Arial"/>
                <a:cs typeface="Arial"/>
              </a:defRPr>
            </a:defPPr>
            <a:lvl1pPr>
              <a:defRPr sz="750">
                <a:solidFill>
                  <a:srgbClr val="131F33"/>
                </a:solidFill>
                <a:latin typeface="Arial"/>
                <a:ea typeface="Arial"/>
                <a:cs typeface="Arial"/>
              </a:defRPr>
            </a:lvl1pPr>
            <a:lvl2pPr>
              <a:defRPr sz="750">
                <a:solidFill>
                  <a:srgbClr val="131F33"/>
                </a:solidFill>
                <a:latin typeface="Arial"/>
                <a:ea typeface="Arial"/>
                <a:cs typeface="Arial"/>
              </a:defRPr>
            </a:lvl2pPr>
            <a:lvl3pPr>
              <a:defRPr sz="750">
                <a:solidFill>
                  <a:srgbClr val="131F33"/>
                </a:solidFill>
                <a:latin typeface="Arial"/>
                <a:ea typeface="Arial"/>
                <a:cs typeface="Arial"/>
              </a:defRPr>
            </a:lvl3pPr>
            <a:lvl4pPr>
              <a:defRPr sz="750">
                <a:solidFill>
                  <a:srgbClr val="131F33"/>
                </a:solidFill>
                <a:latin typeface="Arial"/>
                <a:ea typeface="Arial"/>
                <a:cs typeface="Arial"/>
              </a:defRPr>
            </a:lvl4pPr>
            <a:lvl5pPr>
              <a:defRPr sz="750">
                <a:solidFill>
                  <a:srgbClr val="131F33"/>
                </a:solidFill>
                <a:latin typeface="Arial"/>
                <a:ea typeface="Arial"/>
                <a:cs typeface="Arial"/>
              </a:defRPr>
            </a:lvl5pPr>
            <a:lvl6pPr>
              <a:defRPr sz="750">
                <a:solidFill>
                  <a:srgbClr val="131F33"/>
                </a:solidFill>
                <a:latin typeface="Arial"/>
                <a:ea typeface="Arial"/>
                <a:cs typeface="Arial"/>
              </a:defRPr>
            </a:lvl6pPr>
            <a:lvl7pPr>
              <a:defRPr sz="750">
                <a:solidFill>
                  <a:srgbClr val="131F33"/>
                </a:solidFill>
                <a:latin typeface="Arial"/>
                <a:ea typeface="Arial"/>
                <a:cs typeface="Arial"/>
              </a:defRPr>
            </a:lvl7pPr>
            <a:lvl8pPr>
              <a:defRPr sz="750">
                <a:solidFill>
                  <a:srgbClr val="131F33"/>
                </a:solidFill>
                <a:latin typeface="Arial"/>
                <a:ea typeface="Arial"/>
                <a:cs typeface="Arial"/>
              </a:defRPr>
            </a:lvl8pPr>
            <a:lvl9pPr>
              <a:defRPr sz="750">
                <a:solidFill>
                  <a:srgbClr val="131F33"/>
                </a:solidFill>
                <a:latin typeface="Arial"/>
                <a:ea typeface="Arial"/>
                <a:cs typeface="Arial"/>
              </a:defRPr>
            </a:lvl9pPr>
          </a:lstStyle>
          <a:p xmlns:a="http://schemas.openxmlformats.org/drawingml/2006/main">
            <a:pPr>
              <a:defRPr sz="750">
                <a:solidFill>
                  <a:srgbClr val="131F33"/>
                </a:solidFill>
                <a:latin typeface="Arial"/>
                <a:ea typeface="Arial"/>
                <a:cs typeface="Arial"/>
              </a:defRPr>
            </a:pPr>
            <a:r>
              <a:rPr sz="750">
                <a:solidFill>
                  <a:srgbClr val="131F33"/>
                </a:solidFill>
                <a:latin typeface="Arial"/>
                <a:ea typeface="Arial"/>
                <a:cs typeface="Arial"/>
              </a:rPr>
              <a:t> </a:t>
            </a:r>
          </a:p>
        </p:txBody>
      </p:sp>
      <p:sp>
        <p:nvSpPr>
          <p:cNvPr id="6" name="">
            <a:extLst xmlns:a="http://schemas.openxmlformats.org/drawingml/2006/main">
              <a:ext uri="{FF2B5EF4-FFF2-40B4-BE49-F238E27FC236}">
                <a16:creationId xmlns:a16="http://schemas.microsoft.com/office/drawing/2014/main" id="{7A66A58D-B0B9-4951-B495-1FC5B8CAF403}"/>
              </a:ext>
            </a:extLst>
          </p:cNvPr>
          <p:cNvSpPr>
            <a:spLocks xmlns:a="http://schemas.openxmlformats.org/drawingml/2006/main" noGrp="1"/>
          </p:cNvSpPr>
          <p:nvPr/>
        </p:nvSpPr>
        <p:spPr>
          <a:xfrm xmlns:a="http://schemas.openxmlformats.org/drawingml/2006/main">
            <a:off x="838200" y="1352550"/>
            <a:ext cx="2971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4D399"/>
                </a:solidFill>
                <a:latin typeface="Arial"/>
                <a:ea typeface="Arial"/>
                <a:cs typeface="Arial"/>
              </a:defRPr>
            </a:defPPr>
            <a:lvl1pPr>
              <a:defRPr sz="2850" b="1">
                <a:solidFill>
                  <a:srgbClr val="34D399"/>
                </a:solidFill>
                <a:latin typeface="Arial"/>
                <a:ea typeface="Arial"/>
                <a:cs typeface="Arial"/>
              </a:defRPr>
            </a:lvl1pPr>
            <a:lvl2pPr>
              <a:defRPr sz="2850" b="1">
                <a:solidFill>
                  <a:srgbClr val="34D399"/>
                </a:solidFill>
                <a:latin typeface="Arial"/>
                <a:ea typeface="Arial"/>
                <a:cs typeface="Arial"/>
              </a:defRPr>
            </a:lvl2pPr>
            <a:lvl3pPr>
              <a:defRPr sz="2850" b="1">
                <a:solidFill>
                  <a:srgbClr val="34D399"/>
                </a:solidFill>
                <a:latin typeface="Arial"/>
                <a:ea typeface="Arial"/>
                <a:cs typeface="Arial"/>
              </a:defRPr>
            </a:lvl3pPr>
            <a:lvl4pPr>
              <a:defRPr sz="2850" b="1">
                <a:solidFill>
                  <a:srgbClr val="34D399"/>
                </a:solidFill>
                <a:latin typeface="Arial"/>
                <a:ea typeface="Arial"/>
                <a:cs typeface="Arial"/>
              </a:defRPr>
            </a:lvl4pPr>
            <a:lvl5pPr>
              <a:defRPr sz="2850" b="1">
                <a:solidFill>
                  <a:srgbClr val="34D399"/>
                </a:solidFill>
                <a:latin typeface="Arial"/>
                <a:ea typeface="Arial"/>
                <a:cs typeface="Arial"/>
              </a:defRPr>
            </a:lvl5pPr>
            <a:lvl6pPr>
              <a:defRPr sz="2850" b="1">
                <a:solidFill>
                  <a:srgbClr val="34D399"/>
                </a:solidFill>
                <a:latin typeface="Arial"/>
                <a:ea typeface="Arial"/>
                <a:cs typeface="Arial"/>
              </a:defRPr>
            </a:lvl6pPr>
            <a:lvl7pPr>
              <a:defRPr sz="2850" b="1">
                <a:solidFill>
                  <a:srgbClr val="34D399"/>
                </a:solidFill>
                <a:latin typeface="Arial"/>
                <a:ea typeface="Arial"/>
                <a:cs typeface="Arial"/>
              </a:defRPr>
            </a:lvl7pPr>
            <a:lvl8pPr>
              <a:defRPr sz="2850" b="1">
                <a:solidFill>
                  <a:srgbClr val="34D399"/>
                </a:solidFill>
                <a:latin typeface="Arial"/>
                <a:ea typeface="Arial"/>
                <a:cs typeface="Arial"/>
              </a:defRPr>
            </a:lvl8pPr>
            <a:lvl9pPr>
              <a:defRPr sz="2850" b="1">
                <a:solidFill>
                  <a:srgbClr val="34D399"/>
                </a:solidFill>
                <a:latin typeface="Arial"/>
                <a:ea typeface="Arial"/>
                <a:cs typeface="Arial"/>
              </a:defRPr>
            </a:lvl9pPr>
          </a:lstStyle>
          <a:p xmlns:a="http://schemas.openxmlformats.org/drawingml/2006/main">
            <a:pPr>
              <a:defRPr sz="2850" b="1">
                <a:solidFill>
                  <a:srgbClr val="34D399"/>
                </a:solidFill>
                <a:latin typeface="Arial"/>
                <a:ea typeface="Arial"/>
                <a:cs typeface="Arial"/>
              </a:defRPr>
            </a:pPr>
            <a:r>
              <a:rPr sz="2850" b="1">
                <a:solidFill>
                  <a:srgbClr val="34D399"/>
                </a:solidFill>
                <a:latin typeface="Arial"/>
                <a:ea typeface="Arial"/>
                <a:cs typeface="Arial"/>
              </a:rPr>
              <a:t>98.09%</a:t>
            </a:r>
          </a:p>
        </p:txBody>
      </p:sp>
      <p:sp>
        <p:nvSpPr>
          <p:cNvPr id="7" name="">
            <a:extLst xmlns:a="http://schemas.openxmlformats.org/drawingml/2006/main">
              <a:ext uri="{FF2B5EF4-FFF2-40B4-BE49-F238E27FC236}">
                <a16:creationId xmlns:a16="http://schemas.microsoft.com/office/drawing/2014/main" id="{F1CAFD56-1E67-4826-B0BF-79224A554D29}"/>
              </a:ext>
            </a:extLst>
          </p:cNvPr>
          <p:cNvSpPr>
            <a:spLocks xmlns:a="http://schemas.openxmlformats.org/drawingml/2006/main" noGrp="1"/>
          </p:cNvSpPr>
          <p:nvPr/>
        </p:nvSpPr>
        <p:spPr>
          <a:xfrm xmlns:a="http://schemas.openxmlformats.org/drawingml/2006/main">
            <a:off x="838200" y="1828800"/>
            <a:ext cx="2971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94A3B8"/>
                </a:solidFill>
                <a:latin typeface="Arial"/>
                <a:ea typeface="Arial"/>
                <a:cs typeface="Arial"/>
              </a:defRPr>
            </a:defPPr>
            <a:lvl1pPr>
              <a:defRPr sz="1050" b="0">
                <a:solidFill>
                  <a:srgbClr val="94A3B8"/>
                </a:solidFill>
                <a:latin typeface="Arial"/>
                <a:ea typeface="Arial"/>
                <a:cs typeface="Arial"/>
              </a:defRPr>
            </a:lvl1pPr>
            <a:lvl2pPr>
              <a:defRPr sz="1050" b="0">
                <a:solidFill>
                  <a:srgbClr val="94A3B8"/>
                </a:solidFill>
                <a:latin typeface="Arial"/>
                <a:ea typeface="Arial"/>
                <a:cs typeface="Arial"/>
              </a:defRPr>
            </a:lvl2pPr>
            <a:lvl3pPr>
              <a:defRPr sz="1050" b="0">
                <a:solidFill>
                  <a:srgbClr val="94A3B8"/>
                </a:solidFill>
                <a:latin typeface="Arial"/>
                <a:ea typeface="Arial"/>
                <a:cs typeface="Arial"/>
              </a:defRPr>
            </a:lvl3pPr>
            <a:lvl4pPr>
              <a:defRPr sz="1050" b="0">
                <a:solidFill>
                  <a:srgbClr val="94A3B8"/>
                </a:solidFill>
                <a:latin typeface="Arial"/>
                <a:ea typeface="Arial"/>
                <a:cs typeface="Arial"/>
              </a:defRPr>
            </a:lvl4pPr>
            <a:lvl5pPr>
              <a:defRPr sz="1050" b="0">
                <a:solidFill>
                  <a:srgbClr val="94A3B8"/>
                </a:solidFill>
                <a:latin typeface="Arial"/>
                <a:ea typeface="Arial"/>
                <a:cs typeface="Arial"/>
              </a:defRPr>
            </a:lvl5pPr>
            <a:lvl6pPr>
              <a:defRPr sz="1050" b="0">
                <a:solidFill>
                  <a:srgbClr val="94A3B8"/>
                </a:solidFill>
                <a:latin typeface="Arial"/>
                <a:ea typeface="Arial"/>
                <a:cs typeface="Arial"/>
              </a:defRPr>
            </a:lvl6pPr>
            <a:lvl7pPr>
              <a:defRPr sz="1050" b="0">
                <a:solidFill>
                  <a:srgbClr val="94A3B8"/>
                </a:solidFill>
                <a:latin typeface="Arial"/>
                <a:ea typeface="Arial"/>
                <a:cs typeface="Arial"/>
              </a:defRPr>
            </a:lvl7pPr>
            <a:lvl8pPr>
              <a:defRPr sz="1050" b="0">
                <a:solidFill>
                  <a:srgbClr val="94A3B8"/>
                </a:solidFill>
                <a:latin typeface="Arial"/>
                <a:ea typeface="Arial"/>
                <a:cs typeface="Arial"/>
              </a:defRPr>
            </a:lvl8pPr>
            <a:lvl9pPr>
              <a:defRPr sz="1050" b="0">
                <a:solidFill>
                  <a:srgbClr val="94A3B8"/>
                </a:solidFill>
                <a:latin typeface="Arial"/>
                <a:ea typeface="Arial"/>
                <a:cs typeface="Arial"/>
              </a:defRPr>
            </a:lvl9pPr>
          </a:lstStyle>
          <a:p xmlns:a="http://schemas.openxmlformats.org/drawingml/2006/main">
            <a:pPr>
              <a:defRPr sz="1050" b="0">
                <a:solidFill>
                  <a:srgbClr val="94A3B8"/>
                </a:solidFill>
                <a:latin typeface="Arial"/>
                <a:ea typeface="Arial"/>
                <a:cs typeface="Arial"/>
              </a:defRPr>
            </a:pPr>
            <a:r>
              <a:rPr sz="1050" b="0">
                <a:solidFill>
                  <a:srgbClr val="94A3B8"/>
                </a:solidFill>
                <a:latin typeface="Arial"/>
                <a:ea typeface="Arial"/>
                <a:cs typeface="Arial"/>
              </a:rPr>
              <a:t>Độ chính xác toàn tập Test (4.719 / 4.811 ảnh)</a:t>
            </a:r>
          </a:p>
        </p:txBody>
      </p:sp>
      <p:sp>
        <p:nvSpPr>
          <p:cNvPr id="8" name="">
            <a:extLst xmlns:a="http://schemas.openxmlformats.org/drawingml/2006/main">
              <a:ext uri="{FF2B5EF4-FFF2-40B4-BE49-F238E27FC236}">
                <a16:creationId xmlns:a16="http://schemas.microsoft.com/office/drawing/2014/main" id="{960D8673-84ED-481E-A362-EB98998A180C}"/>
              </a:ext>
            </a:extLst>
          </p:cNvPr>
          <p:cNvSpPr>
            <a:spLocks xmlns:a="http://schemas.openxmlformats.org/drawingml/2006/main" noGrp="1"/>
          </p:cNvSpPr>
          <p:nvPr/>
        </p:nvSpPr>
        <p:spPr>
          <a:xfrm xmlns:a="http://schemas.openxmlformats.org/drawingml/2006/main">
            <a:off x="4381500" y="1285875"/>
            <a:ext cx="3429000" cy="904875"/>
          </a:xfrm>
          <a:prstGeom xmlns:a="http://schemas.openxmlformats.org/drawingml/2006/main" prst="rect">
            <a:avLst/>
          </a:prstGeom>
          <a:solidFill xmlns:a="http://schemas.openxmlformats.org/drawingml/2006/main">
            <a:srgbClr val="131F33"/>
          </a:solidFill>
          <a:ln xmlns:a="http://schemas.openxmlformats.org/drawingml/2006/main" w="9525">
            <a:solidFill>
              <a:srgbClr val="223652"/>
            </a:solidFill>
          </a:ln>
        </p:spPr>
        <p:txBody>
          <a:bodyPr xmlns:a="http://schemas.openxmlformats.org/drawingml/2006/main">
            <a:noAutofit/>
          </a:bodyPr>
          <a:lstStyle xmlns:a="http://schemas.openxmlformats.org/drawingml/2006/main">
            <a:defPPr>
              <a:defRPr sz="750">
                <a:solidFill>
                  <a:srgbClr val="131F33"/>
                </a:solidFill>
                <a:latin typeface="Arial"/>
                <a:ea typeface="Arial"/>
                <a:cs typeface="Arial"/>
              </a:defRPr>
            </a:defPPr>
            <a:lvl1pPr>
              <a:defRPr sz="750">
                <a:solidFill>
                  <a:srgbClr val="131F33"/>
                </a:solidFill>
                <a:latin typeface="Arial"/>
                <a:ea typeface="Arial"/>
                <a:cs typeface="Arial"/>
              </a:defRPr>
            </a:lvl1pPr>
            <a:lvl2pPr>
              <a:defRPr sz="750">
                <a:solidFill>
                  <a:srgbClr val="131F33"/>
                </a:solidFill>
                <a:latin typeface="Arial"/>
                <a:ea typeface="Arial"/>
                <a:cs typeface="Arial"/>
              </a:defRPr>
            </a:lvl2pPr>
            <a:lvl3pPr>
              <a:defRPr sz="750">
                <a:solidFill>
                  <a:srgbClr val="131F33"/>
                </a:solidFill>
                <a:latin typeface="Arial"/>
                <a:ea typeface="Arial"/>
                <a:cs typeface="Arial"/>
              </a:defRPr>
            </a:lvl3pPr>
            <a:lvl4pPr>
              <a:defRPr sz="750">
                <a:solidFill>
                  <a:srgbClr val="131F33"/>
                </a:solidFill>
                <a:latin typeface="Arial"/>
                <a:ea typeface="Arial"/>
                <a:cs typeface="Arial"/>
              </a:defRPr>
            </a:lvl4pPr>
            <a:lvl5pPr>
              <a:defRPr sz="750">
                <a:solidFill>
                  <a:srgbClr val="131F33"/>
                </a:solidFill>
                <a:latin typeface="Arial"/>
                <a:ea typeface="Arial"/>
                <a:cs typeface="Arial"/>
              </a:defRPr>
            </a:lvl5pPr>
            <a:lvl6pPr>
              <a:defRPr sz="750">
                <a:solidFill>
                  <a:srgbClr val="131F33"/>
                </a:solidFill>
                <a:latin typeface="Arial"/>
                <a:ea typeface="Arial"/>
                <a:cs typeface="Arial"/>
              </a:defRPr>
            </a:lvl6pPr>
            <a:lvl7pPr>
              <a:defRPr sz="750">
                <a:solidFill>
                  <a:srgbClr val="131F33"/>
                </a:solidFill>
                <a:latin typeface="Arial"/>
                <a:ea typeface="Arial"/>
                <a:cs typeface="Arial"/>
              </a:defRPr>
            </a:lvl7pPr>
            <a:lvl8pPr>
              <a:defRPr sz="750">
                <a:solidFill>
                  <a:srgbClr val="131F33"/>
                </a:solidFill>
                <a:latin typeface="Arial"/>
                <a:ea typeface="Arial"/>
                <a:cs typeface="Arial"/>
              </a:defRPr>
            </a:lvl8pPr>
            <a:lvl9pPr>
              <a:defRPr sz="750">
                <a:solidFill>
                  <a:srgbClr val="131F33"/>
                </a:solidFill>
                <a:latin typeface="Arial"/>
                <a:ea typeface="Arial"/>
                <a:cs typeface="Arial"/>
              </a:defRPr>
            </a:lvl9pPr>
          </a:lstStyle>
          <a:p xmlns:a="http://schemas.openxmlformats.org/drawingml/2006/main">
            <a:pPr>
              <a:defRPr sz="750">
                <a:solidFill>
                  <a:srgbClr val="131F33"/>
                </a:solidFill>
                <a:latin typeface="Arial"/>
                <a:ea typeface="Arial"/>
                <a:cs typeface="Arial"/>
              </a:defRPr>
            </a:pPr>
            <a:r>
              <a:rPr sz="750">
                <a:solidFill>
                  <a:srgbClr val="131F33"/>
                </a:solidFill>
                <a:latin typeface="Arial"/>
                <a:ea typeface="Arial"/>
                <a:cs typeface="Arial"/>
              </a:rPr>
              <a:t> </a:t>
            </a:r>
          </a:p>
        </p:txBody>
      </p:sp>
      <p:sp>
        <p:nvSpPr>
          <p:cNvPr id="9" name="">
            <a:extLst xmlns:a="http://schemas.openxmlformats.org/drawingml/2006/main">
              <a:ext uri="{FF2B5EF4-FFF2-40B4-BE49-F238E27FC236}">
                <a16:creationId xmlns:a16="http://schemas.microsoft.com/office/drawing/2014/main" id="{1B44B543-0531-4419-8844-531847292E28}"/>
              </a:ext>
            </a:extLst>
          </p:cNvPr>
          <p:cNvSpPr>
            <a:spLocks xmlns:a="http://schemas.openxmlformats.org/drawingml/2006/main" noGrp="1"/>
          </p:cNvSpPr>
          <p:nvPr/>
        </p:nvSpPr>
        <p:spPr>
          <a:xfrm xmlns:a="http://schemas.openxmlformats.org/drawingml/2006/main">
            <a:off x="4610100" y="1352550"/>
            <a:ext cx="2971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8BDF8"/>
                </a:solidFill>
                <a:latin typeface="Arial"/>
                <a:ea typeface="Arial"/>
                <a:cs typeface="Arial"/>
              </a:defRPr>
            </a:defPPr>
            <a:lvl1pPr>
              <a:defRPr sz="2850" b="1">
                <a:solidFill>
                  <a:srgbClr val="38BDF8"/>
                </a:solidFill>
                <a:latin typeface="Arial"/>
                <a:ea typeface="Arial"/>
                <a:cs typeface="Arial"/>
              </a:defRPr>
            </a:lvl1pPr>
            <a:lvl2pPr>
              <a:defRPr sz="2850" b="1">
                <a:solidFill>
                  <a:srgbClr val="38BDF8"/>
                </a:solidFill>
                <a:latin typeface="Arial"/>
                <a:ea typeface="Arial"/>
                <a:cs typeface="Arial"/>
              </a:defRPr>
            </a:lvl2pPr>
            <a:lvl3pPr>
              <a:defRPr sz="2850" b="1">
                <a:solidFill>
                  <a:srgbClr val="38BDF8"/>
                </a:solidFill>
                <a:latin typeface="Arial"/>
                <a:ea typeface="Arial"/>
                <a:cs typeface="Arial"/>
              </a:defRPr>
            </a:lvl3pPr>
            <a:lvl4pPr>
              <a:defRPr sz="2850" b="1">
                <a:solidFill>
                  <a:srgbClr val="38BDF8"/>
                </a:solidFill>
                <a:latin typeface="Arial"/>
                <a:ea typeface="Arial"/>
                <a:cs typeface="Arial"/>
              </a:defRPr>
            </a:lvl4pPr>
            <a:lvl5pPr>
              <a:defRPr sz="2850" b="1">
                <a:solidFill>
                  <a:srgbClr val="38BDF8"/>
                </a:solidFill>
                <a:latin typeface="Arial"/>
                <a:ea typeface="Arial"/>
                <a:cs typeface="Arial"/>
              </a:defRPr>
            </a:lvl5pPr>
            <a:lvl6pPr>
              <a:defRPr sz="2850" b="1">
                <a:solidFill>
                  <a:srgbClr val="38BDF8"/>
                </a:solidFill>
                <a:latin typeface="Arial"/>
                <a:ea typeface="Arial"/>
                <a:cs typeface="Arial"/>
              </a:defRPr>
            </a:lvl6pPr>
            <a:lvl7pPr>
              <a:defRPr sz="2850" b="1">
                <a:solidFill>
                  <a:srgbClr val="38BDF8"/>
                </a:solidFill>
                <a:latin typeface="Arial"/>
                <a:ea typeface="Arial"/>
                <a:cs typeface="Arial"/>
              </a:defRPr>
            </a:lvl7pPr>
            <a:lvl8pPr>
              <a:defRPr sz="2850" b="1">
                <a:solidFill>
                  <a:srgbClr val="38BDF8"/>
                </a:solidFill>
                <a:latin typeface="Arial"/>
                <a:ea typeface="Arial"/>
                <a:cs typeface="Arial"/>
              </a:defRPr>
            </a:lvl8pPr>
            <a:lvl9pPr>
              <a:defRPr sz="2850" b="1">
                <a:solidFill>
                  <a:srgbClr val="38BDF8"/>
                </a:solidFill>
                <a:latin typeface="Arial"/>
                <a:ea typeface="Arial"/>
                <a:cs typeface="Arial"/>
              </a:defRPr>
            </a:lvl9pPr>
          </a:lstStyle>
          <a:p xmlns:a="http://schemas.openxmlformats.org/drawingml/2006/main">
            <a:pPr>
              <a:defRPr sz="2850" b="1">
                <a:solidFill>
                  <a:srgbClr val="38BDF8"/>
                </a:solidFill>
                <a:latin typeface="Arial"/>
                <a:ea typeface="Arial"/>
                <a:cs typeface="Arial"/>
              </a:defRPr>
            </a:pPr>
            <a:r>
              <a:rPr sz="2850" b="1">
                <a:solidFill>
                  <a:srgbClr val="38BDF8"/>
                </a:solidFill>
                <a:latin typeface="Arial"/>
                <a:ea typeface="Arial"/>
                <a:cs typeface="Arial"/>
              </a:rPr>
              <a:t>99.88%</a:t>
            </a:r>
          </a:p>
        </p:txBody>
      </p:sp>
      <p:sp>
        <p:nvSpPr>
          <p:cNvPr id="10" name="">
            <a:extLst xmlns:a="http://schemas.openxmlformats.org/drawingml/2006/main">
              <a:ext uri="{FF2B5EF4-FFF2-40B4-BE49-F238E27FC236}">
                <a16:creationId xmlns:a16="http://schemas.microsoft.com/office/drawing/2014/main" id="{DDE2BDAC-8DEA-456C-B3BC-35C9E276E87D}"/>
              </a:ext>
            </a:extLst>
          </p:cNvPr>
          <p:cNvSpPr>
            <a:spLocks xmlns:a="http://schemas.openxmlformats.org/drawingml/2006/main" noGrp="1"/>
          </p:cNvSpPr>
          <p:nvPr/>
        </p:nvSpPr>
        <p:spPr>
          <a:xfrm xmlns:a="http://schemas.openxmlformats.org/drawingml/2006/main">
            <a:off x="4610100" y="1828800"/>
            <a:ext cx="2971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94A3B8"/>
                </a:solidFill>
                <a:latin typeface="Arial"/>
                <a:ea typeface="Arial"/>
                <a:cs typeface="Arial"/>
              </a:defRPr>
            </a:defPPr>
            <a:lvl1pPr>
              <a:defRPr sz="1050" b="0">
                <a:solidFill>
                  <a:srgbClr val="94A3B8"/>
                </a:solidFill>
                <a:latin typeface="Arial"/>
                <a:ea typeface="Arial"/>
                <a:cs typeface="Arial"/>
              </a:defRPr>
            </a:lvl1pPr>
            <a:lvl2pPr>
              <a:defRPr sz="1050" b="0">
                <a:solidFill>
                  <a:srgbClr val="94A3B8"/>
                </a:solidFill>
                <a:latin typeface="Arial"/>
                <a:ea typeface="Arial"/>
                <a:cs typeface="Arial"/>
              </a:defRPr>
            </a:lvl2pPr>
            <a:lvl3pPr>
              <a:defRPr sz="1050" b="0">
                <a:solidFill>
                  <a:srgbClr val="94A3B8"/>
                </a:solidFill>
                <a:latin typeface="Arial"/>
                <a:ea typeface="Arial"/>
                <a:cs typeface="Arial"/>
              </a:defRPr>
            </a:lvl3pPr>
            <a:lvl4pPr>
              <a:defRPr sz="1050" b="0">
                <a:solidFill>
                  <a:srgbClr val="94A3B8"/>
                </a:solidFill>
                <a:latin typeface="Arial"/>
                <a:ea typeface="Arial"/>
                <a:cs typeface="Arial"/>
              </a:defRPr>
            </a:lvl4pPr>
            <a:lvl5pPr>
              <a:defRPr sz="1050" b="0">
                <a:solidFill>
                  <a:srgbClr val="94A3B8"/>
                </a:solidFill>
                <a:latin typeface="Arial"/>
                <a:ea typeface="Arial"/>
                <a:cs typeface="Arial"/>
              </a:defRPr>
            </a:lvl5pPr>
            <a:lvl6pPr>
              <a:defRPr sz="1050" b="0">
                <a:solidFill>
                  <a:srgbClr val="94A3B8"/>
                </a:solidFill>
                <a:latin typeface="Arial"/>
                <a:ea typeface="Arial"/>
                <a:cs typeface="Arial"/>
              </a:defRPr>
            </a:lvl6pPr>
            <a:lvl7pPr>
              <a:defRPr sz="1050" b="0">
                <a:solidFill>
                  <a:srgbClr val="94A3B8"/>
                </a:solidFill>
                <a:latin typeface="Arial"/>
                <a:ea typeface="Arial"/>
                <a:cs typeface="Arial"/>
              </a:defRPr>
            </a:lvl7pPr>
            <a:lvl8pPr>
              <a:defRPr sz="1050" b="0">
                <a:solidFill>
                  <a:srgbClr val="94A3B8"/>
                </a:solidFill>
                <a:latin typeface="Arial"/>
                <a:ea typeface="Arial"/>
                <a:cs typeface="Arial"/>
              </a:defRPr>
            </a:lvl8pPr>
            <a:lvl9pPr>
              <a:defRPr sz="1050" b="0">
                <a:solidFill>
                  <a:srgbClr val="94A3B8"/>
                </a:solidFill>
                <a:latin typeface="Arial"/>
                <a:ea typeface="Arial"/>
                <a:cs typeface="Arial"/>
              </a:defRPr>
            </a:lvl9pPr>
          </a:lstStyle>
          <a:p xmlns:a="http://schemas.openxmlformats.org/drawingml/2006/main">
            <a:pPr>
              <a:defRPr sz="1050" b="0">
                <a:solidFill>
                  <a:srgbClr val="94A3B8"/>
                </a:solidFill>
                <a:latin typeface="Arial"/>
                <a:ea typeface="Arial"/>
                <a:cs typeface="Arial"/>
              </a:defRPr>
            </a:pPr>
            <a:r>
              <a:rPr sz="1050" b="0">
                <a:solidFill>
                  <a:srgbClr val="94A3B8"/>
                </a:solidFill>
                <a:latin typeface="Arial"/>
                <a:ea typeface="Arial"/>
                <a:cs typeface="Arial"/>
              </a:rPr>
              <a:t>Recall Người Thật (Chỉ nhầm 3 / 2.446 ảnh)</a:t>
            </a:r>
          </a:p>
        </p:txBody>
      </p:sp>
      <p:sp>
        <p:nvSpPr>
          <p:cNvPr id="11" name="">
            <a:extLst xmlns:a="http://schemas.openxmlformats.org/drawingml/2006/main">
              <a:ext uri="{FF2B5EF4-FFF2-40B4-BE49-F238E27FC236}">
                <a16:creationId xmlns:a16="http://schemas.microsoft.com/office/drawing/2014/main" id="{82E3242D-13EC-43A7-8BB9-49077F3C950A}"/>
              </a:ext>
            </a:extLst>
          </p:cNvPr>
          <p:cNvSpPr>
            <a:spLocks xmlns:a="http://schemas.openxmlformats.org/drawingml/2006/main" noGrp="1"/>
          </p:cNvSpPr>
          <p:nvPr/>
        </p:nvSpPr>
        <p:spPr>
          <a:xfrm xmlns:a="http://schemas.openxmlformats.org/drawingml/2006/main">
            <a:off x="8153400" y="1285875"/>
            <a:ext cx="3429000" cy="904875"/>
          </a:xfrm>
          <a:prstGeom xmlns:a="http://schemas.openxmlformats.org/drawingml/2006/main" prst="rect">
            <a:avLst/>
          </a:prstGeom>
          <a:solidFill xmlns:a="http://schemas.openxmlformats.org/drawingml/2006/main">
            <a:srgbClr val="131F33"/>
          </a:solidFill>
          <a:ln xmlns:a="http://schemas.openxmlformats.org/drawingml/2006/main" w="9525">
            <a:solidFill>
              <a:srgbClr val="223652"/>
            </a:solidFill>
          </a:ln>
        </p:spPr>
        <p:txBody>
          <a:bodyPr xmlns:a="http://schemas.openxmlformats.org/drawingml/2006/main">
            <a:noAutofit/>
          </a:bodyPr>
          <a:lstStyle xmlns:a="http://schemas.openxmlformats.org/drawingml/2006/main">
            <a:defPPr>
              <a:defRPr sz="750">
                <a:solidFill>
                  <a:srgbClr val="131F33"/>
                </a:solidFill>
                <a:latin typeface="Arial"/>
                <a:ea typeface="Arial"/>
                <a:cs typeface="Arial"/>
              </a:defRPr>
            </a:defPPr>
            <a:lvl1pPr>
              <a:defRPr sz="750">
                <a:solidFill>
                  <a:srgbClr val="131F33"/>
                </a:solidFill>
                <a:latin typeface="Arial"/>
                <a:ea typeface="Arial"/>
                <a:cs typeface="Arial"/>
              </a:defRPr>
            </a:lvl1pPr>
            <a:lvl2pPr>
              <a:defRPr sz="750">
                <a:solidFill>
                  <a:srgbClr val="131F33"/>
                </a:solidFill>
                <a:latin typeface="Arial"/>
                <a:ea typeface="Arial"/>
                <a:cs typeface="Arial"/>
              </a:defRPr>
            </a:lvl2pPr>
            <a:lvl3pPr>
              <a:defRPr sz="750">
                <a:solidFill>
                  <a:srgbClr val="131F33"/>
                </a:solidFill>
                <a:latin typeface="Arial"/>
                <a:ea typeface="Arial"/>
                <a:cs typeface="Arial"/>
              </a:defRPr>
            </a:lvl3pPr>
            <a:lvl4pPr>
              <a:defRPr sz="750">
                <a:solidFill>
                  <a:srgbClr val="131F33"/>
                </a:solidFill>
                <a:latin typeface="Arial"/>
                <a:ea typeface="Arial"/>
                <a:cs typeface="Arial"/>
              </a:defRPr>
            </a:lvl4pPr>
            <a:lvl5pPr>
              <a:defRPr sz="750">
                <a:solidFill>
                  <a:srgbClr val="131F33"/>
                </a:solidFill>
                <a:latin typeface="Arial"/>
                <a:ea typeface="Arial"/>
                <a:cs typeface="Arial"/>
              </a:defRPr>
            </a:lvl5pPr>
            <a:lvl6pPr>
              <a:defRPr sz="750">
                <a:solidFill>
                  <a:srgbClr val="131F33"/>
                </a:solidFill>
                <a:latin typeface="Arial"/>
                <a:ea typeface="Arial"/>
                <a:cs typeface="Arial"/>
              </a:defRPr>
            </a:lvl6pPr>
            <a:lvl7pPr>
              <a:defRPr sz="750">
                <a:solidFill>
                  <a:srgbClr val="131F33"/>
                </a:solidFill>
                <a:latin typeface="Arial"/>
                <a:ea typeface="Arial"/>
                <a:cs typeface="Arial"/>
              </a:defRPr>
            </a:lvl7pPr>
            <a:lvl8pPr>
              <a:defRPr sz="750">
                <a:solidFill>
                  <a:srgbClr val="131F33"/>
                </a:solidFill>
                <a:latin typeface="Arial"/>
                <a:ea typeface="Arial"/>
                <a:cs typeface="Arial"/>
              </a:defRPr>
            </a:lvl8pPr>
            <a:lvl9pPr>
              <a:defRPr sz="750">
                <a:solidFill>
                  <a:srgbClr val="131F33"/>
                </a:solidFill>
                <a:latin typeface="Arial"/>
                <a:ea typeface="Arial"/>
                <a:cs typeface="Arial"/>
              </a:defRPr>
            </a:lvl9pPr>
          </a:lstStyle>
          <a:p xmlns:a="http://schemas.openxmlformats.org/drawingml/2006/main">
            <a:pPr>
              <a:defRPr sz="750">
                <a:solidFill>
                  <a:srgbClr val="131F33"/>
                </a:solidFill>
                <a:latin typeface="Arial"/>
                <a:ea typeface="Arial"/>
                <a:cs typeface="Arial"/>
              </a:defRPr>
            </a:pPr>
            <a:r>
              <a:rPr sz="750">
                <a:solidFill>
                  <a:srgbClr val="131F33"/>
                </a:solidFill>
                <a:latin typeface="Arial"/>
                <a:ea typeface="Arial"/>
                <a:cs typeface="Arial"/>
              </a:rPr>
              <a:t> </a:t>
            </a:r>
          </a:p>
        </p:txBody>
      </p:sp>
      <p:sp>
        <p:nvSpPr>
          <p:cNvPr id="12" name="">
            <a:extLst xmlns:a="http://schemas.openxmlformats.org/drawingml/2006/main">
              <a:ext uri="{FF2B5EF4-FFF2-40B4-BE49-F238E27FC236}">
                <a16:creationId xmlns:a16="http://schemas.microsoft.com/office/drawing/2014/main" id="{56F7314E-575D-4302-BCD6-153CADB2D093}"/>
              </a:ext>
            </a:extLst>
          </p:cNvPr>
          <p:cNvSpPr>
            <a:spLocks xmlns:a="http://schemas.openxmlformats.org/drawingml/2006/main" noGrp="1"/>
          </p:cNvSpPr>
          <p:nvPr/>
        </p:nvSpPr>
        <p:spPr>
          <a:xfrm xmlns:a="http://schemas.openxmlformats.org/drawingml/2006/main">
            <a:off x="8382000" y="1352550"/>
            <a:ext cx="2971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BBF24"/>
                </a:solidFill>
                <a:latin typeface="Arial"/>
                <a:ea typeface="Arial"/>
                <a:cs typeface="Arial"/>
              </a:defRPr>
            </a:defPPr>
            <a:lvl1pPr>
              <a:defRPr sz="2850" b="1">
                <a:solidFill>
                  <a:srgbClr val="FBBF24"/>
                </a:solidFill>
                <a:latin typeface="Arial"/>
                <a:ea typeface="Arial"/>
                <a:cs typeface="Arial"/>
              </a:defRPr>
            </a:lvl1pPr>
            <a:lvl2pPr>
              <a:defRPr sz="2850" b="1">
                <a:solidFill>
                  <a:srgbClr val="FBBF24"/>
                </a:solidFill>
                <a:latin typeface="Arial"/>
                <a:ea typeface="Arial"/>
                <a:cs typeface="Arial"/>
              </a:defRPr>
            </a:lvl2pPr>
            <a:lvl3pPr>
              <a:defRPr sz="2850" b="1">
                <a:solidFill>
                  <a:srgbClr val="FBBF24"/>
                </a:solidFill>
                <a:latin typeface="Arial"/>
                <a:ea typeface="Arial"/>
                <a:cs typeface="Arial"/>
              </a:defRPr>
            </a:lvl3pPr>
            <a:lvl4pPr>
              <a:defRPr sz="2850" b="1">
                <a:solidFill>
                  <a:srgbClr val="FBBF24"/>
                </a:solidFill>
                <a:latin typeface="Arial"/>
                <a:ea typeface="Arial"/>
                <a:cs typeface="Arial"/>
              </a:defRPr>
            </a:lvl4pPr>
            <a:lvl5pPr>
              <a:defRPr sz="2850" b="1">
                <a:solidFill>
                  <a:srgbClr val="FBBF24"/>
                </a:solidFill>
                <a:latin typeface="Arial"/>
                <a:ea typeface="Arial"/>
                <a:cs typeface="Arial"/>
              </a:defRPr>
            </a:lvl5pPr>
            <a:lvl6pPr>
              <a:defRPr sz="2850" b="1">
                <a:solidFill>
                  <a:srgbClr val="FBBF24"/>
                </a:solidFill>
                <a:latin typeface="Arial"/>
                <a:ea typeface="Arial"/>
                <a:cs typeface="Arial"/>
              </a:defRPr>
            </a:lvl6pPr>
            <a:lvl7pPr>
              <a:defRPr sz="2850" b="1">
                <a:solidFill>
                  <a:srgbClr val="FBBF24"/>
                </a:solidFill>
                <a:latin typeface="Arial"/>
                <a:ea typeface="Arial"/>
                <a:cs typeface="Arial"/>
              </a:defRPr>
            </a:lvl7pPr>
            <a:lvl8pPr>
              <a:defRPr sz="2850" b="1">
                <a:solidFill>
                  <a:srgbClr val="FBBF24"/>
                </a:solidFill>
                <a:latin typeface="Arial"/>
                <a:ea typeface="Arial"/>
                <a:cs typeface="Arial"/>
              </a:defRPr>
            </a:lvl8pPr>
            <a:lvl9pPr>
              <a:defRPr sz="2850" b="1">
                <a:solidFill>
                  <a:srgbClr val="FBBF24"/>
                </a:solidFill>
                <a:latin typeface="Arial"/>
                <a:ea typeface="Arial"/>
                <a:cs typeface="Arial"/>
              </a:defRPr>
            </a:lvl9pPr>
          </a:lstStyle>
          <a:p xmlns:a="http://schemas.openxmlformats.org/drawingml/2006/main">
            <a:pPr>
              <a:defRPr sz="2850" b="1">
                <a:solidFill>
                  <a:srgbClr val="FBBF24"/>
                </a:solidFill>
                <a:latin typeface="Arial"/>
                <a:ea typeface="Arial"/>
                <a:cs typeface="Arial"/>
              </a:defRPr>
            </a:pPr>
            <a:r>
              <a:rPr sz="2850" b="1">
                <a:solidFill>
                  <a:srgbClr val="FBBF24"/>
                </a:solidFill>
                <a:latin typeface="Arial"/>
                <a:ea typeface="Arial"/>
                <a:cs typeface="Arial"/>
              </a:rPr>
              <a:t>99.87%</a:t>
            </a:r>
          </a:p>
        </p:txBody>
      </p:sp>
      <p:sp>
        <p:nvSpPr>
          <p:cNvPr id="13" name="">
            <a:extLst xmlns:a="http://schemas.openxmlformats.org/drawingml/2006/main">
              <a:ext uri="{FF2B5EF4-FFF2-40B4-BE49-F238E27FC236}">
                <a16:creationId xmlns:a16="http://schemas.microsoft.com/office/drawing/2014/main" id="{BCDA2321-7024-4697-8EA1-363E3623F850}"/>
              </a:ext>
            </a:extLst>
          </p:cNvPr>
          <p:cNvSpPr>
            <a:spLocks xmlns:a="http://schemas.openxmlformats.org/drawingml/2006/main" noGrp="1"/>
          </p:cNvSpPr>
          <p:nvPr/>
        </p:nvSpPr>
        <p:spPr>
          <a:xfrm xmlns:a="http://schemas.openxmlformats.org/drawingml/2006/main">
            <a:off x="8382000" y="1828800"/>
            <a:ext cx="2971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94A3B8"/>
                </a:solidFill>
                <a:latin typeface="Arial"/>
                <a:ea typeface="Arial"/>
                <a:cs typeface="Arial"/>
              </a:defRPr>
            </a:defPPr>
            <a:lvl1pPr>
              <a:defRPr sz="1050" b="0">
                <a:solidFill>
                  <a:srgbClr val="94A3B8"/>
                </a:solidFill>
                <a:latin typeface="Arial"/>
                <a:ea typeface="Arial"/>
                <a:cs typeface="Arial"/>
              </a:defRPr>
            </a:lvl1pPr>
            <a:lvl2pPr>
              <a:defRPr sz="1050" b="0">
                <a:solidFill>
                  <a:srgbClr val="94A3B8"/>
                </a:solidFill>
                <a:latin typeface="Arial"/>
                <a:ea typeface="Arial"/>
                <a:cs typeface="Arial"/>
              </a:defRPr>
            </a:lvl2pPr>
            <a:lvl3pPr>
              <a:defRPr sz="1050" b="0">
                <a:solidFill>
                  <a:srgbClr val="94A3B8"/>
                </a:solidFill>
                <a:latin typeface="Arial"/>
                <a:ea typeface="Arial"/>
                <a:cs typeface="Arial"/>
              </a:defRPr>
            </a:lvl3pPr>
            <a:lvl4pPr>
              <a:defRPr sz="1050" b="0">
                <a:solidFill>
                  <a:srgbClr val="94A3B8"/>
                </a:solidFill>
                <a:latin typeface="Arial"/>
                <a:ea typeface="Arial"/>
                <a:cs typeface="Arial"/>
              </a:defRPr>
            </a:lvl4pPr>
            <a:lvl5pPr>
              <a:defRPr sz="1050" b="0">
                <a:solidFill>
                  <a:srgbClr val="94A3B8"/>
                </a:solidFill>
                <a:latin typeface="Arial"/>
                <a:ea typeface="Arial"/>
                <a:cs typeface="Arial"/>
              </a:defRPr>
            </a:lvl5pPr>
            <a:lvl6pPr>
              <a:defRPr sz="1050" b="0">
                <a:solidFill>
                  <a:srgbClr val="94A3B8"/>
                </a:solidFill>
                <a:latin typeface="Arial"/>
                <a:ea typeface="Arial"/>
                <a:cs typeface="Arial"/>
              </a:defRPr>
            </a:lvl6pPr>
            <a:lvl7pPr>
              <a:defRPr sz="1050" b="0">
                <a:solidFill>
                  <a:srgbClr val="94A3B8"/>
                </a:solidFill>
                <a:latin typeface="Arial"/>
                <a:ea typeface="Arial"/>
                <a:cs typeface="Arial"/>
              </a:defRPr>
            </a:lvl7pPr>
            <a:lvl8pPr>
              <a:defRPr sz="1050" b="0">
                <a:solidFill>
                  <a:srgbClr val="94A3B8"/>
                </a:solidFill>
                <a:latin typeface="Arial"/>
                <a:ea typeface="Arial"/>
                <a:cs typeface="Arial"/>
              </a:defRPr>
            </a:lvl8pPr>
            <a:lvl9pPr>
              <a:defRPr sz="1050" b="0">
                <a:solidFill>
                  <a:srgbClr val="94A3B8"/>
                </a:solidFill>
                <a:latin typeface="Arial"/>
                <a:ea typeface="Arial"/>
                <a:cs typeface="Arial"/>
              </a:defRPr>
            </a:lvl9pPr>
          </a:lstStyle>
          <a:p xmlns:a="http://schemas.openxmlformats.org/drawingml/2006/main">
            <a:pPr>
              <a:defRPr sz="1050" b="0">
                <a:solidFill>
                  <a:srgbClr val="94A3B8"/>
                </a:solidFill>
                <a:latin typeface="Arial"/>
                <a:ea typeface="Arial"/>
                <a:cs typeface="Arial"/>
              </a:defRPr>
            </a:pPr>
            <a:r>
              <a:rPr sz="1050" b="0">
                <a:solidFill>
                  <a:srgbClr val="94A3B8"/>
                </a:solidFill>
                <a:latin typeface="Arial"/>
                <a:ea typeface="Arial"/>
                <a:cs typeface="Arial"/>
              </a:rPr>
              <a:t>Precision Giả Mạo (Chặn gian lận cực nhạy)</a:t>
            </a:r>
          </a:p>
        </p:txBody>
      </p:sp>
      <p:sp>
        <p:nvSpPr>
          <p:cNvPr id="14" name="">
            <a:extLst xmlns:a="http://schemas.openxmlformats.org/drawingml/2006/main">
              <a:ext uri="{FF2B5EF4-FFF2-40B4-BE49-F238E27FC236}">
                <a16:creationId xmlns:a16="http://schemas.microsoft.com/office/drawing/2014/main" id="{289C3A58-1953-418B-B536-78FE0072EA88}"/>
              </a:ext>
            </a:extLst>
          </p:cNvPr>
          <p:cNvSpPr>
            <a:spLocks xmlns:a="http://schemas.openxmlformats.org/drawingml/2006/main" noGrp="1"/>
          </p:cNvSpPr>
          <p:nvPr/>
        </p:nvSpPr>
        <p:spPr>
          <a:xfrm xmlns:a="http://schemas.openxmlformats.org/drawingml/2006/main">
            <a:off x="609600" y="23336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F8FAFC"/>
                </a:solidFill>
                <a:latin typeface="Arial"/>
                <a:ea typeface="Arial"/>
                <a:cs typeface="Arial"/>
              </a:defRPr>
            </a:defPPr>
            <a:lvl1pPr>
              <a:defRPr sz="1425" b="1">
                <a:solidFill>
                  <a:srgbClr val="F8FAFC"/>
                </a:solidFill>
                <a:latin typeface="Arial"/>
                <a:ea typeface="Arial"/>
                <a:cs typeface="Arial"/>
              </a:defRPr>
            </a:lvl1pPr>
            <a:lvl2pPr>
              <a:defRPr sz="1425" b="1">
                <a:solidFill>
                  <a:srgbClr val="F8FAFC"/>
                </a:solidFill>
                <a:latin typeface="Arial"/>
                <a:ea typeface="Arial"/>
                <a:cs typeface="Arial"/>
              </a:defRPr>
            </a:lvl2pPr>
            <a:lvl3pPr>
              <a:defRPr sz="1425" b="1">
                <a:solidFill>
                  <a:srgbClr val="F8FAFC"/>
                </a:solidFill>
                <a:latin typeface="Arial"/>
                <a:ea typeface="Arial"/>
                <a:cs typeface="Arial"/>
              </a:defRPr>
            </a:lvl3pPr>
            <a:lvl4pPr>
              <a:defRPr sz="1425" b="1">
                <a:solidFill>
                  <a:srgbClr val="F8FAFC"/>
                </a:solidFill>
                <a:latin typeface="Arial"/>
                <a:ea typeface="Arial"/>
                <a:cs typeface="Arial"/>
              </a:defRPr>
            </a:lvl4pPr>
            <a:lvl5pPr>
              <a:defRPr sz="1425" b="1">
                <a:solidFill>
                  <a:srgbClr val="F8FAFC"/>
                </a:solidFill>
                <a:latin typeface="Arial"/>
                <a:ea typeface="Arial"/>
                <a:cs typeface="Arial"/>
              </a:defRPr>
            </a:lvl5pPr>
            <a:lvl6pPr>
              <a:defRPr sz="1425" b="1">
                <a:solidFill>
                  <a:srgbClr val="F8FAFC"/>
                </a:solidFill>
                <a:latin typeface="Arial"/>
                <a:ea typeface="Arial"/>
                <a:cs typeface="Arial"/>
              </a:defRPr>
            </a:lvl6pPr>
            <a:lvl7pPr>
              <a:defRPr sz="1425" b="1">
                <a:solidFill>
                  <a:srgbClr val="F8FAFC"/>
                </a:solidFill>
                <a:latin typeface="Arial"/>
                <a:ea typeface="Arial"/>
                <a:cs typeface="Arial"/>
              </a:defRPr>
            </a:lvl7pPr>
            <a:lvl8pPr>
              <a:defRPr sz="1425" b="1">
                <a:solidFill>
                  <a:srgbClr val="F8FAFC"/>
                </a:solidFill>
                <a:latin typeface="Arial"/>
                <a:ea typeface="Arial"/>
                <a:cs typeface="Arial"/>
              </a:defRPr>
            </a:lvl8pPr>
            <a:lvl9pPr>
              <a:defRPr sz="1425" b="1">
                <a:solidFill>
                  <a:srgbClr val="F8FAFC"/>
                </a:solidFill>
                <a:latin typeface="Arial"/>
                <a:ea typeface="Arial"/>
                <a:cs typeface="Arial"/>
              </a:defRPr>
            </a:lvl9pPr>
          </a:lstStyle>
          <a:p xmlns:a="http://schemas.openxmlformats.org/drawingml/2006/main">
            <a:pPr>
              <a:defRPr sz="1425" b="1">
                <a:solidFill>
                  <a:srgbClr val="F8FAFC"/>
                </a:solidFill>
                <a:latin typeface="Arial"/>
                <a:ea typeface="Arial"/>
                <a:cs typeface="Arial"/>
              </a:defRPr>
            </a:pPr>
            <a:r>
              <a:rPr sz="1425" b="1">
                <a:solidFill>
                  <a:srgbClr val="F8FAFC"/>
                </a:solidFill>
                <a:latin typeface="Arial"/>
                <a:ea typeface="Arial"/>
                <a:cs typeface="Arial"/>
              </a:rPr>
              <a:t>A. Bảng Chỉ Số Chi Tiết (Classification Report)</a:t>
            </a:r>
          </a:p>
        </p:txBody>
      </p:sp>
      <p:graphicFrame>
        <p:nvGraphicFramePr>
          <p:cNvPr id="15" name="">
            <a:extLst xmlns:a="http://schemas.openxmlformats.org/drawingml/2006/main">
              <a:ext uri="{FF2B5EF4-FFF2-40B4-BE49-F238E27FC236}">
                <a16:creationId xmlns:a16="http://schemas.microsoft.com/office/drawing/2014/main" id="{94A79AA7-F2F6-4958-B609-4C2BFB01CB8E}"/>
              </a:ext>
            </a:extLst>
          </p:cNvPr>
          <p:cNvGraphicFramePr/>
          <p:nvPr/>
        </p:nvGraphicFramePr>
        <p:xfrm>
          <a:off xmlns:a="http://schemas.openxmlformats.org/drawingml/2006/main" x="609600" y="2667000"/>
          <a:ext xmlns:a="http://schemas.openxmlformats.org/drawingml/2006/main" cx="10972800" cy="1666875"/>
        </p:xfrm>
        <a:graphic xmlns:a="http://schemas.openxmlformats.org/drawingml/2006/main">
          <a:graphicData uri="http://schemas.openxmlformats.org/drawingml/2006/table">
            <a:tbl>
              <a:tblPr/>
              <a:tblGrid>
                <a:gridCol w="1714500"/>
                <a:gridCol w="1619250"/>
                <a:gridCol w="1714500"/>
                <a:gridCol w="1619250"/>
                <a:gridCol w="1143000"/>
                <a:gridCol w="3162300"/>
              </a:tblGrid>
              <a:tr h="416719">
                <a:tc>
                  <a:txBody>
                    <a:bodyPr>
                      <a:noAutofit/>
                    </a:bodyPr>
                    <a:lstStyle/>
                    <a:p>
                      <a:r>
                        <a:rPr sz="1125" b="1">
                          <a:solidFill>
                            <a:srgbClr val="38BDF8"/>
                          </a:solidFill>
                          <a:latin typeface="Arial"/>
                          <a:ea typeface="Arial"/>
                          <a:cs typeface="Arial"/>
                        </a:rPr>
                        <a:t>Lớp (Class)</a:t>
                      </a:r>
                    </a:p>
                  </a:txBody>
                  <a:tcPr marL="91440" marR="91440" marT="45720" marB="45720">
                    <a:lnL w="9525">
                      <a:solidFill>
                        <a:srgbClr val="223652"/>
                      </a:solidFill>
                    </a:lnL>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1125" b="1">
                          <a:solidFill>
                            <a:srgbClr val="38BDF8"/>
                          </a:solidFill>
                          <a:latin typeface="Arial"/>
                          <a:ea typeface="Arial"/>
                          <a:cs typeface="Arial"/>
                        </a:rPr>
                        <a:t>Số lượng mẫu (Support)</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1125" b="1">
                          <a:solidFill>
                            <a:srgbClr val="38BDF8"/>
                          </a:solidFill>
                          <a:latin typeface="Arial"/>
                          <a:ea typeface="Arial"/>
                          <a:cs typeface="Arial"/>
                        </a:rPr>
                        <a:t>Precision (Độ chuẩn xác)</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1125" b="1">
                          <a:solidFill>
                            <a:srgbClr val="38BDF8"/>
                          </a:solidFill>
                          <a:latin typeface="Arial"/>
                          <a:ea typeface="Arial"/>
                          <a:cs typeface="Arial"/>
                        </a:rPr>
                        <a:t>Recall (Độ bao phủ)</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1125" b="1">
                          <a:solidFill>
                            <a:srgbClr val="38BDF8"/>
                          </a:solidFill>
                          <a:latin typeface="Arial"/>
                          <a:ea typeface="Arial"/>
                          <a:cs typeface="Arial"/>
                        </a:rPr>
                        <a:t>F1-Score</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1125" b="1">
                          <a:solidFill>
                            <a:srgbClr val="38BDF8"/>
                          </a:solidFill>
                          <a:latin typeface="Arial"/>
                          <a:ea typeface="Arial"/>
                          <a:cs typeface="Arial"/>
                        </a:rPr>
                        <a:t>Ý nghĩa thực tiễn</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r>
              <a:tr h="416719">
                <a:tc>
                  <a:txBody>
                    <a:bodyPr>
                      <a:noAutofit/>
                    </a:bodyPr>
                    <a:lstStyle/>
                    <a:p>
                      <a:r>
                        <a:rPr sz="1125" b="1">
                          <a:solidFill>
                            <a:srgbClr val="F8FAFC"/>
                          </a:solidFill>
                          <a:latin typeface="Arial"/>
                          <a:ea typeface="Arial"/>
                          <a:cs typeface="Arial"/>
                        </a:rPr>
                        <a:t>FAKE (Giả mạo)</a:t>
                      </a:r>
                    </a:p>
                  </a:txBody>
                  <a:tcPr marL="91440" marR="91440" marT="45720" marB="45720">
                    <a:lnL w="9525">
                      <a:solidFill>
                        <a:srgbClr val="223652"/>
                      </a:solidFill>
                    </a:lnL>
                    <a:lnR w="9525">
                      <a:solidFill>
                        <a:srgbClr val="223652"/>
                      </a:solidFill>
                    </a:lnR>
                    <a:lnB w="9525">
                      <a:solidFill>
                        <a:srgbClr val="223652"/>
                      </a:solidFill>
                    </a:lnB>
                    <a:solidFill>
                      <a:srgbClr val="101B2C"/>
                    </a:solidFill>
                  </a:tcPr>
                </a:tc>
                <a:tc>
                  <a:txBody>
                    <a:bodyPr>
                      <a:noAutofit/>
                    </a:bodyPr>
                    <a:lstStyle/>
                    <a:p>
                      <a:r>
                        <a:rPr sz="1125" b="0">
                          <a:solidFill>
                            <a:srgbClr val="94A3B8"/>
                          </a:solidFill>
                          <a:latin typeface="Arial"/>
                          <a:ea typeface="Arial"/>
                          <a:cs typeface="Arial"/>
                        </a:rPr>
                        <a:t>2.365 ảnh</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1125" b="0">
                          <a:solidFill>
                            <a:srgbClr val="34D399"/>
                          </a:solidFill>
                          <a:latin typeface="Arial"/>
                          <a:ea typeface="Arial"/>
                          <a:cs typeface="Arial"/>
                        </a:rPr>
                        <a:t>99.87%</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1125" b="0">
                          <a:solidFill>
                            <a:srgbClr val="34D399"/>
                          </a:solidFill>
                          <a:latin typeface="Arial"/>
                          <a:ea typeface="Arial"/>
                          <a:cs typeface="Arial"/>
                        </a:rPr>
                        <a:t>96.24%</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1125" b="0">
                          <a:solidFill>
                            <a:srgbClr val="34D399"/>
                          </a:solidFill>
                          <a:latin typeface="Arial"/>
                          <a:ea typeface="Arial"/>
                          <a:cs typeface="Arial"/>
                        </a:rPr>
                        <a:t>98.02%</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1125" b="0">
                          <a:solidFill>
                            <a:srgbClr val="94A3B8"/>
                          </a:solidFill>
                          <a:latin typeface="Arial"/>
                          <a:ea typeface="Arial"/>
                          <a:cs typeface="Arial"/>
                        </a:rPr>
                        <a:t>Chặn đứng tuyệt đại đa số các đòn tấn công màn hình</a:t>
                      </a:r>
                    </a:p>
                  </a:txBody>
                  <a:tcPr marL="91440" marR="91440" marT="45720" marB="45720">
                    <a:lnR w="9525">
                      <a:solidFill>
                        <a:srgbClr val="223652"/>
                      </a:solidFill>
                    </a:lnR>
                    <a:lnB w="9525">
                      <a:solidFill>
                        <a:srgbClr val="223652"/>
                      </a:solidFill>
                    </a:lnB>
                    <a:solidFill>
                      <a:srgbClr val="101B2C"/>
                    </a:solidFill>
                  </a:tcPr>
                </a:tc>
              </a:tr>
              <a:tr h="416719">
                <a:tc>
                  <a:txBody>
                    <a:bodyPr>
                      <a:noAutofit/>
                    </a:bodyPr>
                    <a:lstStyle/>
                    <a:p>
                      <a:r>
                        <a:rPr sz="1125" b="1">
                          <a:solidFill>
                            <a:srgbClr val="F8FAFC"/>
                          </a:solidFill>
                          <a:latin typeface="Arial"/>
                          <a:ea typeface="Arial"/>
                          <a:cs typeface="Arial"/>
                        </a:rPr>
                        <a:t>REAL (Người thật)</a:t>
                      </a:r>
                    </a:p>
                  </a:txBody>
                  <a:tcPr marL="91440" marR="91440" marT="45720" marB="45720">
                    <a:lnL w="9525">
                      <a:solidFill>
                        <a:srgbClr val="223652"/>
                      </a:solidFill>
                    </a:lnL>
                    <a:lnR w="9525">
                      <a:solidFill>
                        <a:srgbClr val="223652"/>
                      </a:solidFill>
                    </a:lnR>
                    <a:lnB w="9525">
                      <a:solidFill>
                        <a:srgbClr val="223652"/>
                      </a:solidFill>
                    </a:lnB>
                    <a:solidFill>
                      <a:srgbClr val="0B1320"/>
                    </a:solidFill>
                  </a:tcPr>
                </a:tc>
                <a:tc>
                  <a:txBody>
                    <a:bodyPr>
                      <a:noAutofit/>
                    </a:bodyPr>
                    <a:lstStyle/>
                    <a:p>
                      <a:r>
                        <a:rPr sz="1125" b="0">
                          <a:solidFill>
                            <a:srgbClr val="94A3B8"/>
                          </a:solidFill>
                          <a:latin typeface="Arial"/>
                          <a:ea typeface="Arial"/>
                          <a:cs typeface="Arial"/>
                        </a:rPr>
                        <a:t>2.446 ảnh</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1125" b="0">
                          <a:solidFill>
                            <a:srgbClr val="34D399"/>
                          </a:solidFill>
                          <a:latin typeface="Arial"/>
                          <a:ea typeface="Arial"/>
                          <a:cs typeface="Arial"/>
                        </a:rPr>
                        <a:t>96.48%</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1125" b="0">
                          <a:solidFill>
                            <a:srgbClr val="34D399"/>
                          </a:solidFill>
                          <a:latin typeface="Arial"/>
                          <a:ea typeface="Arial"/>
                          <a:cs typeface="Arial"/>
                        </a:rPr>
                        <a:t>99.88%</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1125" b="0">
                          <a:solidFill>
                            <a:srgbClr val="34D399"/>
                          </a:solidFill>
                          <a:latin typeface="Arial"/>
                          <a:ea typeface="Arial"/>
                          <a:cs typeface="Arial"/>
                        </a:rPr>
                        <a:t>98.15%</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1125" b="0">
                          <a:solidFill>
                            <a:srgbClr val="94A3B8"/>
                          </a:solidFill>
                          <a:latin typeface="Arial"/>
                          <a:ea typeface="Arial"/>
                          <a:cs typeface="Arial"/>
                        </a:rPr>
                        <a:t>Người dùng thông suốt, gần như không bị từ chối oan</a:t>
                      </a:r>
                    </a:p>
                  </a:txBody>
                  <a:tcPr marL="91440" marR="91440" marT="45720" marB="45720">
                    <a:lnR w="9525">
                      <a:solidFill>
                        <a:srgbClr val="223652"/>
                      </a:solidFill>
                    </a:lnR>
                    <a:lnB w="9525">
                      <a:solidFill>
                        <a:srgbClr val="223652"/>
                      </a:solidFill>
                    </a:lnB>
                    <a:solidFill>
                      <a:srgbClr val="0B1320"/>
                    </a:solidFill>
                  </a:tcPr>
                </a:tc>
              </a:tr>
              <a:tr h="416719">
                <a:tc>
                  <a:txBody>
                    <a:bodyPr>
                      <a:noAutofit/>
                    </a:bodyPr>
                    <a:lstStyle/>
                    <a:p>
                      <a:r>
                        <a:rPr sz="1125" b="1">
                          <a:solidFill>
                            <a:srgbClr val="F8FAFC"/>
                          </a:solidFill>
                          <a:latin typeface="Arial"/>
                          <a:ea typeface="Arial"/>
                          <a:cs typeface="Arial"/>
                        </a:rPr>
                        <a:t>Trung bình toàn bộ</a:t>
                      </a:r>
                    </a:p>
                  </a:txBody>
                  <a:tcPr marL="91440" marR="91440" marT="45720" marB="45720">
                    <a:lnL w="9525">
                      <a:solidFill>
                        <a:srgbClr val="223652"/>
                      </a:solidFill>
                    </a:lnL>
                    <a:lnR w="9525">
                      <a:solidFill>
                        <a:srgbClr val="223652"/>
                      </a:solidFill>
                    </a:lnR>
                    <a:lnB w="9525">
                      <a:solidFill>
                        <a:srgbClr val="223652"/>
                      </a:solidFill>
                    </a:lnB>
                    <a:solidFill>
                      <a:srgbClr val="101B2C"/>
                    </a:solidFill>
                  </a:tcPr>
                </a:tc>
                <a:tc>
                  <a:txBody>
                    <a:bodyPr>
                      <a:noAutofit/>
                    </a:bodyPr>
                    <a:lstStyle/>
                    <a:p>
                      <a:r>
                        <a:rPr sz="1125" b="0">
                          <a:solidFill>
                            <a:srgbClr val="94A3B8"/>
                          </a:solidFill>
                          <a:latin typeface="Arial"/>
                          <a:ea typeface="Arial"/>
                          <a:cs typeface="Arial"/>
                        </a:rPr>
                        <a:t>4.811 ảnh</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1125" b="0">
                          <a:solidFill>
                            <a:srgbClr val="34D399"/>
                          </a:solidFill>
                          <a:latin typeface="Arial"/>
                          <a:ea typeface="Arial"/>
                          <a:cs typeface="Arial"/>
                        </a:rPr>
                        <a:t>98.18%</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1125" b="0">
                          <a:solidFill>
                            <a:srgbClr val="34D399"/>
                          </a:solidFill>
                          <a:latin typeface="Arial"/>
                          <a:ea typeface="Arial"/>
                          <a:cs typeface="Arial"/>
                        </a:rPr>
                        <a:t>98.06%</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1125" b="0">
                          <a:solidFill>
                            <a:srgbClr val="34D399"/>
                          </a:solidFill>
                          <a:latin typeface="Arial"/>
                          <a:ea typeface="Arial"/>
                          <a:cs typeface="Arial"/>
                        </a:rPr>
                        <a:t>98.09%</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1125" b="0">
                          <a:solidFill>
                            <a:srgbClr val="94A3B8"/>
                          </a:solidFill>
                          <a:latin typeface="Arial"/>
                          <a:ea typeface="Arial"/>
                          <a:cs typeface="Arial"/>
                        </a:rPr>
                        <a:t>Cân bằng tối ưu giữa bảo mật và trải nghiệm thực tế</a:t>
                      </a:r>
                    </a:p>
                  </a:txBody>
                  <a:tcPr marL="91440" marR="91440" marT="45720" marB="45720">
                    <a:lnR w="9525">
                      <a:solidFill>
                        <a:srgbClr val="223652"/>
                      </a:solidFill>
                    </a:lnR>
                    <a:lnB w="9525">
                      <a:solidFill>
                        <a:srgbClr val="223652"/>
                      </a:solidFill>
                    </a:lnB>
                    <a:solidFill>
                      <a:srgbClr val="101B2C"/>
                    </a:solidFill>
                  </a:tcPr>
                </a:tc>
              </a:tr>
            </a:tbl>
          </a:graphicData>
        </a:graphic>
      </p:graphicFrame>
      <p:sp>
        <p:nvSpPr>
          <p:cNvPr id="16" name="">
            <a:extLst xmlns:a="http://schemas.openxmlformats.org/drawingml/2006/main">
              <a:ext uri="{FF2B5EF4-FFF2-40B4-BE49-F238E27FC236}">
                <a16:creationId xmlns:a16="http://schemas.microsoft.com/office/drawing/2014/main" id="{8169D936-5767-4523-AC05-BB5A09E7F7A6}"/>
              </a:ext>
            </a:extLst>
          </p:cNvPr>
          <p:cNvSpPr>
            <a:spLocks xmlns:a="http://schemas.openxmlformats.org/drawingml/2006/main" noGrp="1"/>
          </p:cNvSpPr>
          <p:nvPr/>
        </p:nvSpPr>
        <p:spPr>
          <a:xfrm xmlns:a="http://schemas.openxmlformats.org/drawingml/2006/main">
            <a:off x="609600" y="4524375"/>
            <a:ext cx="10972800" cy="1619250"/>
          </a:xfrm>
          <a:prstGeom xmlns:a="http://schemas.openxmlformats.org/drawingml/2006/main" prst="rect">
            <a:avLst/>
          </a:prstGeom>
          <a:solidFill xmlns:a="http://schemas.openxmlformats.org/drawingml/2006/main">
            <a:srgbClr val="131F33"/>
          </a:solidFill>
          <a:ln xmlns:a="http://schemas.openxmlformats.org/drawingml/2006/main" w="9525">
            <a:solidFill>
              <a:srgbClr val="223652"/>
            </a:solidFill>
          </a:ln>
        </p:spPr>
        <p:txBody>
          <a:bodyPr xmlns:a="http://schemas.openxmlformats.org/drawingml/2006/main">
            <a:noAutofit/>
          </a:bodyPr>
          <a:lstStyle xmlns:a="http://schemas.openxmlformats.org/drawingml/2006/main">
            <a:defPPr>
              <a:defRPr sz="750">
                <a:solidFill>
                  <a:srgbClr val="131F33"/>
                </a:solidFill>
                <a:latin typeface="Arial"/>
                <a:ea typeface="Arial"/>
                <a:cs typeface="Arial"/>
              </a:defRPr>
            </a:defPPr>
            <a:lvl1pPr>
              <a:defRPr sz="750">
                <a:solidFill>
                  <a:srgbClr val="131F33"/>
                </a:solidFill>
                <a:latin typeface="Arial"/>
                <a:ea typeface="Arial"/>
                <a:cs typeface="Arial"/>
              </a:defRPr>
            </a:lvl1pPr>
            <a:lvl2pPr>
              <a:defRPr sz="750">
                <a:solidFill>
                  <a:srgbClr val="131F33"/>
                </a:solidFill>
                <a:latin typeface="Arial"/>
                <a:ea typeface="Arial"/>
                <a:cs typeface="Arial"/>
              </a:defRPr>
            </a:lvl2pPr>
            <a:lvl3pPr>
              <a:defRPr sz="750">
                <a:solidFill>
                  <a:srgbClr val="131F33"/>
                </a:solidFill>
                <a:latin typeface="Arial"/>
                <a:ea typeface="Arial"/>
                <a:cs typeface="Arial"/>
              </a:defRPr>
            </a:lvl3pPr>
            <a:lvl4pPr>
              <a:defRPr sz="750">
                <a:solidFill>
                  <a:srgbClr val="131F33"/>
                </a:solidFill>
                <a:latin typeface="Arial"/>
                <a:ea typeface="Arial"/>
                <a:cs typeface="Arial"/>
              </a:defRPr>
            </a:lvl4pPr>
            <a:lvl5pPr>
              <a:defRPr sz="750">
                <a:solidFill>
                  <a:srgbClr val="131F33"/>
                </a:solidFill>
                <a:latin typeface="Arial"/>
                <a:ea typeface="Arial"/>
                <a:cs typeface="Arial"/>
              </a:defRPr>
            </a:lvl5pPr>
            <a:lvl6pPr>
              <a:defRPr sz="750">
                <a:solidFill>
                  <a:srgbClr val="131F33"/>
                </a:solidFill>
                <a:latin typeface="Arial"/>
                <a:ea typeface="Arial"/>
                <a:cs typeface="Arial"/>
              </a:defRPr>
            </a:lvl6pPr>
            <a:lvl7pPr>
              <a:defRPr sz="750">
                <a:solidFill>
                  <a:srgbClr val="131F33"/>
                </a:solidFill>
                <a:latin typeface="Arial"/>
                <a:ea typeface="Arial"/>
                <a:cs typeface="Arial"/>
              </a:defRPr>
            </a:lvl7pPr>
            <a:lvl8pPr>
              <a:defRPr sz="750">
                <a:solidFill>
                  <a:srgbClr val="131F33"/>
                </a:solidFill>
                <a:latin typeface="Arial"/>
                <a:ea typeface="Arial"/>
                <a:cs typeface="Arial"/>
              </a:defRPr>
            </a:lvl8pPr>
            <a:lvl9pPr>
              <a:defRPr sz="750">
                <a:solidFill>
                  <a:srgbClr val="131F33"/>
                </a:solidFill>
                <a:latin typeface="Arial"/>
                <a:ea typeface="Arial"/>
                <a:cs typeface="Arial"/>
              </a:defRPr>
            </a:lvl9pPr>
          </a:lstStyle>
          <a:p xmlns:a="http://schemas.openxmlformats.org/drawingml/2006/main">
            <a:pPr>
              <a:defRPr sz="750">
                <a:solidFill>
                  <a:srgbClr val="131F33"/>
                </a:solidFill>
                <a:latin typeface="Arial"/>
                <a:ea typeface="Arial"/>
                <a:cs typeface="Arial"/>
              </a:defRPr>
            </a:pPr>
            <a:r>
              <a:rPr sz="750">
                <a:solidFill>
                  <a:srgbClr val="131F33"/>
                </a:solidFill>
                <a:latin typeface="Arial"/>
                <a:ea typeface="Arial"/>
                <a:cs typeface="Arial"/>
              </a:rPr>
              <a:t> </a:t>
            </a:r>
          </a:p>
        </p:txBody>
      </p:sp>
      <p:sp>
        <p:nvSpPr>
          <p:cNvPr id="17" name="">
            <a:extLst xmlns:a="http://schemas.openxmlformats.org/drawingml/2006/main">
              <a:ext uri="{FF2B5EF4-FFF2-40B4-BE49-F238E27FC236}">
                <a16:creationId xmlns:a16="http://schemas.microsoft.com/office/drawing/2014/main" id="{4251F379-DC5E-44EE-964F-0252284503D5}"/>
              </a:ext>
            </a:extLst>
          </p:cNvPr>
          <p:cNvSpPr>
            <a:spLocks xmlns:a="http://schemas.openxmlformats.org/drawingml/2006/main" noGrp="1"/>
          </p:cNvSpPr>
          <p:nvPr/>
        </p:nvSpPr>
        <p:spPr>
          <a:xfrm xmlns:a="http://schemas.openxmlformats.org/drawingml/2006/main">
            <a:off x="838200" y="4667250"/>
            <a:ext cx="1051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38BDF8"/>
                </a:solidFill>
                <a:latin typeface="Arial"/>
                <a:ea typeface="Arial"/>
                <a:cs typeface="Arial"/>
              </a:defRPr>
            </a:defPPr>
            <a:lvl1pPr>
              <a:defRPr sz="1425" b="1">
                <a:solidFill>
                  <a:srgbClr val="38BDF8"/>
                </a:solidFill>
                <a:latin typeface="Arial"/>
                <a:ea typeface="Arial"/>
                <a:cs typeface="Arial"/>
              </a:defRPr>
            </a:lvl1pPr>
            <a:lvl2pPr>
              <a:defRPr sz="1425" b="1">
                <a:solidFill>
                  <a:srgbClr val="38BDF8"/>
                </a:solidFill>
                <a:latin typeface="Arial"/>
                <a:ea typeface="Arial"/>
                <a:cs typeface="Arial"/>
              </a:defRPr>
            </a:lvl2pPr>
            <a:lvl3pPr>
              <a:defRPr sz="1425" b="1">
                <a:solidFill>
                  <a:srgbClr val="38BDF8"/>
                </a:solidFill>
                <a:latin typeface="Arial"/>
                <a:ea typeface="Arial"/>
                <a:cs typeface="Arial"/>
              </a:defRPr>
            </a:lvl3pPr>
            <a:lvl4pPr>
              <a:defRPr sz="1425" b="1">
                <a:solidFill>
                  <a:srgbClr val="38BDF8"/>
                </a:solidFill>
                <a:latin typeface="Arial"/>
                <a:ea typeface="Arial"/>
                <a:cs typeface="Arial"/>
              </a:defRPr>
            </a:lvl4pPr>
            <a:lvl5pPr>
              <a:defRPr sz="1425" b="1">
                <a:solidFill>
                  <a:srgbClr val="38BDF8"/>
                </a:solidFill>
                <a:latin typeface="Arial"/>
                <a:ea typeface="Arial"/>
                <a:cs typeface="Arial"/>
              </a:defRPr>
            </a:lvl5pPr>
            <a:lvl6pPr>
              <a:defRPr sz="1425" b="1">
                <a:solidFill>
                  <a:srgbClr val="38BDF8"/>
                </a:solidFill>
                <a:latin typeface="Arial"/>
                <a:ea typeface="Arial"/>
                <a:cs typeface="Arial"/>
              </a:defRPr>
            </a:lvl6pPr>
            <a:lvl7pPr>
              <a:defRPr sz="1425" b="1">
                <a:solidFill>
                  <a:srgbClr val="38BDF8"/>
                </a:solidFill>
                <a:latin typeface="Arial"/>
                <a:ea typeface="Arial"/>
                <a:cs typeface="Arial"/>
              </a:defRPr>
            </a:lvl7pPr>
            <a:lvl8pPr>
              <a:defRPr sz="1425" b="1">
                <a:solidFill>
                  <a:srgbClr val="38BDF8"/>
                </a:solidFill>
                <a:latin typeface="Arial"/>
                <a:ea typeface="Arial"/>
                <a:cs typeface="Arial"/>
              </a:defRPr>
            </a:lvl8pPr>
            <a:lvl9pPr>
              <a:defRPr sz="1425" b="1">
                <a:solidFill>
                  <a:srgbClr val="38BDF8"/>
                </a:solidFill>
                <a:latin typeface="Arial"/>
                <a:ea typeface="Arial"/>
                <a:cs typeface="Arial"/>
              </a:defRPr>
            </a:lvl9pPr>
          </a:lstStyle>
          <a:p xmlns:a="http://schemas.openxmlformats.org/drawingml/2006/main">
            <a:pPr>
              <a:defRPr sz="1425" b="1">
                <a:solidFill>
                  <a:srgbClr val="38BDF8"/>
                </a:solidFill>
                <a:latin typeface="Arial"/>
                <a:ea typeface="Arial"/>
                <a:cs typeface="Arial"/>
              </a:defRPr>
            </a:pPr>
            <a:r>
              <a:rPr sz="1425" b="1">
                <a:solidFill>
                  <a:srgbClr val="38BDF8"/>
                </a:solidFill>
                <a:latin typeface="Arial"/>
                <a:ea typeface="Arial"/>
                <a:cs typeface="Arial"/>
              </a:rPr>
              <a:t>B. Ma Trận Nhầm Lẫn (Confusion Matrix trên 4.811 ảnh Test độc lập)</a:t>
            </a:r>
          </a:p>
        </p:txBody>
      </p:sp>
      <p:sp>
        <p:nvSpPr>
          <p:cNvPr id="18" name="">
            <a:extLst xmlns:a="http://schemas.openxmlformats.org/drawingml/2006/main">
              <a:ext uri="{FF2B5EF4-FFF2-40B4-BE49-F238E27FC236}">
                <a16:creationId xmlns:a16="http://schemas.microsoft.com/office/drawing/2014/main" id="{38DE4715-D612-4B87-8607-A9EED335E7A6}"/>
              </a:ext>
            </a:extLst>
          </p:cNvPr>
          <p:cNvSpPr>
            <a:spLocks xmlns:a="http://schemas.openxmlformats.org/drawingml/2006/main" noGrp="1"/>
          </p:cNvSpPr>
          <p:nvPr/>
        </p:nvSpPr>
        <p:spPr>
          <a:xfrm xmlns:a="http://schemas.openxmlformats.org/drawingml/2006/main">
            <a:off x="838200" y="5029200"/>
            <a:ext cx="10515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8FAFC"/>
                </a:solidFill>
                <a:latin typeface="Arial"/>
                <a:ea typeface="Arial"/>
                <a:cs typeface="Arial"/>
              </a:defRPr>
            </a:defPPr>
            <a:lvl1pPr>
              <a:defRPr sz="1200" b="0">
                <a:solidFill>
                  <a:srgbClr val="F8FAFC"/>
                </a:solidFill>
                <a:latin typeface="Arial"/>
                <a:ea typeface="Arial"/>
                <a:cs typeface="Arial"/>
              </a:defRPr>
            </a:lvl1pPr>
            <a:lvl2pPr>
              <a:defRPr sz="1200" b="0">
                <a:solidFill>
                  <a:srgbClr val="F8FAFC"/>
                </a:solidFill>
                <a:latin typeface="Arial"/>
                <a:ea typeface="Arial"/>
                <a:cs typeface="Arial"/>
              </a:defRPr>
            </a:lvl2pPr>
            <a:lvl3pPr>
              <a:defRPr sz="1200" b="0">
                <a:solidFill>
                  <a:srgbClr val="F8FAFC"/>
                </a:solidFill>
                <a:latin typeface="Arial"/>
                <a:ea typeface="Arial"/>
                <a:cs typeface="Arial"/>
              </a:defRPr>
            </a:lvl3pPr>
            <a:lvl4pPr>
              <a:defRPr sz="1200" b="0">
                <a:solidFill>
                  <a:srgbClr val="F8FAFC"/>
                </a:solidFill>
                <a:latin typeface="Arial"/>
                <a:ea typeface="Arial"/>
                <a:cs typeface="Arial"/>
              </a:defRPr>
            </a:lvl4pPr>
            <a:lvl5pPr>
              <a:defRPr sz="1200" b="0">
                <a:solidFill>
                  <a:srgbClr val="F8FAFC"/>
                </a:solidFill>
                <a:latin typeface="Arial"/>
                <a:ea typeface="Arial"/>
                <a:cs typeface="Arial"/>
              </a:defRPr>
            </a:lvl5pPr>
            <a:lvl6pPr>
              <a:defRPr sz="1200" b="0">
                <a:solidFill>
                  <a:srgbClr val="F8FAFC"/>
                </a:solidFill>
                <a:latin typeface="Arial"/>
                <a:ea typeface="Arial"/>
                <a:cs typeface="Arial"/>
              </a:defRPr>
            </a:lvl6pPr>
            <a:lvl7pPr>
              <a:defRPr sz="1200" b="0">
                <a:solidFill>
                  <a:srgbClr val="F8FAFC"/>
                </a:solidFill>
                <a:latin typeface="Arial"/>
                <a:ea typeface="Arial"/>
                <a:cs typeface="Arial"/>
              </a:defRPr>
            </a:lvl7pPr>
            <a:lvl8pPr>
              <a:defRPr sz="1200" b="0">
                <a:solidFill>
                  <a:srgbClr val="F8FAFC"/>
                </a:solidFill>
                <a:latin typeface="Arial"/>
                <a:ea typeface="Arial"/>
                <a:cs typeface="Arial"/>
              </a:defRPr>
            </a:lvl8pPr>
            <a:lvl9pPr>
              <a:defRPr sz="1200" b="0">
                <a:solidFill>
                  <a:srgbClr val="F8FAFC"/>
                </a:solidFill>
                <a:latin typeface="Arial"/>
                <a:ea typeface="Arial"/>
                <a:cs typeface="Arial"/>
              </a:defRPr>
            </a:lvl9pPr>
          </a:lstStyle>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Ảnh FAKE (2.365 ảnh):</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Đoán đúng Fake = 2.276 ảnh (96.24%)  |  Nhầm sang Real = 89 ảnh  ==&gt;  Tỷ lệ lọt gian lận chỉ 3.7% (cực kỳ an toàn).</a:t>
            </a:r>
          </a:p>
          <a:p xmlns:a="http://schemas.openxmlformats.org/drawingml/2006/main">
            <a:r>
              <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Ảnh REAL (2.446 ảnh):</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Đoán đúng Real = 2.443 ảnh (99.88%)  |  Nhầm sang Fake = đúng 3 ảnh duy nhất  ==&gt;  Gần như 100% người thật được thông qua ngay lập tức.</a:t>
            </a:r>
          </a:p>
        </p:txBody>
      </p:sp>
    </p:spTree>
    <p:extLst>
      <p:ext uri="{BB962C8B-B14F-4D97-AF65-F5344CB8AC3E}">
        <p14:creationId xmlns:p14="http://schemas.microsoft.com/office/powerpoint/2010/main" val="2067262146"/>
      </p:ext>
    </p:extLst>
  </p:cSld>
</p:sld>
</file>

<file path=ppt/slides/slide4.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49216C9-9D70-41FB-A383-F15DB3825038}"/>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F8FAFC"/>
                </a:solidFill>
                <a:latin typeface="Arial"/>
                <a:ea typeface="Arial"/>
                <a:cs typeface="Arial"/>
              </a:defRPr>
            </a:defPPr>
            <a:lvl1pPr>
              <a:defRPr sz="2550" b="1">
                <a:solidFill>
                  <a:srgbClr val="F8FAFC"/>
                </a:solidFill>
                <a:latin typeface="Arial"/>
                <a:ea typeface="Arial"/>
                <a:cs typeface="Arial"/>
              </a:defRPr>
            </a:lvl1pPr>
            <a:lvl2pPr>
              <a:defRPr sz="2550" b="1">
                <a:solidFill>
                  <a:srgbClr val="F8FAFC"/>
                </a:solidFill>
                <a:latin typeface="Arial"/>
                <a:ea typeface="Arial"/>
                <a:cs typeface="Arial"/>
              </a:defRPr>
            </a:lvl2pPr>
            <a:lvl3pPr>
              <a:defRPr sz="2550" b="1">
                <a:solidFill>
                  <a:srgbClr val="F8FAFC"/>
                </a:solidFill>
                <a:latin typeface="Arial"/>
                <a:ea typeface="Arial"/>
                <a:cs typeface="Arial"/>
              </a:defRPr>
            </a:lvl3pPr>
            <a:lvl4pPr>
              <a:defRPr sz="2550" b="1">
                <a:solidFill>
                  <a:srgbClr val="F8FAFC"/>
                </a:solidFill>
                <a:latin typeface="Arial"/>
                <a:ea typeface="Arial"/>
                <a:cs typeface="Arial"/>
              </a:defRPr>
            </a:lvl4pPr>
            <a:lvl5pPr>
              <a:defRPr sz="2550" b="1">
                <a:solidFill>
                  <a:srgbClr val="F8FAFC"/>
                </a:solidFill>
                <a:latin typeface="Arial"/>
                <a:ea typeface="Arial"/>
                <a:cs typeface="Arial"/>
              </a:defRPr>
            </a:lvl5pPr>
            <a:lvl6pPr>
              <a:defRPr sz="2550" b="1">
                <a:solidFill>
                  <a:srgbClr val="F8FAFC"/>
                </a:solidFill>
                <a:latin typeface="Arial"/>
                <a:ea typeface="Arial"/>
                <a:cs typeface="Arial"/>
              </a:defRPr>
            </a:lvl6pPr>
            <a:lvl7pPr>
              <a:defRPr sz="2550" b="1">
                <a:solidFill>
                  <a:srgbClr val="F8FAFC"/>
                </a:solidFill>
                <a:latin typeface="Arial"/>
                <a:ea typeface="Arial"/>
                <a:cs typeface="Arial"/>
              </a:defRPr>
            </a:lvl7pPr>
            <a:lvl8pPr>
              <a:defRPr sz="2550" b="1">
                <a:solidFill>
                  <a:srgbClr val="F8FAFC"/>
                </a:solidFill>
                <a:latin typeface="Arial"/>
                <a:ea typeface="Arial"/>
                <a:cs typeface="Arial"/>
              </a:defRPr>
            </a:lvl8pPr>
            <a:lvl9pPr>
              <a:defRPr sz="2550" b="1">
                <a:solidFill>
                  <a:srgbClr val="F8FAFC"/>
                </a:solidFill>
                <a:latin typeface="Arial"/>
                <a:ea typeface="Arial"/>
                <a:cs typeface="Arial"/>
              </a:defRPr>
            </a:lvl9pPr>
          </a:lstStyle>
          <a:p xmlns:a="http://schemas.openxmlformats.org/drawingml/2006/main">
            <a:pPr>
              <a:defRPr sz="2550" b="1">
                <a:solidFill>
                  <a:srgbClr val="F8FAFC"/>
                </a:solidFill>
                <a:latin typeface="Arial"/>
                <a:ea typeface="Arial"/>
                <a:cs typeface="Arial"/>
              </a:defRPr>
            </a:pPr>
            <a:r>
              <a:rPr sz="2550" b="1">
                <a:solidFill>
                  <a:srgbClr val="F8FAFC"/>
                </a:solidFill>
                <a:latin typeface="Arial"/>
                <a:ea typeface="Arial"/>
                <a:cs typeface="Arial"/>
              </a:rPr>
              <a:t>Đánh Giá Cấp Độ Video &amp; Khả Năng Tổng Quát Hóa</a:t>
            </a:r>
          </a:p>
        </p:txBody>
      </p:sp>
      <p:sp>
        <p:nvSpPr>
          <p:cNvPr id="2" name="">
            <a:extLst xmlns:a="http://schemas.openxmlformats.org/drawingml/2006/main">
              <a:ext uri="{FF2B5EF4-FFF2-40B4-BE49-F238E27FC236}">
                <a16:creationId xmlns:a16="http://schemas.microsoft.com/office/drawing/2014/main" id="{24EC3C51-2C7D-4BCE-A443-F34A9D1EC590}"/>
              </a:ext>
            </a:extLst>
          </p:cNvPr>
          <p:cNvSpPr>
            <a:spLocks xmlns:a="http://schemas.openxmlformats.org/drawingml/2006/main" noGrp="1"/>
          </p:cNvSpPr>
          <p:nvPr/>
        </p:nvSpPr>
        <p:spPr>
          <a:xfrm xmlns:a="http://schemas.openxmlformats.org/drawingml/2006/main">
            <a:off x="609600" y="8572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38BDF8"/>
                </a:solidFill>
                <a:latin typeface="Arial"/>
                <a:ea typeface="Arial"/>
                <a:cs typeface="Arial"/>
              </a:defRPr>
            </a:defPPr>
            <a:lvl1pPr>
              <a:defRPr sz="1350" b="1">
                <a:solidFill>
                  <a:srgbClr val="38BDF8"/>
                </a:solidFill>
                <a:latin typeface="Arial"/>
                <a:ea typeface="Arial"/>
                <a:cs typeface="Arial"/>
              </a:defRPr>
            </a:lvl1pPr>
            <a:lvl2pPr>
              <a:defRPr sz="1350" b="1">
                <a:solidFill>
                  <a:srgbClr val="38BDF8"/>
                </a:solidFill>
                <a:latin typeface="Arial"/>
                <a:ea typeface="Arial"/>
                <a:cs typeface="Arial"/>
              </a:defRPr>
            </a:lvl2pPr>
            <a:lvl3pPr>
              <a:defRPr sz="1350" b="1">
                <a:solidFill>
                  <a:srgbClr val="38BDF8"/>
                </a:solidFill>
                <a:latin typeface="Arial"/>
                <a:ea typeface="Arial"/>
                <a:cs typeface="Arial"/>
              </a:defRPr>
            </a:lvl3pPr>
            <a:lvl4pPr>
              <a:defRPr sz="1350" b="1">
                <a:solidFill>
                  <a:srgbClr val="38BDF8"/>
                </a:solidFill>
                <a:latin typeface="Arial"/>
                <a:ea typeface="Arial"/>
                <a:cs typeface="Arial"/>
              </a:defRPr>
            </a:lvl4pPr>
            <a:lvl5pPr>
              <a:defRPr sz="1350" b="1">
                <a:solidFill>
                  <a:srgbClr val="38BDF8"/>
                </a:solidFill>
                <a:latin typeface="Arial"/>
                <a:ea typeface="Arial"/>
                <a:cs typeface="Arial"/>
              </a:defRPr>
            </a:lvl5pPr>
            <a:lvl6pPr>
              <a:defRPr sz="1350" b="1">
                <a:solidFill>
                  <a:srgbClr val="38BDF8"/>
                </a:solidFill>
                <a:latin typeface="Arial"/>
                <a:ea typeface="Arial"/>
                <a:cs typeface="Arial"/>
              </a:defRPr>
            </a:lvl6pPr>
            <a:lvl7pPr>
              <a:defRPr sz="1350" b="1">
                <a:solidFill>
                  <a:srgbClr val="38BDF8"/>
                </a:solidFill>
                <a:latin typeface="Arial"/>
                <a:ea typeface="Arial"/>
                <a:cs typeface="Arial"/>
              </a:defRPr>
            </a:lvl7pPr>
            <a:lvl8pPr>
              <a:defRPr sz="1350" b="1">
                <a:solidFill>
                  <a:srgbClr val="38BDF8"/>
                </a:solidFill>
                <a:latin typeface="Arial"/>
                <a:ea typeface="Arial"/>
                <a:cs typeface="Arial"/>
              </a:defRPr>
            </a:lvl8pPr>
            <a:lvl9pPr>
              <a:defRPr sz="1350" b="1">
                <a:solidFill>
                  <a:srgbClr val="38BDF8"/>
                </a:solidFill>
                <a:latin typeface="Arial"/>
                <a:ea typeface="Arial"/>
                <a:cs typeface="Arial"/>
              </a:defRPr>
            </a:lvl9pPr>
          </a:lstStyle>
          <a:p xmlns:a="http://schemas.openxmlformats.org/drawingml/2006/main">
            <a:pPr>
              <a:defRPr sz="1350" b="1">
                <a:solidFill>
                  <a:srgbClr val="38BDF8"/>
                </a:solidFill>
                <a:latin typeface="Arial"/>
                <a:ea typeface="Arial"/>
                <a:cs typeface="Arial"/>
              </a:defRPr>
            </a:pPr>
            <a:r>
              <a:rPr sz="1350" b="1">
                <a:solidFill>
                  <a:srgbClr val="38BDF8"/>
                </a:solidFill>
                <a:latin typeface="Arial"/>
                <a:ea typeface="Arial"/>
                <a:cs typeface="Arial"/>
              </a:rPr>
              <a:t>14/14 VIDEO TEST ĐẠT 100% • VALIDATION 98.88% • CROSS-CAMERA 99.84%</a:t>
            </a:r>
          </a:p>
        </p:txBody>
      </p:sp>
      <p:sp>
        <p:nvSpPr>
          <p:cNvPr id="3" name="">
            <a:extLst xmlns:a="http://schemas.openxmlformats.org/drawingml/2006/main">
              <a:ext uri="{FF2B5EF4-FFF2-40B4-BE49-F238E27FC236}">
                <a16:creationId xmlns:a16="http://schemas.microsoft.com/office/drawing/2014/main" id="{45C061BB-B793-4BD3-A7F4-583397A73BB7}"/>
              </a:ext>
            </a:extLst>
          </p:cNvPr>
          <p:cNvSpPr>
            <a:spLocks xmlns:a="http://schemas.openxmlformats.org/drawingml/2006/main" noGrp="1"/>
          </p:cNvSpPr>
          <p:nvPr/>
        </p:nvSpPr>
        <p:spPr>
          <a:xfrm xmlns:a="http://schemas.openxmlformats.org/drawingml/2006/main">
            <a:off x="609600" y="64198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94A3B8"/>
                </a:solidFill>
                <a:latin typeface="Arial"/>
                <a:ea typeface="Arial"/>
                <a:cs typeface="Arial"/>
              </a:defRPr>
            </a:defPPr>
            <a:lvl1pPr>
              <a:defRPr sz="1050" b="0">
                <a:solidFill>
                  <a:srgbClr val="94A3B8"/>
                </a:solidFill>
                <a:latin typeface="Arial"/>
                <a:ea typeface="Arial"/>
                <a:cs typeface="Arial"/>
              </a:defRPr>
            </a:lvl1pPr>
            <a:lvl2pPr>
              <a:defRPr sz="1050" b="0">
                <a:solidFill>
                  <a:srgbClr val="94A3B8"/>
                </a:solidFill>
                <a:latin typeface="Arial"/>
                <a:ea typeface="Arial"/>
                <a:cs typeface="Arial"/>
              </a:defRPr>
            </a:lvl2pPr>
            <a:lvl3pPr>
              <a:defRPr sz="1050" b="0">
                <a:solidFill>
                  <a:srgbClr val="94A3B8"/>
                </a:solidFill>
                <a:latin typeface="Arial"/>
                <a:ea typeface="Arial"/>
                <a:cs typeface="Arial"/>
              </a:defRPr>
            </a:lvl3pPr>
            <a:lvl4pPr>
              <a:defRPr sz="1050" b="0">
                <a:solidFill>
                  <a:srgbClr val="94A3B8"/>
                </a:solidFill>
                <a:latin typeface="Arial"/>
                <a:ea typeface="Arial"/>
                <a:cs typeface="Arial"/>
              </a:defRPr>
            </a:lvl4pPr>
            <a:lvl5pPr>
              <a:defRPr sz="1050" b="0">
                <a:solidFill>
                  <a:srgbClr val="94A3B8"/>
                </a:solidFill>
                <a:latin typeface="Arial"/>
                <a:ea typeface="Arial"/>
                <a:cs typeface="Arial"/>
              </a:defRPr>
            </a:lvl5pPr>
            <a:lvl6pPr>
              <a:defRPr sz="1050" b="0">
                <a:solidFill>
                  <a:srgbClr val="94A3B8"/>
                </a:solidFill>
                <a:latin typeface="Arial"/>
                <a:ea typeface="Arial"/>
                <a:cs typeface="Arial"/>
              </a:defRPr>
            </a:lvl6pPr>
            <a:lvl7pPr>
              <a:defRPr sz="1050" b="0">
                <a:solidFill>
                  <a:srgbClr val="94A3B8"/>
                </a:solidFill>
                <a:latin typeface="Arial"/>
                <a:ea typeface="Arial"/>
                <a:cs typeface="Arial"/>
              </a:defRPr>
            </a:lvl7pPr>
            <a:lvl8pPr>
              <a:defRPr sz="1050" b="0">
                <a:solidFill>
                  <a:srgbClr val="94A3B8"/>
                </a:solidFill>
                <a:latin typeface="Arial"/>
                <a:ea typeface="Arial"/>
                <a:cs typeface="Arial"/>
              </a:defRPr>
            </a:lvl8pPr>
            <a:lvl9pPr>
              <a:defRPr sz="1050" b="0">
                <a:solidFill>
                  <a:srgbClr val="94A3B8"/>
                </a:solidFill>
                <a:latin typeface="Arial"/>
                <a:ea typeface="Arial"/>
                <a:cs typeface="Arial"/>
              </a:defRPr>
            </a:lvl9pPr>
          </a:lstStyle>
          <a:p xmlns:a="http://schemas.openxmlformats.org/drawingml/2006/main">
            <a:pPr>
              <a:defRPr sz="1050" b="0">
                <a:solidFill>
                  <a:srgbClr val="94A3B8"/>
                </a:solidFill>
                <a:latin typeface="Arial"/>
                <a:ea typeface="Arial"/>
                <a:cs typeface="Arial"/>
              </a:defRPr>
            </a:pPr>
            <a:r>
              <a:rPr sz="1050" b="0">
                <a:solidFill>
                  <a:srgbClr val="94A3B8"/>
                </a:solidFill>
                <a:latin typeface="Arial"/>
                <a:ea typeface="Arial"/>
                <a:cs typeface="Arial"/>
              </a:rPr>
              <a:t>FACE ANTI-SPOOFING • CAMERA USB SC-M200 • EVALUATION REPORT</a:t>
            </a:r>
          </a:p>
        </p:txBody>
      </p:sp>
      <p:sp>
        <p:nvSpPr>
          <p:cNvPr id="4" name="">
            <a:extLst xmlns:a="http://schemas.openxmlformats.org/drawingml/2006/main">
              <a:ext uri="{FF2B5EF4-FFF2-40B4-BE49-F238E27FC236}">
                <a16:creationId xmlns:a16="http://schemas.microsoft.com/office/drawing/2014/main" id="{DDA36257-50EF-4D4D-8463-A87A3415CBA5}"/>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94A3B8"/>
                </a:solidFill>
                <a:latin typeface="Arial"/>
                <a:ea typeface="Arial"/>
                <a:cs typeface="Arial"/>
              </a:defRPr>
            </a:defPPr>
            <a:lvl1pPr>
              <a:defRPr sz="1050" b="0">
                <a:solidFill>
                  <a:srgbClr val="94A3B8"/>
                </a:solidFill>
                <a:latin typeface="Arial"/>
                <a:ea typeface="Arial"/>
                <a:cs typeface="Arial"/>
              </a:defRPr>
            </a:lvl1pPr>
            <a:lvl2pPr>
              <a:defRPr sz="1050" b="0">
                <a:solidFill>
                  <a:srgbClr val="94A3B8"/>
                </a:solidFill>
                <a:latin typeface="Arial"/>
                <a:ea typeface="Arial"/>
                <a:cs typeface="Arial"/>
              </a:defRPr>
            </a:lvl2pPr>
            <a:lvl3pPr>
              <a:defRPr sz="1050" b="0">
                <a:solidFill>
                  <a:srgbClr val="94A3B8"/>
                </a:solidFill>
                <a:latin typeface="Arial"/>
                <a:ea typeface="Arial"/>
                <a:cs typeface="Arial"/>
              </a:defRPr>
            </a:lvl3pPr>
            <a:lvl4pPr>
              <a:defRPr sz="1050" b="0">
                <a:solidFill>
                  <a:srgbClr val="94A3B8"/>
                </a:solidFill>
                <a:latin typeface="Arial"/>
                <a:ea typeface="Arial"/>
                <a:cs typeface="Arial"/>
              </a:defRPr>
            </a:lvl4pPr>
            <a:lvl5pPr>
              <a:defRPr sz="1050" b="0">
                <a:solidFill>
                  <a:srgbClr val="94A3B8"/>
                </a:solidFill>
                <a:latin typeface="Arial"/>
                <a:ea typeface="Arial"/>
                <a:cs typeface="Arial"/>
              </a:defRPr>
            </a:lvl5pPr>
            <a:lvl6pPr>
              <a:defRPr sz="1050" b="0">
                <a:solidFill>
                  <a:srgbClr val="94A3B8"/>
                </a:solidFill>
                <a:latin typeface="Arial"/>
                <a:ea typeface="Arial"/>
                <a:cs typeface="Arial"/>
              </a:defRPr>
            </a:lvl6pPr>
            <a:lvl7pPr>
              <a:defRPr sz="1050" b="0">
                <a:solidFill>
                  <a:srgbClr val="94A3B8"/>
                </a:solidFill>
                <a:latin typeface="Arial"/>
                <a:ea typeface="Arial"/>
                <a:cs typeface="Arial"/>
              </a:defRPr>
            </a:lvl7pPr>
            <a:lvl8pPr>
              <a:defRPr sz="1050" b="0">
                <a:solidFill>
                  <a:srgbClr val="94A3B8"/>
                </a:solidFill>
                <a:latin typeface="Arial"/>
                <a:ea typeface="Arial"/>
                <a:cs typeface="Arial"/>
              </a:defRPr>
            </a:lvl8pPr>
            <a:lvl9pPr>
              <a:defRPr sz="1050" b="0">
                <a:solidFill>
                  <a:srgbClr val="94A3B8"/>
                </a:solidFill>
                <a:latin typeface="Arial"/>
                <a:ea typeface="Arial"/>
                <a:cs typeface="Arial"/>
              </a:defRPr>
            </a:lvl9pPr>
          </a:lstStyle>
          <a:p xmlns:a="http://schemas.openxmlformats.org/drawingml/2006/main">
            <a:pPr>
              <a:defRPr sz="1050" b="0">
                <a:solidFill>
                  <a:srgbClr val="94A3B8"/>
                </a:solidFill>
                <a:latin typeface="Arial"/>
                <a:ea typeface="Arial"/>
                <a:cs typeface="Arial"/>
              </a:defRPr>
            </a:pPr>
            <a:r>
              <a:rPr sz="1050" b="0">
                <a:solidFill>
                  <a:srgbClr val="94A3B8"/>
                </a:solidFill>
                <a:latin typeface="Arial"/>
                <a:ea typeface="Arial"/>
                <a:cs typeface="Arial"/>
              </a:rPr>
              <a:t>04 / 05</a:t>
            </a:r>
          </a:p>
        </p:txBody>
      </p:sp>
      <p:sp>
        <p:nvSpPr>
          <p:cNvPr id="5" name="">
            <a:extLst xmlns:a="http://schemas.openxmlformats.org/drawingml/2006/main">
              <a:ext uri="{FF2B5EF4-FFF2-40B4-BE49-F238E27FC236}">
                <a16:creationId xmlns:a16="http://schemas.microsoft.com/office/drawing/2014/main" id="{422A54F4-9F3A-42B3-8169-47513F5B627F}"/>
              </a:ext>
            </a:extLst>
          </p:cNvPr>
          <p:cNvSpPr>
            <a:spLocks xmlns:a="http://schemas.openxmlformats.org/drawingml/2006/main" noGrp="1"/>
          </p:cNvSpPr>
          <p:nvPr/>
        </p:nvSpPr>
        <p:spPr>
          <a:xfrm xmlns:a="http://schemas.openxmlformats.org/drawingml/2006/main">
            <a:off x="609600" y="123825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1">
                <a:solidFill>
                  <a:srgbClr val="F87171"/>
                </a:solidFill>
                <a:latin typeface="Arial"/>
                <a:ea typeface="Arial"/>
                <a:cs typeface="Arial"/>
              </a:defRPr>
            </a:defPPr>
            <a:lvl1pPr>
              <a:defRPr sz="1275" b="1">
                <a:solidFill>
                  <a:srgbClr val="F87171"/>
                </a:solidFill>
                <a:latin typeface="Arial"/>
                <a:ea typeface="Arial"/>
                <a:cs typeface="Arial"/>
              </a:defRPr>
            </a:lvl1pPr>
            <a:lvl2pPr>
              <a:defRPr sz="1275" b="1">
                <a:solidFill>
                  <a:srgbClr val="F87171"/>
                </a:solidFill>
                <a:latin typeface="Arial"/>
                <a:ea typeface="Arial"/>
                <a:cs typeface="Arial"/>
              </a:defRPr>
            </a:lvl2pPr>
            <a:lvl3pPr>
              <a:defRPr sz="1275" b="1">
                <a:solidFill>
                  <a:srgbClr val="F87171"/>
                </a:solidFill>
                <a:latin typeface="Arial"/>
                <a:ea typeface="Arial"/>
                <a:cs typeface="Arial"/>
              </a:defRPr>
            </a:lvl3pPr>
            <a:lvl4pPr>
              <a:defRPr sz="1275" b="1">
                <a:solidFill>
                  <a:srgbClr val="F87171"/>
                </a:solidFill>
                <a:latin typeface="Arial"/>
                <a:ea typeface="Arial"/>
                <a:cs typeface="Arial"/>
              </a:defRPr>
            </a:lvl4pPr>
            <a:lvl5pPr>
              <a:defRPr sz="1275" b="1">
                <a:solidFill>
                  <a:srgbClr val="F87171"/>
                </a:solidFill>
                <a:latin typeface="Arial"/>
                <a:ea typeface="Arial"/>
                <a:cs typeface="Arial"/>
              </a:defRPr>
            </a:lvl5pPr>
            <a:lvl6pPr>
              <a:defRPr sz="1275" b="1">
                <a:solidFill>
                  <a:srgbClr val="F87171"/>
                </a:solidFill>
                <a:latin typeface="Arial"/>
                <a:ea typeface="Arial"/>
                <a:cs typeface="Arial"/>
              </a:defRPr>
            </a:lvl6pPr>
            <a:lvl7pPr>
              <a:defRPr sz="1275" b="1">
                <a:solidFill>
                  <a:srgbClr val="F87171"/>
                </a:solidFill>
                <a:latin typeface="Arial"/>
                <a:ea typeface="Arial"/>
                <a:cs typeface="Arial"/>
              </a:defRPr>
            </a:lvl7pPr>
            <a:lvl8pPr>
              <a:defRPr sz="1275" b="1">
                <a:solidFill>
                  <a:srgbClr val="F87171"/>
                </a:solidFill>
                <a:latin typeface="Arial"/>
                <a:ea typeface="Arial"/>
                <a:cs typeface="Arial"/>
              </a:defRPr>
            </a:lvl8pPr>
            <a:lvl9pPr>
              <a:defRPr sz="1275" b="1">
                <a:solidFill>
                  <a:srgbClr val="F87171"/>
                </a:solidFill>
                <a:latin typeface="Arial"/>
                <a:ea typeface="Arial"/>
                <a:cs typeface="Arial"/>
              </a:defRPr>
            </a:lvl9pPr>
          </a:lstStyle>
          <a:p xmlns:a="http://schemas.openxmlformats.org/drawingml/2006/main">
            <a:pPr>
              <a:defRPr sz="1275" b="1">
                <a:solidFill>
                  <a:srgbClr val="F87171"/>
                </a:solidFill>
                <a:latin typeface="Arial"/>
                <a:ea typeface="Arial"/>
                <a:cs typeface="Arial"/>
              </a:defRPr>
            </a:pPr>
            <a:r>
              <a:rPr sz="1275" b="1">
                <a:solidFill>
                  <a:srgbClr val="F87171"/>
                </a:solidFill>
                <a:latin typeface="Arial"/>
                <a:ea typeface="Arial"/>
                <a:cs typeface="Arial"/>
              </a:rPr>
              <a:t>7 Video FAKE (Kiểm tra chặn giả mạo)</a:t>
            </a:r>
          </a:p>
        </p:txBody>
      </p:sp>
      <p:graphicFrame>
        <p:nvGraphicFramePr>
          <p:cNvPr id="6" name="">
            <a:extLst xmlns:a="http://schemas.openxmlformats.org/drawingml/2006/main">
              <a:ext uri="{FF2B5EF4-FFF2-40B4-BE49-F238E27FC236}">
                <a16:creationId xmlns:a16="http://schemas.microsoft.com/office/drawing/2014/main" id="{CAA7A24F-6B84-41A7-8A56-1ACB6857947B}"/>
              </a:ext>
            </a:extLst>
          </p:cNvPr>
          <p:cNvGraphicFramePr/>
          <p:nvPr/>
        </p:nvGraphicFramePr>
        <p:xfrm>
          <a:off xmlns:a="http://schemas.openxmlformats.org/drawingml/2006/main" x="609600" y="1524000"/>
          <a:ext xmlns:a="http://schemas.openxmlformats.org/drawingml/2006/main" cx="5295900" cy="2381250"/>
        </p:xfrm>
        <a:graphic xmlns:a="http://schemas.openxmlformats.org/drawingml/2006/main">
          <a:graphicData uri="http://schemas.openxmlformats.org/drawingml/2006/table">
            <a:tbl>
              <a:tblPr/>
              <a:tblGrid>
                <a:gridCol w="1409700"/>
                <a:gridCol w="590550"/>
                <a:gridCol w="590550"/>
                <a:gridCol w="552450"/>
                <a:gridCol w="762000"/>
                <a:gridCol w="762000"/>
                <a:gridCol w="628650"/>
              </a:tblGrid>
              <a:tr h="297656">
                <a:tc>
                  <a:txBody>
                    <a:bodyPr>
                      <a:noAutofit/>
                    </a:bodyPr>
                    <a:lstStyle/>
                    <a:p>
                      <a:r>
                        <a:rPr sz="975" b="1">
                          <a:solidFill>
                            <a:srgbClr val="38BDF8"/>
                          </a:solidFill>
                          <a:latin typeface="Arial"/>
                          <a:ea typeface="Arial"/>
                          <a:cs typeface="Arial"/>
                        </a:rPr>
                        <a:t>Tên Video</a:t>
                      </a:r>
                    </a:p>
                  </a:txBody>
                  <a:tcPr marL="91440" marR="91440" marT="45720" marB="45720">
                    <a:lnL w="9525">
                      <a:solidFill>
                        <a:srgbClr val="223652"/>
                      </a:solidFill>
                    </a:lnL>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975" b="1">
                          <a:solidFill>
                            <a:srgbClr val="38BDF8"/>
                          </a:solidFill>
                          <a:latin typeface="Arial"/>
                          <a:ea typeface="Arial"/>
                          <a:cs typeface="Arial"/>
                        </a:rPr>
                        <a:t>Thực tế</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975" b="1">
                          <a:solidFill>
                            <a:srgbClr val="38BDF8"/>
                          </a:solidFill>
                          <a:latin typeface="Arial"/>
                          <a:ea typeface="Arial"/>
                          <a:cs typeface="Arial"/>
                        </a:rPr>
                        <a:t>Dự đoán</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975" b="1">
                          <a:solidFill>
                            <a:srgbClr val="38BDF8"/>
                          </a:solidFill>
                          <a:latin typeface="Arial"/>
                          <a:ea typeface="Arial"/>
                          <a:cs typeface="Arial"/>
                        </a:rPr>
                        <a:t>Frames</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975" b="1">
                          <a:solidFill>
                            <a:srgbClr val="38BDF8"/>
                          </a:solidFill>
                          <a:latin typeface="Arial"/>
                          <a:ea typeface="Arial"/>
                          <a:cs typeface="Arial"/>
                        </a:rPr>
                        <a:t>Fake Conf</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975" b="1">
                          <a:solidFill>
                            <a:srgbClr val="38BDF8"/>
                          </a:solidFill>
                          <a:latin typeface="Arial"/>
                          <a:ea typeface="Arial"/>
                          <a:cs typeface="Arial"/>
                        </a:rPr>
                        <a:t>Real Conf</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975" b="1">
                          <a:solidFill>
                            <a:srgbClr val="38BDF8"/>
                          </a:solidFill>
                          <a:latin typeface="Arial"/>
                          <a:ea typeface="Arial"/>
                          <a:cs typeface="Arial"/>
                        </a:rPr>
                        <a:t>Kết quả</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r>
              <a:tr h="297656">
                <a:tc>
                  <a:txBody>
                    <a:bodyPr>
                      <a:noAutofit/>
                    </a:bodyPr>
                    <a:lstStyle/>
                    <a:p>
                      <a:r>
                        <a:rPr sz="975" b="1">
                          <a:solidFill>
                            <a:srgbClr val="F8FAFC"/>
                          </a:solidFill>
                          <a:latin typeface="Arial"/>
                          <a:ea typeface="Arial"/>
                          <a:cs typeface="Arial"/>
                        </a:rPr>
                        <a:t>fake_REC-0040-A</a:t>
                      </a:r>
                    </a:p>
                  </a:txBody>
                  <a:tcPr marL="91440" marR="91440" marT="45720" marB="45720">
                    <a:lnL w="9525">
                      <a:solidFill>
                        <a:srgbClr val="223652"/>
                      </a:solidFill>
                    </a:lnL>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FAKE</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FAKE</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180</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93.07%</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6.93%</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Đúng</a:t>
                      </a:r>
                    </a:p>
                  </a:txBody>
                  <a:tcPr marL="91440" marR="91440" marT="45720" marB="45720">
                    <a:lnR w="9525">
                      <a:solidFill>
                        <a:srgbClr val="223652"/>
                      </a:solidFill>
                    </a:lnR>
                    <a:lnB w="9525">
                      <a:solidFill>
                        <a:srgbClr val="223652"/>
                      </a:solidFill>
                    </a:lnB>
                    <a:solidFill>
                      <a:srgbClr val="101B2C"/>
                    </a:solidFill>
                  </a:tcPr>
                </a:tc>
              </a:tr>
              <a:tr h="297656">
                <a:tc>
                  <a:txBody>
                    <a:bodyPr>
                      <a:noAutofit/>
                    </a:bodyPr>
                    <a:lstStyle/>
                    <a:p>
                      <a:r>
                        <a:rPr sz="975" b="1">
                          <a:solidFill>
                            <a:srgbClr val="F8FAFC"/>
                          </a:solidFill>
                          <a:latin typeface="Arial"/>
                          <a:ea typeface="Arial"/>
                          <a:cs typeface="Arial"/>
                        </a:rPr>
                        <a:t>fake_REC-0041-A</a:t>
                      </a:r>
                    </a:p>
                  </a:txBody>
                  <a:tcPr marL="91440" marR="91440" marT="45720" marB="45720">
                    <a:lnL w="9525">
                      <a:solidFill>
                        <a:srgbClr val="223652"/>
                      </a:solidFill>
                    </a:lnL>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FAKE</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FAKE</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375</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75.41%</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24.59%</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Đúng</a:t>
                      </a:r>
                    </a:p>
                  </a:txBody>
                  <a:tcPr marL="91440" marR="91440" marT="45720" marB="45720">
                    <a:lnR w="9525">
                      <a:solidFill>
                        <a:srgbClr val="223652"/>
                      </a:solidFill>
                    </a:lnR>
                    <a:lnB w="9525">
                      <a:solidFill>
                        <a:srgbClr val="223652"/>
                      </a:solidFill>
                    </a:lnB>
                    <a:solidFill>
                      <a:srgbClr val="0B1320"/>
                    </a:solidFill>
                  </a:tcPr>
                </a:tc>
              </a:tr>
              <a:tr h="297656">
                <a:tc>
                  <a:txBody>
                    <a:bodyPr>
                      <a:noAutofit/>
                    </a:bodyPr>
                    <a:lstStyle/>
                    <a:p>
                      <a:r>
                        <a:rPr sz="975" b="1">
                          <a:solidFill>
                            <a:srgbClr val="F8FAFC"/>
                          </a:solidFill>
                          <a:latin typeface="Arial"/>
                          <a:ea typeface="Arial"/>
                          <a:cs typeface="Arial"/>
                        </a:rPr>
                        <a:t>fake_REC-0042-A</a:t>
                      </a:r>
                    </a:p>
                  </a:txBody>
                  <a:tcPr marL="91440" marR="91440" marT="45720" marB="45720">
                    <a:lnL w="9525">
                      <a:solidFill>
                        <a:srgbClr val="223652"/>
                      </a:solidFill>
                    </a:lnL>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FAKE</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FAKE</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366</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97.80%</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2.20%</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Đúng</a:t>
                      </a:r>
                    </a:p>
                  </a:txBody>
                  <a:tcPr marL="91440" marR="91440" marT="45720" marB="45720">
                    <a:lnR w="9525">
                      <a:solidFill>
                        <a:srgbClr val="223652"/>
                      </a:solidFill>
                    </a:lnR>
                    <a:lnB w="9525">
                      <a:solidFill>
                        <a:srgbClr val="223652"/>
                      </a:solidFill>
                    </a:lnB>
                    <a:solidFill>
                      <a:srgbClr val="101B2C"/>
                    </a:solidFill>
                  </a:tcPr>
                </a:tc>
              </a:tr>
              <a:tr h="297656">
                <a:tc>
                  <a:txBody>
                    <a:bodyPr>
                      <a:noAutofit/>
                    </a:bodyPr>
                    <a:lstStyle/>
                    <a:p>
                      <a:r>
                        <a:rPr sz="975" b="1">
                          <a:solidFill>
                            <a:srgbClr val="F8FAFC"/>
                          </a:solidFill>
                          <a:latin typeface="Arial"/>
                          <a:ea typeface="Arial"/>
                          <a:cs typeface="Arial"/>
                        </a:rPr>
                        <a:t>fake_REC-0043-A</a:t>
                      </a:r>
                    </a:p>
                  </a:txBody>
                  <a:tcPr marL="91440" marR="91440" marT="45720" marB="45720">
                    <a:lnL w="9525">
                      <a:solidFill>
                        <a:srgbClr val="223652"/>
                      </a:solidFill>
                    </a:lnL>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FAKE</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FAKE</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367</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98.98%</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1.02%</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Đúng</a:t>
                      </a:r>
                    </a:p>
                  </a:txBody>
                  <a:tcPr marL="91440" marR="91440" marT="45720" marB="45720">
                    <a:lnR w="9525">
                      <a:solidFill>
                        <a:srgbClr val="223652"/>
                      </a:solidFill>
                    </a:lnR>
                    <a:lnB w="9525">
                      <a:solidFill>
                        <a:srgbClr val="223652"/>
                      </a:solidFill>
                    </a:lnB>
                    <a:solidFill>
                      <a:srgbClr val="0B1320"/>
                    </a:solidFill>
                  </a:tcPr>
                </a:tc>
              </a:tr>
              <a:tr h="297656">
                <a:tc>
                  <a:txBody>
                    <a:bodyPr>
                      <a:noAutofit/>
                    </a:bodyPr>
                    <a:lstStyle/>
                    <a:p>
                      <a:r>
                        <a:rPr sz="975" b="1">
                          <a:solidFill>
                            <a:srgbClr val="F8FAFC"/>
                          </a:solidFill>
                          <a:latin typeface="Arial"/>
                          <a:ea typeface="Arial"/>
                          <a:cs typeface="Arial"/>
                        </a:rPr>
                        <a:t>fake_REC-0044-A</a:t>
                      </a:r>
                    </a:p>
                  </a:txBody>
                  <a:tcPr marL="91440" marR="91440" marT="45720" marB="45720">
                    <a:lnL w="9525">
                      <a:solidFill>
                        <a:srgbClr val="223652"/>
                      </a:solidFill>
                    </a:lnL>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FAKE</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FAKE</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376</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99.99%</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0.01%</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Đúng</a:t>
                      </a:r>
                    </a:p>
                  </a:txBody>
                  <a:tcPr marL="91440" marR="91440" marT="45720" marB="45720">
                    <a:lnR w="9525">
                      <a:solidFill>
                        <a:srgbClr val="223652"/>
                      </a:solidFill>
                    </a:lnR>
                    <a:lnB w="9525">
                      <a:solidFill>
                        <a:srgbClr val="223652"/>
                      </a:solidFill>
                    </a:lnB>
                    <a:solidFill>
                      <a:srgbClr val="101B2C"/>
                    </a:solidFill>
                  </a:tcPr>
                </a:tc>
              </a:tr>
              <a:tr h="297656">
                <a:tc>
                  <a:txBody>
                    <a:bodyPr>
                      <a:noAutofit/>
                    </a:bodyPr>
                    <a:lstStyle/>
                    <a:p>
                      <a:r>
                        <a:rPr sz="975" b="1">
                          <a:solidFill>
                            <a:srgbClr val="F8FAFC"/>
                          </a:solidFill>
                          <a:latin typeface="Arial"/>
                          <a:ea typeface="Arial"/>
                          <a:cs typeface="Arial"/>
                        </a:rPr>
                        <a:t>fake_REC-0045-A</a:t>
                      </a:r>
                    </a:p>
                  </a:txBody>
                  <a:tcPr marL="91440" marR="91440" marT="45720" marB="45720">
                    <a:lnL w="9525">
                      <a:solidFill>
                        <a:srgbClr val="223652"/>
                      </a:solidFill>
                    </a:lnL>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FAKE</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FAKE</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340</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99.49%</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0.51%</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Đúng</a:t>
                      </a:r>
                    </a:p>
                  </a:txBody>
                  <a:tcPr marL="91440" marR="91440" marT="45720" marB="45720">
                    <a:lnR w="9525">
                      <a:solidFill>
                        <a:srgbClr val="223652"/>
                      </a:solidFill>
                    </a:lnR>
                    <a:lnB w="9525">
                      <a:solidFill>
                        <a:srgbClr val="223652"/>
                      </a:solidFill>
                    </a:lnB>
                    <a:solidFill>
                      <a:srgbClr val="0B1320"/>
                    </a:solidFill>
                  </a:tcPr>
                </a:tc>
              </a:tr>
              <a:tr h="297656">
                <a:tc>
                  <a:txBody>
                    <a:bodyPr>
                      <a:noAutofit/>
                    </a:bodyPr>
                    <a:lstStyle/>
                    <a:p>
                      <a:r>
                        <a:rPr sz="975" b="1">
                          <a:solidFill>
                            <a:srgbClr val="F8FAFC"/>
                          </a:solidFill>
                          <a:latin typeface="Arial"/>
                          <a:ea typeface="Arial"/>
                          <a:cs typeface="Arial"/>
                        </a:rPr>
                        <a:t>fake_REC-0046-A</a:t>
                      </a:r>
                    </a:p>
                  </a:txBody>
                  <a:tcPr marL="91440" marR="91440" marT="45720" marB="45720">
                    <a:lnL w="9525">
                      <a:solidFill>
                        <a:srgbClr val="223652"/>
                      </a:solidFill>
                    </a:lnL>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FAKE</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FAKE</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361</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99.95%</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0.05%</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Đúng</a:t>
                      </a:r>
                    </a:p>
                  </a:txBody>
                  <a:tcPr marL="91440" marR="91440" marT="45720" marB="45720">
                    <a:lnR w="9525">
                      <a:solidFill>
                        <a:srgbClr val="223652"/>
                      </a:solidFill>
                    </a:lnR>
                    <a:lnB w="9525">
                      <a:solidFill>
                        <a:srgbClr val="223652"/>
                      </a:solidFill>
                    </a:lnB>
                    <a:solidFill>
                      <a:srgbClr val="101B2C"/>
                    </a:solidFill>
                  </a:tcPr>
                </a:tc>
              </a:tr>
            </a:tbl>
          </a:graphicData>
        </a:graphic>
      </p:graphicFrame>
      <p:sp>
        <p:nvSpPr>
          <p:cNvPr id="7" name="">
            <a:extLst xmlns:a="http://schemas.openxmlformats.org/drawingml/2006/main">
              <a:ext uri="{FF2B5EF4-FFF2-40B4-BE49-F238E27FC236}">
                <a16:creationId xmlns:a16="http://schemas.microsoft.com/office/drawing/2014/main" id="{11595873-9547-4DA5-AB1B-2C187D67342C}"/>
              </a:ext>
            </a:extLst>
          </p:cNvPr>
          <p:cNvSpPr>
            <a:spLocks xmlns:a="http://schemas.openxmlformats.org/drawingml/2006/main" noGrp="1"/>
          </p:cNvSpPr>
          <p:nvPr/>
        </p:nvSpPr>
        <p:spPr>
          <a:xfrm xmlns:a="http://schemas.openxmlformats.org/drawingml/2006/main">
            <a:off x="6248400" y="123825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1">
                <a:solidFill>
                  <a:srgbClr val="34D399"/>
                </a:solidFill>
                <a:latin typeface="Arial"/>
                <a:ea typeface="Arial"/>
                <a:cs typeface="Arial"/>
              </a:defRPr>
            </a:defPPr>
            <a:lvl1pPr>
              <a:defRPr sz="1275" b="1">
                <a:solidFill>
                  <a:srgbClr val="34D399"/>
                </a:solidFill>
                <a:latin typeface="Arial"/>
                <a:ea typeface="Arial"/>
                <a:cs typeface="Arial"/>
              </a:defRPr>
            </a:lvl1pPr>
            <a:lvl2pPr>
              <a:defRPr sz="1275" b="1">
                <a:solidFill>
                  <a:srgbClr val="34D399"/>
                </a:solidFill>
                <a:latin typeface="Arial"/>
                <a:ea typeface="Arial"/>
                <a:cs typeface="Arial"/>
              </a:defRPr>
            </a:lvl2pPr>
            <a:lvl3pPr>
              <a:defRPr sz="1275" b="1">
                <a:solidFill>
                  <a:srgbClr val="34D399"/>
                </a:solidFill>
                <a:latin typeface="Arial"/>
                <a:ea typeface="Arial"/>
                <a:cs typeface="Arial"/>
              </a:defRPr>
            </a:lvl3pPr>
            <a:lvl4pPr>
              <a:defRPr sz="1275" b="1">
                <a:solidFill>
                  <a:srgbClr val="34D399"/>
                </a:solidFill>
                <a:latin typeface="Arial"/>
                <a:ea typeface="Arial"/>
                <a:cs typeface="Arial"/>
              </a:defRPr>
            </a:lvl4pPr>
            <a:lvl5pPr>
              <a:defRPr sz="1275" b="1">
                <a:solidFill>
                  <a:srgbClr val="34D399"/>
                </a:solidFill>
                <a:latin typeface="Arial"/>
                <a:ea typeface="Arial"/>
                <a:cs typeface="Arial"/>
              </a:defRPr>
            </a:lvl5pPr>
            <a:lvl6pPr>
              <a:defRPr sz="1275" b="1">
                <a:solidFill>
                  <a:srgbClr val="34D399"/>
                </a:solidFill>
                <a:latin typeface="Arial"/>
                <a:ea typeface="Arial"/>
                <a:cs typeface="Arial"/>
              </a:defRPr>
            </a:lvl6pPr>
            <a:lvl7pPr>
              <a:defRPr sz="1275" b="1">
                <a:solidFill>
                  <a:srgbClr val="34D399"/>
                </a:solidFill>
                <a:latin typeface="Arial"/>
                <a:ea typeface="Arial"/>
                <a:cs typeface="Arial"/>
              </a:defRPr>
            </a:lvl7pPr>
            <a:lvl8pPr>
              <a:defRPr sz="1275" b="1">
                <a:solidFill>
                  <a:srgbClr val="34D399"/>
                </a:solidFill>
                <a:latin typeface="Arial"/>
                <a:ea typeface="Arial"/>
                <a:cs typeface="Arial"/>
              </a:defRPr>
            </a:lvl8pPr>
            <a:lvl9pPr>
              <a:defRPr sz="1275" b="1">
                <a:solidFill>
                  <a:srgbClr val="34D399"/>
                </a:solidFill>
                <a:latin typeface="Arial"/>
                <a:ea typeface="Arial"/>
                <a:cs typeface="Arial"/>
              </a:defRPr>
            </a:lvl9pPr>
          </a:lstStyle>
          <a:p xmlns:a="http://schemas.openxmlformats.org/drawingml/2006/main">
            <a:pPr>
              <a:defRPr sz="1275" b="1">
                <a:solidFill>
                  <a:srgbClr val="34D399"/>
                </a:solidFill>
                <a:latin typeface="Arial"/>
                <a:ea typeface="Arial"/>
                <a:cs typeface="Arial"/>
              </a:defRPr>
            </a:pPr>
            <a:r>
              <a:rPr sz="1275" b="1">
                <a:solidFill>
                  <a:srgbClr val="34D399"/>
                </a:solidFill>
                <a:latin typeface="Arial"/>
                <a:ea typeface="Arial"/>
                <a:cs typeface="Arial"/>
              </a:rPr>
              <a:t>7 Video REAL (Kiểm tra nhận diện người thật)</a:t>
            </a:r>
          </a:p>
        </p:txBody>
      </p:sp>
      <p:graphicFrame>
        <p:nvGraphicFramePr>
          <p:cNvPr id="8" name="">
            <a:extLst xmlns:a="http://schemas.openxmlformats.org/drawingml/2006/main">
              <a:ext uri="{FF2B5EF4-FFF2-40B4-BE49-F238E27FC236}">
                <a16:creationId xmlns:a16="http://schemas.microsoft.com/office/drawing/2014/main" id="{7EAABC2A-5BF9-4D02-8C96-AA318472651D}"/>
              </a:ext>
            </a:extLst>
          </p:cNvPr>
          <p:cNvGraphicFramePr/>
          <p:nvPr/>
        </p:nvGraphicFramePr>
        <p:xfrm>
          <a:off xmlns:a="http://schemas.openxmlformats.org/drawingml/2006/main" x="6248400" y="1524000"/>
          <a:ext xmlns:a="http://schemas.openxmlformats.org/drawingml/2006/main" cx="5295900" cy="2381250"/>
        </p:xfrm>
        <a:graphic xmlns:a="http://schemas.openxmlformats.org/drawingml/2006/main">
          <a:graphicData uri="http://schemas.openxmlformats.org/drawingml/2006/table">
            <a:tbl>
              <a:tblPr/>
              <a:tblGrid>
                <a:gridCol w="1409700"/>
                <a:gridCol w="590550"/>
                <a:gridCol w="590550"/>
                <a:gridCol w="552450"/>
                <a:gridCol w="762000"/>
                <a:gridCol w="762000"/>
                <a:gridCol w="628650"/>
              </a:tblGrid>
              <a:tr h="297656">
                <a:tc>
                  <a:txBody>
                    <a:bodyPr>
                      <a:noAutofit/>
                    </a:bodyPr>
                    <a:lstStyle/>
                    <a:p>
                      <a:r>
                        <a:rPr sz="975" b="1">
                          <a:solidFill>
                            <a:srgbClr val="38BDF8"/>
                          </a:solidFill>
                          <a:latin typeface="Arial"/>
                          <a:ea typeface="Arial"/>
                          <a:cs typeface="Arial"/>
                        </a:rPr>
                        <a:t>Tên Video</a:t>
                      </a:r>
                    </a:p>
                  </a:txBody>
                  <a:tcPr marL="91440" marR="91440" marT="45720" marB="45720">
                    <a:lnL w="9525">
                      <a:solidFill>
                        <a:srgbClr val="223652"/>
                      </a:solidFill>
                    </a:lnL>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975" b="1">
                          <a:solidFill>
                            <a:srgbClr val="38BDF8"/>
                          </a:solidFill>
                          <a:latin typeface="Arial"/>
                          <a:ea typeface="Arial"/>
                          <a:cs typeface="Arial"/>
                        </a:rPr>
                        <a:t>Thực tế</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975" b="1">
                          <a:solidFill>
                            <a:srgbClr val="38BDF8"/>
                          </a:solidFill>
                          <a:latin typeface="Arial"/>
                          <a:ea typeface="Arial"/>
                          <a:cs typeface="Arial"/>
                        </a:rPr>
                        <a:t>Dự đoán</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975" b="1">
                          <a:solidFill>
                            <a:srgbClr val="38BDF8"/>
                          </a:solidFill>
                          <a:latin typeface="Arial"/>
                          <a:ea typeface="Arial"/>
                          <a:cs typeface="Arial"/>
                        </a:rPr>
                        <a:t>Frames</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975" b="1">
                          <a:solidFill>
                            <a:srgbClr val="38BDF8"/>
                          </a:solidFill>
                          <a:latin typeface="Arial"/>
                          <a:ea typeface="Arial"/>
                          <a:cs typeface="Arial"/>
                        </a:rPr>
                        <a:t>Fake Conf</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975" b="1">
                          <a:solidFill>
                            <a:srgbClr val="38BDF8"/>
                          </a:solidFill>
                          <a:latin typeface="Arial"/>
                          <a:ea typeface="Arial"/>
                          <a:cs typeface="Arial"/>
                        </a:rPr>
                        <a:t>Real Conf</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c>
                  <a:txBody>
                    <a:bodyPr>
                      <a:noAutofit/>
                    </a:bodyPr>
                    <a:lstStyle/>
                    <a:p>
                      <a:r>
                        <a:rPr sz="975" b="1">
                          <a:solidFill>
                            <a:srgbClr val="38BDF8"/>
                          </a:solidFill>
                          <a:latin typeface="Arial"/>
                          <a:ea typeface="Arial"/>
                          <a:cs typeface="Arial"/>
                        </a:rPr>
                        <a:t>Kết quả</a:t>
                      </a:r>
                    </a:p>
                  </a:txBody>
                  <a:tcPr marL="91440" marR="91440" marT="45720" marB="45720">
                    <a:lnR w="9525">
                      <a:solidFill>
                        <a:srgbClr val="223652"/>
                      </a:solidFill>
                    </a:lnR>
                    <a:lnT w="9525">
                      <a:solidFill>
                        <a:srgbClr val="223652"/>
                      </a:solidFill>
                    </a:lnT>
                    <a:lnB w="9525">
                      <a:solidFill>
                        <a:srgbClr val="223652"/>
                      </a:solidFill>
                    </a:lnB>
                    <a:solidFill>
                      <a:srgbClr val="1C2C45"/>
                    </a:solidFill>
                  </a:tcPr>
                </a:tc>
              </a:tr>
              <a:tr h="297656">
                <a:tc>
                  <a:txBody>
                    <a:bodyPr>
                      <a:noAutofit/>
                    </a:bodyPr>
                    <a:lstStyle/>
                    <a:p>
                      <a:r>
                        <a:rPr sz="975" b="1">
                          <a:solidFill>
                            <a:srgbClr val="F8FAFC"/>
                          </a:solidFill>
                          <a:latin typeface="Arial"/>
                          <a:ea typeface="Arial"/>
                          <a:cs typeface="Arial"/>
                        </a:rPr>
                        <a:t>real_REC-0032-A</a:t>
                      </a:r>
                    </a:p>
                  </a:txBody>
                  <a:tcPr marL="91440" marR="91440" marT="45720" marB="45720">
                    <a:lnL w="9525">
                      <a:solidFill>
                        <a:srgbClr val="223652"/>
                      </a:solidFill>
                    </a:lnL>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REAL</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REAL</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353</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0.00%</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100.0%</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Đúng</a:t>
                      </a:r>
                    </a:p>
                  </a:txBody>
                  <a:tcPr marL="91440" marR="91440" marT="45720" marB="45720">
                    <a:lnR w="9525">
                      <a:solidFill>
                        <a:srgbClr val="223652"/>
                      </a:solidFill>
                    </a:lnR>
                    <a:lnB w="9525">
                      <a:solidFill>
                        <a:srgbClr val="223652"/>
                      </a:solidFill>
                    </a:lnB>
                    <a:solidFill>
                      <a:srgbClr val="101B2C"/>
                    </a:solidFill>
                  </a:tcPr>
                </a:tc>
              </a:tr>
              <a:tr h="297656">
                <a:tc>
                  <a:txBody>
                    <a:bodyPr>
                      <a:noAutofit/>
                    </a:bodyPr>
                    <a:lstStyle/>
                    <a:p>
                      <a:r>
                        <a:rPr sz="975" b="1">
                          <a:solidFill>
                            <a:srgbClr val="F8FAFC"/>
                          </a:solidFill>
                          <a:latin typeface="Arial"/>
                          <a:ea typeface="Arial"/>
                          <a:cs typeface="Arial"/>
                        </a:rPr>
                        <a:t>real_REC-0033-A</a:t>
                      </a:r>
                    </a:p>
                  </a:txBody>
                  <a:tcPr marL="91440" marR="91440" marT="45720" marB="45720">
                    <a:lnL w="9525">
                      <a:solidFill>
                        <a:srgbClr val="223652"/>
                      </a:solidFill>
                    </a:lnL>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REAL</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REAL</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361</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0.00%</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100.0%</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Đúng</a:t>
                      </a:r>
                    </a:p>
                  </a:txBody>
                  <a:tcPr marL="91440" marR="91440" marT="45720" marB="45720">
                    <a:lnR w="9525">
                      <a:solidFill>
                        <a:srgbClr val="223652"/>
                      </a:solidFill>
                    </a:lnR>
                    <a:lnB w="9525">
                      <a:solidFill>
                        <a:srgbClr val="223652"/>
                      </a:solidFill>
                    </a:lnB>
                    <a:solidFill>
                      <a:srgbClr val="0B1320"/>
                    </a:solidFill>
                  </a:tcPr>
                </a:tc>
              </a:tr>
              <a:tr h="297656">
                <a:tc>
                  <a:txBody>
                    <a:bodyPr>
                      <a:noAutofit/>
                    </a:bodyPr>
                    <a:lstStyle/>
                    <a:p>
                      <a:r>
                        <a:rPr sz="975" b="1">
                          <a:solidFill>
                            <a:srgbClr val="F8FAFC"/>
                          </a:solidFill>
                          <a:latin typeface="Arial"/>
                          <a:ea typeface="Arial"/>
                          <a:cs typeface="Arial"/>
                        </a:rPr>
                        <a:t>real_REC-0034-A</a:t>
                      </a:r>
                    </a:p>
                  </a:txBody>
                  <a:tcPr marL="91440" marR="91440" marT="45720" marB="45720">
                    <a:lnL w="9525">
                      <a:solidFill>
                        <a:srgbClr val="223652"/>
                      </a:solidFill>
                    </a:lnL>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REAL</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REAL</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351</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0.12%</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99.88%</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Đúng</a:t>
                      </a:r>
                    </a:p>
                  </a:txBody>
                  <a:tcPr marL="91440" marR="91440" marT="45720" marB="45720">
                    <a:lnR w="9525">
                      <a:solidFill>
                        <a:srgbClr val="223652"/>
                      </a:solidFill>
                    </a:lnR>
                    <a:lnB w="9525">
                      <a:solidFill>
                        <a:srgbClr val="223652"/>
                      </a:solidFill>
                    </a:lnB>
                    <a:solidFill>
                      <a:srgbClr val="101B2C"/>
                    </a:solidFill>
                  </a:tcPr>
                </a:tc>
              </a:tr>
              <a:tr h="297656">
                <a:tc>
                  <a:txBody>
                    <a:bodyPr>
                      <a:noAutofit/>
                    </a:bodyPr>
                    <a:lstStyle/>
                    <a:p>
                      <a:r>
                        <a:rPr sz="975" b="1">
                          <a:solidFill>
                            <a:srgbClr val="F8FAFC"/>
                          </a:solidFill>
                          <a:latin typeface="Arial"/>
                          <a:ea typeface="Arial"/>
                          <a:cs typeface="Arial"/>
                        </a:rPr>
                        <a:t>real_REC-0035-A</a:t>
                      </a:r>
                    </a:p>
                  </a:txBody>
                  <a:tcPr marL="91440" marR="91440" marT="45720" marB="45720">
                    <a:lnL w="9525">
                      <a:solidFill>
                        <a:srgbClr val="223652"/>
                      </a:solidFill>
                    </a:lnL>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REAL</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REAL</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356</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1.29%</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98.71%</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Đúng</a:t>
                      </a:r>
                    </a:p>
                  </a:txBody>
                  <a:tcPr marL="91440" marR="91440" marT="45720" marB="45720">
                    <a:lnR w="9525">
                      <a:solidFill>
                        <a:srgbClr val="223652"/>
                      </a:solidFill>
                    </a:lnR>
                    <a:lnB w="9525">
                      <a:solidFill>
                        <a:srgbClr val="223652"/>
                      </a:solidFill>
                    </a:lnB>
                    <a:solidFill>
                      <a:srgbClr val="0B1320"/>
                    </a:solidFill>
                  </a:tcPr>
                </a:tc>
              </a:tr>
              <a:tr h="297656">
                <a:tc>
                  <a:txBody>
                    <a:bodyPr>
                      <a:noAutofit/>
                    </a:bodyPr>
                    <a:lstStyle/>
                    <a:p>
                      <a:r>
                        <a:rPr sz="975" b="1">
                          <a:solidFill>
                            <a:srgbClr val="F8FAFC"/>
                          </a:solidFill>
                          <a:latin typeface="Arial"/>
                          <a:ea typeface="Arial"/>
                          <a:cs typeface="Arial"/>
                        </a:rPr>
                        <a:t>real_REC-0036-A</a:t>
                      </a:r>
                    </a:p>
                  </a:txBody>
                  <a:tcPr marL="91440" marR="91440" marT="45720" marB="45720">
                    <a:lnL w="9525">
                      <a:solidFill>
                        <a:srgbClr val="223652"/>
                      </a:solidFill>
                    </a:lnL>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REAL</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REAL</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366</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2.24%</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97.76%</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Đúng</a:t>
                      </a:r>
                    </a:p>
                  </a:txBody>
                  <a:tcPr marL="91440" marR="91440" marT="45720" marB="45720">
                    <a:lnR w="9525">
                      <a:solidFill>
                        <a:srgbClr val="223652"/>
                      </a:solidFill>
                    </a:lnR>
                    <a:lnB w="9525">
                      <a:solidFill>
                        <a:srgbClr val="223652"/>
                      </a:solidFill>
                    </a:lnB>
                    <a:solidFill>
                      <a:srgbClr val="101B2C"/>
                    </a:solidFill>
                  </a:tcPr>
                </a:tc>
              </a:tr>
              <a:tr h="297656">
                <a:tc>
                  <a:txBody>
                    <a:bodyPr>
                      <a:noAutofit/>
                    </a:bodyPr>
                    <a:lstStyle/>
                    <a:p>
                      <a:r>
                        <a:rPr sz="975" b="1">
                          <a:solidFill>
                            <a:srgbClr val="F8FAFC"/>
                          </a:solidFill>
                          <a:latin typeface="Arial"/>
                          <a:ea typeface="Arial"/>
                          <a:cs typeface="Arial"/>
                        </a:rPr>
                        <a:t>real_REC-0037-A</a:t>
                      </a:r>
                    </a:p>
                  </a:txBody>
                  <a:tcPr marL="91440" marR="91440" marT="45720" marB="45720">
                    <a:lnL w="9525">
                      <a:solidFill>
                        <a:srgbClr val="223652"/>
                      </a:solidFill>
                    </a:lnL>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REAL</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REAL</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356</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34D399"/>
                          </a:solidFill>
                          <a:latin typeface="Arial"/>
                          <a:ea typeface="Arial"/>
                          <a:cs typeface="Arial"/>
                        </a:rPr>
                        <a:t>0.19%</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99.81%</a:t>
                      </a:r>
                    </a:p>
                  </a:txBody>
                  <a:tcPr marL="91440" marR="91440" marT="45720" marB="45720">
                    <a:lnR w="9525">
                      <a:solidFill>
                        <a:srgbClr val="223652"/>
                      </a:solidFill>
                    </a:lnR>
                    <a:lnB w="9525">
                      <a:solidFill>
                        <a:srgbClr val="223652"/>
                      </a:solidFill>
                    </a:lnB>
                    <a:solidFill>
                      <a:srgbClr val="0B1320"/>
                    </a:solidFill>
                  </a:tcPr>
                </a:tc>
                <a:tc>
                  <a:txBody>
                    <a:bodyPr>
                      <a:noAutofit/>
                    </a:bodyPr>
                    <a:lstStyle/>
                    <a:p>
                      <a:r>
                        <a:rPr sz="975" b="0">
                          <a:solidFill>
                            <a:srgbClr val="94A3B8"/>
                          </a:solidFill>
                          <a:latin typeface="Arial"/>
                          <a:ea typeface="Arial"/>
                          <a:cs typeface="Arial"/>
                        </a:rPr>
                        <a:t>Đúng</a:t>
                      </a:r>
                    </a:p>
                  </a:txBody>
                  <a:tcPr marL="91440" marR="91440" marT="45720" marB="45720">
                    <a:lnR w="9525">
                      <a:solidFill>
                        <a:srgbClr val="223652"/>
                      </a:solidFill>
                    </a:lnR>
                    <a:lnB w="9525">
                      <a:solidFill>
                        <a:srgbClr val="223652"/>
                      </a:solidFill>
                    </a:lnB>
                    <a:solidFill>
                      <a:srgbClr val="0B1320"/>
                    </a:solidFill>
                  </a:tcPr>
                </a:tc>
              </a:tr>
              <a:tr h="297656">
                <a:tc>
                  <a:txBody>
                    <a:bodyPr>
                      <a:noAutofit/>
                    </a:bodyPr>
                    <a:lstStyle/>
                    <a:p>
                      <a:r>
                        <a:rPr sz="975" b="1">
                          <a:solidFill>
                            <a:srgbClr val="F8FAFC"/>
                          </a:solidFill>
                          <a:latin typeface="Arial"/>
                          <a:ea typeface="Arial"/>
                          <a:cs typeface="Arial"/>
                        </a:rPr>
                        <a:t>real_REC-0038-A</a:t>
                      </a:r>
                    </a:p>
                  </a:txBody>
                  <a:tcPr marL="91440" marR="91440" marT="45720" marB="45720">
                    <a:lnL w="9525">
                      <a:solidFill>
                        <a:srgbClr val="223652"/>
                      </a:solidFill>
                    </a:lnL>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REAL</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REAL</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303</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34D399"/>
                          </a:solidFill>
                          <a:latin typeface="Arial"/>
                          <a:ea typeface="Arial"/>
                          <a:cs typeface="Arial"/>
                        </a:rPr>
                        <a:t>0.19%</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99.81%</a:t>
                      </a:r>
                    </a:p>
                  </a:txBody>
                  <a:tcPr marL="91440" marR="91440" marT="45720" marB="45720">
                    <a:lnR w="9525">
                      <a:solidFill>
                        <a:srgbClr val="223652"/>
                      </a:solidFill>
                    </a:lnR>
                    <a:lnB w="9525">
                      <a:solidFill>
                        <a:srgbClr val="223652"/>
                      </a:solidFill>
                    </a:lnB>
                    <a:solidFill>
                      <a:srgbClr val="101B2C"/>
                    </a:solidFill>
                  </a:tcPr>
                </a:tc>
                <a:tc>
                  <a:txBody>
                    <a:bodyPr>
                      <a:noAutofit/>
                    </a:bodyPr>
                    <a:lstStyle/>
                    <a:p>
                      <a:r>
                        <a:rPr sz="975" b="0">
                          <a:solidFill>
                            <a:srgbClr val="94A3B8"/>
                          </a:solidFill>
                          <a:latin typeface="Arial"/>
                          <a:ea typeface="Arial"/>
                          <a:cs typeface="Arial"/>
                        </a:rPr>
                        <a:t>Đúng</a:t>
                      </a:r>
                    </a:p>
                  </a:txBody>
                  <a:tcPr marL="91440" marR="91440" marT="45720" marB="45720">
                    <a:lnR w="9525">
                      <a:solidFill>
                        <a:srgbClr val="223652"/>
                      </a:solidFill>
                    </a:lnR>
                    <a:lnB w="9525">
                      <a:solidFill>
                        <a:srgbClr val="223652"/>
                      </a:solidFill>
                    </a:lnB>
                    <a:solidFill>
                      <a:srgbClr val="101B2C"/>
                    </a:solidFill>
                  </a:tcPr>
                </a:tc>
              </a:tr>
            </a:tbl>
          </a:graphicData>
        </a:graphic>
      </p:graphicFrame>
      <p:sp>
        <p:nvSpPr>
          <p:cNvPr id="9" name="">
            <a:extLst xmlns:a="http://schemas.openxmlformats.org/drawingml/2006/main">
              <a:ext uri="{FF2B5EF4-FFF2-40B4-BE49-F238E27FC236}">
                <a16:creationId xmlns:a16="http://schemas.microsoft.com/office/drawing/2014/main" id="{D5CB193F-5EE9-457F-AE07-AE0482BFFB3A}"/>
              </a:ext>
            </a:extLst>
          </p:cNvPr>
          <p:cNvSpPr>
            <a:spLocks xmlns:a="http://schemas.openxmlformats.org/drawingml/2006/main" noGrp="1"/>
          </p:cNvSpPr>
          <p:nvPr/>
        </p:nvSpPr>
        <p:spPr>
          <a:xfrm xmlns:a="http://schemas.openxmlformats.org/drawingml/2006/main">
            <a:off x="609600" y="4095750"/>
            <a:ext cx="5295900" cy="2047875"/>
          </a:xfrm>
          <a:prstGeom xmlns:a="http://schemas.openxmlformats.org/drawingml/2006/main" prst="rect">
            <a:avLst/>
          </a:prstGeom>
          <a:solidFill xmlns:a="http://schemas.openxmlformats.org/drawingml/2006/main">
            <a:srgbClr val="131F33"/>
          </a:solidFill>
          <a:ln xmlns:a="http://schemas.openxmlformats.org/drawingml/2006/main" w="9525">
            <a:solidFill>
              <a:srgbClr val="223652"/>
            </a:solidFill>
          </a:ln>
        </p:spPr>
        <p:txBody>
          <a:bodyPr xmlns:a="http://schemas.openxmlformats.org/drawingml/2006/main">
            <a:noAutofit/>
          </a:bodyPr>
          <a:lstStyle xmlns:a="http://schemas.openxmlformats.org/drawingml/2006/main">
            <a:defPPr>
              <a:defRPr sz="750">
                <a:solidFill>
                  <a:srgbClr val="131F33"/>
                </a:solidFill>
                <a:latin typeface="Arial"/>
                <a:ea typeface="Arial"/>
                <a:cs typeface="Arial"/>
              </a:defRPr>
            </a:defPPr>
            <a:lvl1pPr>
              <a:defRPr sz="750">
                <a:solidFill>
                  <a:srgbClr val="131F33"/>
                </a:solidFill>
                <a:latin typeface="Arial"/>
                <a:ea typeface="Arial"/>
                <a:cs typeface="Arial"/>
              </a:defRPr>
            </a:lvl1pPr>
            <a:lvl2pPr>
              <a:defRPr sz="750">
                <a:solidFill>
                  <a:srgbClr val="131F33"/>
                </a:solidFill>
                <a:latin typeface="Arial"/>
                <a:ea typeface="Arial"/>
                <a:cs typeface="Arial"/>
              </a:defRPr>
            </a:lvl2pPr>
            <a:lvl3pPr>
              <a:defRPr sz="750">
                <a:solidFill>
                  <a:srgbClr val="131F33"/>
                </a:solidFill>
                <a:latin typeface="Arial"/>
                <a:ea typeface="Arial"/>
                <a:cs typeface="Arial"/>
              </a:defRPr>
            </a:lvl3pPr>
            <a:lvl4pPr>
              <a:defRPr sz="750">
                <a:solidFill>
                  <a:srgbClr val="131F33"/>
                </a:solidFill>
                <a:latin typeface="Arial"/>
                <a:ea typeface="Arial"/>
                <a:cs typeface="Arial"/>
              </a:defRPr>
            </a:lvl4pPr>
            <a:lvl5pPr>
              <a:defRPr sz="750">
                <a:solidFill>
                  <a:srgbClr val="131F33"/>
                </a:solidFill>
                <a:latin typeface="Arial"/>
                <a:ea typeface="Arial"/>
                <a:cs typeface="Arial"/>
              </a:defRPr>
            </a:lvl5pPr>
            <a:lvl6pPr>
              <a:defRPr sz="750">
                <a:solidFill>
                  <a:srgbClr val="131F33"/>
                </a:solidFill>
                <a:latin typeface="Arial"/>
                <a:ea typeface="Arial"/>
                <a:cs typeface="Arial"/>
              </a:defRPr>
            </a:lvl6pPr>
            <a:lvl7pPr>
              <a:defRPr sz="750">
                <a:solidFill>
                  <a:srgbClr val="131F33"/>
                </a:solidFill>
                <a:latin typeface="Arial"/>
                <a:ea typeface="Arial"/>
                <a:cs typeface="Arial"/>
              </a:defRPr>
            </a:lvl7pPr>
            <a:lvl8pPr>
              <a:defRPr sz="750">
                <a:solidFill>
                  <a:srgbClr val="131F33"/>
                </a:solidFill>
                <a:latin typeface="Arial"/>
                <a:ea typeface="Arial"/>
                <a:cs typeface="Arial"/>
              </a:defRPr>
            </a:lvl8pPr>
            <a:lvl9pPr>
              <a:defRPr sz="750">
                <a:solidFill>
                  <a:srgbClr val="131F33"/>
                </a:solidFill>
                <a:latin typeface="Arial"/>
                <a:ea typeface="Arial"/>
                <a:cs typeface="Arial"/>
              </a:defRPr>
            </a:lvl9pPr>
          </a:lstStyle>
          <a:p xmlns:a="http://schemas.openxmlformats.org/drawingml/2006/main">
            <a:pPr>
              <a:defRPr sz="750">
                <a:solidFill>
                  <a:srgbClr val="131F33"/>
                </a:solidFill>
                <a:latin typeface="Arial"/>
                <a:ea typeface="Arial"/>
                <a:cs typeface="Arial"/>
              </a:defRPr>
            </a:pPr>
            <a:r>
              <a:rPr sz="750">
                <a:solidFill>
                  <a:srgbClr val="131F33"/>
                </a:solidFill>
                <a:latin typeface="Arial"/>
                <a:ea typeface="Arial"/>
                <a:cs typeface="Arial"/>
              </a:rPr>
              <a:t> </a:t>
            </a:r>
          </a:p>
        </p:txBody>
      </p:sp>
      <p:sp>
        <p:nvSpPr>
          <p:cNvPr id="10" name="">
            <a:extLst xmlns:a="http://schemas.openxmlformats.org/drawingml/2006/main">
              <a:ext uri="{FF2B5EF4-FFF2-40B4-BE49-F238E27FC236}">
                <a16:creationId xmlns:a16="http://schemas.microsoft.com/office/drawing/2014/main" id="{8EDC5AD1-C229-49B2-8975-E89733E92EB3}"/>
              </a:ext>
            </a:extLst>
          </p:cNvPr>
          <p:cNvSpPr>
            <a:spLocks xmlns:a="http://schemas.openxmlformats.org/drawingml/2006/main" noGrp="1"/>
          </p:cNvSpPr>
          <p:nvPr/>
        </p:nvSpPr>
        <p:spPr>
          <a:xfrm xmlns:a="http://schemas.openxmlformats.org/drawingml/2006/main">
            <a:off x="838200" y="4238625"/>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38BDF8"/>
                </a:solidFill>
                <a:latin typeface="Arial"/>
                <a:ea typeface="Arial"/>
                <a:cs typeface="Arial"/>
              </a:defRPr>
            </a:defPPr>
            <a:lvl1pPr>
              <a:defRPr sz="1350" b="1">
                <a:solidFill>
                  <a:srgbClr val="38BDF8"/>
                </a:solidFill>
                <a:latin typeface="Arial"/>
                <a:ea typeface="Arial"/>
                <a:cs typeface="Arial"/>
              </a:defRPr>
            </a:lvl1pPr>
            <a:lvl2pPr>
              <a:defRPr sz="1350" b="1">
                <a:solidFill>
                  <a:srgbClr val="38BDF8"/>
                </a:solidFill>
                <a:latin typeface="Arial"/>
                <a:ea typeface="Arial"/>
                <a:cs typeface="Arial"/>
              </a:defRPr>
            </a:lvl2pPr>
            <a:lvl3pPr>
              <a:defRPr sz="1350" b="1">
                <a:solidFill>
                  <a:srgbClr val="38BDF8"/>
                </a:solidFill>
                <a:latin typeface="Arial"/>
                <a:ea typeface="Arial"/>
                <a:cs typeface="Arial"/>
              </a:defRPr>
            </a:lvl3pPr>
            <a:lvl4pPr>
              <a:defRPr sz="1350" b="1">
                <a:solidFill>
                  <a:srgbClr val="38BDF8"/>
                </a:solidFill>
                <a:latin typeface="Arial"/>
                <a:ea typeface="Arial"/>
                <a:cs typeface="Arial"/>
              </a:defRPr>
            </a:lvl4pPr>
            <a:lvl5pPr>
              <a:defRPr sz="1350" b="1">
                <a:solidFill>
                  <a:srgbClr val="38BDF8"/>
                </a:solidFill>
                <a:latin typeface="Arial"/>
                <a:ea typeface="Arial"/>
                <a:cs typeface="Arial"/>
              </a:defRPr>
            </a:lvl5pPr>
            <a:lvl6pPr>
              <a:defRPr sz="1350" b="1">
                <a:solidFill>
                  <a:srgbClr val="38BDF8"/>
                </a:solidFill>
                <a:latin typeface="Arial"/>
                <a:ea typeface="Arial"/>
                <a:cs typeface="Arial"/>
              </a:defRPr>
            </a:lvl6pPr>
            <a:lvl7pPr>
              <a:defRPr sz="1350" b="1">
                <a:solidFill>
                  <a:srgbClr val="38BDF8"/>
                </a:solidFill>
                <a:latin typeface="Arial"/>
                <a:ea typeface="Arial"/>
                <a:cs typeface="Arial"/>
              </a:defRPr>
            </a:lvl7pPr>
            <a:lvl8pPr>
              <a:defRPr sz="1350" b="1">
                <a:solidFill>
                  <a:srgbClr val="38BDF8"/>
                </a:solidFill>
                <a:latin typeface="Arial"/>
                <a:ea typeface="Arial"/>
                <a:cs typeface="Arial"/>
              </a:defRPr>
            </a:lvl8pPr>
            <a:lvl9pPr>
              <a:defRPr sz="1350" b="1">
                <a:solidFill>
                  <a:srgbClr val="38BDF8"/>
                </a:solidFill>
                <a:latin typeface="Arial"/>
                <a:ea typeface="Arial"/>
                <a:cs typeface="Arial"/>
              </a:defRPr>
            </a:lvl9pPr>
          </a:lstStyle>
          <a:p xmlns:a="http://schemas.openxmlformats.org/drawingml/2006/main">
            <a:pPr>
              <a:defRPr sz="1350" b="1">
                <a:solidFill>
                  <a:srgbClr val="38BDF8"/>
                </a:solidFill>
                <a:latin typeface="Arial"/>
                <a:ea typeface="Arial"/>
                <a:cs typeface="Arial"/>
              </a:defRPr>
            </a:pPr>
            <a:r>
              <a:rPr sz="1350" b="1">
                <a:solidFill>
                  <a:srgbClr val="38BDF8"/>
                </a:solidFill>
                <a:latin typeface="Arial"/>
                <a:ea typeface="Arial"/>
                <a:cs typeface="Arial"/>
              </a:rPr>
              <a:t>Kiểm Tra Chéo Tập VALIDATION (5.015 ảnh)</a:t>
            </a:r>
          </a:p>
        </p:txBody>
      </p:sp>
      <p:sp>
        <p:nvSpPr>
          <p:cNvPr id="11" name="">
            <a:extLst xmlns:a="http://schemas.openxmlformats.org/drawingml/2006/main">
              <a:ext uri="{FF2B5EF4-FFF2-40B4-BE49-F238E27FC236}">
                <a16:creationId xmlns:a16="http://schemas.microsoft.com/office/drawing/2014/main" id="{DD015A53-4118-4077-A7BB-4FF103EF7B0E}"/>
              </a:ext>
            </a:extLst>
          </p:cNvPr>
          <p:cNvSpPr>
            <a:spLocks xmlns:a="http://schemas.openxmlformats.org/drawingml/2006/main" noGrp="1"/>
          </p:cNvSpPr>
          <p:nvPr/>
        </p:nvSpPr>
        <p:spPr>
          <a:xfrm xmlns:a="http://schemas.openxmlformats.org/drawingml/2006/main">
            <a:off x="838200" y="4572000"/>
            <a:ext cx="4838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F8FAFC"/>
                </a:solidFill>
                <a:latin typeface="Arial"/>
                <a:ea typeface="Arial"/>
                <a:cs typeface="Arial"/>
              </a:defRPr>
            </a:defPPr>
            <a:lvl1pPr>
              <a:defRPr sz="1125" b="0">
                <a:solidFill>
                  <a:srgbClr val="F8FAFC"/>
                </a:solidFill>
                <a:latin typeface="Arial"/>
                <a:ea typeface="Arial"/>
                <a:cs typeface="Arial"/>
              </a:defRPr>
            </a:lvl1pPr>
            <a:lvl2pPr>
              <a:defRPr sz="1125" b="0">
                <a:solidFill>
                  <a:srgbClr val="F8FAFC"/>
                </a:solidFill>
                <a:latin typeface="Arial"/>
                <a:ea typeface="Arial"/>
                <a:cs typeface="Arial"/>
              </a:defRPr>
            </a:lvl2pPr>
            <a:lvl3pPr>
              <a:defRPr sz="1125" b="0">
                <a:solidFill>
                  <a:srgbClr val="F8FAFC"/>
                </a:solidFill>
                <a:latin typeface="Arial"/>
                <a:ea typeface="Arial"/>
                <a:cs typeface="Arial"/>
              </a:defRPr>
            </a:lvl3pPr>
            <a:lvl4pPr>
              <a:defRPr sz="1125" b="0">
                <a:solidFill>
                  <a:srgbClr val="F8FAFC"/>
                </a:solidFill>
                <a:latin typeface="Arial"/>
                <a:ea typeface="Arial"/>
                <a:cs typeface="Arial"/>
              </a:defRPr>
            </a:lvl4pPr>
            <a:lvl5pPr>
              <a:defRPr sz="1125" b="0">
                <a:solidFill>
                  <a:srgbClr val="F8FAFC"/>
                </a:solidFill>
                <a:latin typeface="Arial"/>
                <a:ea typeface="Arial"/>
                <a:cs typeface="Arial"/>
              </a:defRPr>
            </a:lvl5pPr>
            <a:lvl6pPr>
              <a:defRPr sz="1125" b="0">
                <a:solidFill>
                  <a:srgbClr val="F8FAFC"/>
                </a:solidFill>
                <a:latin typeface="Arial"/>
                <a:ea typeface="Arial"/>
                <a:cs typeface="Arial"/>
              </a:defRPr>
            </a:lvl6pPr>
            <a:lvl7pPr>
              <a:defRPr sz="1125" b="0">
                <a:solidFill>
                  <a:srgbClr val="F8FAFC"/>
                </a:solidFill>
                <a:latin typeface="Arial"/>
                <a:ea typeface="Arial"/>
                <a:cs typeface="Arial"/>
              </a:defRPr>
            </a:lvl7pPr>
            <a:lvl8pPr>
              <a:defRPr sz="1125" b="0">
                <a:solidFill>
                  <a:srgbClr val="F8FAFC"/>
                </a:solidFill>
                <a:latin typeface="Arial"/>
                <a:ea typeface="Arial"/>
                <a:cs typeface="Arial"/>
              </a:defRPr>
            </a:lvl8pPr>
            <a:lvl9pPr>
              <a:defRPr sz="1125" b="0">
                <a:solidFill>
                  <a:srgbClr val="F8FAFC"/>
                </a:solidFill>
                <a:latin typeface="Arial"/>
                <a:ea typeface="Arial"/>
                <a:cs typeface="Arial"/>
              </a:defRPr>
            </a:lvl9pPr>
          </a:lstStyle>
          <a:p xmlns:a="http://schemas.openxmlformats.org/drawingml/2006/main">
            <a:pPr>
              <a:defRPr sz="1125" b="0">
                <a:solidFill>
                  <a:srgbClr val="F8FAFC"/>
                </a:solidFill>
                <a:latin typeface="Arial"/>
                <a:ea typeface="Arial"/>
                <a:cs typeface="Arial"/>
              </a:defRPr>
            </a:pPr>
            <a:r>
              <a:rPr sz="1125" b="0">
                <a:solidFill>
                  <a:srgbClr val="F8FAFC"/>
                </a:solidFill>
                <a:latin typeface="Arial"/>
                <a:ea typeface="Arial"/>
                <a:cs typeface="Arial"/>
              </a:rPr>
              <a:t>• Frame Accuracy: 98.88%  |  Video Accuracy: 14/14 (100%)</a:t>
            </a:r>
          </a:p>
          <a:p xmlns:a="http://schemas.openxmlformats.org/drawingml/2006/main">
            <a:pPr>
              <a:defRPr sz="1125" b="0">
                <a:solidFill>
                  <a:srgbClr val="F8FAFC"/>
                </a:solidFill>
                <a:latin typeface="Arial"/>
                <a:ea typeface="Arial"/>
                <a:cs typeface="Arial"/>
              </a:defRPr>
            </a:pPr>
            <a:r>
              <a:rPr sz="1125" b="0">
                <a:solidFill>
                  <a:srgbClr val="F8FAFC"/>
                </a:solidFill>
                <a:latin typeface="Arial"/>
                <a:ea typeface="Arial"/>
                <a:cs typeface="Arial"/>
              </a:rPr>
              <a:t>• Nhận diện FAKE: 2.538 / 2.546 ảnh đúng (99.69%)</a:t>
            </a:r>
          </a:p>
          <a:p xmlns:a="http://schemas.openxmlformats.org/drawingml/2006/main">
            <a:pPr>
              <a:defRPr sz="1125" b="0">
                <a:solidFill>
                  <a:srgbClr val="F8FAFC"/>
                </a:solidFill>
                <a:latin typeface="Arial"/>
                <a:ea typeface="Arial"/>
                <a:cs typeface="Arial"/>
              </a:defRPr>
            </a:pPr>
            <a:r>
              <a:rPr sz="1125" b="0">
                <a:solidFill>
                  <a:srgbClr val="F8FAFC"/>
                </a:solidFill>
                <a:latin typeface="Arial"/>
                <a:ea typeface="Arial"/>
                <a:cs typeface="Arial"/>
              </a:rPr>
              <a:t>• Nhận diện REAL: 2.421 / 2.469 ảnh đúng (98.06%)</a:t>
            </a:r>
          </a:p>
          <a:p xmlns:a="http://schemas.openxmlformats.org/drawingml/2006/main">
            <a:pPr>
              <a:defRPr sz="1125" b="0">
                <a:solidFill>
                  <a:srgbClr val="F8FAFC"/>
                </a:solidFill>
                <a:latin typeface="Arial"/>
                <a:ea typeface="Arial"/>
                <a:cs typeface="Arial"/>
              </a:defRPr>
            </a:pPr>
            <a:r>
              <a:rPr sz="1125" b="0">
                <a:solidFill>
                  <a:srgbClr val="F8FAFC"/>
                </a:solidFill>
                <a:latin typeface="Arial"/>
                <a:ea typeface="Arial"/>
                <a:cs typeface="Arial"/>
              </a:rPr>
              <a:t>• Phân phối xác suất giữa các video mẫu rất dứt khoát.</a:t>
            </a:r>
          </a:p>
        </p:txBody>
      </p:sp>
      <p:sp>
        <p:nvSpPr>
          <p:cNvPr id="12" name="">
            <a:extLst xmlns:a="http://schemas.openxmlformats.org/drawingml/2006/main">
              <a:ext uri="{FF2B5EF4-FFF2-40B4-BE49-F238E27FC236}">
                <a16:creationId xmlns:a16="http://schemas.microsoft.com/office/drawing/2014/main" id="{C536677C-63A1-491B-8AD0-D58D706AA952}"/>
              </a:ext>
            </a:extLst>
          </p:cNvPr>
          <p:cNvSpPr>
            <a:spLocks xmlns:a="http://schemas.openxmlformats.org/drawingml/2006/main" noGrp="1"/>
          </p:cNvSpPr>
          <p:nvPr/>
        </p:nvSpPr>
        <p:spPr>
          <a:xfrm xmlns:a="http://schemas.openxmlformats.org/drawingml/2006/main">
            <a:off x="6248400" y="4095750"/>
            <a:ext cx="5334000" cy="2047875"/>
          </a:xfrm>
          <a:prstGeom xmlns:a="http://schemas.openxmlformats.org/drawingml/2006/main" prst="rect">
            <a:avLst/>
          </a:prstGeom>
          <a:solidFill xmlns:a="http://schemas.openxmlformats.org/drawingml/2006/main">
            <a:srgbClr val="131F33"/>
          </a:solidFill>
          <a:ln xmlns:a="http://schemas.openxmlformats.org/drawingml/2006/main" w="9525">
            <a:solidFill>
              <a:srgbClr val="223652"/>
            </a:solidFill>
          </a:ln>
        </p:spPr>
        <p:txBody>
          <a:bodyPr xmlns:a="http://schemas.openxmlformats.org/drawingml/2006/main">
            <a:noAutofit/>
          </a:bodyPr>
          <a:lstStyle xmlns:a="http://schemas.openxmlformats.org/drawingml/2006/main">
            <a:defPPr>
              <a:defRPr sz="750">
                <a:solidFill>
                  <a:srgbClr val="131F33"/>
                </a:solidFill>
                <a:latin typeface="Arial"/>
                <a:ea typeface="Arial"/>
                <a:cs typeface="Arial"/>
              </a:defRPr>
            </a:defPPr>
            <a:lvl1pPr>
              <a:defRPr sz="750">
                <a:solidFill>
                  <a:srgbClr val="131F33"/>
                </a:solidFill>
                <a:latin typeface="Arial"/>
                <a:ea typeface="Arial"/>
                <a:cs typeface="Arial"/>
              </a:defRPr>
            </a:lvl1pPr>
            <a:lvl2pPr>
              <a:defRPr sz="750">
                <a:solidFill>
                  <a:srgbClr val="131F33"/>
                </a:solidFill>
                <a:latin typeface="Arial"/>
                <a:ea typeface="Arial"/>
                <a:cs typeface="Arial"/>
              </a:defRPr>
            </a:lvl2pPr>
            <a:lvl3pPr>
              <a:defRPr sz="750">
                <a:solidFill>
                  <a:srgbClr val="131F33"/>
                </a:solidFill>
                <a:latin typeface="Arial"/>
                <a:ea typeface="Arial"/>
                <a:cs typeface="Arial"/>
              </a:defRPr>
            </a:lvl3pPr>
            <a:lvl4pPr>
              <a:defRPr sz="750">
                <a:solidFill>
                  <a:srgbClr val="131F33"/>
                </a:solidFill>
                <a:latin typeface="Arial"/>
                <a:ea typeface="Arial"/>
                <a:cs typeface="Arial"/>
              </a:defRPr>
            </a:lvl4pPr>
            <a:lvl5pPr>
              <a:defRPr sz="750">
                <a:solidFill>
                  <a:srgbClr val="131F33"/>
                </a:solidFill>
                <a:latin typeface="Arial"/>
                <a:ea typeface="Arial"/>
                <a:cs typeface="Arial"/>
              </a:defRPr>
            </a:lvl5pPr>
            <a:lvl6pPr>
              <a:defRPr sz="750">
                <a:solidFill>
                  <a:srgbClr val="131F33"/>
                </a:solidFill>
                <a:latin typeface="Arial"/>
                <a:ea typeface="Arial"/>
                <a:cs typeface="Arial"/>
              </a:defRPr>
            </a:lvl6pPr>
            <a:lvl7pPr>
              <a:defRPr sz="750">
                <a:solidFill>
                  <a:srgbClr val="131F33"/>
                </a:solidFill>
                <a:latin typeface="Arial"/>
                <a:ea typeface="Arial"/>
                <a:cs typeface="Arial"/>
              </a:defRPr>
            </a:lvl7pPr>
            <a:lvl8pPr>
              <a:defRPr sz="750">
                <a:solidFill>
                  <a:srgbClr val="131F33"/>
                </a:solidFill>
                <a:latin typeface="Arial"/>
                <a:ea typeface="Arial"/>
                <a:cs typeface="Arial"/>
              </a:defRPr>
            </a:lvl8pPr>
            <a:lvl9pPr>
              <a:defRPr sz="750">
                <a:solidFill>
                  <a:srgbClr val="131F33"/>
                </a:solidFill>
                <a:latin typeface="Arial"/>
                <a:ea typeface="Arial"/>
                <a:cs typeface="Arial"/>
              </a:defRPr>
            </a:lvl9pPr>
          </a:lstStyle>
          <a:p xmlns:a="http://schemas.openxmlformats.org/drawingml/2006/main">
            <a:pPr>
              <a:defRPr sz="750">
                <a:solidFill>
                  <a:srgbClr val="131F33"/>
                </a:solidFill>
                <a:latin typeface="Arial"/>
                <a:ea typeface="Arial"/>
                <a:cs typeface="Arial"/>
              </a:defRPr>
            </a:pPr>
            <a:r>
              <a:rPr sz="750">
                <a:solidFill>
                  <a:srgbClr val="131F33"/>
                </a:solidFill>
                <a:latin typeface="Arial"/>
                <a:ea typeface="Arial"/>
                <a:cs typeface="Arial"/>
              </a:rPr>
              <a:t> </a:t>
            </a:r>
          </a:p>
        </p:txBody>
      </p:sp>
      <p:sp>
        <p:nvSpPr>
          <p:cNvPr id="13" name="">
            <a:extLst xmlns:a="http://schemas.openxmlformats.org/drawingml/2006/main">
              <a:ext uri="{FF2B5EF4-FFF2-40B4-BE49-F238E27FC236}">
                <a16:creationId xmlns:a16="http://schemas.microsoft.com/office/drawing/2014/main" id="{95D20527-341A-4DC8-8E2F-CC02544BF59D}"/>
              </a:ext>
            </a:extLst>
          </p:cNvPr>
          <p:cNvSpPr>
            <a:spLocks xmlns:a="http://schemas.openxmlformats.org/drawingml/2006/main" noGrp="1"/>
          </p:cNvSpPr>
          <p:nvPr/>
        </p:nvSpPr>
        <p:spPr>
          <a:xfrm xmlns:a="http://schemas.openxmlformats.org/drawingml/2006/main">
            <a:off x="6477000" y="4238625"/>
            <a:ext cx="4876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FBBF24"/>
                </a:solidFill>
                <a:latin typeface="Arial"/>
                <a:ea typeface="Arial"/>
                <a:cs typeface="Arial"/>
              </a:defRPr>
            </a:defPPr>
            <a:lvl1pPr>
              <a:defRPr sz="1350" b="1">
                <a:solidFill>
                  <a:srgbClr val="FBBF24"/>
                </a:solidFill>
                <a:latin typeface="Arial"/>
                <a:ea typeface="Arial"/>
                <a:cs typeface="Arial"/>
              </a:defRPr>
            </a:lvl1pPr>
            <a:lvl2pPr>
              <a:defRPr sz="1350" b="1">
                <a:solidFill>
                  <a:srgbClr val="FBBF24"/>
                </a:solidFill>
                <a:latin typeface="Arial"/>
                <a:ea typeface="Arial"/>
                <a:cs typeface="Arial"/>
              </a:defRPr>
            </a:lvl2pPr>
            <a:lvl3pPr>
              <a:defRPr sz="1350" b="1">
                <a:solidFill>
                  <a:srgbClr val="FBBF24"/>
                </a:solidFill>
                <a:latin typeface="Arial"/>
                <a:ea typeface="Arial"/>
                <a:cs typeface="Arial"/>
              </a:defRPr>
            </a:lvl3pPr>
            <a:lvl4pPr>
              <a:defRPr sz="1350" b="1">
                <a:solidFill>
                  <a:srgbClr val="FBBF24"/>
                </a:solidFill>
                <a:latin typeface="Arial"/>
                <a:ea typeface="Arial"/>
                <a:cs typeface="Arial"/>
              </a:defRPr>
            </a:lvl4pPr>
            <a:lvl5pPr>
              <a:defRPr sz="1350" b="1">
                <a:solidFill>
                  <a:srgbClr val="FBBF24"/>
                </a:solidFill>
                <a:latin typeface="Arial"/>
                <a:ea typeface="Arial"/>
                <a:cs typeface="Arial"/>
              </a:defRPr>
            </a:lvl5pPr>
            <a:lvl6pPr>
              <a:defRPr sz="1350" b="1">
                <a:solidFill>
                  <a:srgbClr val="FBBF24"/>
                </a:solidFill>
                <a:latin typeface="Arial"/>
                <a:ea typeface="Arial"/>
                <a:cs typeface="Arial"/>
              </a:defRPr>
            </a:lvl6pPr>
            <a:lvl7pPr>
              <a:defRPr sz="1350" b="1">
                <a:solidFill>
                  <a:srgbClr val="FBBF24"/>
                </a:solidFill>
                <a:latin typeface="Arial"/>
                <a:ea typeface="Arial"/>
                <a:cs typeface="Arial"/>
              </a:defRPr>
            </a:lvl7pPr>
            <a:lvl8pPr>
              <a:defRPr sz="1350" b="1">
                <a:solidFill>
                  <a:srgbClr val="FBBF24"/>
                </a:solidFill>
                <a:latin typeface="Arial"/>
                <a:ea typeface="Arial"/>
                <a:cs typeface="Arial"/>
              </a:defRPr>
            </a:lvl8pPr>
            <a:lvl9pPr>
              <a:defRPr sz="1350" b="1">
                <a:solidFill>
                  <a:srgbClr val="FBBF24"/>
                </a:solidFill>
                <a:latin typeface="Arial"/>
                <a:ea typeface="Arial"/>
                <a:cs typeface="Arial"/>
              </a:defRPr>
            </a:lvl9pPr>
          </a:lstStyle>
          <a:p xmlns:a="http://schemas.openxmlformats.org/drawingml/2006/main">
            <a:pPr>
              <a:defRPr sz="1350" b="1">
                <a:solidFill>
                  <a:srgbClr val="FBBF24"/>
                </a:solidFill>
                <a:latin typeface="Arial"/>
                <a:ea typeface="Arial"/>
                <a:cs typeface="Arial"/>
              </a:defRPr>
            </a:pPr>
            <a:r>
              <a:rPr sz="1350" b="1">
                <a:solidFill>
                  <a:srgbClr val="FBBF24"/>
                </a:solidFill>
                <a:latin typeface="Arial"/>
                <a:ea typeface="Arial"/>
                <a:cs typeface="Arial"/>
              </a:rPr>
              <a:t>Tổng Quát Hóa Camera Ngoài (Cross-Camera)</a:t>
            </a:r>
          </a:p>
        </p:txBody>
      </p:sp>
      <p:sp>
        <p:nvSpPr>
          <p:cNvPr id="14" name="">
            <a:extLst xmlns:a="http://schemas.openxmlformats.org/drawingml/2006/main">
              <a:ext uri="{FF2B5EF4-FFF2-40B4-BE49-F238E27FC236}">
                <a16:creationId xmlns:a16="http://schemas.microsoft.com/office/drawing/2014/main" id="{868C17F7-69D4-4097-8240-C613DA65A985}"/>
              </a:ext>
            </a:extLst>
          </p:cNvPr>
          <p:cNvSpPr>
            <a:spLocks xmlns:a="http://schemas.openxmlformats.org/drawingml/2006/main" noGrp="1"/>
          </p:cNvSpPr>
          <p:nvPr/>
        </p:nvSpPr>
        <p:spPr>
          <a:xfrm xmlns:a="http://schemas.openxmlformats.org/drawingml/2006/main">
            <a:off x="6477000" y="4572000"/>
            <a:ext cx="4876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F8FAFC"/>
                </a:solidFill>
                <a:latin typeface="Arial"/>
                <a:ea typeface="Arial"/>
                <a:cs typeface="Arial"/>
              </a:defRPr>
            </a:defPPr>
            <a:lvl1pPr>
              <a:defRPr sz="1125" b="0">
                <a:solidFill>
                  <a:srgbClr val="F8FAFC"/>
                </a:solidFill>
                <a:latin typeface="Arial"/>
                <a:ea typeface="Arial"/>
                <a:cs typeface="Arial"/>
              </a:defRPr>
            </a:lvl1pPr>
            <a:lvl2pPr>
              <a:defRPr sz="1125" b="0">
                <a:solidFill>
                  <a:srgbClr val="F8FAFC"/>
                </a:solidFill>
                <a:latin typeface="Arial"/>
                <a:ea typeface="Arial"/>
                <a:cs typeface="Arial"/>
              </a:defRPr>
            </a:lvl2pPr>
            <a:lvl3pPr>
              <a:defRPr sz="1125" b="0">
                <a:solidFill>
                  <a:srgbClr val="F8FAFC"/>
                </a:solidFill>
                <a:latin typeface="Arial"/>
                <a:ea typeface="Arial"/>
                <a:cs typeface="Arial"/>
              </a:defRPr>
            </a:lvl3pPr>
            <a:lvl4pPr>
              <a:defRPr sz="1125" b="0">
                <a:solidFill>
                  <a:srgbClr val="F8FAFC"/>
                </a:solidFill>
                <a:latin typeface="Arial"/>
                <a:ea typeface="Arial"/>
                <a:cs typeface="Arial"/>
              </a:defRPr>
            </a:lvl4pPr>
            <a:lvl5pPr>
              <a:defRPr sz="1125" b="0">
                <a:solidFill>
                  <a:srgbClr val="F8FAFC"/>
                </a:solidFill>
                <a:latin typeface="Arial"/>
                <a:ea typeface="Arial"/>
                <a:cs typeface="Arial"/>
              </a:defRPr>
            </a:lvl5pPr>
            <a:lvl6pPr>
              <a:defRPr sz="1125" b="0">
                <a:solidFill>
                  <a:srgbClr val="F8FAFC"/>
                </a:solidFill>
                <a:latin typeface="Arial"/>
                <a:ea typeface="Arial"/>
                <a:cs typeface="Arial"/>
              </a:defRPr>
            </a:lvl6pPr>
            <a:lvl7pPr>
              <a:defRPr sz="1125" b="0">
                <a:solidFill>
                  <a:srgbClr val="F8FAFC"/>
                </a:solidFill>
                <a:latin typeface="Arial"/>
                <a:ea typeface="Arial"/>
                <a:cs typeface="Arial"/>
              </a:defRPr>
            </a:lvl7pPr>
            <a:lvl8pPr>
              <a:defRPr sz="1125" b="0">
                <a:solidFill>
                  <a:srgbClr val="F8FAFC"/>
                </a:solidFill>
                <a:latin typeface="Arial"/>
                <a:ea typeface="Arial"/>
                <a:cs typeface="Arial"/>
              </a:defRPr>
            </a:lvl8pPr>
            <a:lvl9pPr>
              <a:defRPr sz="1125" b="0">
                <a:solidFill>
                  <a:srgbClr val="F8FAFC"/>
                </a:solidFill>
                <a:latin typeface="Arial"/>
                <a:ea typeface="Arial"/>
                <a:cs typeface="Arial"/>
              </a:defRPr>
            </a:lvl9pPr>
          </a:lstStyle>
          <a:p xmlns:a="http://schemas.openxmlformats.org/drawingml/2006/main">
            <a:pPr>
              <a:defRPr sz="1125" b="0">
                <a:solidFill>
                  <a:srgbClr val="F8FAFC"/>
                </a:solidFill>
                <a:latin typeface="Arial"/>
                <a:ea typeface="Arial"/>
                <a:cs typeface="Arial"/>
              </a:defRPr>
            </a:pPr>
            <a:r>
              <a:rPr sz="1125" b="0">
                <a:solidFill>
                  <a:srgbClr val="F8FAFC"/>
                </a:solidFill>
                <a:latin typeface="Arial"/>
                <a:ea typeface="Arial"/>
                <a:cs typeface="Arial"/>
              </a:rPr>
              <a:t>• Thử nghiệm chéo trên dữ liệu camera khác (Dataset project gốc):</a:t>
            </a:r>
          </a:p>
          <a:p xmlns:a="http://schemas.openxmlformats.org/drawingml/2006/main">
            <a:pPr>
              <a:defRPr sz="1125" b="0">
                <a:solidFill>
                  <a:srgbClr val="F8FAFC"/>
                </a:solidFill>
                <a:latin typeface="Arial"/>
                <a:ea typeface="Arial"/>
                <a:cs typeface="Arial"/>
              </a:defRPr>
            </a:pPr>
            <a:r>
              <a:rPr sz="1125" b="0">
                <a:solidFill>
                  <a:srgbClr val="F8FAFC"/>
                </a:solidFill>
                <a:latin typeface="Arial"/>
                <a:ea typeface="Arial"/>
                <a:cs typeface="Arial"/>
              </a:rPr>
              <a:t>  - Nhận diện FAKE camera ngoài: 99.67%</a:t>
            </a:r>
          </a:p>
          <a:p xmlns:a="http://schemas.openxmlformats.org/drawingml/2006/main">
            <a:pPr>
              <a:defRPr sz="1125" b="0">
                <a:solidFill>
                  <a:srgbClr val="F8FAFC"/>
                </a:solidFill>
                <a:latin typeface="Arial"/>
                <a:ea typeface="Arial"/>
                <a:cs typeface="Arial"/>
              </a:defRPr>
            </a:pPr>
            <a:r>
              <a:rPr sz="1125" b="0">
                <a:solidFill>
                  <a:srgbClr val="F8FAFC"/>
                </a:solidFill>
                <a:latin typeface="Arial"/>
                <a:ea typeface="Arial"/>
                <a:cs typeface="Arial"/>
              </a:rPr>
              <a:t>  - Nhận diện REAL camera ngoài: 100.0%</a:t>
            </a:r>
          </a:p>
          <a:p xmlns:a="http://schemas.openxmlformats.org/drawingml/2006/main">
            <a:pPr>
              <a:defRPr sz="1125" b="0">
                <a:solidFill>
                  <a:srgbClr val="F8FAFC"/>
                </a:solidFill>
                <a:latin typeface="Arial"/>
                <a:ea typeface="Arial"/>
                <a:cs typeface="Arial"/>
              </a:defRPr>
            </a:pPr>
            <a:r>
              <a:rPr sz="1125" b="0">
                <a:solidFill>
                  <a:srgbClr val="F8FAFC"/>
                </a:solidFill>
                <a:latin typeface="Arial"/>
                <a:ea typeface="Arial"/>
                <a:cs typeface="Arial"/>
              </a:rPr>
              <a:t>  - Điểm tổng thể camera ngoài: 99.84%</a:t>
            </a:r>
          </a:p>
          <a:p xmlns:a="http://schemas.openxmlformats.org/drawingml/2006/main">
            <a:pPr>
              <a:defRPr sz="1125" b="0">
                <a:solidFill>
                  <a:srgbClr val="F8FAFC"/>
                </a:solidFill>
                <a:latin typeface="Arial"/>
                <a:ea typeface="Arial"/>
                <a:cs typeface="Arial"/>
              </a:defRPr>
            </a:pPr>
            <a:r>
              <a:rPr sz="1125" b="0">
                <a:solidFill>
                  <a:srgbClr val="F8FAFC"/>
                </a:solidFill>
                <a:latin typeface="Arial"/>
                <a:ea typeface="Arial"/>
                <a:cs typeface="Arial"/>
              </a:rPr>
              <a:t>• Chứng minh mô hình học bản chất liveness, không học vẹt thiết bị.</a:t>
            </a:r>
          </a:p>
        </p:txBody>
      </p:sp>
    </p:spTree>
    <p:extLst>
      <p:ext uri="{BB962C8B-B14F-4D97-AF65-F5344CB8AC3E}">
        <p14:creationId xmlns:p14="http://schemas.microsoft.com/office/powerpoint/2010/main" val="482860802"/>
      </p:ext>
    </p:extLst>
  </p:cSld>
</p:sld>
</file>

<file path=ppt/slides/slide5.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CDC7886-F7E7-4377-9123-570ADC5842C2}"/>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F8FAFC"/>
                </a:solidFill>
                <a:latin typeface="Arial"/>
                <a:ea typeface="Arial"/>
                <a:cs typeface="Arial"/>
              </a:defRPr>
            </a:defPPr>
            <a:lvl1pPr>
              <a:defRPr sz="2550" b="1">
                <a:solidFill>
                  <a:srgbClr val="F8FAFC"/>
                </a:solidFill>
                <a:latin typeface="Arial"/>
                <a:ea typeface="Arial"/>
                <a:cs typeface="Arial"/>
              </a:defRPr>
            </a:lvl1pPr>
            <a:lvl2pPr>
              <a:defRPr sz="2550" b="1">
                <a:solidFill>
                  <a:srgbClr val="F8FAFC"/>
                </a:solidFill>
                <a:latin typeface="Arial"/>
                <a:ea typeface="Arial"/>
                <a:cs typeface="Arial"/>
              </a:defRPr>
            </a:lvl2pPr>
            <a:lvl3pPr>
              <a:defRPr sz="2550" b="1">
                <a:solidFill>
                  <a:srgbClr val="F8FAFC"/>
                </a:solidFill>
                <a:latin typeface="Arial"/>
                <a:ea typeface="Arial"/>
                <a:cs typeface="Arial"/>
              </a:defRPr>
            </a:lvl3pPr>
            <a:lvl4pPr>
              <a:defRPr sz="2550" b="1">
                <a:solidFill>
                  <a:srgbClr val="F8FAFC"/>
                </a:solidFill>
                <a:latin typeface="Arial"/>
                <a:ea typeface="Arial"/>
                <a:cs typeface="Arial"/>
              </a:defRPr>
            </a:lvl4pPr>
            <a:lvl5pPr>
              <a:defRPr sz="2550" b="1">
                <a:solidFill>
                  <a:srgbClr val="F8FAFC"/>
                </a:solidFill>
                <a:latin typeface="Arial"/>
                <a:ea typeface="Arial"/>
                <a:cs typeface="Arial"/>
              </a:defRPr>
            </a:lvl5pPr>
            <a:lvl6pPr>
              <a:defRPr sz="2550" b="1">
                <a:solidFill>
                  <a:srgbClr val="F8FAFC"/>
                </a:solidFill>
                <a:latin typeface="Arial"/>
                <a:ea typeface="Arial"/>
                <a:cs typeface="Arial"/>
              </a:defRPr>
            </a:lvl6pPr>
            <a:lvl7pPr>
              <a:defRPr sz="2550" b="1">
                <a:solidFill>
                  <a:srgbClr val="F8FAFC"/>
                </a:solidFill>
                <a:latin typeface="Arial"/>
                <a:ea typeface="Arial"/>
                <a:cs typeface="Arial"/>
              </a:defRPr>
            </a:lvl7pPr>
            <a:lvl8pPr>
              <a:defRPr sz="2550" b="1">
                <a:solidFill>
                  <a:srgbClr val="F8FAFC"/>
                </a:solidFill>
                <a:latin typeface="Arial"/>
                <a:ea typeface="Arial"/>
                <a:cs typeface="Arial"/>
              </a:defRPr>
            </a:lvl8pPr>
            <a:lvl9pPr>
              <a:defRPr sz="2550" b="1">
                <a:solidFill>
                  <a:srgbClr val="F8FAFC"/>
                </a:solidFill>
                <a:latin typeface="Arial"/>
                <a:ea typeface="Arial"/>
                <a:cs typeface="Arial"/>
              </a:defRPr>
            </a:lvl9pPr>
          </a:lstStyle>
          <a:p xmlns:a="http://schemas.openxmlformats.org/drawingml/2006/main">
            <a:pPr>
              <a:defRPr sz="2550" b="1">
                <a:solidFill>
                  <a:srgbClr val="F8FAFC"/>
                </a:solidFill>
                <a:latin typeface="Arial"/>
                <a:ea typeface="Arial"/>
                <a:cs typeface="Arial"/>
              </a:defRPr>
            </a:pPr>
            <a:r>
              <a:rPr sz="2550" b="1">
                <a:solidFill>
                  <a:srgbClr val="F8FAFC"/>
                </a:solidFill>
                <a:latin typeface="Arial"/>
                <a:ea typeface="Arial"/>
                <a:cs typeface="Arial"/>
              </a:rPr>
              <a:t>Hiệu Năng Thực Tế &amp; Ranh Giới Vận Hành</a:t>
            </a:r>
          </a:p>
        </p:txBody>
      </p:sp>
      <p:sp>
        <p:nvSpPr>
          <p:cNvPr id="2" name="">
            <a:extLst xmlns:a="http://schemas.openxmlformats.org/drawingml/2006/main">
              <a:ext uri="{FF2B5EF4-FFF2-40B4-BE49-F238E27FC236}">
                <a16:creationId xmlns:a16="http://schemas.microsoft.com/office/drawing/2014/main" id="{026F750A-BC39-4220-A1F8-EA048D200AFA}"/>
              </a:ext>
            </a:extLst>
          </p:cNvPr>
          <p:cNvSpPr>
            <a:spLocks xmlns:a="http://schemas.openxmlformats.org/drawingml/2006/main" noGrp="1"/>
          </p:cNvSpPr>
          <p:nvPr/>
        </p:nvSpPr>
        <p:spPr>
          <a:xfrm xmlns:a="http://schemas.openxmlformats.org/drawingml/2006/main">
            <a:off x="609600" y="8572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38BDF8"/>
                </a:solidFill>
                <a:latin typeface="Arial"/>
                <a:ea typeface="Arial"/>
                <a:cs typeface="Arial"/>
              </a:defRPr>
            </a:defPPr>
            <a:lvl1pPr>
              <a:defRPr sz="1350" b="1">
                <a:solidFill>
                  <a:srgbClr val="38BDF8"/>
                </a:solidFill>
                <a:latin typeface="Arial"/>
                <a:ea typeface="Arial"/>
                <a:cs typeface="Arial"/>
              </a:defRPr>
            </a:lvl1pPr>
            <a:lvl2pPr>
              <a:defRPr sz="1350" b="1">
                <a:solidFill>
                  <a:srgbClr val="38BDF8"/>
                </a:solidFill>
                <a:latin typeface="Arial"/>
                <a:ea typeface="Arial"/>
                <a:cs typeface="Arial"/>
              </a:defRPr>
            </a:lvl2pPr>
            <a:lvl3pPr>
              <a:defRPr sz="1350" b="1">
                <a:solidFill>
                  <a:srgbClr val="38BDF8"/>
                </a:solidFill>
                <a:latin typeface="Arial"/>
                <a:ea typeface="Arial"/>
                <a:cs typeface="Arial"/>
              </a:defRPr>
            </a:lvl3pPr>
            <a:lvl4pPr>
              <a:defRPr sz="1350" b="1">
                <a:solidFill>
                  <a:srgbClr val="38BDF8"/>
                </a:solidFill>
                <a:latin typeface="Arial"/>
                <a:ea typeface="Arial"/>
                <a:cs typeface="Arial"/>
              </a:defRPr>
            </a:lvl4pPr>
            <a:lvl5pPr>
              <a:defRPr sz="1350" b="1">
                <a:solidFill>
                  <a:srgbClr val="38BDF8"/>
                </a:solidFill>
                <a:latin typeface="Arial"/>
                <a:ea typeface="Arial"/>
                <a:cs typeface="Arial"/>
              </a:defRPr>
            </a:lvl5pPr>
            <a:lvl6pPr>
              <a:defRPr sz="1350" b="1">
                <a:solidFill>
                  <a:srgbClr val="38BDF8"/>
                </a:solidFill>
                <a:latin typeface="Arial"/>
                <a:ea typeface="Arial"/>
                <a:cs typeface="Arial"/>
              </a:defRPr>
            </a:lvl6pPr>
            <a:lvl7pPr>
              <a:defRPr sz="1350" b="1">
                <a:solidFill>
                  <a:srgbClr val="38BDF8"/>
                </a:solidFill>
                <a:latin typeface="Arial"/>
                <a:ea typeface="Arial"/>
                <a:cs typeface="Arial"/>
              </a:defRPr>
            </a:lvl7pPr>
            <a:lvl8pPr>
              <a:defRPr sz="1350" b="1">
                <a:solidFill>
                  <a:srgbClr val="38BDF8"/>
                </a:solidFill>
                <a:latin typeface="Arial"/>
                <a:ea typeface="Arial"/>
                <a:cs typeface="Arial"/>
              </a:defRPr>
            </a:lvl8pPr>
            <a:lvl9pPr>
              <a:defRPr sz="1350" b="1">
                <a:solidFill>
                  <a:srgbClr val="38BDF8"/>
                </a:solidFill>
                <a:latin typeface="Arial"/>
                <a:ea typeface="Arial"/>
                <a:cs typeface="Arial"/>
              </a:defRPr>
            </a:lvl9pPr>
          </a:lstStyle>
          <a:p xmlns:a="http://schemas.openxmlformats.org/drawingml/2006/main">
            <a:pPr>
              <a:defRPr sz="1350" b="1">
                <a:solidFill>
                  <a:srgbClr val="38BDF8"/>
                </a:solidFill>
                <a:latin typeface="Arial"/>
                <a:ea typeface="Arial"/>
                <a:cs typeface="Arial"/>
              </a:defRPr>
            </a:pPr>
            <a:r>
              <a:rPr sz="1350" b="1">
                <a:solidFill>
                  <a:srgbClr val="38BDF8"/>
                </a:solidFill>
                <a:latin typeface="Arial"/>
                <a:ea typeface="Arial"/>
                <a:cs typeface="Arial"/>
              </a:rPr>
              <a:t>VẬN HÀNH THỜI GIAN THỰC TRÊN CAMERA USB SC-M200 VÀ KHUYẾN NGHỊ TRIỂN KHAI</a:t>
            </a:r>
          </a:p>
        </p:txBody>
      </p:sp>
      <p:sp>
        <p:nvSpPr>
          <p:cNvPr id="3" name="">
            <a:extLst xmlns:a="http://schemas.openxmlformats.org/drawingml/2006/main">
              <a:ext uri="{FF2B5EF4-FFF2-40B4-BE49-F238E27FC236}">
                <a16:creationId xmlns:a16="http://schemas.microsoft.com/office/drawing/2014/main" id="{04E80BFA-0DE5-420A-B4CF-C34DD065BEA9}"/>
              </a:ext>
            </a:extLst>
          </p:cNvPr>
          <p:cNvSpPr>
            <a:spLocks xmlns:a="http://schemas.openxmlformats.org/drawingml/2006/main" noGrp="1"/>
          </p:cNvSpPr>
          <p:nvPr/>
        </p:nvSpPr>
        <p:spPr>
          <a:xfrm xmlns:a="http://schemas.openxmlformats.org/drawingml/2006/main">
            <a:off x="609600" y="64198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94A3B8"/>
                </a:solidFill>
                <a:latin typeface="Arial"/>
                <a:ea typeface="Arial"/>
                <a:cs typeface="Arial"/>
              </a:defRPr>
            </a:defPPr>
            <a:lvl1pPr>
              <a:defRPr sz="1050" b="0">
                <a:solidFill>
                  <a:srgbClr val="94A3B8"/>
                </a:solidFill>
                <a:latin typeface="Arial"/>
                <a:ea typeface="Arial"/>
                <a:cs typeface="Arial"/>
              </a:defRPr>
            </a:lvl1pPr>
            <a:lvl2pPr>
              <a:defRPr sz="1050" b="0">
                <a:solidFill>
                  <a:srgbClr val="94A3B8"/>
                </a:solidFill>
                <a:latin typeface="Arial"/>
                <a:ea typeface="Arial"/>
                <a:cs typeface="Arial"/>
              </a:defRPr>
            </a:lvl2pPr>
            <a:lvl3pPr>
              <a:defRPr sz="1050" b="0">
                <a:solidFill>
                  <a:srgbClr val="94A3B8"/>
                </a:solidFill>
                <a:latin typeface="Arial"/>
                <a:ea typeface="Arial"/>
                <a:cs typeface="Arial"/>
              </a:defRPr>
            </a:lvl3pPr>
            <a:lvl4pPr>
              <a:defRPr sz="1050" b="0">
                <a:solidFill>
                  <a:srgbClr val="94A3B8"/>
                </a:solidFill>
                <a:latin typeface="Arial"/>
                <a:ea typeface="Arial"/>
                <a:cs typeface="Arial"/>
              </a:defRPr>
            </a:lvl4pPr>
            <a:lvl5pPr>
              <a:defRPr sz="1050" b="0">
                <a:solidFill>
                  <a:srgbClr val="94A3B8"/>
                </a:solidFill>
                <a:latin typeface="Arial"/>
                <a:ea typeface="Arial"/>
                <a:cs typeface="Arial"/>
              </a:defRPr>
            </a:lvl5pPr>
            <a:lvl6pPr>
              <a:defRPr sz="1050" b="0">
                <a:solidFill>
                  <a:srgbClr val="94A3B8"/>
                </a:solidFill>
                <a:latin typeface="Arial"/>
                <a:ea typeface="Arial"/>
                <a:cs typeface="Arial"/>
              </a:defRPr>
            </a:lvl6pPr>
            <a:lvl7pPr>
              <a:defRPr sz="1050" b="0">
                <a:solidFill>
                  <a:srgbClr val="94A3B8"/>
                </a:solidFill>
                <a:latin typeface="Arial"/>
                <a:ea typeface="Arial"/>
                <a:cs typeface="Arial"/>
              </a:defRPr>
            </a:lvl7pPr>
            <a:lvl8pPr>
              <a:defRPr sz="1050" b="0">
                <a:solidFill>
                  <a:srgbClr val="94A3B8"/>
                </a:solidFill>
                <a:latin typeface="Arial"/>
                <a:ea typeface="Arial"/>
                <a:cs typeface="Arial"/>
              </a:defRPr>
            </a:lvl8pPr>
            <a:lvl9pPr>
              <a:defRPr sz="1050" b="0">
                <a:solidFill>
                  <a:srgbClr val="94A3B8"/>
                </a:solidFill>
                <a:latin typeface="Arial"/>
                <a:ea typeface="Arial"/>
                <a:cs typeface="Arial"/>
              </a:defRPr>
            </a:lvl9pPr>
          </a:lstStyle>
          <a:p xmlns:a="http://schemas.openxmlformats.org/drawingml/2006/main">
            <a:pPr>
              <a:defRPr sz="1050" b="0">
                <a:solidFill>
                  <a:srgbClr val="94A3B8"/>
                </a:solidFill>
                <a:latin typeface="Arial"/>
                <a:ea typeface="Arial"/>
                <a:cs typeface="Arial"/>
              </a:defRPr>
            </a:pPr>
            <a:r>
              <a:rPr sz="1050" b="0">
                <a:solidFill>
                  <a:srgbClr val="94A3B8"/>
                </a:solidFill>
                <a:latin typeface="Arial"/>
                <a:ea typeface="Arial"/>
                <a:cs typeface="Arial"/>
              </a:rPr>
              <a:t>FACE ANTI-SPOOFING • CAMERA USB SC-M200 • EVALUATION REPORT</a:t>
            </a:r>
          </a:p>
        </p:txBody>
      </p:sp>
      <p:sp>
        <p:nvSpPr>
          <p:cNvPr id="4" name="">
            <a:extLst xmlns:a="http://schemas.openxmlformats.org/drawingml/2006/main">
              <a:ext uri="{FF2B5EF4-FFF2-40B4-BE49-F238E27FC236}">
                <a16:creationId xmlns:a16="http://schemas.microsoft.com/office/drawing/2014/main" id="{BD2F049C-FEF9-44E3-A8E9-3764261F33D8}"/>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94A3B8"/>
                </a:solidFill>
                <a:latin typeface="Arial"/>
                <a:ea typeface="Arial"/>
                <a:cs typeface="Arial"/>
              </a:defRPr>
            </a:defPPr>
            <a:lvl1pPr>
              <a:defRPr sz="1050" b="0">
                <a:solidFill>
                  <a:srgbClr val="94A3B8"/>
                </a:solidFill>
                <a:latin typeface="Arial"/>
                <a:ea typeface="Arial"/>
                <a:cs typeface="Arial"/>
              </a:defRPr>
            </a:lvl1pPr>
            <a:lvl2pPr>
              <a:defRPr sz="1050" b="0">
                <a:solidFill>
                  <a:srgbClr val="94A3B8"/>
                </a:solidFill>
                <a:latin typeface="Arial"/>
                <a:ea typeface="Arial"/>
                <a:cs typeface="Arial"/>
              </a:defRPr>
            </a:lvl2pPr>
            <a:lvl3pPr>
              <a:defRPr sz="1050" b="0">
                <a:solidFill>
                  <a:srgbClr val="94A3B8"/>
                </a:solidFill>
                <a:latin typeface="Arial"/>
                <a:ea typeface="Arial"/>
                <a:cs typeface="Arial"/>
              </a:defRPr>
            </a:lvl3pPr>
            <a:lvl4pPr>
              <a:defRPr sz="1050" b="0">
                <a:solidFill>
                  <a:srgbClr val="94A3B8"/>
                </a:solidFill>
                <a:latin typeface="Arial"/>
                <a:ea typeface="Arial"/>
                <a:cs typeface="Arial"/>
              </a:defRPr>
            </a:lvl4pPr>
            <a:lvl5pPr>
              <a:defRPr sz="1050" b="0">
                <a:solidFill>
                  <a:srgbClr val="94A3B8"/>
                </a:solidFill>
                <a:latin typeface="Arial"/>
                <a:ea typeface="Arial"/>
                <a:cs typeface="Arial"/>
              </a:defRPr>
            </a:lvl5pPr>
            <a:lvl6pPr>
              <a:defRPr sz="1050" b="0">
                <a:solidFill>
                  <a:srgbClr val="94A3B8"/>
                </a:solidFill>
                <a:latin typeface="Arial"/>
                <a:ea typeface="Arial"/>
                <a:cs typeface="Arial"/>
              </a:defRPr>
            </a:lvl6pPr>
            <a:lvl7pPr>
              <a:defRPr sz="1050" b="0">
                <a:solidFill>
                  <a:srgbClr val="94A3B8"/>
                </a:solidFill>
                <a:latin typeface="Arial"/>
                <a:ea typeface="Arial"/>
                <a:cs typeface="Arial"/>
              </a:defRPr>
            </a:lvl7pPr>
            <a:lvl8pPr>
              <a:defRPr sz="1050" b="0">
                <a:solidFill>
                  <a:srgbClr val="94A3B8"/>
                </a:solidFill>
                <a:latin typeface="Arial"/>
                <a:ea typeface="Arial"/>
                <a:cs typeface="Arial"/>
              </a:defRPr>
            </a:lvl8pPr>
            <a:lvl9pPr>
              <a:defRPr sz="1050" b="0">
                <a:solidFill>
                  <a:srgbClr val="94A3B8"/>
                </a:solidFill>
                <a:latin typeface="Arial"/>
                <a:ea typeface="Arial"/>
                <a:cs typeface="Arial"/>
              </a:defRPr>
            </a:lvl9pPr>
          </a:lstStyle>
          <a:p xmlns:a="http://schemas.openxmlformats.org/drawingml/2006/main">
            <a:pPr>
              <a:defRPr sz="1050" b="0">
                <a:solidFill>
                  <a:srgbClr val="94A3B8"/>
                </a:solidFill>
                <a:latin typeface="Arial"/>
                <a:ea typeface="Arial"/>
                <a:cs typeface="Arial"/>
              </a:defRPr>
            </a:pPr>
            <a:r>
              <a:rPr sz="1050" b="0">
                <a:solidFill>
                  <a:srgbClr val="94A3B8"/>
                </a:solidFill>
                <a:latin typeface="Arial"/>
                <a:ea typeface="Arial"/>
                <a:cs typeface="Arial"/>
              </a:rPr>
              <a:t>05 / 05</a:t>
            </a:r>
          </a:p>
        </p:txBody>
      </p:sp>
      <p:sp>
        <p:nvSpPr>
          <p:cNvPr id="5" name="">
            <a:extLst xmlns:a="http://schemas.openxmlformats.org/drawingml/2006/main">
              <a:ext uri="{FF2B5EF4-FFF2-40B4-BE49-F238E27FC236}">
                <a16:creationId xmlns:a16="http://schemas.microsoft.com/office/drawing/2014/main" id="{80140D11-FC9C-4591-8F60-69B0212E51C8}"/>
              </a:ext>
            </a:extLst>
          </p:cNvPr>
          <p:cNvSpPr>
            <a:spLocks xmlns:a="http://schemas.openxmlformats.org/drawingml/2006/main" noGrp="1"/>
          </p:cNvSpPr>
          <p:nvPr/>
        </p:nvSpPr>
        <p:spPr>
          <a:xfrm xmlns:a="http://schemas.openxmlformats.org/drawingml/2006/main">
            <a:off x="609600" y="1333500"/>
            <a:ext cx="3429000" cy="4810125"/>
          </a:xfrm>
          <a:prstGeom xmlns:a="http://schemas.openxmlformats.org/drawingml/2006/main" prst="rect">
            <a:avLst/>
          </a:prstGeom>
          <a:solidFill xmlns:a="http://schemas.openxmlformats.org/drawingml/2006/main">
            <a:srgbClr val="131F33"/>
          </a:solidFill>
          <a:ln xmlns:a="http://schemas.openxmlformats.org/drawingml/2006/main" w="9525">
            <a:solidFill>
              <a:srgbClr val="223652"/>
            </a:solidFill>
          </a:ln>
        </p:spPr>
        <p:txBody>
          <a:bodyPr xmlns:a="http://schemas.openxmlformats.org/drawingml/2006/main">
            <a:noAutofit/>
          </a:bodyPr>
          <a:lstStyle xmlns:a="http://schemas.openxmlformats.org/drawingml/2006/main">
            <a:defPPr>
              <a:defRPr sz="750">
                <a:solidFill>
                  <a:srgbClr val="131F33"/>
                </a:solidFill>
                <a:latin typeface="Arial"/>
                <a:ea typeface="Arial"/>
                <a:cs typeface="Arial"/>
              </a:defRPr>
            </a:defPPr>
            <a:lvl1pPr>
              <a:defRPr sz="750">
                <a:solidFill>
                  <a:srgbClr val="131F33"/>
                </a:solidFill>
                <a:latin typeface="Arial"/>
                <a:ea typeface="Arial"/>
                <a:cs typeface="Arial"/>
              </a:defRPr>
            </a:lvl1pPr>
            <a:lvl2pPr>
              <a:defRPr sz="750">
                <a:solidFill>
                  <a:srgbClr val="131F33"/>
                </a:solidFill>
                <a:latin typeface="Arial"/>
                <a:ea typeface="Arial"/>
                <a:cs typeface="Arial"/>
              </a:defRPr>
            </a:lvl2pPr>
            <a:lvl3pPr>
              <a:defRPr sz="750">
                <a:solidFill>
                  <a:srgbClr val="131F33"/>
                </a:solidFill>
                <a:latin typeface="Arial"/>
                <a:ea typeface="Arial"/>
                <a:cs typeface="Arial"/>
              </a:defRPr>
            </a:lvl3pPr>
            <a:lvl4pPr>
              <a:defRPr sz="750">
                <a:solidFill>
                  <a:srgbClr val="131F33"/>
                </a:solidFill>
                <a:latin typeface="Arial"/>
                <a:ea typeface="Arial"/>
                <a:cs typeface="Arial"/>
              </a:defRPr>
            </a:lvl4pPr>
            <a:lvl5pPr>
              <a:defRPr sz="750">
                <a:solidFill>
                  <a:srgbClr val="131F33"/>
                </a:solidFill>
                <a:latin typeface="Arial"/>
                <a:ea typeface="Arial"/>
                <a:cs typeface="Arial"/>
              </a:defRPr>
            </a:lvl5pPr>
            <a:lvl6pPr>
              <a:defRPr sz="750">
                <a:solidFill>
                  <a:srgbClr val="131F33"/>
                </a:solidFill>
                <a:latin typeface="Arial"/>
                <a:ea typeface="Arial"/>
                <a:cs typeface="Arial"/>
              </a:defRPr>
            </a:lvl6pPr>
            <a:lvl7pPr>
              <a:defRPr sz="750">
                <a:solidFill>
                  <a:srgbClr val="131F33"/>
                </a:solidFill>
                <a:latin typeface="Arial"/>
                <a:ea typeface="Arial"/>
                <a:cs typeface="Arial"/>
              </a:defRPr>
            </a:lvl7pPr>
            <a:lvl8pPr>
              <a:defRPr sz="750">
                <a:solidFill>
                  <a:srgbClr val="131F33"/>
                </a:solidFill>
                <a:latin typeface="Arial"/>
                <a:ea typeface="Arial"/>
                <a:cs typeface="Arial"/>
              </a:defRPr>
            </a:lvl8pPr>
            <a:lvl9pPr>
              <a:defRPr sz="750">
                <a:solidFill>
                  <a:srgbClr val="131F33"/>
                </a:solidFill>
                <a:latin typeface="Arial"/>
                <a:ea typeface="Arial"/>
                <a:cs typeface="Arial"/>
              </a:defRPr>
            </a:lvl9pPr>
          </a:lstStyle>
          <a:p xmlns:a="http://schemas.openxmlformats.org/drawingml/2006/main">
            <a:pPr>
              <a:defRPr sz="750">
                <a:solidFill>
                  <a:srgbClr val="131F33"/>
                </a:solidFill>
                <a:latin typeface="Arial"/>
                <a:ea typeface="Arial"/>
                <a:cs typeface="Arial"/>
              </a:defRPr>
            </a:pPr>
            <a:r>
              <a:rPr sz="750">
                <a:solidFill>
                  <a:srgbClr val="131F33"/>
                </a:solidFill>
                <a:latin typeface="Arial"/>
                <a:ea typeface="Arial"/>
                <a:cs typeface="Arial"/>
              </a:rPr>
              <a:t> </a:t>
            </a:r>
          </a:p>
        </p:txBody>
      </p:sp>
      <p:sp>
        <p:nvSpPr>
          <p:cNvPr id="6" name="">
            <a:extLst xmlns:a="http://schemas.openxmlformats.org/drawingml/2006/main">
              <a:ext uri="{FF2B5EF4-FFF2-40B4-BE49-F238E27FC236}">
                <a16:creationId xmlns:a16="http://schemas.microsoft.com/office/drawing/2014/main" id="{CCF7F60E-142A-4E89-9460-B02C152D3D65}"/>
              </a:ext>
            </a:extLst>
          </p:cNvPr>
          <p:cNvSpPr>
            <a:spLocks xmlns:a="http://schemas.openxmlformats.org/drawingml/2006/main" noGrp="1"/>
          </p:cNvSpPr>
          <p:nvPr/>
        </p:nvSpPr>
        <p:spPr>
          <a:xfrm xmlns:a="http://schemas.openxmlformats.org/drawingml/2006/main">
            <a:off x="838200" y="1571625"/>
            <a:ext cx="297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8BDF8"/>
                </a:solidFill>
                <a:latin typeface="Arial"/>
                <a:ea typeface="Arial"/>
                <a:cs typeface="Arial"/>
              </a:defRPr>
            </a:defPPr>
            <a:lvl1pPr>
              <a:defRPr sz="1650" b="1">
                <a:solidFill>
                  <a:srgbClr val="38BDF8"/>
                </a:solidFill>
                <a:latin typeface="Arial"/>
                <a:ea typeface="Arial"/>
                <a:cs typeface="Arial"/>
              </a:defRPr>
            </a:lvl1pPr>
            <a:lvl2pPr>
              <a:defRPr sz="1650" b="1">
                <a:solidFill>
                  <a:srgbClr val="38BDF8"/>
                </a:solidFill>
                <a:latin typeface="Arial"/>
                <a:ea typeface="Arial"/>
                <a:cs typeface="Arial"/>
              </a:defRPr>
            </a:lvl2pPr>
            <a:lvl3pPr>
              <a:defRPr sz="1650" b="1">
                <a:solidFill>
                  <a:srgbClr val="38BDF8"/>
                </a:solidFill>
                <a:latin typeface="Arial"/>
                <a:ea typeface="Arial"/>
                <a:cs typeface="Arial"/>
              </a:defRPr>
            </a:lvl3pPr>
            <a:lvl4pPr>
              <a:defRPr sz="1650" b="1">
                <a:solidFill>
                  <a:srgbClr val="38BDF8"/>
                </a:solidFill>
                <a:latin typeface="Arial"/>
                <a:ea typeface="Arial"/>
                <a:cs typeface="Arial"/>
              </a:defRPr>
            </a:lvl4pPr>
            <a:lvl5pPr>
              <a:defRPr sz="1650" b="1">
                <a:solidFill>
                  <a:srgbClr val="38BDF8"/>
                </a:solidFill>
                <a:latin typeface="Arial"/>
                <a:ea typeface="Arial"/>
                <a:cs typeface="Arial"/>
              </a:defRPr>
            </a:lvl5pPr>
            <a:lvl6pPr>
              <a:defRPr sz="1650" b="1">
                <a:solidFill>
                  <a:srgbClr val="38BDF8"/>
                </a:solidFill>
                <a:latin typeface="Arial"/>
                <a:ea typeface="Arial"/>
                <a:cs typeface="Arial"/>
              </a:defRPr>
            </a:lvl6pPr>
            <a:lvl7pPr>
              <a:defRPr sz="1650" b="1">
                <a:solidFill>
                  <a:srgbClr val="38BDF8"/>
                </a:solidFill>
                <a:latin typeface="Arial"/>
                <a:ea typeface="Arial"/>
                <a:cs typeface="Arial"/>
              </a:defRPr>
            </a:lvl7pPr>
            <a:lvl8pPr>
              <a:defRPr sz="1650" b="1">
                <a:solidFill>
                  <a:srgbClr val="38BDF8"/>
                </a:solidFill>
                <a:latin typeface="Arial"/>
                <a:ea typeface="Arial"/>
                <a:cs typeface="Arial"/>
              </a:defRPr>
            </a:lvl8pPr>
            <a:lvl9pPr>
              <a:defRPr sz="1650" b="1">
                <a:solidFill>
                  <a:srgbClr val="38BDF8"/>
                </a:solidFill>
                <a:latin typeface="Arial"/>
                <a:ea typeface="Arial"/>
                <a:cs typeface="Arial"/>
              </a:defRPr>
            </a:lvl9pPr>
          </a:lstStyle>
          <a:p xmlns:a="http://schemas.openxmlformats.org/drawingml/2006/main">
            <a:pPr>
              <a:defRPr sz="1650" b="1">
                <a:solidFill>
                  <a:srgbClr val="38BDF8"/>
                </a:solidFill>
                <a:latin typeface="Arial"/>
                <a:ea typeface="Arial"/>
                <a:cs typeface="Arial"/>
              </a:defRPr>
            </a:pPr>
            <a:r>
              <a:rPr sz="1650" b="1">
                <a:solidFill>
                  <a:srgbClr val="38BDF8"/>
                </a:solidFill>
                <a:latin typeface="Arial"/>
                <a:ea typeface="Arial"/>
                <a:cs typeface="Arial"/>
              </a:rPr>
              <a:t>Hiệu Năng Vận Hành</a:t>
            </a:r>
          </a:p>
        </p:txBody>
      </p:sp>
      <p:sp>
        <p:nvSpPr>
          <p:cNvPr id="7" name="">
            <a:extLst xmlns:a="http://schemas.openxmlformats.org/drawingml/2006/main">
              <a:ext uri="{FF2B5EF4-FFF2-40B4-BE49-F238E27FC236}">
                <a16:creationId xmlns:a16="http://schemas.microsoft.com/office/drawing/2014/main" id="{969A1B0B-261B-4FEC-A75E-C7654F305E75}"/>
              </a:ext>
            </a:extLst>
          </p:cNvPr>
          <p:cNvSpPr>
            <a:spLocks xmlns:a="http://schemas.openxmlformats.org/drawingml/2006/main" noGrp="1"/>
          </p:cNvSpPr>
          <p:nvPr/>
        </p:nvSpPr>
        <p:spPr>
          <a:xfrm xmlns:a="http://schemas.openxmlformats.org/drawingml/2006/main">
            <a:off x="838200" y="2047875"/>
            <a:ext cx="29718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8FAFC"/>
                </a:solidFill>
                <a:latin typeface="Arial"/>
                <a:ea typeface="Arial"/>
                <a:cs typeface="Arial"/>
              </a:defRPr>
            </a:defPPr>
            <a:lvl1pPr>
              <a:defRPr sz="1200" b="0">
                <a:solidFill>
                  <a:srgbClr val="F8FAFC"/>
                </a:solidFill>
                <a:latin typeface="Arial"/>
                <a:ea typeface="Arial"/>
                <a:cs typeface="Arial"/>
              </a:defRPr>
            </a:lvl1pPr>
            <a:lvl2pPr>
              <a:defRPr sz="1200" b="0">
                <a:solidFill>
                  <a:srgbClr val="F8FAFC"/>
                </a:solidFill>
                <a:latin typeface="Arial"/>
                <a:ea typeface="Arial"/>
                <a:cs typeface="Arial"/>
              </a:defRPr>
            </a:lvl2pPr>
            <a:lvl3pPr>
              <a:defRPr sz="1200" b="0">
                <a:solidFill>
                  <a:srgbClr val="F8FAFC"/>
                </a:solidFill>
                <a:latin typeface="Arial"/>
                <a:ea typeface="Arial"/>
                <a:cs typeface="Arial"/>
              </a:defRPr>
            </a:lvl3pPr>
            <a:lvl4pPr>
              <a:defRPr sz="1200" b="0">
                <a:solidFill>
                  <a:srgbClr val="F8FAFC"/>
                </a:solidFill>
                <a:latin typeface="Arial"/>
                <a:ea typeface="Arial"/>
                <a:cs typeface="Arial"/>
              </a:defRPr>
            </a:lvl4pPr>
            <a:lvl5pPr>
              <a:defRPr sz="1200" b="0">
                <a:solidFill>
                  <a:srgbClr val="F8FAFC"/>
                </a:solidFill>
                <a:latin typeface="Arial"/>
                <a:ea typeface="Arial"/>
                <a:cs typeface="Arial"/>
              </a:defRPr>
            </a:lvl5pPr>
            <a:lvl6pPr>
              <a:defRPr sz="1200" b="0">
                <a:solidFill>
                  <a:srgbClr val="F8FAFC"/>
                </a:solidFill>
                <a:latin typeface="Arial"/>
                <a:ea typeface="Arial"/>
                <a:cs typeface="Arial"/>
              </a:defRPr>
            </a:lvl6pPr>
            <a:lvl7pPr>
              <a:defRPr sz="1200" b="0">
                <a:solidFill>
                  <a:srgbClr val="F8FAFC"/>
                </a:solidFill>
                <a:latin typeface="Arial"/>
                <a:ea typeface="Arial"/>
                <a:cs typeface="Arial"/>
              </a:defRPr>
            </a:lvl7pPr>
            <a:lvl8pPr>
              <a:defRPr sz="1200" b="0">
                <a:solidFill>
                  <a:srgbClr val="F8FAFC"/>
                </a:solidFill>
                <a:latin typeface="Arial"/>
                <a:ea typeface="Arial"/>
                <a:cs typeface="Arial"/>
              </a:defRPr>
            </a:lvl8pPr>
            <a:lvl9pPr>
              <a:defRPr sz="1200" b="0">
                <a:solidFill>
                  <a:srgbClr val="F8FAFC"/>
                </a:solidFill>
                <a:latin typeface="Arial"/>
                <a:ea typeface="Arial"/>
                <a:cs typeface="Arial"/>
              </a:defRPr>
            </a:lvl9pPr>
          </a:lstStyle>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Tốc độ khung hình:</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30 FPS mượt mà ổn định nhờ luồng Multi-threaded Capture Worker riêng biệt.</a:t>
            </a:r>
          </a:p>
          <a:p xmlns:a="http://schemas.openxmlformats.org/drawingml/2006/main">
            <a:r>
              <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Độ trễ suy luận:</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~6ms trên CPU cho mạng CNN; tổng độ trễ toàn bộ pipeline chỉ ~20-30ms.</a:t>
            </a:r>
          </a:p>
          <a:p xmlns:a="http://schemas.openxmlformats.org/drawingml/2006/main">
            <a:r>
              <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Độ ổn định phần cứng:</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Tự động nhận diện &amp; khôi phục luồng video khi cắm/rút camera USB (auto-reconnect).</a:t>
            </a:r>
          </a:p>
          <a:p xmlns:a="http://schemas.openxmlformats.org/drawingml/2006/main">
            <a:r>
              <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Khử nhiễu giao diện:</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Đã triệt tiêu 100% khung vàng rác bằng bộ lọc diện tích &amp; YuNet detector.</a:t>
            </a:r>
          </a:p>
        </p:txBody>
      </p:sp>
      <p:sp>
        <p:nvSpPr>
          <p:cNvPr id="8" name="">
            <a:extLst xmlns:a="http://schemas.openxmlformats.org/drawingml/2006/main">
              <a:ext uri="{FF2B5EF4-FFF2-40B4-BE49-F238E27FC236}">
                <a16:creationId xmlns:a16="http://schemas.microsoft.com/office/drawing/2014/main" id="{DA96B629-5481-4F42-99DA-77BD8DA539FD}"/>
              </a:ext>
            </a:extLst>
          </p:cNvPr>
          <p:cNvSpPr>
            <a:spLocks xmlns:a="http://schemas.openxmlformats.org/drawingml/2006/main" noGrp="1"/>
          </p:cNvSpPr>
          <p:nvPr/>
        </p:nvSpPr>
        <p:spPr>
          <a:xfrm xmlns:a="http://schemas.openxmlformats.org/drawingml/2006/main">
            <a:off x="4381500" y="1333500"/>
            <a:ext cx="3429000" cy="4810125"/>
          </a:xfrm>
          <a:prstGeom xmlns:a="http://schemas.openxmlformats.org/drawingml/2006/main" prst="rect">
            <a:avLst/>
          </a:prstGeom>
          <a:solidFill xmlns:a="http://schemas.openxmlformats.org/drawingml/2006/main">
            <a:srgbClr val="131F33"/>
          </a:solidFill>
          <a:ln xmlns:a="http://schemas.openxmlformats.org/drawingml/2006/main" w="9525">
            <a:solidFill>
              <a:srgbClr val="223652"/>
            </a:solidFill>
          </a:ln>
        </p:spPr>
        <p:txBody>
          <a:bodyPr xmlns:a="http://schemas.openxmlformats.org/drawingml/2006/main">
            <a:noAutofit/>
          </a:bodyPr>
          <a:lstStyle xmlns:a="http://schemas.openxmlformats.org/drawingml/2006/main">
            <a:defPPr>
              <a:defRPr sz="750">
                <a:solidFill>
                  <a:srgbClr val="131F33"/>
                </a:solidFill>
                <a:latin typeface="Arial"/>
                <a:ea typeface="Arial"/>
                <a:cs typeface="Arial"/>
              </a:defRPr>
            </a:defPPr>
            <a:lvl1pPr>
              <a:defRPr sz="750">
                <a:solidFill>
                  <a:srgbClr val="131F33"/>
                </a:solidFill>
                <a:latin typeface="Arial"/>
                <a:ea typeface="Arial"/>
                <a:cs typeface="Arial"/>
              </a:defRPr>
            </a:lvl1pPr>
            <a:lvl2pPr>
              <a:defRPr sz="750">
                <a:solidFill>
                  <a:srgbClr val="131F33"/>
                </a:solidFill>
                <a:latin typeface="Arial"/>
                <a:ea typeface="Arial"/>
                <a:cs typeface="Arial"/>
              </a:defRPr>
            </a:lvl2pPr>
            <a:lvl3pPr>
              <a:defRPr sz="750">
                <a:solidFill>
                  <a:srgbClr val="131F33"/>
                </a:solidFill>
                <a:latin typeface="Arial"/>
                <a:ea typeface="Arial"/>
                <a:cs typeface="Arial"/>
              </a:defRPr>
            </a:lvl3pPr>
            <a:lvl4pPr>
              <a:defRPr sz="750">
                <a:solidFill>
                  <a:srgbClr val="131F33"/>
                </a:solidFill>
                <a:latin typeface="Arial"/>
                <a:ea typeface="Arial"/>
                <a:cs typeface="Arial"/>
              </a:defRPr>
            </a:lvl4pPr>
            <a:lvl5pPr>
              <a:defRPr sz="750">
                <a:solidFill>
                  <a:srgbClr val="131F33"/>
                </a:solidFill>
                <a:latin typeface="Arial"/>
                <a:ea typeface="Arial"/>
                <a:cs typeface="Arial"/>
              </a:defRPr>
            </a:lvl5pPr>
            <a:lvl6pPr>
              <a:defRPr sz="750">
                <a:solidFill>
                  <a:srgbClr val="131F33"/>
                </a:solidFill>
                <a:latin typeface="Arial"/>
                <a:ea typeface="Arial"/>
                <a:cs typeface="Arial"/>
              </a:defRPr>
            </a:lvl6pPr>
            <a:lvl7pPr>
              <a:defRPr sz="750">
                <a:solidFill>
                  <a:srgbClr val="131F33"/>
                </a:solidFill>
                <a:latin typeface="Arial"/>
                <a:ea typeface="Arial"/>
                <a:cs typeface="Arial"/>
              </a:defRPr>
            </a:lvl7pPr>
            <a:lvl8pPr>
              <a:defRPr sz="750">
                <a:solidFill>
                  <a:srgbClr val="131F33"/>
                </a:solidFill>
                <a:latin typeface="Arial"/>
                <a:ea typeface="Arial"/>
                <a:cs typeface="Arial"/>
              </a:defRPr>
            </a:lvl8pPr>
            <a:lvl9pPr>
              <a:defRPr sz="750">
                <a:solidFill>
                  <a:srgbClr val="131F33"/>
                </a:solidFill>
                <a:latin typeface="Arial"/>
                <a:ea typeface="Arial"/>
                <a:cs typeface="Arial"/>
              </a:defRPr>
            </a:lvl9pPr>
          </a:lstStyle>
          <a:p xmlns:a="http://schemas.openxmlformats.org/drawingml/2006/main">
            <a:pPr>
              <a:defRPr sz="750">
                <a:solidFill>
                  <a:srgbClr val="131F33"/>
                </a:solidFill>
                <a:latin typeface="Arial"/>
                <a:ea typeface="Arial"/>
                <a:cs typeface="Arial"/>
              </a:defRPr>
            </a:pPr>
            <a:r>
              <a:rPr sz="750">
                <a:solidFill>
                  <a:srgbClr val="131F33"/>
                </a:solidFill>
                <a:latin typeface="Arial"/>
                <a:ea typeface="Arial"/>
                <a:cs typeface="Arial"/>
              </a:rPr>
              <a:t> </a:t>
            </a:r>
          </a:p>
        </p:txBody>
      </p:sp>
      <p:sp>
        <p:nvSpPr>
          <p:cNvPr id="9" name="">
            <a:extLst xmlns:a="http://schemas.openxmlformats.org/drawingml/2006/main">
              <a:ext uri="{FF2B5EF4-FFF2-40B4-BE49-F238E27FC236}">
                <a16:creationId xmlns:a16="http://schemas.microsoft.com/office/drawing/2014/main" id="{803D10E2-62F0-4558-8EA7-14B7BC131BA5}"/>
              </a:ext>
            </a:extLst>
          </p:cNvPr>
          <p:cNvSpPr>
            <a:spLocks xmlns:a="http://schemas.openxmlformats.org/drawingml/2006/main" noGrp="1"/>
          </p:cNvSpPr>
          <p:nvPr/>
        </p:nvSpPr>
        <p:spPr>
          <a:xfrm xmlns:a="http://schemas.openxmlformats.org/drawingml/2006/main">
            <a:off x="4610100" y="1571625"/>
            <a:ext cx="297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4D399"/>
                </a:solidFill>
                <a:latin typeface="Arial"/>
                <a:ea typeface="Arial"/>
                <a:cs typeface="Arial"/>
              </a:defRPr>
            </a:defPPr>
            <a:lvl1pPr>
              <a:defRPr sz="1650" b="1">
                <a:solidFill>
                  <a:srgbClr val="34D399"/>
                </a:solidFill>
                <a:latin typeface="Arial"/>
                <a:ea typeface="Arial"/>
                <a:cs typeface="Arial"/>
              </a:defRPr>
            </a:lvl1pPr>
            <a:lvl2pPr>
              <a:defRPr sz="1650" b="1">
                <a:solidFill>
                  <a:srgbClr val="34D399"/>
                </a:solidFill>
                <a:latin typeface="Arial"/>
                <a:ea typeface="Arial"/>
                <a:cs typeface="Arial"/>
              </a:defRPr>
            </a:lvl2pPr>
            <a:lvl3pPr>
              <a:defRPr sz="1650" b="1">
                <a:solidFill>
                  <a:srgbClr val="34D399"/>
                </a:solidFill>
                <a:latin typeface="Arial"/>
                <a:ea typeface="Arial"/>
                <a:cs typeface="Arial"/>
              </a:defRPr>
            </a:lvl3pPr>
            <a:lvl4pPr>
              <a:defRPr sz="1650" b="1">
                <a:solidFill>
                  <a:srgbClr val="34D399"/>
                </a:solidFill>
                <a:latin typeface="Arial"/>
                <a:ea typeface="Arial"/>
                <a:cs typeface="Arial"/>
              </a:defRPr>
            </a:lvl4pPr>
            <a:lvl5pPr>
              <a:defRPr sz="1650" b="1">
                <a:solidFill>
                  <a:srgbClr val="34D399"/>
                </a:solidFill>
                <a:latin typeface="Arial"/>
                <a:ea typeface="Arial"/>
                <a:cs typeface="Arial"/>
              </a:defRPr>
            </a:lvl5pPr>
            <a:lvl6pPr>
              <a:defRPr sz="1650" b="1">
                <a:solidFill>
                  <a:srgbClr val="34D399"/>
                </a:solidFill>
                <a:latin typeface="Arial"/>
                <a:ea typeface="Arial"/>
                <a:cs typeface="Arial"/>
              </a:defRPr>
            </a:lvl6pPr>
            <a:lvl7pPr>
              <a:defRPr sz="1650" b="1">
                <a:solidFill>
                  <a:srgbClr val="34D399"/>
                </a:solidFill>
                <a:latin typeface="Arial"/>
                <a:ea typeface="Arial"/>
                <a:cs typeface="Arial"/>
              </a:defRPr>
            </a:lvl7pPr>
            <a:lvl8pPr>
              <a:defRPr sz="1650" b="1">
                <a:solidFill>
                  <a:srgbClr val="34D399"/>
                </a:solidFill>
                <a:latin typeface="Arial"/>
                <a:ea typeface="Arial"/>
                <a:cs typeface="Arial"/>
              </a:defRPr>
            </a:lvl8pPr>
            <a:lvl9pPr>
              <a:defRPr sz="1650" b="1">
                <a:solidFill>
                  <a:srgbClr val="34D399"/>
                </a:solidFill>
                <a:latin typeface="Arial"/>
                <a:ea typeface="Arial"/>
                <a:cs typeface="Arial"/>
              </a:defRPr>
            </a:lvl9pPr>
          </a:lstStyle>
          <a:p xmlns:a="http://schemas.openxmlformats.org/drawingml/2006/main">
            <a:pPr>
              <a:defRPr sz="1650" b="1">
                <a:solidFill>
                  <a:srgbClr val="34D399"/>
                </a:solidFill>
                <a:latin typeface="Arial"/>
                <a:ea typeface="Arial"/>
                <a:cs typeface="Arial"/>
              </a:defRPr>
            </a:pPr>
            <a:r>
              <a:rPr sz="1650" b="1">
                <a:solidFill>
                  <a:srgbClr val="34D399"/>
                </a:solidFill>
                <a:latin typeface="Arial"/>
                <a:ea typeface="Arial"/>
                <a:cs typeface="Arial"/>
              </a:rPr>
              <a:t>Điều Kiện Tối Ưu</a:t>
            </a:r>
          </a:p>
        </p:txBody>
      </p:sp>
      <p:sp>
        <p:nvSpPr>
          <p:cNvPr id="10" name="">
            <a:extLst xmlns:a="http://schemas.openxmlformats.org/drawingml/2006/main">
              <a:ext uri="{FF2B5EF4-FFF2-40B4-BE49-F238E27FC236}">
                <a16:creationId xmlns:a16="http://schemas.microsoft.com/office/drawing/2014/main" id="{D53F1615-F24C-4947-ADDE-EE30EB181074}"/>
              </a:ext>
            </a:extLst>
          </p:cNvPr>
          <p:cNvSpPr>
            <a:spLocks xmlns:a="http://schemas.openxmlformats.org/drawingml/2006/main" noGrp="1"/>
          </p:cNvSpPr>
          <p:nvPr/>
        </p:nvSpPr>
        <p:spPr>
          <a:xfrm xmlns:a="http://schemas.openxmlformats.org/drawingml/2006/main">
            <a:off x="4610100" y="2047875"/>
            <a:ext cx="29718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8FAFC"/>
                </a:solidFill>
                <a:latin typeface="Arial"/>
                <a:ea typeface="Arial"/>
                <a:cs typeface="Arial"/>
              </a:defRPr>
            </a:defPPr>
            <a:lvl1pPr>
              <a:defRPr sz="1200" b="0">
                <a:solidFill>
                  <a:srgbClr val="F8FAFC"/>
                </a:solidFill>
                <a:latin typeface="Arial"/>
                <a:ea typeface="Arial"/>
                <a:cs typeface="Arial"/>
              </a:defRPr>
            </a:lvl1pPr>
            <a:lvl2pPr>
              <a:defRPr sz="1200" b="0">
                <a:solidFill>
                  <a:srgbClr val="F8FAFC"/>
                </a:solidFill>
                <a:latin typeface="Arial"/>
                <a:ea typeface="Arial"/>
                <a:cs typeface="Arial"/>
              </a:defRPr>
            </a:lvl2pPr>
            <a:lvl3pPr>
              <a:defRPr sz="1200" b="0">
                <a:solidFill>
                  <a:srgbClr val="F8FAFC"/>
                </a:solidFill>
                <a:latin typeface="Arial"/>
                <a:ea typeface="Arial"/>
                <a:cs typeface="Arial"/>
              </a:defRPr>
            </a:lvl3pPr>
            <a:lvl4pPr>
              <a:defRPr sz="1200" b="0">
                <a:solidFill>
                  <a:srgbClr val="F8FAFC"/>
                </a:solidFill>
                <a:latin typeface="Arial"/>
                <a:ea typeface="Arial"/>
                <a:cs typeface="Arial"/>
              </a:defRPr>
            </a:lvl4pPr>
            <a:lvl5pPr>
              <a:defRPr sz="1200" b="0">
                <a:solidFill>
                  <a:srgbClr val="F8FAFC"/>
                </a:solidFill>
                <a:latin typeface="Arial"/>
                <a:ea typeface="Arial"/>
                <a:cs typeface="Arial"/>
              </a:defRPr>
            </a:lvl5pPr>
            <a:lvl6pPr>
              <a:defRPr sz="1200" b="0">
                <a:solidFill>
                  <a:srgbClr val="F8FAFC"/>
                </a:solidFill>
                <a:latin typeface="Arial"/>
                <a:ea typeface="Arial"/>
                <a:cs typeface="Arial"/>
              </a:defRPr>
            </a:lvl6pPr>
            <a:lvl7pPr>
              <a:defRPr sz="1200" b="0">
                <a:solidFill>
                  <a:srgbClr val="F8FAFC"/>
                </a:solidFill>
                <a:latin typeface="Arial"/>
                <a:ea typeface="Arial"/>
                <a:cs typeface="Arial"/>
              </a:defRPr>
            </a:lvl7pPr>
            <a:lvl8pPr>
              <a:defRPr sz="1200" b="0">
                <a:solidFill>
                  <a:srgbClr val="F8FAFC"/>
                </a:solidFill>
                <a:latin typeface="Arial"/>
                <a:ea typeface="Arial"/>
                <a:cs typeface="Arial"/>
              </a:defRPr>
            </a:lvl8pPr>
            <a:lvl9pPr>
              <a:defRPr sz="1200" b="0">
                <a:solidFill>
                  <a:srgbClr val="F8FAFC"/>
                </a:solidFill>
                <a:latin typeface="Arial"/>
                <a:ea typeface="Arial"/>
                <a:cs typeface="Arial"/>
              </a:defRPr>
            </a:lvl9pPr>
          </a:lstStyle>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Góc mặt khuyến nghị:</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Góc chính diện hoặc nghiêng nhẹ trong khoảng ±30° (Yaw / Pitch).</a:t>
            </a:r>
          </a:p>
          <a:p xmlns:a="http://schemas.openxmlformats.org/drawingml/2006/main">
            <a:r>
              <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Khoảng cách camera:</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Từ 40 cm đến 120 cm (kích thước khuôn mặt đạt tối thiểu 80×80 pixel).</a:t>
            </a:r>
          </a:p>
          <a:p xmlns:a="http://schemas.openxmlformats.org/drawingml/2006/main">
            <a:r>
              <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Điều kiện ánh sáng:</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Ánh sáng phòng tiêu chuẩn từ 150 lux đến 800 lux, tránh ngược sáng gắt.</a:t>
            </a:r>
          </a:p>
          <a:p xmlns:a="http://schemas.openxmlformats.org/drawingml/2006/main">
            <a:r>
              <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Loại tấn công chống tốt:</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Tái phát video qua màn hình điện thoại, iPad, laptop, màn hình máy tính.</a:t>
            </a:r>
          </a:p>
        </p:txBody>
      </p:sp>
      <p:sp>
        <p:nvSpPr>
          <p:cNvPr id="11" name="">
            <a:extLst xmlns:a="http://schemas.openxmlformats.org/drawingml/2006/main">
              <a:ext uri="{FF2B5EF4-FFF2-40B4-BE49-F238E27FC236}">
                <a16:creationId xmlns:a16="http://schemas.microsoft.com/office/drawing/2014/main" id="{8330DF4A-C20B-4114-A916-A54D303EA457}"/>
              </a:ext>
            </a:extLst>
          </p:cNvPr>
          <p:cNvSpPr>
            <a:spLocks xmlns:a="http://schemas.openxmlformats.org/drawingml/2006/main" noGrp="1"/>
          </p:cNvSpPr>
          <p:nvPr/>
        </p:nvSpPr>
        <p:spPr>
          <a:xfrm xmlns:a="http://schemas.openxmlformats.org/drawingml/2006/main">
            <a:off x="8153400" y="1333500"/>
            <a:ext cx="3429000" cy="4810125"/>
          </a:xfrm>
          <a:prstGeom xmlns:a="http://schemas.openxmlformats.org/drawingml/2006/main" prst="rect">
            <a:avLst/>
          </a:prstGeom>
          <a:solidFill xmlns:a="http://schemas.openxmlformats.org/drawingml/2006/main">
            <a:srgbClr val="131F33"/>
          </a:solidFill>
          <a:ln xmlns:a="http://schemas.openxmlformats.org/drawingml/2006/main" w="9525">
            <a:solidFill>
              <a:srgbClr val="223652"/>
            </a:solidFill>
          </a:ln>
        </p:spPr>
        <p:txBody>
          <a:bodyPr xmlns:a="http://schemas.openxmlformats.org/drawingml/2006/main">
            <a:noAutofit/>
          </a:bodyPr>
          <a:lstStyle xmlns:a="http://schemas.openxmlformats.org/drawingml/2006/main">
            <a:defPPr>
              <a:defRPr sz="750">
                <a:solidFill>
                  <a:srgbClr val="131F33"/>
                </a:solidFill>
                <a:latin typeface="Arial"/>
                <a:ea typeface="Arial"/>
                <a:cs typeface="Arial"/>
              </a:defRPr>
            </a:defPPr>
            <a:lvl1pPr>
              <a:defRPr sz="750">
                <a:solidFill>
                  <a:srgbClr val="131F33"/>
                </a:solidFill>
                <a:latin typeface="Arial"/>
                <a:ea typeface="Arial"/>
                <a:cs typeface="Arial"/>
              </a:defRPr>
            </a:lvl1pPr>
            <a:lvl2pPr>
              <a:defRPr sz="750">
                <a:solidFill>
                  <a:srgbClr val="131F33"/>
                </a:solidFill>
                <a:latin typeface="Arial"/>
                <a:ea typeface="Arial"/>
                <a:cs typeface="Arial"/>
              </a:defRPr>
            </a:lvl2pPr>
            <a:lvl3pPr>
              <a:defRPr sz="750">
                <a:solidFill>
                  <a:srgbClr val="131F33"/>
                </a:solidFill>
                <a:latin typeface="Arial"/>
                <a:ea typeface="Arial"/>
                <a:cs typeface="Arial"/>
              </a:defRPr>
            </a:lvl3pPr>
            <a:lvl4pPr>
              <a:defRPr sz="750">
                <a:solidFill>
                  <a:srgbClr val="131F33"/>
                </a:solidFill>
                <a:latin typeface="Arial"/>
                <a:ea typeface="Arial"/>
                <a:cs typeface="Arial"/>
              </a:defRPr>
            </a:lvl4pPr>
            <a:lvl5pPr>
              <a:defRPr sz="750">
                <a:solidFill>
                  <a:srgbClr val="131F33"/>
                </a:solidFill>
                <a:latin typeface="Arial"/>
                <a:ea typeface="Arial"/>
                <a:cs typeface="Arial"/>
              </a:defRPr>
            </a:lvl5pPr>
            <a:lvl6pPr>
              <a:defRPr sz="750">
                <a:solidFill>
                  <a:srgbClr val="131F33"/>
                </a:solidFill>
                <a:latin typeface="Arial"/>
                <a:ea typeface="Arial"/>
                <a:cs typeface="Arial"/>
              </a:defRPr>
            </a:lvl6pPr>
            <a:lvl7pPr>
              <a:defRPr sz="750">
                <a:solidFill>
                  <a:srgbClr val="131F33"/>
                </a:solidFill>
                <a:latin typeface="Arial"/>
                <a:ea typeface="Arial"/>
                <a:cs typeface="Arial"/>
              </a:defRPr>
            </a:lvl7pPr>
            <a:lvl8pPr>
              <a:defRPr sz="750">
                <a:solidFill>
                  <a:srgbClr val="131F33"/>
                </a:solidFill>
                <a:latin typeface="Arial"/>
                <a:ea typeface="Arial"/>
                <a:cs typeface="Arial"/>
              </a:defRPr>
            </a:lvl8pPr>
            <a:lvl9pPr>
              <a:defRPr sz="750">
                <a:solidFill>
                  <a:srgbClr val="131F33"/>
                </a:solidFill>
                <a:latin typeface="Arial"/>
                <a:ea typeface="Arial"/>
                <a:cs typeface="Arial"/>
              </a:defRPr>
            </a:lvl9pPr>
          </a:lstStyle>
          <a:p xmlns:a="http://schemas.openxmlformats.org/drawingml/2006/main">
            <a:pPr>
              <a:defRPr sz="750">
                <a:solidFill>
                  <a:srgbClr val="131F33"/>
                </a:solidFill>
                <a:latin typeface="Arial"/>
                <a:ea typeface="Arial"/>
                <a:cs typeface="Arial"/>
              </a:defRPr>
            </a:pPr>
            <a:r>
              <a:rPr sz="750">
                <a:solidFill>
                  <a:srgbClr val="131F33"/>
                </a:solidFill>
                <a:latin typeface="Arial"/>
                <a:ea typeface="Arial"/>
                <a:cs typeface="Arial"/>
              </a:rPr>
              <a:t> </a:t>
            </a:r>
          </a:p>
        </p:txBody>
      </p:sp>
      <p:sp>
        <p:nvSpPr>
          <p:cNvPr id="12" name="">
            <a:extLst xmlns:a="http://schemas.openxmlformats.org/drawingml/2006/main">
              <a:ext uri="{FF2B5EF4-FFF2-40B4-BE49-F238E27FC236}">
                <a16:creationId xmlns:a16="http://schemas.microsoft.com/office/drawing/2014/main" id="{6B83C476-EED6-48AC-9666-985B1ABDEA87}"/>
              </a:ext>
            </a:extLst>
          </p:cNvPr>
          <p:cNvSpPr>
            <a:spLocks xmlns:a="http://schemas.openxmlformats.org/drawingml/2006/main" noGrp="1"/>
          </p:cNvSpPr>
          <p:nvPr/>
        </p:nvSpPr>
        <p:spPr>
          <a:xfrm xmlns:a="http://schemas.openxmlformats.org/drawingml/2006/main">
            <a:off x="8382000" y="1571625"/>
            <a:ext cx="297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FBBF24"/>
                </a:solidFill>
                <a:latin typeface="Arial"/>
                <a:ea typeface="Arial"/>
                <a:cs typeface="Arial"/>
              </a:defRPr>
            </a:defPPr>
            <a:lvl1pPr>
              <a:defRPr sz="1650" b="1">
                <a:solidFill>
                  <a:srgbClr val="FBBF24"/>
                </a:solidFill>
                <a:latin typeface="Arial"/>
                <a:ea typeface="Arial"/>
                <a:cs typeface="Arial"/>
              </a:defRPr>
            </a:lvl1pPr>
            <a:lvl2pPr>
              <a:defRPr sz="1650" b="1">
                <a:solidFill>
                  <a:srgbClr val="FBBF24"/>
                </a:solidFill>
                <a:latin typeface="Arial"/>
                <a:ea typeface="Arial"/>
                <a:cs typeface="Arial"/>
              </a:defRPr>
            </a:lvl2pPr>
            <a:lvl3pPr>
              <a:defRPr sz="1650" b="1">
                <a:solidFill>
                  <a:srgbClr val="FBBF24"/>
                </a:solidFill>
                <a:latin typeface="Arial"/>
                <a:ea typeface="Arial"/>
                <a:cs typeface="Arial"/>
              </a:defRPr>
            </a:lvl3pPr>
            <a:lvl4pPr>
              <a:defRPr sz="1650" b="1">
                <a:solidFill>
                  <a:srgbClr val="FBBF24"/>
                </a:solidFill>
                <a:latin typeface="Arial"/>
                <a:ea typeface="Arial"/>
                <a:cs typeface="Arial"/>
              </a:defRPr>
            </a:lvl4pPr>
            <a:lvl5pPr>
              <a:defRPr sz="1650" b="1">
                <a:solidFill>
                  <a:srgbClr val="FBBF24"/>
                </a:solidFill>
                <a:latin typeface="Arial"/>
                <a:ea typeface="Arial"/>
                <a:cs typeface="Arial"/>
              </a:defRPr>
            </a:lvl5pPr>
            <a:lvl6pPr>
              <a:defRPr sz="1650" b="1">
                <a:solidFill>
                  <a:srgbClr val="FBBF24"/>
                </a:solidFill>
                <a:latin typeface="Arial"/>
                <a:ea typeface="Arial"/>
                <a:cs typeface="Arial"/>
              </a:defRPr>
            </a:lvl6pPr>
            <a:lvl7pPr>
              <a:defRPr sz="1650" b="1">
                <a:solidFill>
                  <a:srgbClr val="FBBF24"/>
                </a:solidFill>
                <a:latin typeface="Arial"/>
                <a:ea typeface="Arial"/>
                <a:cs typeface="Arial"/>
              </a:defRPr>
            </a:lvl7pPr>
            <a:lvl8pPr>
              <a:defRPr sz="1650" b="1">
                <a:solidFill>
                  <a:srgbClr val="FBBF24"/>
                </a:solidFill>
                <a:latin typeface="Arial"/>
                <a:ea typeface="Arial"/>
                <a:cs typeface="Arial"/>
              </a:defRPr>
            </a:lvl8pPr>
            <a:lvl9pPr>
              <a:defRPr sz="1650" b="1">
                <a:solidFill>
                  <a:srgbClr val="FBBF24"/>
                </a:solidFill>
                <a:latin typeface="Arial"/>
                <a:ea typeface="Arial"/>
                <a:cs typeface="Arial"/>
              </a:defRPr>
            </a:lvl9pPr>
          </a:lstStyle>
          <a:p xmlns:a="http://schemas.openxmlformats.org/drawingml/2006/main">
            <a:pPr>
              <a:defRPr sz="1650" b="1">
                <a:solidFill>
                  <a:srgbClr val="FBBF24"/>
                </a:solidFill>
                <a:latin typeface="Arial"/>
                <a:ea typeface="Arial"/>
                <a:cs typeface="Arial"/>
              </a:defRPr>
            </a:pPr>
            <a:r>
              <a:rPr sz="1650" b="1">
                <a:solidFill>
                  <a:srgbClr val="FBBF24"/>
                </a:solidFill>
                <a:latin typeface="Arial"/>
                <a:ea typeface="Arial"/>
                <a:cs typeface="Arial"/>
              </a:rPr>
              <a:t>Ranh Giới &amp; Khuyến Nghị</a:t>
            </a:r>
          </a:p>
        </p:txBody>
      </p:sp>
      <p:sp>
        <p:nvSpPr>
          <p:cNvPr id="13" name="">
            <a:extLst xmlns:a="http://schemas.openxmlformats.org/drawingml/2006/main">
              <a:ext uri="{FF2B5EF4-FFF2-40B4-BE49-F238E27FC236}">
                <a16:creationId xmlns:a16="http://schemas.microsoft.com/office/drawing/2014/main" id="{C1BF2F31-35FD-4544-B01E-4BF04081B949}"/>
              </a:ext>
            </a:extLst>
          </p:cNvPr>
          <p:cNvSpPr>
            <a:spLocks xmlns:a="http://schemas.openxmlformats.org/drawingml/2006/main" noGrp="1"/>
          </p:cNvSpPr>
          <p:nvPr/>
        </p:nvSpPr>
        <p:spPr>
          <a:xfrm xmlns:a="http://schemas.openxmlformats.org/drawingml/2006/main">
            <a:off x="8382000" y="2047875"/>
            <a:ext cx="29718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8FAFC"/>
                </a:solidFill>
                <a:latin typeface="Arial"/>
                <a:ea typeface="Arial"/>
                <a:cs typeface="Arial"/>
              </a:defRPr>
            </a:defPPr>
            <a:lvl1pPr>
              <a:defRPr sz="1200" b="0">
                <a:solidFill>
                  <a:srgbClr val="F8FAFC"/>
                </a:solidFill>
                <a:latin typeface="Arial"/>
                <a:ea typeface="Arial"/>
                <a:cs typeface="Arial"/>
              </a:defRPr>
            </a:lvl1pPr>
            <a:lvl2pPr>
              <a:defRPr sz="1200" b="0">
                <a:solidFill>
                  <a:srgbClr val="F8FAFC"/>
                </a:solidFill>
                <a:latin typeface="Arial"/>
                <a:ea typeface="Arial"/>
                <a:cs typeface="Arial"/>
              </a:defRPr>
            </a:lvl2pPr>
            <a:lvl3pPr>
              <a:defRPr sz="1200" b="0">
                <a:solidFill>
                  <a:srgbClr val="F8FAFC"/>
                </a:solidFill>
                <a:latin typeface="Arial"/>
                <a:ea typeface="Arial"/>
                <a:cs typeface="Arial"/>
              </a:defRPr>
            </a:lvl3pPr>
            <a:lvl4pPr>
              <a:defRPr sz="1200" b="0">
                <a:solidFill>
                  <a:srgbClr val="F8FAFC"/>
                </a:solidFill>
                <a:latin typeface="Arial"/>
                <a:ea typeface="Arial"/>
                <a:cs typeface="Arial"/>
              </a:defRPr>
            </a:lvl4pPr>
            <a:lvl5pPr>
              <a:defRPr sz="1200" b="0">
                <a:solidFill>
                  <a:srgbClr val="F8FAFC"/>
                </a:solidFill>
                <a:latin typeface="Arial"/>
                <a:ea typeface="Arial"/>
                <a:cs typeface="Arial"/>
              </a:defRPr>
            </a:lvl5pPr>
            <a:lvl6pPr>
              <a:defRPr sz="1200" b="0">
                <a:solidFill>
                  <a:srgbClr val="F8FAFC"/>
                </a:solidFill>
                <a:latin typeface="Arial"/>
                <a:ea typeface="Arial"/>
                <a:cs typeface="Arial"/>
              </a:defRPr>
            </a:lvl6pPr>
            <a:lvl7pPr>
              <a:defRPr sz="1200" b="0">
                <a:solidFill>
                  <a:srgbClr val="F8FAFC"/>
                </a:solidFill>
                <a:latin typeface="Arial"/>
                <a:ea typeface="Arial"/>
                <a:cs typeface="Arial"/>
              </a:defRPr>
            </a:lvl7pPr>
            <a:lvl8pPr>
              <a:defRPr sz="1200" b="0">
                <a:solidFill>
                  <a:srgbClr val="F8FAFC"/>
                </a:solidFill>
                <a:latin typeface="Arial"/>
                <a:ea typeface="Arial"/>
                <a:cs typeface="Arial"/>
              </a:defRPr>
            </a:lvl8pPr>
            <a:lvl9pPr>
              <a:defRPr sz="1200" b="0">
                <a:solidFill>
                  <a:srgbClr val="F8FAFC"/>
                </a:solidFill>
                <a:latin typeface="Arial"/>
                <a:ea typeface="Arial"/>
                <a:cs typeface="Arial"/>
              </a:defRPr>
            </a:lvl9pPr>
          </a:lstStyle>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Ranh giới cần lưu ý:</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Ảnh in giấy chất lượng thấp hoặc góc quay quá nghiêng (&gt;60°) có thể bị giảm độ tin cậy.</a:t>
            </a:r>
          </a:p>
          <a:p xmlns:a="http://schemas.openxmlformats.org/drawingml/2006/main">
            <a:r>
              <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Tách biệt dữ liệu:</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Model hiện tại được tinh chỉnh chuyên sâu cho Camera USB SC-M200; nếu đổi loại camera khác nên finetune thêm.</a:t>
            </a:r>
          </a:p>
          <a:p xmlns:a="http://schemas.openxmlformats.org/drawingml/2006/main">
            <a:r>
              <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Hướng nâng cấp đề xuất:</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1. Tích hợp kiểm tra cử động tự nhiên (chớp mắt, mỉm cười).</a:t>
            </a:r>
          </a:p>
          <a:p xmlns:a="http://schemas.openxmlformats.org/drawingml/2006/main">
            <a:pPr>
              <a:defRPr sz="1200" b="0">
                <a:solidFill>
                  <a:srgbClr val="F8FAFC"/>
                </a:solidFill>
                <a:latin typeface="Arial"/>
                <a:ea typeface="Arial"/>
                <a:cs typeface="Arial"/>
              </a:defRPr>
            </a:pPr>
            <a:r>
              <a:rPr sz="1200" b="0">
                <a:solidFill>
                  <a:srgbClr val="F8FAFC"/>
                </a:solidFill>
                <a:latin typeface="Arial"/>
                <a:ea typeface="Arial"/>
                <a:cs typeface="Arial"/>
              </a:rPr>
              <a:t>  2. Bổ sung camera cảm biến hồng ngoại (IR) hoặc cảm biến chiều sâu (Depth).</a:t>
            </a:r>
          </a:p>
        </p:txBody>
      </p:sp>
    </p:spTree>
    <p:extLst>
      <p:ext uri="{BB962C8B-B14F-4D97-AF65-F5344CB8AC3E}">
        <p14:creationId xmlns:p14="http://schemas.microsoft.com/office/powerpoint/2010/main" val="9374501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2026-10-20T14:06:47.3680000Z</dcterms:created>
  <dcterms:modified xsi:type="dcterms:W3CDTF">2026-10-20T14:06:47.3680000Z</dcterms:modified>
</coreProperties>
</file>