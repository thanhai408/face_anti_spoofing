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7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Phạm vi: đợt gộp dữ liệu và sửa huấn luyện ngày 01/10. Trước là checkpoint model ngày 30/9 chưa gộp toàn bộ cache. Gộp lần đầu là outputs/merged-20261001 đã giảm chất lượng. Sau là model GN/LN chọn bằng validation và lưu riêng trong merged-corrected-20261001. Rà lại nhãn và số liệu xác nhận báo cáo giảm chất lượng trước đó đúng. Đã giữ các video replay khó, không đổi nhãn hoặc bỏ chúng vì model đoán sai. Các test đã được xem trong phát triển, chưa phải test cuối mới.</a:t>
            </a:r>
          </a:p>
          <a:p>
            <a:endParaRPr/>
          </a:p>
          <a:p>
            <a:r>
              <a:t>Nguồn trong dự án:</a:t>
            </a:r>
          </a:p>
          <a:p>
            <a:r>
              <a:t>C:/Users/ASUS/Downloads/Face_Anti_spoofing/outputs/merged-corrected-20261001/evaluation.json</a:t>
            </a:r>
          </a:p>
          <a:p>
            <a:r>
              <a:t>C:/Users/ASUS/Downloads/Face_Anti_spoofing/outputs/merged-corrected-20261001/report.md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trước có 7.029 ảnh, chỉ 4.113 dùng train. Bộ gộp có 28.957 ảnh: train 20.404, validation 3.697, test 4.856. Cache gốc 24.221 giữ nguyên. Loại khỏi bộ gộp 189 ảnh cũ gồm 158 lóa và 31 thiếu nét, giữ 24.032; không xóa ảnh gốc. Lấy 5.138 khung ứng viên trên 56 video Drive, giữ 4.925, không giới hạn 100 khung/video. 415 ảnh YuNet của 5 video cũ là benchmark bổ sung khác pixel cache SSD 3.343 ảnh của cùng nguồn video trong test chung, không cộng vào 28.957. Gộp vẫn tách train/validation/test theo video. Người cũ có thể giao giữa tập, mã người nguồn mới dựa vào tên thư mục.</a:t>
            </a:r>
          </a:p>
          <a:p>
            <a:endParaRPr/>
          </a:p>
          <a:p>
            <a:r>
              <a:t>Nguồn trong dự án:</a:t>
            </a:r>
          </a:p>
          <a:p>
            <a:r>
              <a:t>C:/Users/ASUS/Downloads/Face_Anti_spoofing/dataset/retrain-20260930/manifest.json</a:t>
            </a:r>
          </a:p>
          <a:p>
            <a:r>
              <a:t>C:/Users/ASUS/Downloads/Face_Anti_spoofing/dataset/merged-20261001/manifest.json</a:t>
            </a:r>
          </a:p>
          <a:p>
            <a:r>
              <a:t>C:/Users/ASUS/Downloads/Face_Anti_spoofing/outputs/merged-corrected-20261001/evaluation.json</a:t>
            </a:r>
          </a:p>
          <a:p>
            <a:r>
              <a:t>C:/Users/ASUS/Downloads/Face_Anti_spoofing/outputs/merged-corrected-20261001/report.md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Lần gộp đầu, ảnh cũ chiếm 88,36% đầu vào nhưng nguồn mới nhận 54,77% tổng trọng số loss. Trọng số từng ảnh chênh tới 52,75 lần. Đây là điểm bất hợp lý trong cách train. Em đã thử chỉ hiệu chỉnh thống kê BatchNorm, nhưng validation kém hơn nên loại cách sửa đó. Chưa chứng minh BatchNorm là nguyên nhân duy nhất.</a:t>
            </a:r>
          </a:p>
          <a:p>
            <a:endParaRPr/>
          </a:p>
          <a:p>
            <a:r>
              <a:t>Hai phương án mới đều khởi tạo từ đầu, seed 42. Warmup đi qua đủ 20.404 ảnh train một lần. Sau đó mỗi epoch có 638 batch, mỗi batch lấy 8 ảnh cho từng nhóm nguồn và nhãn. Em lấy lượt đều theo video, giữ vòng ảnh qua các epoch và không cộng thêm trọng số loss.</a:t>
            </a:r>
          </a:p>
          <a:p>
            <a:endParaRPr/>
          </a:p>
          <a:p>
            <a:r>
              <a:t>Phương án giữ BatchNorm chạy 14 epoch cân bằng, chọn epoch 2, loss validation dùng để chọn là 0,08422. Phương án GroupNorm/LayerNorm chạy 20 epoch cân bằng, chọn epoch 8, loss tương ứng 0,07089. Em chọn phương án thứ hai bằng validation rồi mới chấm test. Tổng số lượt chạy là 21, gồm 1 warmup. Checkpoint epoch 8 là epoch cân bằng, tương ứng lượt thứ 9 nếu cộng warmup. GroupNorm thay 5 lớp BatchNorm sau tích chập, LayerNorm thay lớp BatchNorm sau Dense.</a:t>
            </a:r>
          </a:p>
          <a:p>
            <a:endParaRPr/>
          </a:p>
          <a:p>
            <a:r>
              <a:t>Nguồn kỹ thuật: https://keras.io/api/layers/normalization_layers/batch_normalization/ và https://keras.io/api/layers/normalization_layers/group_normalization/.</a:t>
            </a:r>
          </a:p>
          <a:p>
            <a:endParaRPr/>
          </a:p>
          <a:p>
            <a:r>
              <a:t>Nguồn trong dự án:</a:t>
            </a:r>
          </a:p>
          <a:p>
            <a:r>
              <a:t>C:/Users/ASUS/Downloads/Face_Anti_spoofing/outputs/merged-corrected-20261001/training_summary.json</a:t>
            </a:r>
          </a:p>
          <a:p>
            <a:r>
              <a:t>C:/Users/ASUS/Downloads/Face_Anti_spoofing/outputs/merged-corrected-20261001/selection.json</a:t>
            </a:r>
          </a:p>
          <a:p>
            <a:r>
              <a:t>C:/Users/ASUS/Downloads/Face_Anti_spoofing/outputs/merged-investigation-20261001/independent_data_audit.json</a:t>
            </a:r>
          </a:p>
          <a:p>
            <a:r>
              <a:t>C:/Users/ASUS/Downloads/Face_Anti_spoofing/outputs/merged-investigation-20261001/bn/diagnosis.json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Precision, recall và F1 là trung bình macro cho hai lớp fake và real, chọn lớp có điểm cao nhất trên từng ảnh cắt. Em chấm lại cả ba model trên cùng bộ gộp. Model trước chỉ học 4.113 ảnh của bộ ngày 30/9, sau đó em nạp lại để chấm trên bộ chung. Loss trong bảng là cross-entropy trung bình ảnh gốc khi suy luận, không augmentation và không trọng số. Train có 20.404 ảnh, validation 3.697 và test 4.856.</a:t>
            </a:r>
          </a:p>
          <a:p>
            <a:endParaRPr/>
          </a:p>
          <a:p>
            <a:r>
              <a:t>Model trước từng học nguồn của bốn video hiện nằm trong validation cũ, nên điểm validation trước có phơi nhiễm nguồn. Test có 2.704 ảnh giả và 2.152 ảnh thật. Số ảnh giả thành thật lần lượt là 213, 437 và 120, tương ứng 7,88%, 16,16% và 4,44%. Số ảnh thật thành giả là 176, 54 và 112, tương ứng 8,18%, 2,51% và 5,20%. ACER là 8,03%, 9,34% và 4,82%.</a:t>
            </a:r>
          </a:p>
          <a:p>
            <a:endParaRPr/>
          </a:p>
          <a:p>
            <a:r>
              <a:t>F1 test chung tăng từ 91,90% trước gộp lên 95,16% sau sửa. Kết quả này chưa bảo đảm mọi nguồn đều tốt hơn. Đây là lỗi phân loại ảnh cắt, khác tỷ lệ chấp nhận sai của API có tổng hợp nhiều khung. Ngưỡng và checkpoint của model mới không chọn theo test.</a:t>
            </a:r>
          </a:p>
          <a:p>
            <a:endParaRPr/>
          </a:p>
          <a:p>
            <a:r>
              <a:t>Nguồn trong dự án:</a:t>
            </a:r>
          </a:p>
          <a:p>
            <a:r>
              <a:t>C:/Users/ASUS/Downloads/Face_Anti_spoofing/outputs/merged-corrected-20261001/evaluation.json</a:t>
            </a:r>
          </a:p>
          <a:p>
            <a:r>
              <a:t>C:/Users/ASUS/Downloads/Face_Anti_spoofing/outputs/merged-corrected-20261001/report.md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cũ có 3.343 ảnh từ 5 video. F1 theo ảnh tăng từ 89,02% lên 94,66%. Nguồn Drive có 1.513 ảnh từ 16 video. F1 theo ảnh giảm từ 97,81% xuống 96,02%, tỷ lệ giả thành thật tăng từ 4,47% lên 7,98%. Cải thiện điểm chung chủ yếu đến từ ảnh cũ.</a:t>
            </a:r>
          </a:p>
          <a:p>
            <a:endParaRPr/>
          </a:p>
          <a:p>
            <a:r>
              <a:t>Replay phát lại 12 giây đầu của 16 video mới, tối đa 5 mẫu mỗi giây, qua JPEG của SDK và pipeline thật. Cả ba mốc dùng cùng 942 khung. Trước gộp có 741 kết luận đúng, 0 sai và 201 chưa kết luận. Gộp lần đầu có 622 đúng, 16 sai và 304 chưa kết luận. Sau sửa có 714 đúng, 0 sai và 228 chưa kết luận. Tỷ lệ đưa ra kết luận là 78,66%, 67,73% và 75,80%. Khung chưa kết luận không tính là đúng. Vì vậy, chưa thể nói camera đã tốt hơn toàn diện.</a:t>
            </a:r>
          </a:p>
          <a:p>
            <a:endParaRPr/>
          </a:p>
          <a:p>
            <a:r>
              <a:t>Em đã gọi HTTP local trên 4 JPEG, kiểm health, analyze và session cùng hash ảnh/model. Đây là kiểm tra tích hợp. Benchmark một ảnh lặp 10 lần có median HTTP 40.61 ms và gọi trực tiếp 37.84 ms. Cả 10 phản hồi là uncertain. Số đo này không chứng minh độ chính xác hoặc FPS camera. Server thử ở cổng 8001 đã dừng, model mặc định vẫn giữ.</a:t>
            </a:r>
          </a:p>
          <a:p>
            <a:endParaRPr/>
          </a:p>
          <a:p>
            <a:r>
              <a:t>Test đã dùng trong phát triển. Người cũ có thể xuất hiện ở nhiều tập, nguồn mới dùng mã thư mục cung cấp, cách quay và codec còn lệch theo nhãn. Bước tiếp theo là thu người, thiết bị và ánh sáng mới, quay thật và giả cùng điều kiện. Đưa API ra ngoài local và tích hợp nhận diện danh tính là kế hoạch tiếp theo.</a:t>
            </a:r>
          </a:p>
          <a:p>
            <a:endParaRPr/>
          </a:p>
          <a:p>
            <a:r>
              <a:t>Nguồn trong dự án:</a:t>
            </a:r>
          </a:p>
          <a:p>
            <a:r>
              <a:t>C:/Users/ASUS/Downloads/Face_Anti_spoofing/outputs/merged-corrected-20261001/evaluation.json</a:t>
            </a:r>
          </a:p>
          <a:p>
            <a:r>
              <a:t>C:/Users/ASUS/Downloads/Face_Anti_spoofing/outputs/merged-corrected-20261001/report.md</a:t>
            </a:r>
          </a:p>
          <a:p>
            <a:r>
              <a:t>C:/Users/ASUS/Downloads/Face_Anti_spoofing/outputs/merged-corrected-20261001/continuous_runtime_comparison.json</a:t>
            </a:r>
          </a:p>
          <a:p>
            <a:r>
              <a:t>C:/Users/ASUS/Downloads/Face_Anti_spoofing/outputs/merged-corrected-20261001/http_smoke.json</a:t>
            </a:r>
          </a:p>
          <a:p>
            <a:r>
              <a:t>C:/Users/ASUS/Downloads/Face_Anti_spoofing/outputs/merged-corrected-20261001/http_benchmark.json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B2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2BCBF5-79D6-40F5-A8E6-188B6FE2D61B}"/>
              </a:ext>
            </a:extLst>
          </p:cNvPr>
          <p:cNvSpPr>
            <a:spLocks noGrp="1"/>
          </p:cNvSpPr>
          <p:nvPr/>
        </p:nvSpPr>
        <p:spPr>
          <a:xfrm>
            <a:off x="11239500" y="6429375"/>
            <a:ext cx="381000" cy="238125"/>
          </a:xfrm>
          <a:prstGeom prst="rect">
            <a:avLst/>
          </a:prstGeom>
          <a:noFill/>
          <a:ln w="0">
            <a:noFill/>
          </a:ln>
        </p:spPr>
        <p:txBody>
          <a:bodyPr lIns="0" tIns="0" rIns="0" bIns="0" anchor="t">
            <a:noAutofit/>
          </a:bodyPr>
          <a:lstStyle/>
          <a:p>
            <a:pPr algn="r">
              <a:defRPr sz="1350" b="0">
                <a:solidFill>
                  <a:srgbClr val="BBC9DA"/>
                </a:solidFill>
                <a:latin typeface="Arial"/>
                <a:ea typeface="Arial"/>
                <a:cs typeface="Arial"/>
              </a:defRPr>
            </a:pPr>
            <a:r>
              <a:rPr sz="1350" b="0">
                <a:solidFill>
                  <a:srgbClr val="BBC9DA"/>
                </a:solidFill>
                <a:latin typeface="Arial"/>
                <a:ea typeface="Arial"/>
                <a:cs typeface="Arial"/>
              </a:rPr>
              <a:t>01</a:t>
            </a:r>
          </a:p>
        </p:txBody>
      </p:sp>
      <p:sp>
        <p:nvSpPr>
          <p:cNvPr id="2" name="Rectangle 1">
            <a:extLst>
              <a:ext uri="{FF2B5EF4-FFF2-40B4-BE49-F238E27FC236}">
                <a16:creationId xmlns:a16="http://schemas.microsoft.com/office/drawing/2014/main" id="{74918AB8-DF63-4A73-A739-BA95394135F0}"/>
              </a:ext>
            </a:extLst>
          </p:cNvPr>
          <p:cNvSpPr>
            <a:spLocks noGrp="1"/>
          </p:cNvSpPr>
          <p:nvPr/>
        </p:nvSpPr>
        <p:spPr>
          <a:xfrm>
            <a:off x="609600" y="714375"/>
            <a:ext cx="10972800" cy="1466850"/>
          </a:xfrm>
          <a:prstGeom prst="rect">
            <a:avLst/>
          </a:prstGeom>
          <a:noFill/>
          <a:ln w="0">
            <a:noFill/>
          </a:ln>
        </p:spPr>
        <p:txBody>
          <a:bodyPr lIns="0" tIns="0" rIns="0" bIns="0" anchor="t">
            <a:noAutofit/>
          </a:bodyPr>
          <a:lstStyle/>
          <a:p>
            <a:pPr algn="l">
              <a:defRPr sz="4200" b="1">
                <a:solidFill>
                  <a:srgbClr val="78C7FF"/>
                </a:solidFill>
                <a:latin typeface="Arial"/>
                <a:ea typeface="Arial"/>
                <a:cs typeface="Arial"/>
              </a:defRPr>
            </a:pPr>
            <a:r>
              <a:rPr sz="4200" b="1">
                <a:solidFill>
                  <a:srgbClr val="78C7FF"/>
                </a:solidFill>
                <a:latin typeface="Arial"/>
                <a:ea typeface="Arial"/>
                <a:cs typeface="Arial"/>
              </a:rPr>
              <a:t>Rà soát dự án và</a:t>
            </a:r>
          </a:p>
          <a:p>
            <a:pPr algn="l">
              <a:defRPr sz="4200" b="1">
                <a:solidFill>
                  <a:srgbClr val="78C7FF"/>
                </a:solidFill>
                <a:latin typeface="Arial"/>
                <a:ea typeface="Arial"/>
                <a:cs typeface="Arial"/>
              </a:defRPr>
            </a:pPr>
            <a:r>
              <a:rPr sz="4200" b="1">
                <a:solidFill>
                  <a:srgbClr val="78C7FF"/>
                </a:solidFill>
                <a:latin typeface="Arial"/>
                <a:ea typeface="Arial"/>
                <a:cs typeface="Arial"/>
              </a:rPr>
              <a:t>huấn luyện lại model</a:t>
            </a:r>
          </a:p>
        </p:txBody>
      </p:sp>
      <p:sp>
        <p:nvSpPr>
          <p:cNvPr id="3" name="Rectangle 2">
            <a:extLst>
              <a:ext uri="{FF2B5EF4-FFF2-40B4-BE49-F238E27FC236}">
                <a16:creationId xmlns:a16="http://schemas.microsoft.com/office/drawing/2014/main" id="{875FC87A-8D7C-42D8-ABFE-E7BBE9B54C98}"/>
              </a:ext>
            </a:extLst>
          </p:cNvPr>
          <p:cNvSpPr>
            <a:spLocks noGrp="1"/>
          </p:cNvSpPr>
          <p:nvPr/>
        </p:nvSpPr>
        <p:spPr>
          <a:xfrm>
            <a:off x="609600" y="2476500"/>
            <a:ext cx="10972800" cy="781050"/>
          </a:xfrm>
          <a:prstGeom prst="rect">
            <a:avLst/>
          </a:prstGeom>
          <a:noFill/>
          <a:ln w="0">
            <a:noFill/>
          </a:ln>
        </p:spPr>
        <p:txBody>
          <a:bodyPr lIns="0" tIns="0" rIns="0" bIns="0" anchor="t">
            <a:noAutofit/>
          </a:bodyPr>
          <a:lstStyle/>
          <a:p>
            <a:pPr algn="l">
              <a:defRPr sz="2250" b="0">
                <a:solidFill>
                  <a:srgbClr val="BBC9DA"/>
                </a:solidFill>
                <a:latin typeface="Arial"/>
                <a:ea typeface="Arial"/>
                <a:cs typeface="Arial"/>
              </a:defRPr>
            </a:pPr>
            <a:r>
              <a:rPr sz="2250" b="0">
                <a:solidFill>
                  <a:srgbClr val="BBC9DA"/>
                </a:solidFill>
                <a:latin typeface="Arial"/>
                <a:ea typeface="Arial"/>
                <a:cs typeface="Arial"/>
              </a:rPr>
              <a:t>Báo cáo tiến độ Face Anti-Spoofing</a:t>
            </a:r>
          </a:p>
          <a:p>
            <a:pPr algn="l">
              <a:defRPr sz="2250" b="0">
                <a:solidFill>
                  <a:srgbClr val="BBC9DA"/>
                </a:solidFill>
                <a:latin typeface="Arial"/>
                <a:ea typeface="Arial"/>
                <a:cs typeface="Arial"/>
              </a:defRPr>
            </a:pPr>
            <a:r>
              <a:rPr sz="2250" b="0">
                <a:solidFill>
                  <a:srgbClr val="BBC9DA"/>
                </a:solidFill>
                <a:latin typeface="Arial"/>
                <a:ea typeface="Arial"/>
                <a:cs typeface="Arial"/>
              </a:rPr>
              <a:t>01/10/2026</a:t>
            </a:r>
          </a:p>
        </p:txBody>
      </p:sp>
      <p:sp>
        <p:nvSpPr>
          <p:cNvPr id="4" name="Rectangle 3">
            <a:extLst>
              <a:ext uri="{FF2B5EF4-FFF2-40B4-BE49-F238E27FC236}">
                <a16:creationId xmlns:a16="http://schemas.microsoft.com/office/drawing/2014/main" id="{BCF0E4D4-7C5A-470D-AA26-E06ABDED154D}"/>
              </a:ext>
            </a:extLst>
          </p:cNvPr>
          <p:cNvSpPr>
            <a:spLocks noGrp="1"/>
          </p:cNvSpPr>
          <p:nvPr/>
        </p:nvSpPr>
        <p:spPr>
          <a:xfrm>
            <a:off x="609600" y="3762375"/>
            <a:ext cx="10972800" cy="457200"/>
          </a:xfrm>
          <a:prstGeom prst="rect">
            <a:avLst/>
          </a:prstGeom>
          <a:noFill/>
          <a:ln w="0">
            <a:noFill/>
          </a:ln>
        </p:spPr>
        <p:txBody>
          <a:bodyPr lIns="0" tIns="0" rIns="0" bIns="0" anchor="t">
            <a:noAutofit/>
          </a:bodyPr>
          <a:lstStyle/>
          <a:p>
            <a:pPr algn="l">
              <a:defRPr sz="2250" b="0">
                <a:solidFill>
                  <a:srgbClr val="F2F5FA"/>
                </a:solidFill>
                <a:latin typeface="Arial"/>
                <a:ea typeface="Arial"/>
                <a:cs typeface="Arial"/>
              </a:defRPr>
            </a:pPr>
            <a:r>
              <a:rPr sz="2250" b="0">
                <a:solidFill>
                  <a:srgbClr val="F2F5FA"/>
                </a:solidFill>
                <a:latin typeface="Arial"/>
                <a:ea typeface="Arial"/>
                <a:cs typeface="Arial"/>
              </a:rPr>
              <a:t>Em đã kiểm tra nhãn, cách chia dữ liệu và các chỉ số.</a:t>
            </a:r>
          </a:p>
        </p:txBody>
      </p:sp>
      <p:sp>
        <p:nvSpPr>
          <p:cNvPr id="5" name="Rectangle 4">
            <a:extLst>
              <a:ext uri="{FF2B5EF4-FFF2-40B4-BE49-F238E27FC236}">
                <a16:creationId xmlns:a16="http://schemas.microsoft.com/office/drawing/2014/main" id="{CE11BDD1-7CC4-4156-BA1C-7DD56BFC8772}"/>
              </a:ext>
            </a:extLst>
          </p:cNvPr>
          <p:cNvSpPr>
            <a:spLocks noGrp="1"/>
          </p:cNvSpPr>
          <p:nvPr/>
        </p:nvSpPr>
        <p:spPr>
          <a:xfrm>
            <a:off x="609600" y="4352925"/>
            <a:ext cx="10972800" cy="457200"/>
          </a:xfrm>
          <a:prstGeom prst="rect">
            <a:avLst/>
          </a:prstGeom>
          <a:noFill/>
          <a:ln w="0">
            <a:noFill/>
          </a:ln>
        </p:spPr>
        <p:txBody>
          <a:bodyPr lIns="0" tIns="0" rIns="0" bIns="0" anchor="t">
            <a:noAutofit/>
          </a:bodyPr>
          <a:lstStyle/>
          <a:p>
            <a:pPr algn="l">
              <a:defRPr sz="2250" b="0">
                <a:solidFill>
                  <a:srgbClr val="F2F5FA"/>
                </a:solidFill>
                <a:latin typeface="Arial"/>
                <a:ea typeface="Arial"/>
                <a:cs typeface="Arial"/>
              </a:defRPr>
            </a:pPr>
            <a:r>
              <a:rPr sz="2250" b="0">
                <a:solidFill>
                  <a:srgbClr val="F2F5FA"/>
                </a:solidFill>
                <a:latin typeface="Arial"/>
                <a:ea typeface="Arial"/>
                <a:cs typeface="Arial"/>
              </a:rPr>
              <a:t>Em đã sửa cách train và chạy thử model qua API local.</a:t>
            </a:r>
          </a:p>
        </p:txBody>
      </p:sp>
      <p:sp>
        <p:nvSpPr>
          <p:cNvPr id="6" name="Rectangle 5">
            <a:extLst>
              <a:ext uri="{FF2B5EF4-FFF2-40B4-BE49-F238E27FC236}">
                <a16:creationId xmlns:a16="http://schemas.microsoft.com/office/drawing/2014/main" id="{81790462-7EA2-40E6-B931-8EC270731F41}"/>
              </a:ext>
            </a:extLst>
          </p:cNvPr>
          <p:cNvSpPr>
            <a:spLocks noGrp="1"/>
          </p:cNvSpPr>
          <p:nvPr/>
        </p:nvSpPr>
        <p:spPr>
          <a:xfrm>
            <a:off x="609600" y="5419725"/>
            <a:ext cx="10972800" cy="457200"/>
          </a:xfrm>
          <a:prstGeom prst="rect">
            <a:avLst/>
          </a:prstGeom>
          <a:noFill/>
          <a:ln w="0">
            <a:noFill/>
          </a:ln>
        </p:spPr>
        <p:txBody>
          <a:bodyPr lIns="0" tIns="0" rIns="0" bIns="0" anchor="t">
            <a:noAutofit/>
          </a:bodyPr>
          <a:lstStyle/>
          <a:p>
            <a:pPr algn="l">
              <a:defRPr sz="2100" b="1">
                <a:solidFill>
                  <a:srgbClr val="65D6AA"/>
                </a:solidFill>
                <a:latin typeface="Arial"/>
                <a:ea typeface="Arial"/>
                <a:cs typeface="Arial"/>
              </a:defRPr>
            </a:pPr>
            <a:r>
              <a:rPr sz="2100" b="1">
                <a:solidFill>
                  <a:srgbClr val="65D6AA"/>
                </a:solidFill>
                <a:latin typeface="Arial"/>
                <a:ea typeface="Arial"/>
                <a:cs typeface="Arial"/>
              </a:rPr>
              <a:t>So sánh ba mốc: trước gộp, gộp lần đầu và sau sửa.</a:t>
            </a:r>
          </a:p>
        </p:txBody>
      </p:sp>
    </p:spTree>
    <p:extLst>
      <p:ext uri="{BB962C8B-B14F-4D97-AF65-F5344CB8AC3E}">
        <p14:creationId xmlns:p14="http://schemas.microsoft.com/office/powerpoint/2010/main" val="25423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B2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78B226-6079-4A9F-933B-2EB84CC6B916}"/>
              </a:ext>
            </a:extLst>
          </p:cNvPr>
          <p:cNvSpPr>
            <a:spLocks noGrp="1"/>
          </p:cNvSpPr>
          <p:nvPr/>
        </p:nvSpPr>
        <p:spPr>
          <a:xfrm>
            <a:off x="609600" y="457200"/>
            <a:ext cx="10972800" cy="609600"/>
          </a:xfrm>
          <a:prstGeom prst="rect">
            <a:avLst/>
          </a:prstGeom>
          <a:noFill/>
          <a:ln w="0">
            <a:noFill/>
          </a:ln>
        </p:spPr>
        <p:txBody>
          <a:bodyPr lIns="0" tIns="0" rIns="0" bIns="0" anchor="t">
            <a:noAutofit/>
          </a:bodyPr>
          <a:lstStyle/>
          <a:p>
            <a:pPr algn="l">
              <a:defRPr sz="3300" b="1">
                <a:solidFill>
                  <a:srgbClr val="F2F5FA"/>
                </a:solidFill>
                <a:latin typeface="Arial"/>
                <a:ea typeface="Arial"/>
                <a:cs typeface="Arial"/>
              </a:defRPr>
            </a:pPr>
            <a:r>
              <a:rPr sz="3300" b="1">
                <a:solidFill>
                  <a:srgbClr val="F2F5FA"/>
                </a:solidFill>
                <a:latin typeface="Arial"/>
                <a:ea typeface="Arial"/>
                <a:cs typeface="Arial"/>
              </a:rPr>
              <a:t>Dữ liệu trước và sau gộp</a:t>
            </a:r>
          </a:p>
        </p:txBody>
      </p:sp>
      <p:sp>
        <p:nvSpPr>
          <p:cNvPr id="2" name="Rectangle 1">
            <a:extLst>
              <a:ext uri="{FF2B5EF4-FFF2-40B4-BE49-F238E27FC236}">
                <a16:creationId xmlns:a16="http://schemas.microsoft.com/office/drawing/2014/main" id="{17262808-5514-4463-B87B-F7CBF54A17B9}"/>
              </a:ext>
            </a:extLst>
          </p:cNvPr>
          <p:cNvSpPr>
            <a:spLocks noGrp="1"/>
          </p:cNvSpPr>
          <p:nvPr/>
        </p:nvSpPr>
        <p:spPr>
          <a:xfrm>
            <a:off x="609600" y="1123950"/>
            <a:ext cx="10972800" cy="342900"/>
          </a:xfrm>
          <a:prstGeom prst="rect">
            <a:avLst/>
          </a:prstGeom>
          <a:noFill/>
          <a:ln w="0">
            <a:noFill/>
          </a:ln>
        </p:spPr>
        <p:txBody>
          <a:bodyPr lIns="0" tIns="0" rIns="0" bIns="0" anchor="t">
            <a:noAutofit/>
          </a:bodyPr>
          <a:lstStyle/>
          <a:p>
            <a:pPr algn="l">
              <a:defRPr sz="1950" b="0">
                <a:solidFill>
                  <a:srgbClr val="78C7FF"/>
                </a:solidFill>
                <a:latin typeface="Arial"/>
                <a:ea typeface="Arial"/>
                <a:cs typeface="Arial"/>
              </a:defRPr>
            </a:pPr>
            <a:r>
              <a:rPr sz="1950" b="0">
                <a:solidFill>
                  <a:srgbClr val="78C7FF"/>
                </a:solidFill>
                <a:latin typeface="Arial"/>
                <a:ea typeface="Arial"/>
                <a:cs typeface="Arial"/>
              </a:rPr>
              <a:t>Bộ 30/9 chưa gộp toàn bộ ảnh cũ. Bộ 01/10 dùng cả hai nguồn.</a:t>
            </a:r>
          </a:p>
        </p:txBody>
      </p:sp>
      <p:sp>
        <p:nvSpPr>
          <p:cNvPr id="3" name="Rectangle 2">
            <a:extLst>
              <a:ext uri="{FF2B5EF4-FFF2-40B4-BE49-F238E27FC236}">
                <a16:creationId xmlns:a16="http://schemas.microsoft.com/office/drawing/2014/main" id="{B3561CD8-FD88-47F5-81F4-A3ABD5B804A7}"/>
              </a:ext>
            </a:extLst>
          </p:cNvPr>
          <p:cNvSpPr>
            <a:spLocks noGrp="1"/>
          </p:cNvSpPr>
          <p:nvPr/>
        </p:nvSpPr>
        <p:spPr>
          <a:xfrm>
            <a:off x="11239500" y="6429375"/>
            <a:ext cx="381000" cy="238125"/>
          </a:xfrm>
          <a:prstGeom prst="rect">
            <a:avLst/>
          </a:prstGeom>
          <a:noFill/>
          <a:ln w="0">
            <a:noFill/>
          </a:ln>
        </p:spPr>
        <p:txBody>
          <a:bodyPr lIns="0" tIns="0" rIns="0" bIns="0" anchor="t">
            <a:noAutofit/>
          </a:bodyPr>
          <a:lstStyle/>
          <a:p>
            <a:pPr algn="r">
              <a:defRPr sz="1350" b="0">
                <a:solidFill>
                  <a:srgbClr val="BBC9DA"/>
                </a:solidFill>
                <a:latin typeface="Arial"/>
                <a:ea typeface="Arial"/>
                <a:cs typeface="Arial"/>
              </a:defRPr>
            </a:pPr>
            <a:r>
              <a:rPr sz="1350" b="0">
                <a:solidFill>
                  <a:srgbClr val="BBC9DA"/>
                </a:solidFill>
                <a:latin typeface="Arial"/>
                <a:ea typeface="Arial"/>
                <a:cs typeface="Arial"/>
              </a:rPr>
              <a:t>02</a:t>
            </a:r>
          </a:p>
        </p:txBody>
      </p:sp>
      <p:graphicFrame>
        <p:nvGraphicFramePr>
          <p:cNvPr id="11" name="Table 10"/>
          <p:cNvGraphicFramePr/>
          <p:nvPr/>
        </p:nvGraphicFramePr>
        <p:xfrm>
          <a:off x="609600" y="1704975"/>
          <a:ext cx="10972800" cy="2800350"/>
        </p:xfrm>
        <a:graphic>
          <a:graphicData uri="http://schemas.openxmlformats.org/drawingml/2006/table">
            <a:tbl>
              <a:tblPr/>
              <a:tblGrid>
                <a:gridCol w="42672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466725">
                <a:tc>
                  <a:txBody>
                    <a:bodyPr/>
                    <a:lstStyle/>
                    <a:p>
                      <a:pPr algn="l"/>
                      <a:r>
                        <a:rPr sz="2025" b="1">
                          <a:solidFill>
                            <a:srgbClr val="78C7FF"/>
                          </a:solidFill>
                          <a:latin typeface="Arial"/>
                          <a:ea typeface="Arial"/>
                          <a:cs typeface="Arial"/>
                        </a:rPr>
                        <a:t>Tập</a:t>
                      </a:r>
                    </a:p>
                  </a:txBody>
                  <a:tcPr anchor="ctr">
                    <a:solidFill>
                      <a:srgbClr val="213A54"/>
                    </a:solidFill>
                  </a:tcPr>
                </a:tc>
                <a:tc>
                  <a:txBody>
                    <a:bodyPr/>
                    <a:lstStyle/>
                    <a:p>
                      <a:pPr algn="l"/>
                      <a:r>
                        <a:rPr sz="2025" b="1">
                          <a:solidFill>
                            <a:srgbClr val="78C7FF"/>
                          </a:solidFill>
                          <a:latin typeface="Arial"/>
                          <a:ea typeface="Arial"/>
                          <a:cs typeface="Arial"/>
                        </a:rPr>
                        <a:t>Trước gộp 30/9</a:t>
                      </a:r>
                    </a:p>
                  </a:txBody>
                  <a:tcPr anchor="ctr">
                    <a:solidFill>
                      <a:srgbClr val="213A54"/>
                    </a:solidFill>
                  </a:tcPr>
                </a:tc>
                <a:tc>
                  <a:txBody>
                    <a:bodyPr/>
                    <a:lstStyle/>
                    <a:p>
                      <a:pPr algn="l"/>
                      <a:r>
                        <a:rPr sz="2025" b="1">
                          <a:solidFill>
                            <a:srgbClr val="78C7FF"/>
                          </a:solidFill>
                          <a:latin typeface="Arial"/>
                          <a:ea typeface="Arial"/>
                          <a:cs typeface="Arial"/>
                        </a:rPr>
                        <a:t>Bộ gộp 01/10</a:t>
                      </a:r>
                    </a:p>
                  </a:txBody>
                  <a:tcPr anchor="ctr">
                    <a:solidFill>
                      <a:srgbClr val="213A54"/>
                    </a:solidFill>
                  </a:tcPr>
                </a:tc>
                <a:extLst>
                  <a:ext uri="{0D108BD9-81ED-4DB2-BD59-A6C34878D82A}">
                    <a16:rowId xmlns:a16="http://schemas.microsoft.com/office/drawing/2014/main" val="10000"/>
                  </a:ext>
                </a:extLst>
              </a:tr>
              <a:tr h="466725">
                <a:tc>
                  <a:txBody>
                    <a:bodyPr/>
                    <a:lstStyle/>
                    <a:p>
                      <a:pPr algn="l"/>
                      <a:r>
                        <a:rPr sz="2025" b="0">
                          <a:solidFill>
                            <a:srgbClr val="F2F5FA"/>
                          </a:solidFill>
                          <a:latin typeface="Arial"/>
                          <a:ea typeface="Arial"/>
                          <a:cs typeface="Arial"/>
                        </a:rPr>
                        <a:t>Train</a:t>
                      </a:r>
                    </a:p>
                  </a:txBody>
                  <a:tcPr anchor="ctr">
                    <a:solidFill>
                      <a:srgbClr val="0E1B2C"/>
                    </a:solidFill>
                  </a:tcPr>
                </a:tc>
                <a:tc>
                  <a:txBody>
                    <a:bodyPr/>
                    <a:lstStyle/>
                    <a:p>
                      <a:pPr algn="l"/>
                      <a:r>
                        <a:rPr sz="2025" b="0">
                          <a:solidFill>
                            <a:srgbClr val="F2F5FA"/>
                          </a:solidFill>
                          <a:latin typeface="Arial"/>
                          <a:ea typeface="Arial"/>
                          <a:cs typeface="Arial"/>
                        </a:rPr>
                        <a:t>4.113</a:t>
                      </a:r>
                    </a:p>
                  </a:txBody>
                  <a:tcPr anchor="ctr">
                    <a:solidFill>
                      <a:srgbClr val="0E1B2C"/>
                    </a:solidFill>
                  </a:tcPr>
                </a:tc>
                <a:tc>
                  <a:txBody>
                    <a:bodyPr/>
                    <a:lstStyle/>
                    <a:p>
                      <a:pPr algn="l"/>
                      <a:r>
                        <a:rPr sz="2025" b="0">
                          <a:solidFill>
                            <a:srgbClr val="F2F5FA"/>
                          </a:solidFill>
                          <a:latin typeface="Arial"/>
                          <a:ea typeface="Arial"/>
                          <a:cs typeface="Arial"/>
                        </a:rPr>
                        <a:t>20.404</a:t>
                      </a:r>
                    </a:p>
                  </a:txBody>
                  <a:tcPr anchor="ctr">
                    <a:solidFill>
                      <a:srgbClr val="0E1B2C"/>
                    </a:solidFill>
                  </a:tcPr>
                </a:tc>
                <a:extLst>
                  <a:ext uri="{0D108BD9-81ED-4DB2-BD59-A6C34878D82A}">
                    <a16:rowId xmlns:a16="http://schemas.microsoft.com/office/drawing/2014/main" val="10001"/>
                  </a:ext>
                </a:extLst>
              </a:tr>
              <a:tr h="466725">
                <a:tc>
                  <a:txBody>
                    <a:bodyPr/>
                    <a:lstStyle/>
                    <a:p>
                      <a:pPr algn="l"/>
                      <a:r>
                        <a:rPr sz="2025" b="0">
                          <a:solidFill>
                            <a:srgbClr val="F2F5FA"/>
                          </a:solidFill>
                          <a:latin typeface="Arial"/>
                          <a:ea typeface="Arial"/>
                          <a:cs typeface="Arial"/>
                        </a:rPr>
                        <a:t>Validation</a:t>
                      </a:r>
                    </a:p>
                  </a:txBody>
                  <a:tcPr anchor="ctr">
                    <a:solidFill>
                      <a:srgbClr val="0E1B2C"/>
                    </a:solidFill>
                  </a:tcPr>
                </a:tc>
                <a:tc>
                  <a:txBody>
                    <a:bodyPr/>
                    <a:lstStyle/>
                    <a:p>
                      <a:pPr algn="l"/>
                      <a:r>
                        <a:rPr sz="2025" b="0">
                          <a:solidFill>
                            <a:srgbClr val="F2F5FA"/>
                          </a:solidFill>
                          <a:latin typeface="Arial"/>
                          <a:ea typeface="Arial"/>
                          <a:cs typeface="Arial"/>
                        </a:rPr>
                        <a:t>1.028</a:t>
                      </a:r>
                    </a:p>
                  </a:txBody>
                  <a:tcPr anchor="ctr">
                    <a:solidFill>
                      <a:srgbClr val="0E1B2C"/>
                    </a:solidFill>
                  </a:tcPr>
                </a:tc>
                <a:tc>
                  <a:txBody>
                    <a:bodyPr/>
                    <a:lstStyle/>
                    <a:p>
                      <a:pPr algn="l"/>
                      <a:r>
                        <a:rPr sz="2025" b="0">
                          <a:solidFill>
                            <a:srgbClr val="F2F5FA"/>
                          </a:solidFill>
                          <a:latin typeface="Arial"/>
                          <a:ea typeface="Arial"/>
                          <a:cs typeface="Arial"/>
                        </a:rPr>
                        <a:t>3.697</a:t>
                      </a:r>
                    </a:p>
                  </a:txBody>
                  <a:tcPr anchor="ctr">
                    <a:solidFill>
                      <a:srgbClr val="0E1B2C"/>
                    </a:solidFill>
                  </a:tcPr>
                </a:tc>
                <a:extLst>
                  <a:ext uri="{0D108BD9-81ED-4DB2-BD59-A6C34878D82A}">
                    <a16:rowId xmlns:a16="http://schemas.microsoft.com/office/drawing/2014/main" val="10002"/>
                  </a:ext>
                </a:extLst>
              </a:tr>
              <a:tr h="466725">
                <a:tc>
                  <a:txBody>
                    <a:bodyPr/>
                    <a:lstStyle/>
                    <a:p>
                      <a:pPr algn="l"/>
                      <a:r>
                        <a:rPr sz="2025" b="0">
                          <a:solidFill>
                            <a:srgbClr val="F2F5FA"/>
                          </a:solidFill>
                          <a:latin typeface="Arial"/>
                          <a:ea typeface="Arial"/>
                          <a:cs typeface="Arial"/>
                        </a:rPr>
                        <a:t>Test chính</a:t>
                      </a:r>
                    </a:p>
                  </a:txBody>
                  <a:tcPr anchor="ctr">
                    <a:solidFill>
                      <a:srgbClr val="0E1B2C"/>
                    </a:solidFill>
                  </a:tcPr>
                </a:tc>
                <a:tc>
                  <a:txBody>
                    <a:bodyPr/>
                    <a:lstStyle/>
                    <a:p>
                      <a:pPr algn="l"/>
                      <a:r>
                        <a:rPr sz="2025" b="0">
                          <a:solidFill>
                            <a:srgbClr val="F2F5FA"/>
                          </a:solidFill>
                          <a:latin typeface="Arial"/>
                          <a:ea typeface="Arial"/>
                          <a:cs typeface="Arial"/>
                        </a:rPr>
                        <a:t>1.473</a:t>
                      </a:r>
                    </a:p>
                  </a:txBody>
                  <a:tcPr anchor="ctr">
                    <a:solidFill>
                      <a:srgbClr val="0E1B2C"/>
                    </a:solidFill>
                  </a:tcPr>
                </a:tc>
                <a:tc>
                  <a:txBody>
                    <a:bodyPr/>
                    <a:lstStyle/>
                    <a:p>
                      <a:pPr algn="l"/>
                      <a:r>
                        <a:rPr sz="2025" b="0">
                          <a:solidFill>
                            <a:srgbClr val="F2F5FA"/>
                          </a:solidFill>
                          <a:latin typeface="Arial"/>
                          <a:ea typeface="Arial"/>
                          <a:cs typeface="Arial"/>
                        </a:rPr>
                        <a:t>4.856</a:t>
                      </a:r>
                    </a:p>
                  </a:txBody>
                  <a:tcPr anchor="ctr">
                    <a:solidFill>
                      <a:srgbClr val="0E1B2C"/>
                    </a:solidFill>
                  </a:tcPr>
                </a:tc>
                <a:extLst>
                  <a:ext uri="{0D108BD9-81ED-4DB2-BD59-A6C34878D82A}">
                    <a16:rowId xmlns:a16="http://schemas.microsoft.com/office/drawing/2014/main" val="10003"/>
                  </a:ext>
                </a:extLst>
              </a:tr>
              <a:tr h="466725">
                <a:tc>
                  <a:txBody>
                    <a:bodyPr/>
                    <a:lstStyle/>
                    <a:p>
                      <a:pPr algn="l"/>
                      <a:r>
                        <a:rPr sz="2025" b="0">
                          <a:solidFill>
                            <a:srgbClr val="F2F5FA"/>
                          </a:solidFill>
                          <a:latin typeface="Arial"/>
                          <a:ea typeface="Arial"/>
                          <a:cs typeface="Arial"/>
                        </a:rPr>
                        <a:t>Kiểm tra video cũ riêng</a:t>
                      </a:r>
                    </a:p>
                  </a:txBody>
                  <a:tcPr anchor="ctr">
                    <a:solidFill>
                      <a:srgbClr val="0E1B2C"/>
                    </a:solidFill>
                  </a:tcPr>
                </a:tc>
                <a:tc>
                  <a:txBody>
                    <a:bodyPr/>
                    <a:lstStyle/>
                    <a:p>
                      <a:pPr algn="l"/>
                      <a:r>
                        <a:rPr sz="2025" b="0">
                          <a:solidFill>
                            <a:srgbClr val="F2F5FA"/>
                          </a:solidFill>
                          <a:latin typeface="Arial"/>
                          <a:ea typeface="Arial"/>
                          <a:cs typeface="Arial"/>
                        </a:rPr>
                        <a:t>415</a:t>
                      </a:r>
                    </a:p>
                  </a:txBody>
                  <a:tcPr anchor="ctr">
                    <a:solidFill>
                      <a:srgbClr val="0E1B2C"/>
                    </a:solidFill>
                  </a:tcPr>
                </a:tc>
                <a:tc>
                  <a:txBody>
                    <a:bodyPr/>
                    <a:lstStyle/>
                    <a:p>
                      <a:pPr algn="l"/>
                      <a:r>
                        <a:rPr sz="2025" b="0">
                          <a:solidFill>
                            <a:srgbClr val="F2F5FA"/>
                          </a:solidFill>
                          <a:latin typeface="Arial"/>
                          <a:ea typeface="Arial"/>
                          <a:cs typeface="Arial"/>
                        </a:rPr>
                        <a:t>Nguồn vào test chung</a:t>
                      </a:r>
                    </a:p>
                  </a:txBody>
                  <a:tcPr anchor="ctr">
                    <a:solidFill>
                      <a:srgbClr val="0E1B2C"/>
                    </a:solidFill>
                  </a:tcPr>
                </a:tc>
                <a:extLst>
                  <a:ext uri="{0D108BD9-81ED-4DB2-BD59-A6C34878D82A}">
                    <a16:rowId xmlns:a16="http://schemas.microsoft.com/office/drawing/2014/main" val="10004"/>
                  </a:ext>
                </a:extLst>
              </a:tr>
              <a:tr h="466725">
                <a:tc>
                  <a:txBody>
                    <a:bodyPr/>
                    <a:lstStyle/>
                    <a:p>
                      <a:pPr algn="l"/>
                      <a:r>
                        <a:rPr sz="2025" b="1">
                          <a:solidFill>
                            <a:srgbClr val="65D6AA"/>
                          </a:solidFill>
                          <a:latin typeface="Arial"/>
                          <a:ea typeface="Arial"/>
                          <a:cs typeface="Arial"/>
                        </a:rPr>
                        <a:t>Tổng ảnh của bộ</a:t>
                      </a:r>
                    </a:p>
                  </a:txBody>
                  <a:tcPr anchor="ctr">
                    <a:solidFill>
                      <a:srgbClr val="0E1B2C"/>
                    </a:solidFill>
                  </a:tcPr>
                </a:tc>
                <a:tc>
                  <a:txBody>
                    <a:bodyPr/>
                    <a:lstStyle/>
                    <a:p>
                      <a:pPr algn="l"/>
                      <a:r>
                        <a:rPr sz="2025" b="1">
                          <a:solidFill>
                            <a:srgbClr val="65D6AA"/>
                          </a:solidFill>
                          <a:latin typeface="Arial"/>
                          <a:ea typeface="Arial"/>
                          <a:cs typeface="Arial"/>
                        </a:rPr>
                        <a:t>7.029</a:t>
                      </a:r>
                    </a:p>
                  </a:txBody>
                  <a:tcPr anchor="ctr">
                    <a:solidFill>
                      <a:srgbClr val="0E1B2C"/>
                    </a:solidFill>
                  </a:tcPr>
                </a:tc>
                <a:tc>
                  <a:txBody>
                    <a:bodyPr/>
                    <a:lstStyle/>
                    <a:p>
                      <a:pPr algn="l"/>
                      <a:r>
                        <a:rPr sz="2025" b="1">
                          <a:solidFill>
                            <a:srgbClr val="65D6AA"/>
                          </a:solidFill>
                          <a:latin typeface="Arial"/>
                          <a:ea typeface="Arial"/>
                          <a:cs typeface="Arial"/>
                        </a:rPr>
                        <a:t>28.957</a:t>
                      </a:r>
                    </a:p>
                  </a:txBody>
                  <a:tcPr anchor="ctr">
                    <a:solidFill>
                      <a:srgbClr val="0E1B2C"/>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5E6E6C9E-C785-45BD-82D6-E5CC6FA134E8}"/>
              </a:ext>
            </a:extLst>
          </p:cNvPr>
          <p:cNvSpPr>
            <a:spLocks noGrp="1"/>
          </p:cNvSpPr>
          <p:nvPr/>
        </p:nvSpPr>
        <p:spPr>
          <a:xfrm>
            <a:off x="609600" y="4914900"/>
            <a:ext cx="10972800" cy="381000"/>
          </a:xfrm>
          <a:prstGeom prst="rect">
            <a:avLst/>
          </a:prstGeom>
          <a:noFill/>
          <a:ln w="0">
            <a:noFill/>
          </a:ln>
        </p:spPr>
        <p:txBody>
          <a:bodyPr lIns="0" tIns="0" rIns="0" bIns="0" anchor="t">
            <a:noAutofit/>
          </a:bodyPr>
          <a:lstStyle/>
          <a:p>
            <a:pPr algn="l">
              <a:defRPr sz="2250" b="1">
                <a:solidFill>
                  <a:srgbClr val="65D6AA"/>
                </a:solidFill>
                <a:latin typeface="Arial"/>
                <a:ea typeface="Arial"/>
                <a:cs typeface="Arial"/>
              </a:defRPr>
            </a:pPr>
            <a:r>
              <a:rPr sz="2250" b="1">
                <a:solidFill>
                  <a:srgbClr val="65D6AA"/>
                </a:solidFill>
                <a:latin typeface="Arial"/>
                <a:ea typeface="Arial"/>
                <a:cs typeface="Arial"/>
              </a:rPr>
              <a:t>24.221 ảnh cũ gốc vẫn giữ nguyên.</a:t>
            </a:r>
          </a:p>
        </p:txBody>
      </p:sp>
      <p:sp>
        <p:nvSpPr>
          <p:cNvPr id="6" name="Rectangle 5">
            <a:extLst>
              <a:ext uri="{FF2B5EF4-FFF2-40B4-BE49-F238E27FC236}">
                <a16:creationId xmlns:a16="http://schemas.microsoft.com/office/drawing/2014/main" id="{49EE0E7A-E7D9-453D-8C2B-B1FAF2899676}"/>
              </a:ext>
            </a:extLst>
          </p:cNvPr>
          <p:cNvSpPr>
            <a:spLocks noGrp="1"/>
          </p:cNvSpPr>
          <p:nvPr/>
        </p:nvSpPr>
        <p:spPr>
          <a:xfrm>
            <a:off x="609600" y="5381625"/>
            <a:ext cx="10972800" cy="381000"/>
          </a:xfrm>
          <a:prstGeom prst="rect">
            <a:avLst/>
          </a:prstGeom>
          <a:noFill/>
          <a:ln w="0">
            <a:noFill/>
          </a:ln>
        </p:spPr>
        <p:txBody>
          <a:bodyPr lIns="0" tIns="0" rIns="0" bIns="0" anchor="t">
            <a:noAutofit/>
          </a:bodyPr>
          <a:lstStyle/>
          <a:p>
            <a:pPr algn="l">
              <a:defRPr sz="2025" b="0">
                <a:solidFill>
                  <a:srgbClr val="F2F5FA"/>
                </a:solidFill>
                <a:latin typeface="Arial"/>
                <a:ea typeface="Arial"/>
                <a:cs typeface="Arial"/>
              </a:defRPr>
            </a:pPr>
            <a:r>
              <a:rPr sz="2025" b="0">
                <a:solidFill>
                  <a:srgbClr val="F2F5FA"/>
                </a:solidFill>
                <a:latin typeface="Arial"/>
                <a:ea typeface="Arial"/>
                <a:cs typeface="Arial"/>
              </a:rPr>
              <a:t>Bộ gộp giữ 24.032 ảnh cũ và 4.925 ảnh từ 56 video mới.</a:t>
            </a:r>
          </a:p>
        </p:txBody>
      </p:sp>
      <p:sp>
        <p:nvSpPr>
          <p:cNvPr id="7" name="Rectangle 6">
            <a:extLst>
              <a:ext uri="{FF2B5EF4-FFF2-40B4-BE49-F238E27FC236}">
                <a16:creationId xmlns:a16="http://schemas.microsoft.com/office/drawing/2014/main" id="{F048F3D0-BF29-493A-9C46-4C920B8301F8}"/>
              </a:ext>
            </a:extLst>
          </p:cNvPr>
          <p:cNvSpPr>
            <a:spLocks noGrp="1"/>
          </p:cNvSpPr>
          <p:nvPr/>
        </p:nvSpPr>
        <p:spPr>
          <a:xfrm>
            <a:off x="609600" y="5838825"/>
            <a:ext cx="10972800" cy="381000"/>
          </a:xfrm>
          <a:prstGeom prst="rect">
            <a:avLst/>
          </a:prstGeom>
          <a:noFill/>
          <a:ln w="0">
            <a:noFill/>
          </a:ln>
        </p:spPr>
        <p:txBody>
          <a:bodyPr lIns="0" tIns="0" rIns="0" bIns="0" anchor="t">
            <a:noAutofit/>
          </a:bodyPr>
          <a:lstStyle/>
          <a:p>
            <a:pPr algn="l">
              <a:defRPr sz="1800" b="0">
                <a:solidFill>
                  <a:srgbClr val="BBC9DA"/>
                </a:solidFill>
                <a:latin typeface="Arial"/>
                <a:ea typeface="Arial"/>
                <a:cs typeface="Arial"/>
              </a:defRPr>
            </a:pPr>
            <a:r>
              <a:rPr sz="1800" b="0">
                <a:solidFill>
                  <a:srgbClr val="BBC9DA"/>
                </a:solidFill>
                <a:latin typeface="Arial"/>
                <a:ea typeface="Arial"/>
                <a:cs typeface="Arial"/>
              </a:rPr>
              <a:t>415 ảnh cũ được chấm bổ sung để đối chiếu, không cộng vào tổng bộ gộp.</a:t>
            </a:r>
          </a:p>
        </p:txBody>
      </p:sp>
    </p:spTree>
    <p:extLst>
      <p:ext uri="{BB962C8B-B14F-4D97-AF65-F5344CB8AC3E}">
        <p14:creationId xmlns:p14="http://schemas.microsoft.com/office/powerpoint/2010/main" val="177776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B2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693A19-A934-48F2-9E48-1A942475970D}"/>
              </a:ext>
            </a:extLst>
          </p:cNvPr>
          <p:cNvSpPr>
            <a:spLocks noGrp="1"/>
          </p:cNvSpPr>
          <p:nvPr/>
        </p:nvSpPr>
        <p:spPr>
          <a:xfrm>
            <a:off x="609600" y="457200"/>
            <a:ext cx="10972800" cy="609600"/>
          </a:xfrm>
          <a:prstGeom prst="rect">
            <a:avLst/>
          </a:prstGeom>
          <a:noFill/>
          <a:ln w="0">
            <a:noFill/>
          </a:ln>
        </p:spPr>
        <p:txBody>
          <a:bodyPr lIns="0" tIns="0" rIns="0" bIns="0" anchor="t">
            <a:noAutofit/>
          </a:bodyPr>
          <a:lstStyle/>
          <a:p>
            <a:pPr algn="l">
              <a:defRPr sz="3300" b="1">
                <a:solidFill>
                  <a:srgbClr val="F2F5FA"/>
                </a:solidFill>
                <a:latin typeface="Arial"/>
                <a:ea typeface="Arial"/>
                <a:cs typeface="Arial"/>
              </a:defRPr>
            </a:pPr>
            <a:r>
              <a:rPr sz="3300" b="1">
                <a:solidFill>
                  <a:srgbClr val="F2F5FA"/>
                </a:solidFill>
                <a:latin typeface="Arial"/>
                <a:ea typeface="Arial"/>
                <a:cs typeface="Arial"/>
              </a:rPr>
              <a:t>Cách huấn luyện đã sửa</a:t>
            </a:r>
          </a:p>
        </p:txBody>
      </p:sp>
      <p:sp>
        <p:nvSpPr>
          <p:cNvPr id="2" name="Rectangle 1">
            <a:extLst>
              <a:ext uri="{FF2B5EF4-FFF2-40B4-BE49-F238E27FC236}">
                <a16:creationId xmlns:a16="http://schemas.microsoft.com/office/drawing/2014/main" id="{3A5597D3-4A04-47DC-9CEB-7469D918FF98}"/>
              </a:ext>
            </a:extLst>
          </p:cNvPr>
          <p:cNvSpPr>
            <a:spLocks noGrp="1"/>
          </p:cNvSpPr>
          <p:nvPr/>
        </p:nvSpPr>
        <p:spPr>
          <a:xfrm>
            <a:off x="609600" y="1123950"/>
            <a:ext cx="10972800" cy="342900"/>
          </a:xfrm>
          <a:prstGeom prst="rect">
            <a:avLst/>
          </a:prstGeom>
          <a:noFill/>
          <a:ln w="0">
            <a:noFill/>
          </a:ln>
        </p:spPr>
        <p:txBody>
          <a:bodyPr lIns="0" tIns="0" rIns="0" bIns="0" anchor="t">
            <a:noAutofit/>
          </a:bodyPr>
          <a:lstStyle/>
          <a:p>
            <a:pPr algn="l">
              <a:defRPr sz="1950" b="0">
                <a:solidFill>
                  <a:srgbClr val="78C7FF"/>
                </a:solidFill>
                <a:latin typeface="Arial"/>
                <a:ea typeface="Arial"/>
                <a:cs typeface="Arial"/>
              </a:defRPr>
            </a:pPr>
            <a:r>
              <a:rPr sz="1950" b="0">
                <a:solidFill>
                  <a:srgbClr val="78C7FF"/>
                </a:solidFill>
                <a:latin typeface="Arial"/>
                <a:ea typeface="Arial"/>
                <a:cs typeface="Arial"/>
              </a:rPr>
              <a:t>Lần gộp đầu phân bổ ảnh trong batch và trọng số loss lệch nhau.</a:t>
            </a:r>
          </a:p>
        </p:txBody>
      </p:sp>
      <p:sp>
        <p:nvSpPr>
          <p:cNvPr id="3" name="Rectangle 2">
            <a:extLst>
              <a:ext uri="{FF2B5EF4-FFF2-40B4-BE49-F238E27FC236}">
                <a16:creationId xmlns:a16="http://schemas.microsoft.com/office/drawing/2014/main" id="{86CFAE7C-3BC5-4BC7-B7AA-E8E6CCE05F30}"/>
              </a:ext>
            </a:extLst>
          </p:cNvPr>
          <p:cNvSpPr>
            <a:spLocks noGrp="1"/>
          </p:cNvSpPr>
          <p:nvPr/>
        </p:nvSpPr>
        <p:spPr>
          <a:xfrm>
            <a:off x="11239500" y="6429375"/>
            <a:ext cx="381000" cy="238125"/>
          </a:xfrm>
          <a:prstGeom prst="rect">
            <a:avLst/>
          </a:prstGeom>
          <a:noFill/>
          <a:ln w="0">
            <a:noFill/>
          </a:ln>
        </p:spPr>
        <p:txBody>
          <a:bodyPr lIns="0" tIns="0" rIns="0" bIns="0" anchor="t">
            <a:noAutofit/>
          </a:bodyPr>
          <a:lstStyle/>
          <a:p>
            <a:pPr algn="r">
              <a:defRPr sz="1350" b="0">
                <a:solidFill>
                  <a:srgbClr val="BBC9DA"/>
                </a:solidFill>
                <a:latin typeface="Arial"/>
                <a:ea typeface="Arial"/>
                <a:cs typeface="Arial"/>
              </a:defRPr>
            </a:pPr>
            <a:r>
              <a:rPr sz="1350" b="0">
                <a:solidFill>
                  <a:srgbClr val="BBC9DA"/>
                </a:solidFill>
                <a:latin typeface="Arial"/>
                <a:ea typeface="Arial"/>
                <a:cs typeface="Arial"/>
              </a:rPr>
              <a:t>03</a:t>
            </a:r>
          </a:p>
        </p:txBody>
      </p:sp>
      <p:sp>
        <p:nvSpPr>
          <p:cNvPr id="4" name="Rectangle 3">
            <a:extLst>
              <a:ext uri="{FF2B5EF4-FFF2-40B4-BE49-F238E27FC236}">
                <a16:creationId xmlns:a16="http://schemas.microsoft.com/office/drawing/2014/main" id="{CF04166D-5333-467E-9A1B-BD1EEA45A764}"/>
              </a:ext>
            </a:extLst>
          </p:cNvPr>
          <p:cNvSpPr>
            <a:spLocks noGrp="1"/>
          </p:cNvSpPr>
          <p:nvPr/>
        </p:nvSpPr>
        <p:spPr>
          <a:xfrm>
            <a:off x="609600" y="1809750"/>
            <a:ext cx="10972800" cy="428625"/>
          </a:xfrm>
          <a:prstGeom prst="rect">
            <a:avLst/>
          </a:prstGeom>
          <a:noFill/>
          <a:ln w="0">
            <a:noFill/>
          </a:ln>
        </p:spPr>
        <p:txBody>
          <a:bodyPr lIns="0" tIns="0" rIns="0" bIns="0" anchor="t">
            <a:noAutofit/>
          </a:bodyPr>
          <a:lstStyle/>
          <a:p>
            <a:pPr algn="l">
              <a:defRPr sz="2250" b="1">
                <a:solidFill>
                  <a:srgbClr val="F2F5FA"/>
                </a:solidFill>
                <a:latin typeface="Arial"/>
                <a:ea typeface="Arial"/>
                <a:cs typeface="Arial"/>
              </a:defRPr>
            </a:pPr>
            <a:r>
              <a:rPr sz="2250" b="1">
                <a:solidFill>
                  <a:srgbClr val="F2F5FA"/>
                </a:solidFill>
                <a:latin typeface="Arial"/>
                <a:ea typeface="Arial"/>
                <a:cs typeface="Arial"/>
              </a:rPr>
              <a:t>Batch 32 ảnh: lấy đều 4 nhóm cũ/mới và thật/giả.</a:t>
            </a:r>
          </a:p>
        </p:txBody>
      </p:sp>
      <p:sp>
        <p:nvSpPr>
          <p:cNvPr id="5" name="Rectangle 4">
            <a:extLst>
              <a:ext uri="{FF2B5EF4-FFF2-40B4-BE49-F238E27FC236}">
                <a16:creationId xmlns:a16="http://schemas.microsoft.com/office/drawing/2014/main" id="{40DB7706-182E-4242-8E90-31C08E0B8E68}"/>
              </a:ext>
            </a:extLst>
          </p:cNvPr>
          <p:cNvSpPr>
            <a:spLocks noGrp="1"/>
          </p:cNvSpPr>
          <p:nvPr/>
        </p:nvSpPr>
        <p:spPr>
          <a:xfrm>
            <a:off x="609600" y="2362200"/>
            <a:ext cx="10972800" cy="400050"/>
          </a:xfrm>
          <a:prstGeom prst="rect">
            <a:avLst/>
          </a:prstGeom>
          <a:noFill/>
          <a:ln w="0">
            <a:noFill/>
          </a:ln>
        </p:spPr>
        <p:txBody>
          <a:bodyPr lIns="0" tIns="0" rIns="0" bIns="0" anchor="t">
            <a:noAutofit/>
          </a:bodyPr>
          <a:lstStyle/>
          <a:p>
            <a:pPr algn="l">
              <a:defRPr sz="2100" b="0">
                <a:solidFill>
                  <a:srgbClr val="BBC9DA"/>
                </a:solidFill>
                <a:latin typeface="Arial"/>
                <a:ea typeface="Arial"/>
                <a:cs typeface="Arial"/>
              </a:defRPr>
            </a:pPr>
            <a:r>
              <a:rPr sz="2100" b="0">
                <a:solidFill>
                  <a:srgbClr val="BBC9DA"/>
                </a:solidFill>
                <a:latin typeface="Arial"/>
                <a:ea typeface="Arial"/>
                <a:cs typeface="Arial"/>
              </a:rPr>
              <a:t>Mỗi nhóm có 8 ảnh. Em lấy lượt đều theo video.</a:t>
            </a:r>
          </a:p>
        </p:txBody>
      </p:sp>
      <p:sp>
        <p:nvSpPr>
          <p:cNvPr id="6" name="Rectangle 5">
            <a:extLst>
              <a:ext uri="{FF2B5EF4-FFF2-40B4-BE49-F238E27FC236}">
                <a16:creationId xmlns:a16="http://schemas.microsoft.com/office/drawing/2014/main" id="{E6F189D3-0C1A-4D01-AB7A-B11C5BDAA9C0}"/>
              </a:ext>
            </a:extLst>
          </p:cNvPr>
          <p:cNvSpPr>
            <a:spLocks noGrp="1"/>
          </p:cNvSpPr>
          <p:nvPr/>
        </p:nvSpPr>
        <p:spPr>
          <a:xfrm>
            <a:off x="609600" y="2914650"/>
            <a:ext cx="10972800" cy="428625"/>
          </a:xfrm>
          <a:prstGeom prst="rect">
            <a:avLst/>
          </a:prstGeom>
          <a:noFill/>
          <a:ln w="0">
            <a:noFill/>
          </a:ln>
        </p:spPr>
        <p:txBody>
          <a:bodyPr lIns="0" tIns="0" rIns="0" bIns="0" anchor="t">
            <a:noAutofit/>
          </a:bodyPr>
          <a:lstStyle/>
          <a:p>
            <a:pPr algn="l">
              <a:defRPr sz="2250" b="1">
                <a:solidFill>
                  <a:srgbClr val="F2F5FA"/>
                </a:solidFill>
                <a:latin typeface="Arial"/>
                <a:ea typeface="Arial"/>
                <a:cs typeface="Arial"/>
              </a:defRPr>
            </a:pPr>
            <a:r>
              <a:rPr sz="2250" b="1">
                <a:solidFill>
                  <a:srgbClr val="F2F5FA"/>
                </a:solidFill>
                <a:latin typeface="Arial"/>
                <a:ea typeface="Arial"/>
                <a:cs typeface="Arial"/>
              </a:rPr>
              <a:t>Model chọn dùng GroupNorm và LayerNorm.</a:t>
            </a:r>
          </a:p>
        </p:txBody>
      </p:sp>
      <p:graphicFrame>
        <p:nvGraphicFramePr>
          <p:cNvPr id="15" name="Table 14"/>
          <p:cNvGraphicFramePr/>
          <p:nvPr/>
        </p:nvGraphicFramePr>
        <p:xfrm>
          <a:off x="609600" y="3657600"/>
          <a:ext cx="10972800" cy="1828800"/>
        </p:xfrm>
        <a:graphic>
          <a:graphicData uri="http://schemas.openxmlformats.org/drawingml/2006/table">
            <a:tbl>
              <a:tblPr/>
              <a:tblGrid>
                <a:gridCol w="42672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457200">
                <a:tc>
                  <a:txBody>
                    <a:bodyPr/>
                    <a:lstStyle/>
                    <a:p>
                      <a:pPr algn="l"/>
                      <a:r>
                        <a:rPr sz="2025" b="1">
                          <a:solidFill>
                            <a:srgbClr val="78C7FF"/>
                          </a:solidFill>
                          <a:latin typeface="Arial"/>
                          <a:ea typeface="Arial"/>
                          <a:cs typeface="Arial"/>
                        </a:rPr>
                        <a:t>Mốc model</a:t>
                      </a:r>
                    </a:p>
                  </a:txBody>
                  <a:tcPr anchor="ctr">
                    <a:solidFill>
                      <a:srgbClr val="213A54"/>
                    </a:solidFill>
                  </a:tcPr>
                </a:tc>
                <a:tc>
                  <a:txBody>
                    <a:bodyPr/>
                    <a:lstStyle/>
                    <a:p>
                      <a:pPr algn="l"/>
                      <a:r>
                        <a:rPr sz="2025" b="1">
                          <a:solidFill>
                            <a:srgbClr val="78C7FF"/>
                          </a:solidFill>
                          <a:latin typeface="Arial"/>
                          <a:ea typeface="Arial"/>
                          <a:cs typeface="Arial"/>
                        </a:rPr>
                        <a:t>Epoch đã chạy</a:t>
                      </a:r>
                    </a:p>
                  </a:txBody>
                  <a:tcPr anchor="ctr">
                    <a:solidFill>
                      <a:srgbClr val="213A54"/>
                    </a:solidFill>
                  </a:tcPr>
                </a:tc>
                <a:tc>
                  <a:txBody>
                    <a:bodyPr/>
                    <a:lstStyle/>
                    <a:p>
                      <a:pPr algn="l"/>
                      <a:r>
                        <a:rPr sz="2025" b="1">
                          <a:solidFill>
                            <a:srgbClr val="78C7FF"/>
                          </a:solidFill>
                          <a:latin typeface="Arial"/>
                          <a:ea typeface="Arial"/>
                          <a:cs typeface="Arial"/>
                        </a:rPr>
                        <a:t>Checkpoint</a:t>
                      </a:r>
                    </a:p>
                  </a:txBody>
                  <a:tcPr anchor="ctr">
                    <a:solidFill>
                      <a:srgbClr val="213A54"/>
                    </a:solidFill>
                  </a:tcPr>
                </a:tc>
                <a:extLst>
                  <a:ext uri="{0D108BD9-81ED-4DB2-BD59-A6C34878D82A}">
                    <a16:rowId xmlns:a16="http://schemas.microsoft.com/office/drawing/2014/main" val="10000"/>
                  </a:ext>
                </a:extLst>
              </a:tr>
              <a:tr h="457200">
                <a:tc>
                  <a:txBody>
                    <a:bodyPr/>
                    <a:lstStyle/>
                    <a:p>
                      <a:pPr algn="l"/>
                      <a:r>
                        <a:rPr sz="2025" b="0">
                          <a:solidFill>
                            <a:srgbClr val="F2F5FA"/>
                          </a:solidFill>
                          <a:latin typeface="Arial"/>
                          <a:ea typeface="Arial"/>
                          <a:cs typeface="Arial"/>
                        </a:rPr>
                        <a:t>Trước gộp</a:t>
                      </a:r>
                    </a:p>
                  </a:txBody>
                  <a:tcPr anchor="ctr">
                    <a:solidFill>
                      <a:srgbClr val="0E1B2C"/>
                    </a:solidFill>
                  </a:tcPr>
                </a:tc>
                <a:tc>
                  <a:txBody>
                    <a:bodyPr/>
                    <a:lstStyle/>
                    <a:p>
                      <a:pPr algn="l"/>
                      <a:r>
                        <a:rPr sz="2025" b="0">
                          <a:solidFill>
                            <a:srgbClr val="F2F5FA"/>
                          </a:solidFill>
                          <a:latin typeface="Arial"/>
                          <a:ea typeface="Arial"/>
                          <a:cs typeface="Arial"/>
                        </a:rPr>
                        <a:t>19</a:t>
                      </a:r>
                    </a:p>
                  </a:txBody>
                  <a:tcPr anchor="ctr">
                    <a:solidFill>
                      <a:srgbClr val="0E1B2C"/>
                    </a:solidFill>
                  </a:tcPr>
                </a:tc>
                <a:tc>
                  <a:txBody>
                    <a:bodyPr/>
                    <a:lstStyle/>
                    <a:p>
                      <a:pPr algn="l"/>
                      <a:r>
                        <a:rPr sz="2025" b="0">
                          <a:solidFill>
                            <a:srgbClr val="F2F5FA"/>
                          </a:solidFill>
                          <a:latin typeface="Arial"/>
                          <a:ea typeface="Arial"/>
                          <a:cs typeface="Arial"/>
                        </a:rPr>
                        <a:t>11</a:t>
                      </a:r>
                    </a:p>
                  </a:txBody>
                  <a:tcPr anchor="ctr">
                    <a:solidFill>
                      <a:srgbClr val="0E1B2C"/>
                    </a:solidFill>
                  </a:tcPr>
                </a:tc>
                <a:extLst>
                  <a:ext uri="{0D108BD9-81ED-4DB2-BD59-A6C34878D82A}">
                    <a16:rowId xmlns:a16="http://schemas.microsoft.com/office/drawing/2014/main" val="10001"/>
                  </a:ext>
                </a:extLst>
              </a:tr>
              <a:tr h="457200">
                <a:tc>
                  <a:txBody>
                    <a:bodyPr/>
                    <a:lstStyle/>
                    <a:p>
                      <a:pPr algn="l"/>
                      <a:r>
                        <a:rPr sz="2025" b="0">
                          <a:solidFill>
                            <a:srgbClr val="F2F5FA"/>
                          </a:solidFill>
                          <a:latin typeface="Arial"/>
                          <a:ea typeface="Arial"/>
                          <a:cs typeface="Arial"/>
                        </a:rPr>
                        <a:t>Gộp lần đầu</a:t>
                      </a:r>
                    </a:p>
                  </a:txBody>
                  <a:tcPr anchor="ctr">
                    <a:solidFill>
                      <a:srgbClr val="0E1B2C"/>
                    </a:solidFill>
                  </a:tcPr>
                </a:tc>
                <a:tc>
                  <a:txBody>
                    <a:bodyPr/>
                    <a:lstStyle/>
                    <a:p>
                      <a:pPr algn="l"/>
                      <a:r>
                        <a:rPr sz="2025" b="0">
                          <a:solidFill>
                            <a:srgbClr val="F2F5FA"/>
                          </a:solidFill>
                          <a:latin typeface="Arial"/>
                          <a:ea typeface="Arial"/>
                          <a:cs typeface="Arial"/>
                        </a:rPr>
                        <a:t>12</a:t>
                      </a:r>
                    </a:p>
                  </a:txBody>
                  <a:tcPr anchor="ctr">
                    <a:solidFill>
                      <a:srgbClr val="0E1B2C"/>
                    </a:solidFill>
                  </a:tcPr>
                </a:tc>
                <a:tc>
                  <a:txBody>
                    <a:bodyPr/>
                    <a:lstStyle/>
                    <a:p>
                      <a:pPr algn="l"/>
                      <a:r>
                        <a:rPr sz="2025" b="0">
                          <a:solidFill>
                            <a:srgbClr val="F2F5FA"/>
                          </a:solidFill>
                          <a:latin typeface="Arial"/>
                          <a:ea typeface="Arial"/>
                          <a:cs typeface="Arial"/>
                        </a:rPr>
                        <a:t>4</a:t>
                      </a:r>
                    </a:p>
                  </a:txBody>
                  <a:tcPr anchor="ctr">
                    <a:solidFill>
                      <a:srgbClr val="0E1B2C"/>
                    </a:solidFill>
                  </a:tcPr>
                </a:tc>
                <a:extLst>
                  <a:ext uri="{0D108BD9-81ED-4DB2-BD59-A6C34878D82A}">
                    <a16:rowId xmlns:a16="http://schemas.microsoft.com/office/drawing/2014/main" val="10002"/>
                  </a:ext>
                </a:extLst>
              </a:tr>
              <a:tr h="457200">
                <a:tc>
                  <a:txBody>
                    <a:bodyPr/>
                    <a:lstStyle/>
                    <a:p>
                      <a:pPr algn="l"/>
                      <a:r>
                        <a:rPr sz="2025" b="1">
                          <a:solidFill>
                            <a:srgbClr val="65D6AA"/>
                          </a:solidFill>
                          <a:latin typeface="Arial"/>
                          <a:ea typeface="Arial"/>
                          <a:cs typeface="Arial"/>
                        </a:rPr>
                        <a:t>Sau sửa</a:t>
                      </a:r>
                    </a:p>
                  </a:txBody>
                  <a:tcPr anchor="ctr">
                    <a:solidFill>
                      <a:srgbClr val="0E1B2C"/>
                    </a:solidFill>
                  </a:tcPr>
                </a:tc>
                <a:tc>
                  <a:txBody>
                    <a:bodyPr/>
                    <a:lstStyle/>
                    <a:p>
                      <a:pPr algn="l"/>
                      <a:r>
                        <a:rPr sz="2025" b="1">
                          <a:solidFill>
                            <a:srgbClr val="65D6AA"/>
                          </a:solidFill>
                          <a:latin typeface="Arial"/>
                          <a:ea typeface="Arial"/>
                          <a:cs typeface="Arial"/>
                        </a:rPr>
                        <a:t>1 warmup + 20</a:t>
                      </a:r>
                    </a:p>
                  </a:txBody>
                  <a:tcPr anchor="ctr">
                    <a:solidFill>
                      <a:srgbClr val="0E1B2C"/>
                    </a:solidFill>
                  </a:tcPr>
                </a:tc>
                <a:tc>
                  <a:txBody>
                    <a:bodyPr/>
                    <a:lstStyle/>
                    <a:p>
                      <a:pPr algn="l"/>
                      <a:r>
                        <a:rPr sz="2025" b="1">
                          <a:solidFill>
                            <a:srgbClr val="65D6AA"/>
                          </a:solidFill>
                          <a:latin typeface="Arial"/>
                          <a:ea typeface="Arial"/>
                          <a:cs typeface="Arial"/>
                        </a:rPr>
                        <a:t>8 (cân bằng)</a:t>
                      </a:r>
                    </a:p>
                  </a:txBody>
                  <a:tcPr anchor="ctr">
                    <a:solidFill>
                      <a:srgbClr val="0E1B2C"/>
                    </a:solidFill>
                  </a:tcPr>
                </a:tc>
                <a:extLst>
                  <a:ext uri="{0D108BD9-81ED-4DB2-BD59-A6C34878D82A}">
                    <a16:rowId xmlns:a16="http://schemas.microsoft.com/office/drawing/2014/main" val="10003"/>
                  </a:ext>
                </a:extLst>
              </a:tr>
            </a:tbl>
          </a:graphicData>
        </a:graphic>
      </p:graphicFrame>
      <p:sp>
        <p:nvSpPr>
          <p:cNvPr id="8" name="Rectangle 7">
            <a:extLst>
              <a:ext uri="{FF2B5EF4-FFF2-40B4-BE49-F238E27FC236}">
                <a16:creationId xmlns:a16="http://schemas.microsoft.com/office/drawing/2014/main" id="{16DF3024-7832-4EF4-BF4D-9AB95DA59930}"/>
              </a:ext>
            </a:extLst>
          </p:cNvPr>
          <p:cNvSpPr>
            <a:spLocks noGrp="1"/>
          </p:cNvSpPr>
          <p:nvPr/>
        </p:nvSpPr>
        <p:spPr>
          <a:xfrm>
            <a:off x="609600" y="5724525"/>
            <a:ext cx="10972800" cy="400050"/>
          </a:xfrm>
          <a:prstGeom prst="rect">
            <a:avLst/>
          </a:prstGeom>
          <a:noFill/>
          <a:ln w="0">
            <a:noFill/>
          </a:ln>
        </p:spPr>
        <p:txBody>
          <a:bodyPr lIns="0" tIns="0" rIns="0" bIns="0" anchor="t">
            <a:noAutofit/>
          </a:bodyPr>
          <a:lstStyle/>
          <a:p>
            <a:pPr algn="l">
              <a:defRPr sz="2025" b="1">
                <a:solidFill>
                  <a:srgbClr val="65D6AA"/>
                </a:solidFill>
                <a:latin typeface="Arial"/>
                <a:ea typeface="Arial"/>
                <a:cs typeface="Arial"/>
              </a:defRPr>
            </a:pPr>
            <a:r>
              <a:rPr sz="2025" b="1">
                <a:solidFill>
                  <a:srgbClr val="65D6AA"/>
                </a:solidFill>
                <a:latin typeface="Arial"/>
                <a:ea typeface="Arial"/>
                <a:cs typeface="Arial"/>
              </a:rPr>
              <a:t>Em chọn checkpoint bằng validation, sau đó mới chấm test.</a:t>
            </a:r>
          </a:p>
        </p:txBody>
      </p:sp>
    </p:spTree>
    <p:extLst>
      <p:ext uri="{BB962C8B-B14F-4D97-AF65-F5344CB8AC3E}">
        <p14:creationId xmlns:p14="http://schemas.microsoft.com/office/powerpoint/2010/main" val="1038456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B2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CFA90C-3740-49F8-B60C-C5BA37FE5838}"/>
              </a:ext>
            </a:extLst>
          </p:cNvPr>
          <p:cNvSpPr>
            <a:spLocks noGrp="1"/>
          </p:cNvSpPr>
          <p:nvPr/>
        </p:nvSpPr>
        <p:spPr>
          <a:xfrm>
            <a:off x="609600" y="457200"/>
            <a:ext cx="10972800" cy="609600"/>
          </a:xfrm>
          <a:prstGeom prst="rect">
            <a:avLst/>
          </a:prstGeom>
          <a:noFill/>
          <a:ln w="0">
            <a:noFill/>
          </a:ln>
        </p:spPr>
        <p:txBody>
          <a:bodyPr lIns="0" tIns="0" rIns="0" bIns="0" anchor="t">
            <a:noAutofit/>
          </a:bodyPr>
          <a:lstStyle/>
          <a:p>
            <a:pPr algn="l">
              <a:defRPr sz="3300" b="1">
                <a:solidFill>
                  <a:srgbClr val="F2F5FA"/>
                </a:solidFill>
                <a:latin typeface="Arial"/>
                <a:ea typeface="Arial"/>
                <a:cs typeface="Arial"/>
              </a:defRPr>
            </a:pPr>
            <a:r>
              <a:rPr sz="3300" b="1">
                <a:solidFill>
                  <a:srgbClr val="F2F5FA"/>
                </a:solidFill>
                <a:latin typeface="Arial"/>
                <a:ea typeface="Arial"/>
                <a:cs typeface="Arial"/>
              </a:rPr>
              <a:t>Kết quả trên cùng dữ liệu</a:t>
            </a:r>
          </a:p>
        </p:txBody>
      </p:sp>
      <p:sp>
        <p:nvSpPr>
          <p:cNvPr id="2" name="Rectangle 1">
            <a:extLst>
              <a:ext uri="{FF2B5EF4-FFF2-40B4-BE49-F238E27FC236}">
                <a16:creationId xmlns:a16="http://schemas.microsoft.com/office/drawing/2014/main" id="{138EF2CB-6382-475A-A9A7-FBDFF059B9E1}"/>
              </a:ext>
            </a:extLst>
          </p:cNvPr>
          <p:cNvSpPr>
            <a:spLocks noGrp="1"/>
          </p:cNvSpPr>
          <p:nvPr/>
        </p:nvSpPr>
        <p:spPr>
          <a:xfrm>
            <a:off x="609600" y="1123950"/>
            <a:ext cx="10972800" cy="342900"/>
          </a:xfrm>
          <a:prstGeom prst="rect">
            <a:avLst/>
          </a:prstGeom>
          <a:noFill/>
          <a:ln w="0">
            <a:noFill/>
          </a:ln>
        </p:spPr>
        <p:txBody>
          <a:bodyPr lIns="0" tIns="0" rIns="0" bIns="0" anchor="t">
            <a:noAutofit/>
          </a:bodyPr>
          <a:lstStyle/>
          <a:p>
            <a:pPr algn="l">
              <a:defRPr sz="1950" b="0">
                <a:solidFill>
                  <a:srgbClr val="78C7FF"/>
                </a:solidFill>
                <a:latin typeface="Arial"/>
                <a:ea typeface="Arial"/>
                <a:cs typeface="Arial"/>
              </a:defRPr>
            </a:pPr>
            <a:r>
              <a:rPr sz="1950" b="0">
                <a:solidFill>
                  <a:srgbClr val="78C7FF"/>
                </a:solidFill>
                <a:latin typeface="Arial"/>
                <a:ea typeface="Arial"/>
                <a:cs typeface="Arial"/>
              </a:rPr>
              <a:t>Precision, recall và F1 cùng chấm trên 4.856 ảnh test.</a:t>
            </a:r>
          </a:p>
        </p:txBody>
      </p:sp>
      <p:sp>
        <p:nvSpPr>
          <p:cNvPr id="3" name="Rectangle 2">
            <a:extLst>
              <a:ext uri="{FF2B5EF4-FFF2-40B4-BE49-F238E27FC236}">
                <a16:creationId xmlns:a16="http://schemas.microsoft.com/office/drawing/2014/main" id="{10FF6DEA-F297-4B4D-A49A-7F6D86EC671B}"/>
              </a:ext>
            </a:extLst>
          </p:cNvPr>
          <p:cNvSpPr>
            <a:spLocks noGrp="1"/>
          </p:cNvSpPr>
          <p:nvPr/>
        </p:nvSpPr>
        <p:spPr>
          <a:xfrm>
            <a:off x="11239500" y="6429375"/>
            <a:ext cx="381000" cy="238125"/>
          </a:xfrm>
          <a:prstGeom prst="rect">
            <a:avLst/>
          </a:prstGeom>
          <a:noFill/>
          <a:ln w="0">
            <a:noFill/>
          </a:ln>
        </p:spPr>
        <p:txBody>
          <a:bodyPr lIns="0" tIns="0" rIns="0" bIns="0" anchor="t">
            <a:noAutofit/>
          </a:bodyPr>
          <a:lstStyle/>
          <a:p>
            <a:pPr algn="r">
              <a:defRPr sz="1350" b="0">
                <a:solidFill>
                  <a:srgbClr val="BBC9DA"/>
                </a:solidFill>
                <a:latin typeface="Arial"/>
                <a:ea typeface="Arial"/>
                <a:cs typeface="Arial"/>
              </a:defRPr>
            </a:pPr>
            <a:r>
              <a:rPr sz="1350" b="0">
                <a:solidFill>
                  <a:srgbClr val="BBC9DA"/>
                </a:solidFill>
                <a:latin typeface="Arial"/>
                <a:ea typeface="Arial"/>
                <a:cs typeface="Arial"/>
              </a:rPr>
              <a:t>04</a:t>
            </a:r>
          </a:p>
        </p:txBody>
      </p:sp>
      <p:graphicFrame>
        <p:nvGraphicFramePr>
          <p:cNvPr id="10" name="Table 9"/>
          <p:cNvGraphicFramePr/>
          <p:nvPr>
            <p:extLst>
              <p:ext uri="{D42A27DB-BD31-4B8C-83A1-F6EECF244321}">
                <p14:modId xmlns:p14="http://schemas.microsoft.com/office/powerpoint/2010/main" val="1190649150"/>
              </p:ext>
            </p:extLst>
          </p:nvPr>
        </p:nvGraphicFramePr>
        <p:xfrm>
          <a:off x="609600" y="1676400"/>
          <a:ext cx="10972801" cy="3505200"/>
        </p:xfrm>
        <a:graphic>
          <a:graphicData uri="http://schemas.openxmlformats.org/drawingml/2006/table">
            <a:tbl>
              <a:tblPr/>
              <a:tblGrid>
                <a:gridCol w="4189615">
                  <a:extLst>
                    <a:ext uri="{9D8B030D-6E8A-4147-A177-3AD203B41FA5}">
                      <a16:colId xmlns:a16="http://schemas.microsoft.com/office/drawing/2014/main" val="20000"/>
                    </a:ext>
                  </a:extLst>
                </a:gridCol>
                <a:gridCol w="3391593">
                  <a:extLst>
                    <a:ext uri="{9D8B030D-6E8A-4147-A177-3AD203B41FA5}">
                      <a16:colId xmlns:a16="http://schemas.microsoft.com/office/drawing/2014/main" val="20001"/>
                    </a:ext>
                  </a:extLst>
                </a:gridCol>
                <a:gridCol w="3391593">
                  <a:extLst>
                    <a:ext uri="{9D8B030D-6E8A-4147-A177-3AD203B41FA5}">
                      <a16:colId xmlns:a16="http://schemas.microsoft.com/office/drawing/2014/main" val="20003"/>
                    </a:ext>
                  </a:extLst>
                </a:gridCol>
              </a:tblGrid>
              <a:tr h="438150">
                <a:tc>
                  <a:txBody>
                    <a:bodyPr/>
                    <a:lstStyle/>
                    <a:p>
                      <a:pPr algn="l"/>
                      <a:r>
                        <a:rPr sz="1950" b="1">
                          <a:solidFill>
                            <a:srgbClr val="78C7FF"/>
                          </a:solidFill>
                          <a:latin typeface="Arial"/>
                          <a:ea typeface="Arial"/>
                          <a:cs typeface="Arial"/>
                        </a:rPr>
                        <a:t>Chỉ số</a:t>
                      </a:r>
                    </a:p>
                  </a:txBody>
                  <a:tcPr anchor="ctr">
                    <a:solidFill>
                      <a:srgbClr val="213A54"/>
                    </a:solidFill>
                  </a:tcPr>
                </a:tc>
                <a:tc>
                  <a:txBody>
                    <a:bodyPr/>
                    <a:lstStyle/>
                    <a:p>
                      <a:pPr algn="l"/>
                      <a:r>
                        <a:rPr sz="1950" b="1">
                          <a:solidFill>
                            <a:srgbClr val="78C7FF"/>
                          </a:solidFill>
                          <a:latin typeface="Arial"/>
                          <a:ea typeface="Arial"/>
                          <a:cs typeface="Arial"/>
                        </a:rPr>
                        <a:t>Trước gộp</a:t>
                      </a:r>
                    </a:p>
                  </a:txBody>
                  <a:tcPr anchor="ctr">
                    <a:solidFill>
                      <a:srgbClr val="213A54"/>
                    </a:solidFill>
                  </a:tcPr>
                </a:tc>
                <a:tc>
                  <a:txBody>
                    <a:bodyPr/>
                    <a:lstStyle/>
                    <a:p>
                      <a:pPr algn="l"/>
                      <a:r>
                        <a:rPr sz="1950" b="1" dirty="0">
                          <a:solidFill>
                            <a:srgbClr val="78C7FF"/>
                          </a:solidFill>
                          <a:latin typeface="Arial"/>
                          <a:ea typeface="Arial"/>
                          <a:cs typeface="Arial"/>
                        </a:rPr>
                        <a:t>Sau </a:t>
                      </a:r>
                      <a:r>
                        <a:rPr lang="vi-VN" sz="1950" b="1" dirty="0">
                          <a:solidFill>
                            <a:srgbClr val="78C7FF"/>
                          </a:solidFill>
                          <a:latin typeface="Arial"/>
                          <a:ea typeface="Arial"/>
                          <a:cs typeface="Arial"/>
                        </a:rPr>
                        <a:t>gộp</a:t>
                      </a:r>
                      <a:endParaRPr sz="1950" b="1" dirty="0">
                        <a:solidFill>
                          <a:srgbClr val="78C7FF"/>
                        </a:solidFill>
                        <a:latin typeface="Arial"/>
                        <a:ea typeface="Arial"/>
                        <a:cs typeface="Arial"/>
                      </a:endParaRPr>
                    </a:p>
                  </a:txBody>
                  <a:tcPr anchor="ctr">
                    <a:solidFill>
                      <a:srgbClr val="213A54"/>
                    </a:solidFill>
                  </a:tcPr>
                </a:tc>
                <a:extLst>
                  <a:ext uri="{0D108BD9-81ED-4DB2-BD59-A6C34878D82A}">
                    <a16:rowId xmlns:a16="http://schemas.microsoft.com/office/drawing/2014/main" val="10000"/>
                  </a:ext>
                </a:extLst>
              </a:tr>
              <a:tr h="438150">
                <a:tc>
                  <a:txBody>
                    <a:bodyPr/>
                    <a:lstStyle/>
                    <a:p>
                      <a:pPr algn="l"/>
                      <a:r>
                        <a:rPr sz="1950" b="0">
                          <a:solidFill>
                            <a:srgbClr val="F2F5FA"/>
                          </a:solidFill>
                          <a:latin typeface="Arial"/>
                          <a:ea typeface="Arial"/>
                          <a:cs typeface="Arial"/>
                        </a:rPr>
                        <a:t>Precision macro</a:t>
                      </a:r>
                    </a:p>
                  </a:txBody>
                  <a:tcPr anchor="ctr">
                    <a:solidFill>
                      <a:srgbClr val="0E1B2C"/>
                    </a:solidFill>
                  </a:tcPr>
                </a:tc>
                <a:tc>
                  <a:txBody>
                    <a:bodyPr/>
                    <a:lstStyle/>
                    <a:p>
                      <a:pPr algn="l"/>
                      <a:r>
                        <a:rPr sz="1950" b="0">
                          <a:solidFill>
                            <a:srgbClr val="F2F5FA"/>
                          </a:solidFill>
                          <a:latin typeface="Arial"/>
                          <a:ea typeface="Arial"/>
                          <a:cs typeface="Arial"/>
                        </a:rPr>
                        <a:t>91,84%</a:t>
                      </a:r>
                    </a:p>
                  </a:txBody>
                  <a:tcPr anchor="ctr">
                    <a:solidFill>
                      <a:srgbClr val="0E1B2C"/>
                    </a:solidFill>
                  </a:tcPr>
                </a:tc>
                <a:tc>
                  <a:txBody>
                    <a:bodyPr/>
                    <a:lstStyle/>
                    <a:p>
                      <a:pPr algn="l"/>
                      <a:r>
                        <a:rPr sz="1950" b="0">
                          <a:solidFill>
                            <a:srgbClr val="F2F5FA"/>
                          </a:solidFill>
                          <a:latin typeface="Arial"/>
                          <a:ea typeface="Arial"/>
                          <a:cs typeface="Arial"/>
                        </a:rPr>
                        <a:t>95,15%</a:t>
                      </a:r>
                    </a:p>
                  </a:txBody>
                  <a:tcPr anchor="ctr">
                    <a:solidFill>
                      <a:srgbClr val="0E1B2C"/>
                    </a:solidFill>
                  </a:tcPr>
                </a:tc>
                <a:extLst>
                  <a:ext uri="{0D108BD9-81ED-4DB2-BD59-A6C34878D82A}">
                    <a16:rowId xmlns:a16="http://schemas.microsoft.com/office/drawing/2014/main" val="10001"/>
                  </a:ext>
                </a:extLst>
              </a:tr>
              <a:tr h="438150">
                <a:tc>
                  <a:txBody>
                    <a:bodyPr/>
                    <a:lstStyle/>
                    <a:p>
                      <a:pPr algn="l"/>
                      <a:r>
                        <a:rPr sz="1950" b="0">
                          <a:solidFill>
                            <a:srgbClr val="F2F5FA"/>
                          </a:solidFill>
                          <a:latin typeface="Arial"/>
                          <a:ea typeface="Arial"/>
                          <a:cs typeface="Arial"/>
                        </a:rPr>
                        <a:t>Recall macro</a:t>
                      </a:r>
                    </a:p>
                  </a:txBody>
                  <a:tcPr anchor="ctr">
                    <a:solidFill>
                      <a:srgbClr val="0E1B2C"/>
                    </a:solidFill>
                  </a:tcPr>
                </a:tc>
                <a:tc>
                  <a:txBody>
                    <a:bodyPr/>
                    <a:lstStyle/>
                    <a:p>
                      <a:pPr algn="l"/>
                      <a:r>
                        <a:rPr sz="1950" b="0">
                          <a:solidFill>
                            <a:srgbClr val="F2F5FA"/>
                          </a:solidFill>
                          <a:latin typeface="Arial"/>
                          <a:ea typeface="Arial"/>
                          <a:cs typeface="Arial"/>
                        </a:rPr>
                        <a:t>91,97%</a:t>
                      </a:r>
                    </a:p>
                  </a:txBody>
                  <a:tcPr anchor="ctr">
                    <a:solidFill>
                      <a:srgbClr val="0E1B2C"/>
                    </a:solidFill>
                  </a:tcPr>
                </a:tc>
                <a:tc>
                  <a:txBody>
                    <a:bodyPr/>
                    <a:lstStyle/>
                    <a:p>
                      <a:pPr algn="l"/>
                      <a:r>
                        <a:rPr sz="1950" b="0">
                          <a:solidFill>
                            <a:srgbClr val="F2F5FA"/>
                          </a:solidFill>
                          <a:latin typeface="Arial"/>
                          <a:ea typeface="Arial"/>
                          <a:cs typeface="Arial"/>
                        </a:rPr>
                        <a:t>95,18%</a:t>
                      </a:r>
                    </a:p>
                  </a:txBody>
                  <a:tcPr anchor="ctr">
                    <a:solidFill>
                      <a:srgbClr val="0E1B2C"/>
                    </a:solidFill>
                  </a:tcPr>
                </a:tc>
                <a:extLst>
                  <a:ext uri="{0D108BD9-81ED-4DB2-BD59-A6C34878D82A}">
                    <a16:rowId xmlns:a16="http://schemas.microsoft.com/office/drawing/2014/main" val="10002"/>
                  </a:ext>
                </a:extLst>
              </a:tr>
              <a:tr h="438150">
                <a:tc>
                  <a:txBody>
                    <a:bodyPr/>
                    <a:lstStyle/>
                    <a:p>
                      <a:pPr algn="l"/>
                      <a:r>
                        <a:rPr sz="1950" b="1">
                          <a:solidFill>
                            <a:srgbClr val="65D6AA"/>
                          </a:solidFill>
                          <a:latin typeface="Arial"/>
                          <a:ea typeface="Arial"/>
                          <a:cs typeface="Arial"/>
                        </a:rPr>
                        <a:t>F1 macro</a:t>
                      </a:r>
                    </a:p>
                  </a:txBody>
                  <a:tcPr anchor="ctr">
                    <a:solidFill>
                      <a:srgbClr val="0E1B2C"/>
                    </a:solidFill>
                  </a:tcPr>
                </a:tc>
                <a:tc>
                  <a:txBody>
                    <a:bodyPr/>
                    <a:lstStyle/>
                    <a:p>
                      <a:pPr algn="l"/>
                      <a:r>
                        <a:rPr sz="1950" b="1">
                          <a:solidFill>
                            <a:srgbClr val="65D6AA"/>
                          </a:solidFill>
                          <a:latin typeface="Arial"/>
                          <a:ea typeface="Arial"/>
                          <a:cs typeface="Arial"/>
                        </a:rPr>
                        <a:t>91,90%</a:t>
                      </a:r>
                    </a:p>
                  </a:txBody>
                  <a:tcPr anchor="ctr">
                    <a:solidFill>
                      <a:srgbClr val="0E1B2C"/>
                    </a:solidFill>
                  </a:tcPr>
                </a:tc>
                <a:tc>
                  <a:txBody>
                    <a:bodyPr/>
                    <a:lstStyle/>
                    <a:p>
                      <a:pPr algn="l"/>
                      <a:r>
                        <a:rPr sz="1950" b="1" dirty="0">
                          <a:solidFill>
                            <a:srgbClr val="65D6AA"/>
                          </a:solidFill>
                          <a:latin typeface="Arial"/>
                          <a:ea typeface="Arial"/>
                          <a:cs typeface="Arial"/>
                        </a:rPr>
                        <a:t>95,16%</a:t>
                      </a:r>
                    </a:p>
                  </a:txBody>
                  <a:tcPr anchor="ctr">
                    <a:solidFill>
                      <a:srgbClr val="0E1B2C"/>
                    </a:solidFill>
                  </a:tcPr>
                </a:tc>
                <a:extLst>
                  <a:ext uri="{0D108BD9-81ED-4DB2-BD59-A6C34878D82A}">
                    <a16:rowId xmlns:a16="http://schemas.microsoft.com/office/drawing/2014/main" val="10003"/>
                  </a:ext>
                </a:extLst>
              </a:tr>
              <a:tr h="438150">
                <a:tc>
                  <a:txBody>
                    <a:bodyPr/>
                    <a:lstStyle/>
                    <a:p>
                      <a:pPr algn="l"/>
                      <a:r>
                        <a:rPr sz="1950" b="0">
                          <a:solidFill>
                            <a:srgbClr val="F2F5FA"/>
                          </a:solidFill>
                          <a:latin typeface="Arial"/>
                          <a:ea typeface="Arial"/>
                          <a:cs typeface="Arial"/>
                        </a:rPr>
                        <a:t>Ảnh giả thành thật</a:t>
                      </a:r>
                    </a:p>
                  </a:txBody>
                  <a:tcPr anchor="ctr">
                    <a:solidFill>
                      <a:srgbClr val="0E1B2C"/>
                    </a:solidFill>
                  </a:tcPr>
                </a:tc>
                <a:tc>
                  <a:txBody>
                    <a:bodyPr/>
                    <a:lstStyle/>
                    <a:p>
                      <a:pPr algn="l"/>
                      <a:r>
                        <a:rPr sz="1950" b="0">
                          <a:solidFill>
                            <a:srgbClr val="F2F5FA"/>
                          </a:solidFill>
                          <a:latin typeface="Arial"/>
                          <a:ea typeface="Arial"/>
                          <a:cs typeface="Arial"/>
                        </a:rPr>
                        <a:t>213</a:t>
                      </a:r>
                    </a:p>
                  </a:txBody>
                  <a:tcPr anchor="ctr">
                    <a:solidFill>
                      <a:srgbClr val="0E1B2C"/>
                    </a:solidFill>
                  </a:tcPr>
                </a:tc>
                <a:tc>
                  <a:txBody>
                    <a:bodyPr/>
                    <a:lstStyle/>
                    <a:p>
                      <a:pPr algn="l"/>
                      <a:r>
                        <a:rPr sz="1950" b="0">
                          <a:solidFill>
                            <a:srgbClr val="F2F5FA"/>
                          </a:solidFill>
                          <a:latin typeface="Arial"/>
                          <a:ea typeface="Arial"/>
                          <a:cs typeface="Arial"/>
                        </a:rPr>
                        <a:t>120</a:t>
                      </a:r>
                    </a:p>
                  </a:txBody>
                  <a:tcPr anchor="ctr">
                    <a:solidFill>
                      <a:srgbClr val="0E1B2C"/>
                    </a:solidFill>
                  </a:tcPr>
                </a:tc>
                <a:extLst>
                  <a:ext uri="{0D108BD9-81ED-4DB2-BD59-A6C34878D82A}">
                    <a16:rowId xmlns:a16="http://schemas.microsoft.com/office/drawing/2014/main" val="10004"/>
                  </a:ext>
                </a:extLst>
              </a:tr>
              <a:tr h="438150">
                <a:tc>
                  <a:txBody>
                    <a:bodyPr/>
                    <a:lstStyle/>
                    <a:p>
                      <a:pPr algn="l"/>
                      <a:r>
                        <a:rPr sz="1950" b="0">
                          <a:solidFill>
                            <a:srgbClr val="F2F5FA"/>
                          </a:solidFill>
                          <a:latin typeface="Arial"/>
                          <a:ea typeface="Arial"/>
                          <a:cs typeface="Arial"/>
                        </a:rPr>
                        <a:t>Loss train</a:t>
                      </a:r>
                    </a:p>
                  </a:txBody>
                  <a:tcPr anchor="ctr">
                    <a:solidFill>
                      <a:srgbClr val="0E1B2C"/>
                    </a:solidFill>
                  </a:tcPr>
                </a:tc>
                <a:tc>
                  <a:txBody>
                    <a:bodyPr/>
                    <a:lstStyle/>
                    <a:p>
                      <a:pPr algn="l"/>
                      <a:r>
                        <a:rPr sz="1950" b="0">
                          <a:solidFill>
                            <a:srgbClr val="F2F5FA"/>
                          </a:solidFill>
                          <a:latin typeface="Arial"/>
                          <a:ea typeface="Arial"/>
                          <a:cs typeface="Arial"/>
                        </a:rPr>
                        <a:t>0,13608</a:t>
                      </a:r>
                    </a:p>
                  </a:txBody>
                  <a:tcPr anchor="ctr">
                    <a:solidFill>
                      <a:srgbClr val="0E1B2C"/>
                    </a:solidFill>
                  </a:tcPr>
                </a:tc>
                <a:tc>
                  <a:txBody>
                    <a:bodyPr/>
                    <a:lstStyle/>
                    <a:p>
                      <a:pPr algn="l"/>
                      <a:r>
                        <a:rPr sz="1950" b="0">
                          <a:solidFill>
                            <a:srgbClr val="F2F5FA"/>
                          </a:solidFill>
                          <a:latin typeface="Arial"/>
                          <a:ea typeface="Arial"/>
                          <a:cs typeface="Arial"/>
                        </a:rPr>
                        <a:t>0,01308</a:t>
                      </a:r>
                    </a:p>
                  </a:txBody>
                  <a:tcPr anchor="ctr">
                    <a:solidFill>
                      <a:srgbClr val="0E1B2C"/>
                    </a:solidFill>
                  </a:tcPr>
                </a:tc>
                <a:extLst>
                  <a:ext uri="{0D108BD9-81ED-4DB2-BD59-A6C34878D82A}">
                    <a16:rowId xmlns:a16="http://schemas.microsoft.com/office/drawing/2014/main" val="10005"/>
                  </a:ext>
                </a:extLst>
              </a:tr>
              <a:tr h="438150">
                <a:tc>
                  <a:txBody>
                    <a:bodyPr/>
                    <a:lstStyle/>
                    <a:p>
                      <a:pPr algn="l"/>
                      <a:r>
                        <a:rPr sz="1950" b="0">
                          <a:solidFill>
                            <a:srgbClr val="F2F5FA"/>
                          </a:solidFill>
                          <a:latin typeface="Arial"/>
                          <a:ea typeface="Arial"/>
                          <a:cs typeface="Arial"/>
                        </a:rPr>
                        <a:t>Loss validation</a:t>
                      </a:r>
                    </a:p>
                  </a:txBody>
                  <a:tcPr anchor="ctr">
                    <a:solidFill>
                      <a:srgbClr val="0E1B2C"/>
                    </a:solidFill>
                  </a:tcPr>
                </a:tc>
                <a:tc>
                  <a:txBody>
                    <a:bodyPr/>
                    <a:lstStyle/>
                    <a:p>
                      <a:pPr algn="l"/>
                      <a:r>
                        <a:rPr sz="1950" b="0">
                          <a:solidFill>
                            <a:srgbClr val="F2F5FA"/>
                          </a:solidFill>
                          <a:latin typeface="Arial"/>
                          <a:ea typeface="Arial"/>
                          <a:cs typeface="Arial"/>
                        </a:rPr>
                        <a:t>0,06483</a:t>
                      </a:r>
                    </a:p>
                  </a:txBody>
                  <a:tcPr anchor="ctr">
                    <a:solidFill>
                      <a:srgbClr val="0E1B2C"/>
                    </a:solidFill>
                  </a:tcPr>
                </a:tc>
                <a:tc>
                  <a:txBody>
                    <a:bodyPr/>
                    <a:lstStyle/>
                    <a:p>
                      <a:pPr algn="l"/>
                      <a:r>
                        <a:rPr sz="1950" b="0">
                          <a:solidFill>
                            <a:srgbClr val="F2F5FA"/>
                          </a:solidFill>
                          <a:latin typeface="Arial"/>
                          <a:ea typeface="Arial"/>
                          <a:cs typeface="Arial"/>
                        </a:rPr>
                        <a:t>0,09608</a:t>
                      </a:r>
                    </a:p>
                  </a:txBody>
                  <a:tcPr anchor="ctr">
                    <a:solidFill>
                      <a:srgbClr val="0E1B2C"/>
                    </a:solidFill>
                  </a:tcPr>
                </a:tc>
                <a:extLst>
                  <a:ext uri="{0D108BD9-81ED-4DB2-BD59-A6C34878D82A}">
                    <a16:rowId xmlns:a16="http://schemas.microsoft.com/office/drawing/2014/main" val="10006"/>
                  </a:ext>
                </a:extLst>
              </a:tr>
              <a:tr h="438150">
                <a:tc>
                  <a:txBody>
                    <a:bodyPr/>
                    <a:lstStyle/>
                    <a:p>
                      <a:pPr algn="l"/>
                      <a:r>
                        <a:rPr sz="1950" b="0">
                          <a:solidFill>
                            <a:srgbClr val="F2F5FA"/>
                          </a:solidFill>
                          <a:latin typeface="Arial"/>
                          <a:ea typeface="Arial"/>
                          <a:cs typeface="Arial"/>
                        </a:rPr>
                        <a:t>Loss test</a:t>
                      </a:r>
                    </a:p>
                  </a:txBody>
                  <a:tcPr anchor="ctr">
                    <a:solidFill>
                      <a:srgbClr val="0E1B2C"/>
                    </a:solidFill>
                  </a:tcPr>
                </a:tc>
                <a:tc>
                  <a:txBody>
                    <a:bodyPr/>
                    <a:lstStyle/>
                    <a:p>
                      <a:pPr algn="l"/>
                      <a:r>
                        <a:rPr sz="1950" b="0">
                          <a:solidFill>
                            <a:srgbClr val="F2F5FA"/>
                          </a:solidFill>
                          <a:latin typeface="Arial"/>
                          <a:ea typeface="Arial"/>
                          <a:cs typeface="Arial"/>
                        </a:rPr>
                        <a:t>0,17489</a:t>
                      </a:r>
                    </a:p>
                  </a:txBody>
                  <a:tcPr anchor="ctr">
                    <a:solidFill>
                      <a:srgbClr val="0E1B2C"/>
                    </a:solidFill>
                  </a:tcPr>
                </a:tc>
                <a:tc>
                  <a:txBody>
                    <a:bodyPr/>
                    <a:lstStyle/>
                    <a:p>
                      <a:pPr algn="l"/>
                      <a:r>
                        <a:rPr sz="1950" b="0" dirty="0">
                          <a:solidFill>
                            <a:srgbClr val="F2F5FA"/>
                          </a:solidFill>
                          <a:latin typeface="Arial"/>
                          <a:ea typeface="Arial"/>
                          <a:cs typeface="Arial"/>
                        </a:rPr>
                        <a:t>0,12433</a:t>
                      </a:r>
                    </a:p>
                  </a:txBody>
                  <a:tcPr anchor="ctr">
                    <a:solidFill>
                      <a:srgbClr val="0E1B2C"/>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C828359C-EAC6-497D-9725-96D3A7B4C25E}"/>
              </a:ext>
            </a:extLst>
          </p:cNvPr>
          <p:cNvSpPr>
            <a:spLocks noGrp="1"/>
          </p:cNvSpPr>
          <p:nvPr/>
        </p:nvSpPr>
        <p:spPr>
          <a:xfrm>
            <a:off x="609600" y="5400675"/>
            <a:ext cx="10972800" cy="361950"/>
          </a:xfrm>
          <a:prstGeom prst="rect">
            <a:avLst/>
          </a:prstGeom>
          <a:noFill/>
          <a:ln w="0">
            <a:noFill/>
          </a:ln>
        </p:spPr>
        <p:txBody>
          <a:bodyPr lIns="0" tIns="0" rIns="0" bIns="0" anchor="t">
            <a:noAutofit/>
          </a:bodyPr>
          <a:lstStyle/>
          <a:p>
            <a:pPr algn="l">
              <a:defRPr sz="1800" b="0">
                <a:solidFill>
                  <a:srgbClr val="BBC9DA"/>
                </a:solidFill>
                <a:latin typeface="Arial"/>
                <a:ea typeface="Arial"/>
                <a:cs typeface="Arial"/>
              </a:defRPr>
            </a:pPr>
            <a:r>
              <a:rPr sz="1800" b="0">
                <a:solidFill>
                  <a:srgbClr val="BBC9DA"/>
                </a:solidFill>
                <a:latin typeface="Arial"/>
                <a:ea typeface="Arial"/>
                <a:cs typeface="Arial"/>
              </a:rPr>
              <a:t>Loss đánh giá ảnh gốc trên cùng tập. Train 20.404, validation 3.697 ảnh.</a:t>
            </a:r>
          </a:p>
        </p:txBody>
      </p:sp>
      <p:sp>
        <p:nvSpPr>
          <p:cNvPr id="6" name="Rectangle 5">
            <a:extLst>
              <a:ext uri="{FF2B5EF4-FFF2-40B4-BE49-F238E27FC236}">
                <a16:creationId xmlns:a16="http://schemas.microsoft.com/office/drawing/2014/main" id="{1102E9BF-B765-4D67-939D-EA64B24C9F65}"/>
              </a:ext>
            </a:extLst>
          </p:cNvPr>
          <p:cNvSpPr>
            <a:spLocks noGrp="1"/>
          </p:cNvSpPr>
          <p:nvPr/>
        </p:nvSpPr>
        <p:spPr>
          <a:xfrm>
            <a:off x="609600" y="5819775"/>
            <a:ext cx="10972800" cy="571500"/>
          </a:xfrm>
          <a:prstGeom prst="rect">
            <a:avLst/>
          </a:prstGeom>
          <a:noFill/>
          <a:ln w="0">
            <a:noFill/>
          </a:ln>
        </p:spPr>
        <p:txBody>
          <a:bodyPr lIns="0" tIns="0" rIns="0" bIns="0" anchor="t">
            <a:noAutofit/>
          </a:bodyPr>
          <a:lstStyle/>
          <a:p>
            <a:pPr algn="l">
              <a:defRPr sz="1800" b="0">
                <a:solidFill>
                  <a:srgbClr val="FFCB79"/>
                </a:solidFill>
                <a:latin typeface="Arial"/>
                <a:ea typeface="Arial"/>
                <a:cs typeface="Arial"/>
              </a:defRPr>
            </a:pPr>
            <a:r>
              <a:rPr sz="1800" b="0">
                <a:solidFill>
                  <a:srgbClr val="FFCB79"/>
                </a:solidFill>
                <a:latin typeface="Arial"/>
                <a:ea typeface="Arial"/>
                <a:cs typeface="Arial"/>
              </a:rPr>
              <a:t>Validation trước đã từng dùng một phần nguồn để train.</a:t>
            </a:r>
          </a:p>
          <a:p>
            <a:pPr algn="l">
              <a:defRPr sz="1800" b="0">
                <a:solidFill>
                  <a:srgbClr val="FFCB79"/>
                </a:solidFill>
                <a:latin typeface="Arial"/>
                <a:ea typeface="Arial"/>
                <a:cs typeface="Arial"/>
              </a:defRPr>
            </a:pPr>
            <a:r>
              <a:rPr sz="1800" b="0">
                <a:solidFill>
                  <a:srgbClr val="FFCB79"/>
                </a:solidFill>
                <a:latin typeface="Arial"/>
                <a:ea typeface="Arial"/>
                <a:cs typeface="Arial"/>
              </a:rPr>
              <a:t>Test này phục vụ phát triển và đã được xem trước.</a:t>
            </a:r>
          </a:p>
        </p:txBody>
      </p:sp>
    </p:spTree>
    <p:extLst>
      <p:ext uri="{BB962C8B-B14F-4D97-AF65-F5344CB8AC3E}">
        <p14:creationId xmlns:p14="http://schemas.microsoft.com/office/powerpoint/2010/main" val="208306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B2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780DB5-BB32-408F-B065-443351CEEED4}"/>
              </a:ext>
            </a:extLst>
          </p:cNvPr>
          <p:cNvSpPr>
            <a:spLocks noGrp="1"/>
          </p:cNvSpPr>
          <p:nvPr/>
        </p:nvSpPr>
        <p:spPr>
          <a:xfrm>
            <a:off x="609600" y="457200"/>
            <a:ext cx="10972800" cy="609600"/>
          </a:xfrm>
          <a:prstGeom prst="rect">
            <a:avLst/>
          </a:prstGeom>
          <a:noFill/>
          <a:ln w="0">
            <a:noFill/>
          </a:ln>
        </p:spPr>
        <p:txBody>
          <a:bodyPr lIns="0" tIns="0" rIns="0" bIns="0" anchor="t">
            <a:noAutofit/>
          </a:bodyPr>
          <a:lstStyle/>
          <a:p>
            <a:pPr algn="l">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Rectangle 1">
            <a:extLst>
              <a:ext uri="{FF2B5EF4-FFF2-40B4-BE49-F238E27FC236}">
                <a16:creationId xmlns:a16="http://schemas.microsoft.com/office/drawing/2014/main" id="{0FA6D03B-EF1A-4534-9FC8-8A8CA1DE4F89}"/>
              </a:ext>
            </a:extLst>
          </p:cNvPr>
          <p:cNvSpPr>
            <a:spLocks noGrp="1"/>
          </p:cNvSpPr>
          <p:nvPr/>
        </p:nvSpPr>
        <p:spPr>
          <a:xfrm>
            <a:off x="609600" y="1123950"/>
            <a:ext cx="10972800" cy="342900"/>
          </a:xfrm>
          <a:prstGeom prst="rect">
            <a:avLst/>
          </a:prstGeom>
          <a:noFill/>
          <a:ln w="0">
            <a:noFill/>
          </a:ln>
        </p:spPr>
        <p:txBody>
          <a:bodyPr lIns="0" tIns="0" rIns="0" bIns="0" anchor="t">
            <a:noAutofit/>
          </a:bodyPr>
          <a:lstStyle/>
          <a:p>
            <a:pPr algn="l">
              <a:defRPr sz="1950" b="0">
                <a:solidFill>
                  <a:srgbClr val="78C7FF"/>
                </a:solidFill>
                <a:latin typeface="Arial"/>
                <a:ea typeface="Arial"/>
                <a:cs typeface="Arial"/>
              </a:defRPr>
            </a:pPr>
            <a:r>
              <a:rPr sz="1950" b="0">
                <a:solidFill>
                  <a:srgbClr val="78C7FF"/>
                </a:solidFill>
                <a:latin typeface="Arial"/>
                <a:ea typeface="Arial"/>
                <a:cs typeface="Arial"/>
              </a:rPr>
              <a:t>Test chung tốt hơn. Video mới vẫn cần cải thiện.</a:t>
            </a:r>
          </a:p>
        </p:txBody>
      </p:sp>
      <p:sp>
        <p:nvSpPr>
          <p:cNvPr id="3" name="Rectangle 2">
            <a:extLst>
              <a:ext uri="{FF2B5EF4-FFF2-40B4-BE49-F238E27FC236}">
                <a16:creationId xmlns:a16="http://schemas.microsoft.com/office/drawing/2014/main" id="{93556733-321C-4EDD-8280-D08B74301D82}"/>
              </a:ext>
            </a:extLst>
          </p:cNvPr>
          <p:cNvSpPr>
            <a:spLocks noGrp="1"/>
          </p:cNvSpPr>
          <p:nvPr/>
        </p:nvSpPr>
        <p:spPr>
          <a:xfrm>
            <a:off x="11239500" y="6429375"/>
            <a:ext cx="381000" cy="238125"/>
          </a:xfrm>
          <a:prstGeom prst="rect">
            <a:avLst/>
          </a:prstGeom>
          <a:noFill/>
          <a:ln w="0">
            <a:noFill/>
          </a:ln>
        </p:spPr>
        <p:txBody>
          <a:bodyPr lIns="0" tIns="0" rIns="0" bIns="0" anchor="t">
            <a:noAutofit/>
          </a:bodyPr>
          <a:lstStyle/>
          <a:p>
            <a:pPr algn="r">
              <a:defRPr sz="1350" b="0">
                <a:solidFill>
                  <a:srgbClr val="BBC9DA"/>
                </a:solidFill>
                <a:latin typeface="Arial"/>
                <a:ea typeface="Arial"/>
                <a:cs typeface="Arial"/>
              </a:defRPr>
            </a:pPr>
            <a:r>
              <a:rPr sz="1350" b="0">
                <a:solidFill>
                  <a:srgbClr val="BBC9DA"/>
                </a:solidFill>
                <a:latin typeface="Arial"/>
                <a:ea typeface="Arial"/>
                <a:cs typeface="Arial"/>
              </a:rPr>
              <a:t>05</a:t>
            </a:r>
          </a:p>
        </p:txBody>
      </p:sp>
      <p:graphicFrame>
        <p:nvGraphicFramePr>
          <p:cNvPr id="11" name="Table 10"/>
          <p:cNvGraphicFramePr/>
          <p:nvPr/>
        </p:nvGraphicFramePr>
        <p:xfrm>
          <a:off x="609600" y="1685925"/>
          <a:ext cx="10972800" cy="2867025"/>
        </p:xfrm>
        <a:graphic>
          <a:graphicData uri="http://schemas.openxmlformats.org/drawingml/2006/table">
            <a:tbl>
              <a:tblPr/>
              <a:tblGrid>
                <a:gridCol w="5486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09575">
                <a:tc>
                  <a:txBody>
                    <a:bodyPr/>
                    <a:lstStyle/>
                    <a:p>
                      <a:pPr algn="l"/>
                      <a:r>
                        <a:rPr sz="1875" b="1">
                          <a:solidFill>
                            <a:srgbClr val="78C7FF"/>
                          </a:solidFill>
                          <a:latin typeface="Arial"/>
                          <a:ea typeface="Arial"/>
                          <a:cs typeface="Arial"/>
                        </a:rPr>
                        <a:t>Kết quả riêng</a:t>
                      </a:r>
                    </a:p>
                  </a:txBody>
                  <a:tcPr anchor="ctr">
                    <a:solidFill>
                      <a:srgbClr val="213A54"/>
                    </a:solidFill>
                  </a:tcPr>
                </a:tc>
                <a:tc>
                  <a:txBody>
                    <a:bodyPr/>
                    <a:lstStyle/>
                    <a:p>
                      <a:pPr algn="l"/>
                      <a:r>
                        <a:rPr sz="1875" b="1">
                          <a:solidFill>
                            <a:srgbClr val="78C7FF"/>
                          </a:solidFill>
                          <a:latin typeface="Arial"/>
                          <a:ea typeface="Arial"/>
                          <a:cs typeface="Arial"/>
                        </a:rPr>
                        <a:t>Trước gộp</a:t>
                      </a:r>
                    </a:p>
                  </a:txBody>
                  <a:tcPr anchor="ctr">
                    <a:solidFill>
                      <a:srgbClr val="213A54"/>
                    </a:solidFill>
                  </a:tcPr>
                </a:tc>
                <a:tc>
                  <a:txBody>
                    <a:bodyPr/>
                    <a:lstStyle/>
                    <a:p>
                      <a:pPr algn="l"/>
                      <a:r>
                        <a:rPr sz="1875" b="1">
                          <a:solidFill>
                            <a:srgbClr val="78C7FF"/>
                          </a:solidFill>
                          <a:latin typeface="Arial"/>
                          <a:ea typeface="Arial"/>
                          <a:cs typeface="Arial"/>
                        </a:rPr>
                        <a:t>Sau sửa</a:t>
                      </a:r>
                    </a:p>
                  </a:txBody>
                  <a:tcPr anchor="ctr">
                    <a:solidFill>
                      <a:srgbClr val="213A54"/>
                    </a:solidFill>
                  </a:tcPr>
                </a:tc>
                <a:extLst>
                  <a:ext uri="{0D108BD9-81ED-4DB2-BD59-A6C34878D82A}">
                    <a16:rowId xmlns:a16="http://schemas.microsoft.com/office/drawing/2014/main" val="10000"/>
                  </a:ext>
                </a:extLst>
              </a:tr>
              <a:tr h="409575">
                <a:tc>
                  <a:txBody>
                    <a:bodyPr/>
                    <a:lstStyle/>
                    <a:p>
                      <a:pPr algn="l"/>
                      <a:r>
                        <a:rPr sz="1875" b="0">
                          <a:solidFill>
                            <a:srgbClr val="F2F5FA"/>
                          </a:solidFill>
                          <a:latin typeface="Arial"/>
                          <a:ea typeface="Arial"/>
                          <a:cs typeface="Arial"/>
                        </a:rPr>
                        <a:t>F1 ảnh cũ</a:t>
                      </a:r>
                    </a:p>
                  </a:txBody>
                  <a:tcPr anchor="ctr">
                    <a:solidFill>
                      <a:srgbClr val="0E1B2C"/>
                    </a:solidFill>
                  </a:tcPr>
                </a:tc>
                <a:tc>
                  <a:txBody>
                    <a:bodyPr/>
                    <a:lstStyle/>
                    <a:p>
                      <a:pPr algn="l"/>
                      <a:r>
                        <a:rPr sz="1875" b="0">
                          <a:solidFill>
                            <a:srgbClr val="F2F5FA"/>
                          </a:solidFill>
                          <a:latin typeface="Arial"/>
                          <a:ea typeface="Arial"/>
                          <a:cs typeface="Arial"/>
                        </a:rPr>
                        <a:t>89,02%</a:t>
                      </a:r>
                    </a:p>
                  </a:txBody>
                  <a:tcPr anchor="ctr">
                    <a:solidFill>
                      <a:srgbClr val="0E1B2C"/>
                    </a:solidFill>
                  </a:tcPr>
                </a:tc>
                <a:tc>
                  <a:txBody>
                    <a:bodyPr/>
                    <a:lstStyle/>
                    <a:p>
                      <a:pPr algn="l"/>
                      <a:r>
                        <a:rPr sz="1875" b="0">
                          <a:solidFill>
                            <a:srgbClr val="F2F5FA"/>
                          </a:solidFill>
                          <a:latin typeface="Arial"/>
                          <a:ea typeface="Arial"/>
                          <a:cs typeface="Arial"/>
                        </a:rPr>
                        <a:t>94,66%</a:t>
                      </a:r>
                    </a:p>
                  </a:txBody>
                  <a:tcPr anchor="ctr">
                    <a:solidFill>
                      <a:srgbClr val="0E1B2C"/>
                    </a:solidFill>
                  </a:tcPr>
                </a:tc>
                <a:extLst>
                  <a:ext uri="{0D108BD9-81ED-4DB2-BD59-A6C34878D82A}">
                    <a16:rowId xmlns:a16="http://schemas.microsoft.com/office/drawing/2014/main" val="10001"/>
                  </a:ext>
                </a:extLst>
              </a:tr>
              <a:tr h="409575">
                <a:tc>
                  <a:txBody>
                    <a:bodyPr/>
                    <a:lstStyle/>
                    <a:p>
                      <a:pPr algn="l"/>
                      <a:r>
                        <a:rPr sz="1875" b="0">
                          <a:solidFill>
                            <a:srgbClr val="F2F5FA"/>
                          </a:solidFill>
                          <a:latin typeface="Arial"/>
                          <a:ea typeface="Arial"/>
                          <a:cs typeface="Arial"/>
                        </a:rPr>
                        <a:t>F1 ảnh từ video mới</a:t>
                      </a:r>
                    </a:p>
                  </a:txBody>
                  <a:tcPr anchor="ctr">
                    <a:solidFill>
                      <a:srgbClr val="0E1B2C"/>
                    </a:solidFill>
                  </a:tcPr>
                </a:tc>
                <a:tc>
                  <a:txBody>
                    <a:bodyPr/>
                    <a:lstStyle/>
                    <a:p>
                      <a:pPr algn="l"/>
                      <a:r>
                        <a:rPr sz="1875" b="0">
                          <a:solidFill>
                            <a:srgbClr val="F2F5FA"/>
                          </a:solidFill>
                          <a:latin typeface="Arial"/>
                          <a:ea typeface="Arial"/>
                          <a:cs typeface="Arial"/>
                        </a:rPr>
                        <a:t>97,81%</a:t>
                      </a:r>
                    </a:p>
                  </a:txBody>
                  <a:tcPr anchor="ctr">
                    <a:solidFill>
                      <a:srgbClr val="0E1B2C"/>
                    </a:solidFill>
                  </a:tcPr>
                </a:tc>
                <a:tc>
                  <a:txBody>
                    <a:bodyPr/>
                    <a:lstStyle/>
                    <a:p>
                      <a:pPr algn="l"/>
                      <a:r>
                        <a:rPr sz="1875" b="0">
                          <a:solidFill>
                            <a:srgbClr val="F2F5FA"/>
                          </a:solidFill>
                          <a:latin typeface="Arial"/>
                          <a:ea typeface="Arial"/>
                          <a:cs typeface="Arial"/>
                        </a:rPr>
                        <a:t>96,02%</a:t>
                      </a:r>
                    </a:p>
                  </a:txBody>
                  <a:tcPr anchor="ctr">
                    <a:solidFill>
                      <a:srgbClr val="0E1B2C"/>
                    </a:solidFill>
                  </a:tcPr>
                </a:tc>
                <a:extLst>
                  <a:ext uri="{0D108BD9-81ED-4DB2-BD59-A6C34878D82A}">
                    <a16:rowId xmlns:a16="http://schemas.microsoft.com/office/drawing/2014/main" val="10002"/>
                  </a:ext>
                </a:extLst>
              </a:tr>
              <a:tr h="409575">
                <a:tc>
                  <a:txBody>
                    <a:bodyPr/>
                    <a:lstStyle/>
                    <a:p>
                      <a:pPr algn="l"/>
                      <a:r>
                        <a:rPr sz="1875" b="0">
                          <a:solidFill>
                            <a:srgbClr val="F2F5FA"/>
                          </a:solidFill>
                          <a:latin typeface="Arial"/>
                          <a:ea typeface="Arial"/>
                          <a:cs typeface="Arial"/>
                        </a:rPr>
                        <a:t>Giả thành thật (Drive)</a:t>
                      </a:r>
                    </a:p>
                  </a:txBody>
                  <a:tcPr anchor="ctr">
                    <a:solidFill>
                      <a:srgbClr val="0E1B2C"/>
                    </a:solidFill>
                  </a:tcPr>
                </a:tc>
                <a:tc>
                  <a:txBody>
                    <a:bodyPr/>
                    <a:lstStyle/>
                    <a:p>
                      <a:pPr algn="l"/>
                      <a:r>
                        <a:rPr sz="1875" b="0">
                          <a:solidFill>
                            <a:srgbClr val="F2F5FA"/>
                          </a:solidFill>
                          <a:latin typeface="Arial"/>
                          <a:ea typeface="Arial"/>
                          <a:cs typeface="Arial"/>
                        </a:rPr>
                        <a:t>4,47%</a:t>
                      </a:r>
                    </a:p>
                  </a:txBody>
                  <a:tcPr anchor="ctr">
                    <a:solidFill>
                      <a:srgbClr val="0E1B2C"/>
                    </a:solidFill>
                  </a:tcPr>
                </a:tc>
                <a:tc>
                  <a:txBody>
                    <a:bodyPr/>
                    <a:lstStyle/>
                    <a:p>
                      <a:pPr algn="l"/>
                      <a:r>
                        <a:rPr sz="1875" b="0">
                          <a:solidFill>
                            <a:srgbClr val="F2F5FA"/>
                          </a:solidFill>
                          <a:latin typeface="Arial"/>
                          <a:ea typeface="Arial"/>
                          <a:cs typeface="Arial"/>
                        </a:rPr>
                        <a:t>7,98%</a:t>
                      </a:r>
                    </a:p>
                  </a:txBody>
                  <a:tcPr anchor="ctr">
                    <a:solidFill>
                      <a:srgbClr val="0E1B2C"/>
                    </a:solidFill>
                  </a:tcPr>
                </a:tc>
                <a:extLst>
                  <a:ext uri="{0D108BD9-81ED-4DB2-BD59-A6C34878D82A}">
                    <a16:rowId xmlns:a16="http://schemas.microsoft.com/office/drawing/2014/main" val="10003"/>
                  </a:ext>
                </a:extLst>
              </a:tr>
              <a:tr h="409575">
                <a:tc>
                  <a:txBody>
                    <a:bodyPr/>
                    <a:lstStyle/>
                    <a:p>
                      <a:pPr algn="l"/>
                      <a:r>
                        <a:rPr sz="1875" b="0">
                          <a:solidFill>
                            <a:srgbClr val="F2F5FA"/>
                          </a:solidFill>
                          <a:latin typeface="Arial"/>
                          <a:ea typeface="Arial"/>
                          <a:cs typeface="Arial"/>
                        </a:rPr>
                        <a:t>Replay: đúng / 942</a:t>
                      </a:r>
                    </a:p>
                  </a:txBody>
                  <a:tcPr anchor="ctr">
                    <a:solidFill>
                      <a:srgbClr val="0E1B2C"/>
                    </a:solidFill>
                  </a:tcPr>
                </a:tc>
                <a:tc>
                  <a:txBody>
                    <a:bodyPr/>
                    <a:lstStyle/>
                    <a:p>
                      <a:pPr algn="l"/>
                      <a:r>
                        <a:rPr sz="1875" b="0">
                          <a:solidFill>
                            <a:srgbClr val="F2F5FA"/>
                          </a:solidFill>
                          <a:latin typeface="Arial"/>
                          <a:ea typeface="Arial"/>
                          <a:cs typeface="Arial"/>
                        </a:rPr>
                        <a:t>741</a:t>
                      </a:r>
                    </a:p>
                  </a:txBody>
                  <a:tcPr anchor="ctr">
                    <a:solidFill>
                      <a:srgbClr val="0E1B2C"/>
                    </a:solidFill>
                  </a:tcPr>
                </a:tc>
                <a:tc>
                  <a:txBody>
                    <a:bodyPr/>
                    <a:lstStyle/>
                    <a:p>
                      <a:pPr algn="l"/>
                      <a:r>
                        <a:rPr sz="1875" b="0">
                          <a:solidFill>
                            <a:srgbClr val="F2F5FA"/>
                          </a:solidFill>
                          <a:latin typeface="Arial"/>
                          <a:ea typeface="Arial"/>
                          <a:cs typeface="Arial"/>
                        </a:rPr>
                        <a:t>714</a:t>
                      </a:r>
                    </a:p>
                  </a:txBody>
                  <a:tcPr anchor="ctr">
                    <a:solidFill>
                      <a:srgbClr val="0E1B2C"/>
                    </a:solidFill>
                  </a:tcPr>
                </a:tc>
                <a:extLst>
                  <a:ext uri="{0D108BD9-81ED-4DB2-BD59-A6C34878D82A}">
                    <a16:rowId xmlns:a16="http://schemas.microsoft.com/office/drawing/2014/main" val="10004"/>
                  </a:ext>
                </a:extLst>
              </a:tr>
              <a:tr h="409575">
                <a:tc>
                  <a:txBody>
                    <a:bodyPr/>
                    <a:lstStyle/>
                    <a:p>
                      <a:pPr algn="l"/>
                      <a:r>
                        <a:rPr sz="1875" b="0">
                          <a:solidFill>
                            <a:srgbClr val="F2F5FA"/>
                          </a:solidFill>
                          <a:latin typeface="Arial"/>
                          <a:ea typeface="Arial"/>
                          <a:cs typeface="Arial"/>
                        </a:rPr>
                        <a:t>Replay: sai</a:t>
                      </a:r>
                    </a:p>
                  </a:txBody>
                  <a:tcPr anchor="ctr">
                    <a:solidFill>
                      <a:srgbClr val="0E1B2C"/>
                    </a:solidFill>
                  </a:tcPr>
                </a:tc>
                <a:tc>
                  <a:txBody>
                    <a:bodyPr/>
                    <a:lstStyle/>
                    <a:p>
                      <a:pPr algn="l"/>
                      <a:r>
                        <a:rPr sz="1875" b="0">
                          <a:solidFill>
                            <a:srgbClr val="F2F5FA"/>
                          </a:solidFill>
                          <a:latin typeface="Arial"/>
                          <a:ea typeface="Arial"/>
                          <a:cs typeface="Arial"/>
                        </a:rPr>
                        <a:t>0</a:t>
                      </a:r>
                    </a:p>
                  </a:txBody>
                  <a:tcPr anchor="ctr">
                    <a:solidFill>
                      <a:srgbClr val="0E1B2C"/>
                    </a:solidFill>
                  </a:tcPr>
                </a:tc>
                <a:tc>
                  <a:txBody>
                    <a:bodyPr/>
                    <a:lstStyle/>
                    <a:p>
                      <a:pPr algn="l"/>
                      <a:r>
                        <a:rPr sz="1875" b="0">
                          <a:solidFill>
                            <a:srgbClr val="F2F5FA"/>
                          </a:solidFill>
                          <a:latin typeface="Arial"/>
                          <a:ea typeface="Arial"/>
                          <a:cs typeface="Arial"/>
                        </a:rPr>
                        <a:t>0</a:t>
                      </a:r>
                    </a:p>
                  </a:txBody>
                  <a:tcPr anchor="ctr">
                    <a:solidFill>
                      <a:srgbClr val="0E1B2C"/>
                    </a:solidFill>
                  </a:tcPr>
                </a:tc>
                <a:extLst>
                  <a:ext uri="{0D108BD9-81ED-4DB2-BD59-A6C34878D82A}">
                    <a16:rowId xmlns:a16="http://schemas.microsoft.com/office/drawing/2014/main" val="10005"/>
                  </a:ext>
                </a:extLst>
              </a:tr>
              <a:tr h="409575">
                <a:tc>
                  <a:txBody>
                    <a:bodyPr/>
                    <a:lstStyle/>
                    <a:p>
                      <a:pPr algn="l"/>
                      <a:r>
                        <a:rPr sz="1875" b="0">
                          <a:solidFill>
                            <a:srgbClr val="F2F5FA"/>
                          </a:solidFill>
                          <a:latin typeface="Arial"/>
                          <a:ea typeface="Arial"/>
                          <a:cs typeface="Arial"/>
                        </a:rPr>
                        <a:t>Replay: chưa kết luận</a:t>
                      </a:r>
                    </a:p>
                  </a:txBody>
                  <a:tcPr anchor="ctr">
                    <a:solidFill>
                      <a:srgbClr val="0E1B2C"/>
                    </a:solidFill>
                  </a:tcPr>
                </a:tc>
                <a:tc>
                  <a:txBody>
                    <a:bodyPr/>
                    <a:lstStyle/>
                    <a:p>
                      <a:pPr algn="l"/>
                      <a:r>
                        <a:rPr sz="1875" b="0">
                          <a:solidFill>
                            <a:srgbClr val="F2F5FA"/>
                          </a:solidFill>
                          <a:latin typeface="Arial"/>
                          <a:ea typeface="Arial"/>
                          <a:cs typeface="Arial"/>
                        </a:rPr>
                        <a:t>201</a:t>
                      </a:r>
                    </a:p>
                  </a:txBody>
                  <a:tcPr anchor="ctr">
                    <a:solidFill>
                      <a:srgbClr val="0E1B2C"/>
                    </a:solidFill>
                  </a:tcPr>
                </a:tc>
                <a:tc>
                  <a:txBody>
                    <a:bodyPr/>
                    <a:lstStyle/>
                    <a:p>
                      <a:pPr algn="l"/>
                      <a:r>
                        <a:rPr sz="1875" b="0">
                          <a:solidFill>
                            <a:srgbClr val="F2F5FA"/>
                          </a:solidFill>
                          <a:latin typeface="Arial"/>
                          <a:ea typeface="Arial"/>
                          <a:cs typeface="Arial"/>
                        </a:rPr>
                        <a:t>228</a:t>
                      </a:r>
                    </a:p>
                  </a:txBody>
                  <a:tcPr anchor="ctr">
                    <a:solidFill>
                      <a:srgbClr val="0E1B2C"/>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3270F233-9D5D-4F1E-80B6-F1566C41B6AC}"/>
              </a:ext>
            </a:extLst>
          </p:cNvPr>
          <p:cNvSpPr>
            <a:spLocks noGrp="1"/>
          </p:cNvSpPr>
          <p:nvPr/>
        </p:nvSpPr>
        <p:spPr>
          <a:xfrm>
            <a:off x="609600" y="4810125"/>
            <a:ext cx="10972800" cy="333375"/>
          </a:xfrm>
          <a:prstGeom prst="rect">
            <a:avLst/>
          </a:prstGeom>
          <a:noFill/>
          <a:ln w="0">
            <a:noFill/>
          </a:ln>
        </p:spPr>
        <p:txBody>
          <a:bodyPr lIns="0" tIns="0" rIns="0" bIns="0" anchor="t">
            <a:noAutofit/>
          </a:bodyPr>
          <a:lstStyle/>
          <a:p>
            <a:pPr algn="l">
              <a:defRPr sz="1875" b="0">
                <a:solidFill>
                  <a:srgbClr val="F2F5FA"/>
                </a:solidFill>
                <a:latin typeface="Arial"/>
                <a:ea typeface="Arial"/>
                <a:cs typeface="Arial"/>
              </a:defRPr>
            </a:pPr>
            <a:r>
              <a:rPr sz="1875" b="0">
                <a:solidFill>
                  <a:srgbClr val="F2F5FA"/>
                </a:solidFill>
                <a:latin typeface="Arial"/>
                <a:ea typeface="Arial"/>
                <a:cs typeface="Arial"/>
              </a:rPr>
              <a:t>API local: em đã gọi HTTP thật và kiểm tra session nhiều khung.</a:t>
            </a:r>
          </a:p>
        </p:txBody>
      </p:sp>
      <p:sp>
        <p:nvSpPr>
          <p:cNvPr id="6" name="Rectangle 5">
            <a:extLst>
              <a:ext uri="{FF2B5EF4-FFF2-40B4-BE49-F238E27FC236}">
                <a16:creationId xmlns:a16="http://schemas.microsoft.com/office/drawing/2014/main" id="{93CFCE25-85CD-4384-B7F5-40E3DB14E214}"/>
              </a:ext>
            </a:extLst>
          </p:cNvPr>
          <p:cNvSpPr>
            <a:spLocks noGrp="1"/>
          </p:cNvSpPr>
          <p:nvPr/>
        </p:nvSpPr>
        <p:spPr>
          <a:xfrm>
            <a:off x="609600" y="5229225"/>
            <a:ext cx="10972800" cy="333375"/>
          </a:xfrm>
          <a:prstGeom prst="rect">
            <a:avLst/>
          </a:prstGeom>
          <a:noFill/>
          <a:ln w="0">
            <a:noFill/>
          </a:ln>
        </p:spPr>
        <p:txBody>
          <a:bodyPr lIns="0" tIns="0" rIns="0" bIns="0" anchor="t">
            <a:noAutofit/>
          </a:bodyPr>
          <a:lstStyle/>
          <a:p>
            <a:pPr algn="l">
              <a:defRPr sz="1875" b="0">
                <a:solidFill>
                  <a:srgbClr val="FFCB79"/>
                </a:solidFill>
                <a:latin typeface="Arial"/>
                <a:ea typeface="Arial"/>
                <a:cs typeface="Arial"/>
              </a:defRPr>
            </a:pPr>
            <a:r>
              <a:rPr sz="1875" b="0">
                <a:solidFill>
                  <a:srgbClr val="FFCB79"/>
                </a:solidFill>
                <a:latin typeface="Arial"/>
                <a:ea typeface="Arial"/>
                <a:cs typeface="Arial"/>
              </a:rPr>
              <a:t>Em lưu riêng bản mới để kiểm thử thêm trước khi thay model mặc định.</a:t>
            </a:r>
          </a:p>
        </p:txBody>
      </p:sp>
      <p:sp>
        <p:nvSpPr>
          <p:cNvPr id="7" name="Rectangle 6">
            <a:extLst>
              <a:ext uri="{FF2B5EF4-FFF2-40B4-BE49-F238E27FC236}">
                <a16:creationId xmlns:a16="http://schemas.microsoft.com/office/drawing/2014/main" id="{ADC8607D-3DA6-45FD-9937-D13731393CF9}"/>
              </a:ext>
            </a:extLst>
          </p:cNvPr>
          <p:cNvSpPr>
            <a:spLocks noGrp="1"/>
          </p:cNvSpPr>
          <p:nvPr/>
        </p:nvSpPr>
        <p:spPr>
          <a:xfrm>
            <a:off x="609600" y="5705475"/>
            <a:ext cx="10972800" cy="638175"/>
          </a:xfrm>
          <a:prstGeom prst="rect">
            <a:avLst/>
          </a:prstGeom>
          <a:noFill/>
          <a:ln w="0">
            <a:noFill/>
          </a:ln>
        </p:spPr>
        <p:txBody>
          <a:bodyPr lIns="0" tIns="0" rIns="0" bIns="0" anchor="t">
            <a:noAutofit/>
          </a:bodyPr>
          <a:lstStyle/>
          <a:p>
            <a:pPr algn="l">
              <a:defRPr sz="1875" b="1">
                <a:solidFill>
                  <a:srgbClr val="65D6AA"/>
                </a:solidFill>
                <a:latin typeface="Arial"/>
                <a:ea typeface="Arial"/>
                <a:cs typeface="Arial"/>
              </a:defRPr>
            </a:pPr>
            <a:r>
              <a:rPr sz="1875" b="1">
                <a:solidFill>
                  <a:srgbClr val="65D6AA"/>
                </a:solidFill>
                <a:latin typeface="Arial"/>
                <a:ea typeface="Arial"/>
                <a:cs typeface="Arial"/>
              </a:rPr>
              <a:t>Tiếp theo: thêm người và thiết bị test mới. Đưa API ra ngoài local</a:t>
            </a:r>
          </a:p>
          <a:p>
            <a:pPr algn="l">
              <a:defRPr sz="1875" b="1">
                <a:solidFill>
                  <a:srgbClr val="65D6AA"/>
                </a:solidFill>
                <a:latin typeface="Arial"/>
                <a:ea typeface="Arial"/>
                <a:cs typeface="Arial"/>
              </a:defRPr>
            </a:pPr>
            <a:r>
              <a:rPr sz="1875" b="1">
                <a:solidFill>
                  <a:srgbClr val="65D6AA"/>
                </a:solidFill>
                <a:latin typeface="Arial"/>
                <a:ea typeface="Arial"/>
                <a:cs typeface="Arial"/>
              </a:rPr>
              <a:t>và tích hợp với ứng dụng nhận diện danh tính.</a:t>
            </a:r>
          </a:p>
        </p:txBody>
      </p:sp>
    </p:spTree>
    <p:extLst>
      <p:ext uri="{BB962C8B-B14F-4D97-AF65-F5344CB8AC3E}">
        <p14:creationId xmlns:p14="http://schemas.microsoft.com/office/powerpoint/2010/main" val="1482315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1959</Words>
  <Application>Microsoft Office PowerPoint</Application>
  <DocSecurity>0</DocSecurity>
  <PresentationFormat>Widescreen</PresentationFormat>
  <Paragraphs>157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Van Thanh</cp:lastModifiedBy>
  <cp:revision>1</cp:revision>
  <dcterms:created xsi:type="dcterms:W3CDTF">2026-10-01T08:09:21Z</dcterms:created>
  <dcterms:modified xsi:type="dcterms:W3CDTF">2026-10-01T08:15:53Z</dcterms:modified>
</cp:coreProperties>
</file>