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4a9d61cb6b4a09" /><Relationship Type="http://schemas.openxmlformats.org/officeDocument/2006/relationships/extended-properties" Target="/docProps/app.xml" Id="R430516e862bc416d" /><Relationship Type="http://schemas.openxmlformats.org/officeDocument/2006/relationships/officeDocument" Target="/ppt/presentation.xml" Id="R4760acdd3386407a" /></Relationships>
</file>

<file path=ppt/presentation.xml><?xml version="1.0" encoding="utf-8"?>
<p:presentation xmlns:p="http://schemas.openxmlformats.org/presentationml/2006/main">
  <p:sldMasterIdLst>
    <p:sldMasterId xmlns:r="http://schemas.openxmlformats.org/officeDocument/2006/relationships" id="2147483648" r:id="Re39968d4c77841dd"/>
  </p:sldMasterIdLst>
  <p:notesMasterIdLst>
    <p:notesMasterId xmlns:r="http://schemas.openxmlformats.org/officeDocument/2006/relationships" r:id="Rd3cafec4f26d4d8d"/>
  </p:notesMasterIdLst>
  <p:sldIdLst>
    <p:sldId xmlns:r="http://schemas.openxmlformats.org/officeDocument/2006/relationships" id="256" r:id="Rc9499782f9a74c44"/>
    <p:sldId xmlns:r="http://schemas.openxmlformats.org/officeDocument/2006/relationships" id="257" r:id="Rd7d7fef301ff4e13"/>
    <p:sldId xmlns:r="http://schemas.openxmlformats.org/officeDocument/2006/relationships" id="258" r:id="Rdaf003e0df25496e"/>
    <p:sldId xmlns:r="http://schemas.openxmlformats.org/officeDocument/2006/relationships" id="259" r:id="R9c4e986a59d645e4"/>
    <p:sldId xmlns:r="http://schemas.openxmlformats.org/officeDocument/2006/relationships" id="260" r:id="R83927e6d01884df7"/>
    <p:sldId xmlns:r="http://schemas.openxmlformats.org/officeDocument/2006/relationships" id="261" r:id="R5fc2aa36222345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1c44a1eb024922" /><Relationship Type="http://schemas.openxmlformats.org/officeDocument/2006/relationships/slideMaster" Target="/ppt/slideMasters/slideMaster1.xml" Id="Re39968d4c77841dd" /><Relationship Type="http://schemas.openxmlformats.org/officeDocument/2006/relationships/notesMaster" Target="/ppt/notesMasters/notesMaster1.xml" Id="Rd3cafec4f26d4d8d" /><Relationship Type="http://schemas.openxmlformats.org/officeDocument/2006/relationships/presProps" Target="/ppt/presProps.xml" Id="R4cf90fede3f64264" /><Relationship Type="http://schemas.openxmlformats.org/officeDocument/2006/relationships/tableStyles" Target="/ppt/tableStyles.xml" Id="Rfb7dda5c840a49b7" /><Relationship Type="http://schemas.openxmlformats.org/officeDocument/2006/relationships/slide" Target="/ppt/slides/slide1.xml" Id="Rc9499782f9a74c44" /><Relationship Type="http://schemas.openxmlformats.org/officeDocument/2006/relationships/slide" Target="/ppt/slides/slide2.xml" Id="Rd7d7fef301ff4e13" /><Relationship Type="http://schemas.openxmlformats.org/officeDocument/2006/relationships/slide" Target="/ppt/slides/slide3.xml" Id="Rdaf003e0df25496e" /><Relationship Type="http://schemas.openxmlformats.org/officeDocument/2006/relationships/slide" Target="/ppt/slides/slide4.xml" Id="R9c4e986a59d645e4" /><Relationship Type="http://schemas.openxmlformats.org/officeDocument/2006/relationships/slide" Target="/ppt/slides/slide5.xml" Id="R83927e6d01884df7" /><Relationship Type="http://schemas.openxmlformats.org/officeDocument/2006/relationships/slide" Target="/ppt/slides/slide6.xml" Id="R5fc2aa36222345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866bff8bc847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060d8d9367404f" /><Relationship Type="http://schemas.openxmlformats.org/officeDocument/2006/relationships/notesMaster" Target="/ppt/notesMasters/notesMaster1.xml" Id="R351ed882500744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c2bc5671774fbe" /><Relationship Type="http://schemas.openxmlformats.org/officeDocument/2006/relationships/notesMaster" Target="/ppt/notesMasters/notesMaster1.xml" Id="Rf89affa6a6e440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19db7e8af54488" /><Relationship Type="http://schemas.openxmlformats.org/officeDocument/2006/relationships/notesMaster" Target="/ppt/notesMasters/notesMaster1.xml" Id="R01367e36f30e4c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4094757d224055" /><Relationship Type="http://schemas.openxmlformats.org/officeDocument/2006/relationships/notesMaster" Target="/ppt/notesMasters/notesMaster1.xml" Id="Rdb2f30b982864c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f8644ae5ad4f0f" /><Relationship Type="http://schemas.openxmlformats.org/officeDocument/2006/relationships/notesMaster" Target="/ppt/notesMasters/notesMaster1.xml" Id="R06037170b2a942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e92e8af9c64154" /><Relationship Type="http://schemas.openxmlformats.org/officeDocument/2006/relationships/notesMaster" Target="/ppt/notesMasters/notesMaster1.xml" Id="Rc00078fa059342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báo cáo tiến độ cập nhật đến ngày 26/09/2026. Nội dung tổng hợp các việc đã làm qua những đợt trước và cập nhật API ngày 23/09, không quy toàn bộ công việc vào một tuần duy nhất. Em đã đọc luồng trích xuất dữ liệu, huấn luyện và chạy camera. Các thay đổi camera gồm chọn đúng nguồn hình, dùng YuNet và bổ sung kiểm tra chất lượng cũng như tổng hợp nhiều khung hình. Trọng tâm hiện tại là API để hệ thống nhận diện danh tính có sẵn gọi vào.</a:t>
            </a:r>
          </a:p>
          <a:p xmlns:a="http://schemas.openxmlformats.org/drawingml/2006/main">
            <a:r>
              <a:t>Nguồn nội bộ: run.py, pipeline.py, face_extract.py, train_liveness.py, api_app.py, clients/antispoof_client.py, 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Trước đây dự án chia ngẫu nhiên từng ảnh. Các frame liền nhau rất giống nhau nên có thể xuất hiện ở cả tập học và tập kiểm tra. Em đã chia lại theo video và thực sự huấn luyện lại, không chỉ đổi code chia dữ liệu. Tập huấn luyện có 23 video và 18.153 ảnh, validation có 5 video và 2.721 ảnh, test có 5 video và 3.347 ảnh. Tổng cộng 33 video và 24.221 ảnh. Quá trình chạy 19 epoch và chọn checkpoint tốt nhất tại epoch 11 theo validation. Cách chia theo video chưa bảo đảm tách theo người. Model cũ ở thư mục gốc vẫn giữ nguyên. API sử dụng model mới khi truyền rõ --model outputs/retrain-20260915/liveness.h5 và --labels outputs/retrain-20260915/le.pickle.</a:t>
            </a:r>
          </a:p>
          <a:p xmlns:a="http://schemas.openxmlformats.org/drawingml/2006/main">
            <a:r>
              <a:t>Nguồn: outputs/retrain-20260915/split.json, evaluation.json, train_liveness.py, 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Trên tập test hiện có, model mới phân loại đúng 3.242 trên 3.347 ảnh, tương đương 96,86%. Riêng ảnh giả, model nhận đúng 1.869 trên 1.969 ảnh và nhận nhầm 100 ảnh thành thật, chiếm 5,08%. Riêng ảnh thật, model nhận nhầm 5 trên 1.378 ảnh thành giả, chiếm 0,36%. Em đưa lỗi bỏ sót giả mạo lên slide để tránh dùng độ chính xác chung che đi vấn đề này. Đây là kết quả phân loại từng ảnh mặt đã cắt, chưa bao gồm bộ tìm mặt, bộ lọc chất lượng và tổng hợp thời gian của camera/API. Tập test chỉ gồm 5 video, chưa tách người. Không so trực tiếp với 99,73% của model cũ vì model cũ có thể từng học các ảnh test này.</a:t>
            </a:r>
          </a:p>
          <a:p xmlns:a="http://schemas.openxmlformats.org/drawingml/2006/main">
            <a:r>
              <a:t>Nguồn: outputs/retrain-20260915/evaluation.json. Confusion matrix theo thứ tự fake, real: [[1869,100],[5,1373]].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là lớp tiếp nhận ảnh và trả kết quả chống giả mạo, bên trong sử dụng Pipeline chung với chương trình camera. Endpoint POST /v1/analyze xử lý một ảnh độc lập. Với camera liên tục, ứng dụng tạo phiên bằng POST /v1/sessions, sau đó gửi từng JPEG qua POST /v1/sessions/{session_id}/frames và xóa phiên khi kết thúc. Trạng thái gồm real, fake, checking, uncertain, adjust, no_face, multiple_faces. Ứng dụng chủ kết hợp kết quả chống giả mạo với nhận diện danh tính trên đúng ảnh và vùng mặt đó. API này chưa tự nhận diện tên người hay cấp quyền truy cập. 127.0.0.1 chỉ trỏ về máy của người đang gọi. Người dùng máy khác cần địa chỉ máy chủ có thể truy cập và thông tin xác thực phù hợp.</a:t>
            </a:r>
          </a:p>
          <a:p xmlns:a="http://schemas.openxmlformats.org/drawingml/2006/main">
            <a:r>
              <a:t>Nguồn: api_app.py, pipeline.py, docs/API.md, clients/antispoof_client.py.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chạy lại lệnh .\venv\Scripts\python.exe -m unittest discover -s tests -v ngày 26/09/2026. Kết quả 35 bài kiểm thử đạt, gồm 16 API, 10 client, 5 pipeline và 4 web. Các test API dùng FakeEngine và các test client mô phỏng HTTP để kiểm tra logic và hợp đồng, nên kết quả này không đo chất lượng model. Benchmark ngày 23/09 dùng cùng model huấn luyện lại và cùng JPEG 640 x 567, 30 lượt tuần tự sau 5 lượt warmup cho mỗi cách. Xử lý trực tiếp gồm giải mã JPEG có trung vị 49,1445 ms. Qua HTTP localhost có trung vị 55,84515 ms. Chênh lệch hai trung vị là 6,70065 ms, không phải phép đo riêng từng thành phần mạng. Các trạng thái, vị trí và điểm số khớp. Tốc độ quan sát của HTTP là 17,81 request/giây trong điều kiện một luồng. Phép đo dùng một ảnh đã lưu có chú thích, không phải kiểm thử webcam, replay hay nhiều người dùng, và chưa tính mạng Internet.</a:t>
            </a:r>
          </a:p>
          <a:p xmlns:a="http://schemas.openxmlformats.org/drawingml/2006/main">
            <a:r>
              <a:t>Nguồn: outputs/api-benchmark-20260923.json, docs/API.md, tests/test_api.py, tests/test_api_client.py, tests/test_pipeline.py, tests/test_web.py. Kết quả chạy lại unittest trong phiên ngày 26/09: Ran 35 tests, 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đã có model huấn luyện lại, báo cáo đánh giá, API, client và tài liệu cho bên tích hợp. API đã được thử cục bộ với model mới, nhưng chưa triển khai công khai. Việc ưu tiên tiếp theo là kiểm thử chống giả mạo trên người và điều kiện mới, tách người giữa tập huấn luyện và test, đánh giá cả luồng camera và các trạng thái chưa kết luận. Sau đó đo nhiều phiên đồng thời và chọn cấu hình máy chủ theo nhu cầu thực tế. Triển khai một máy chủ hoạt động liên tục là công việc tiếp theo, chưa hoàn thành trong phạm vi hiện tại. API cũng chưa có thử thách chủ động chớp mắt/quay đầu hay kiểm tra độ sâu. Em chưa đưa nhận diện danh tính vào model này.</a:t>
            </a:r>
          </a:p>
          <a:p xmlns:a="http://schemas.openxmlformats.org/drawingml/2006/main">
            <a:r>
              <a:t>Nguồn: outputs/retrain-20260915/evaluation.json, api_app.py, clients/antispoof_client.py, docs/API.md, outputs/api-benchmark-20260923.json.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a8dd0e381646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06c4c0600b4e10" /><Relationship Type="http://schemas.openxmlformats.org/officeDocument/2006/relationships/slideLayout" Target="/ppt/slideLayouts/slideLayout1.xml" Id="R0aaaee250f6140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aaee250f6140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4f550cb4fe46e0" /><Relationship Type="http://schemas.openxmlformats.org/officeDocument/2006/relationships/notesSlide" Target="/ppt/notesSlides/notesSlide1.xml" Id="R280b284396a44c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6b367f7267446b" /><Relationship Type="http://schemas.openxmlformats.org/officeDocument/2006/relationships/notesSlide" Target="/ppt/notesSlides/notesSlide2.xml" Id="Rb2e83055b3d949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6c6546df4b44f7" /><Relationship Type="http://schemas.openxmlformats.org/officeDocument/2006/relationships/notesSlide" Target="/ppt/notesSlides/notesSlide3.xml" Id="R67e52c4c5e7e45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479afcbeb04a80" /><Relationship Type="http://schemas.openxmlformats.org/officeDocument/2006/relationships/notesSlide" Target="/ppt/notesSlides/notesSlide4.xml" Id="R45bf89e0a0d847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5f5d1e762744a6" /><Relationship Type="http://schemas.openxmlformats.org/officeDocument/2006/relationships/notesSlide" Target="/ppt/notesSlides/notesSlide5.xml" Id="R9fa291c04cac40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ad721d96554d7b" /><Relationship Type="http://schemas.openxmlformats.org/officeDocument/2006/relationships/notesSlide" Target="/ppt/notesSlides/notesSlide6.xml" Id="Rae0b9608854b485a" /></Relationships>
</file>

<file path=ppt/slides/slide1.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5849DF0-F53F-4183-8786-2293DCFABBD9}"/>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Rà soát toàn bộ dự án</a:t>
            </a:r>
          </a:p>
        </p:txBody>
      </p:sp>
      <p:sp>
        <p:nvSpPr>
          <p:cNvPr id="2" name="">
            <a:extLst xmlns:a="http://schemas.openxmlformats.org/drawingml/2006/main">
              <a:ext uri="{FF2B5EF4-FFF2-40B4-BE49-F238E27FC236}">
                <a16:creationId xmlns:a16="http://schemas.microsoft.com/office/drawing/2014/main" id="{C803F80A-E013-4FD0-BF78-1ECD58360934}"/>
              </a:ext>
            </a:extLst>
          </p:cNvPr>
          <p:cNvSpPr>
            <a:spLocks xmlns:a="http://schemas.openxmlformats.org/drawingml/2006/main" noGrp="1"/>
          </p:cNvSpPr>
          <p:nvPr/>
        </p:nvSpPr>
        <p:spPr>
          <a:xfrm xmlns:a="http://schemas.openxmlformats.org/drawingml/2006/main">
            <a:off x="609600" y="6343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FACE ANTI-SPOOFING</a:t>
            </a:r>
          </a:p>
        </p:txBody>
      </p:sp>
      <p:sp>
        <p:nvSpPr>
          <p:cNvPr id="3" name="">
            <a:extLst xmlns:a="http://schemas.openxmlformats.org/drawingml/2006/main">
              <a:ext uri="{FF2B5EF4-FFF2-40B4-BE49-F238E27FC236}">
                <a16:creationId xmlns:a16="http://schemas.microsoft.com/office/drawing/2014/main" id="{E4A9B0AF-8A10-4D09-8781-C869F01EBA49}"/>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C1FECB0-6979-4D44-A524-50C1F28ACB98}"/>
              </a:ext>
            </a:extLst>
          </p:cNvPr>
          <p:cNvSpPr>
            <a:spLocks xmlns:a="http://schemas.openxmlformats.org/drawingml/2006/main" noGrp="1"/>
          </p:cNvSpPr>
          <p:nvPr/>
        </p:nvSpPr>
        <p:spPr>
          <a:xfrm xmlns:a="http://schemas.openxmlformats.org/drawingml/2006/main">
            <a:off x="609600" y="13239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8C7FF"/>
                </a:solidFill>
                <a:latin typeface="Arial"/>
                <a:ea typeface="Arial"/>
                <a:cs typeface="Arial"/>
              </a:defRPr>
            </a:pPr>
            <a:r>
              <a:rPr sz="1800" b="1">
                <a:solidFill>
                  <a:srgbClr val="78C7FF"/>
                </a:solidFill>
                <a:latin typeface="Arial"/>
                <a:ea typeface="Arial"/>
                <a:cs typeface="Arial"/>
              </a:rPr>
              <a:t>BÁO CÁO TIẾN ĐỘ ĐẾN 26/09/2026</a:t>
            </a:r>
          </a:p>
        </p:txBody>
      </p:sp>
      <p:sp>
        <p:nvSpPr>
          <p:cNvPr id="5" name="">
            <a:extLst xmlns:a="http://schemas.openxmlformats.org/drawingml/2006/main">
              <a:ext uri="{FF2B5EF4-FFF2-40B4-BE49-F238E27FC236}">
                <a16:creationId xmlns:a16="http://schemas.microsoft.com/office/drawing/2014/main" id="{79527AC0-8029-4D02-81B6-F96FE8CD7610}"/>
              </a:ext>
            </a:extLst>
          </p:cNvPr>
          <p:cNvSpPr>
            <a:spLocks xmlns:a="http://schemas.openxmlformats.org/drawingml/2006/main" noGrp="1"/>
          </p:cNvSpPr>
          <p:nvPr/>
        </p:nvSpPr>
        <p:spPr>
          <a:xfrm xmlns:a="http://schemas.openxmlformats.org/drawingml/2006/main">
            <a:off x="609600" y="20574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8C7FF"/>
                </a:solidFill>
                <a:latin typeface="Arial"/>
                <a:ea typeface="Arial"/>
                <a:cs typeface="Arial"/>
              </a:defRPr>
            </a:pPr>
            <a:r>
              <a:rPr sz="2175" b="1">
                <a:solidFill>
                  <a:srgbClr val="78C7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C188886-4D60-48F8-A754-4B07B9E3CB4B}"/>
              </a:ext>
            </a:extLst>
          </p:cNvPr>
          <p:cNvSpPr>
            <a:spLocks xmlns:a="http://schemas.openxmlformats.org/drawingml/2006/main" noGrp="1"/>
          </p:cNvSpPr>
          <p:nvPr/>
        </p:nvSpPr>
        <p:spPr>
          <a:xfrm xmlns:a="http://schemas.openxmlformats.org/drawingml/2006/main">
            <a:off x="1504950" y="200977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2F5FA"/>
                </a:solidFill>
                <a:latin typeface="Arial"/>
                <a:ea typeface="Arial"/>
                <a:cs typeface="Arial"/>
              </a:defRPr>
            </a:pPr>
            <a:r>
              <a:rPr sz="2325" b="1">
                <a:solidFill>
                  <a:srgbClr val="F2F5FA"/>
                </a:solidFill>
                <a:latin typeface="Arial"/>
                <a:ea typeface="Arial"/>
                <a:cs typeface="Arial"/>
              </a:rPr>
              <a:t>Mã nguồn và dữ liệu</a:t>
            </a:r>
          </a:p>
        </p:txBody>
      </p:sp>
      <p:sp>
        <p:nvSpPr>
          <p:cNvPr id="7" name="">
            <a:extLst xmlns:a="http://schemas.openxmlformats.org/drawingml/2006/main">
              <a:ext uri="{FF2B5EF4-FFF2-40B4-BE49-F238E27FC236}">
                <a16:creationId xmlns:a16="http://schemas.microsoft.com/office/drawing/2014/main" id="{DAB12D9C-A1EF-406D-BD5B-FBD074D71F80}"/>
              </a:ext>
            </a:extLst>
          </p:cNvPr>
          <p:cNvSpPr>
            <a:spLocks xmlns:a="http://schemas.openxmlformats.org/drawingml/2006/main" noGrp="1"/>
          </p:cNvSpPr>
          <p:nvPr/>
        </p:nvSpPr>
        <p:spPr>
          <a:xfrm xmlns:a="http://schemas.openxmlformats.org/drawingml/2006/main">
            <a:off x="1504950" y="24765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7C6D8"/>
                </a:solidFill>
                <a:latin typeface="Arial"/>
                <a:ea typeface="Arial"/>
                <a:cs typeface="Arial"/>
              </a:defRPr>
            </a:pPr>
            <a:r>
              <a:rPr sz="1950" b="0">
                <a:solidFill>
                  <a:srgbClr val="B7C6D8"/>
                </a:solidFill>
                <a:latin typeface="Arial"/>
                <a:ea typeface="Arial"/>
                <a:cs typeface="Arial"/>
              </a:rPr>
              <a:t>Em kiểm tra luồng lấy ảnh, huấn luyện và chạy nhận diện.</a:t>
            </a:r>
          </a:p>
        </p:txBody>
      </p:sp>
      <p:sp>
        <p:nvSpPr>
          <p:cNvPr id="8" name="">
            <a:extLst xmlns:a="http://schemas.openxmlformats.org/drawingml/2006/main">
              <a:ext uri="{FF2B5EF4-FFF2-40B4-BE49-F238E27FC236}">
                <a16:creationId xmlns:a16="http://schemas.microsoft.com/office/drawing/2014/main" id="{ECCBA1A8-9685-4208-9C0B-45FDBEC5EB32}"/>
              </a:ext>
            </a:extLst>
          </p:cNvPr>
          <p:cNvSpPr>
            <a:spLocks xmlns:a="http://schemas.openxmlformats.org/drawingml/2006/main" noGrp="1"/>
          </p:cNvSpPr>
          <p:nvPr/>
        </p:nvSpPr>
        <p:spPr>
          <a:xfrm xmlns:a="http://schemas.openxmlformats.org/drawingml/2006/main">
            <a:off x="6096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8C7FF"/>
                </a:solidFill>
                <a:latin typeface="Arial"/>
                <a:ea typeface="Arial"/>
                <a:cs typeface="Arial"/>
              </a:defRPr>
            </a:pPr>
            <a:r>
              <a:rPr sz="2175" b="1">
                <a:solidFill>
                  <a:srgbClr val="78C7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D857C063-3369-4DE3-9F14-3D91B7AC7648}"/>
              </a:ext>
            </a:extLst>
          </p:cNvPr>
          <p:cNvSpPr>
            <a:spLocks xmlns:a="http://schemas.openxmlformats.org/drawingml/2006/main" noGrp="1"/>
          </p:cNvSpPr>
          <p:nvPr/>
        </p:nvSpPr>
        <p:spPr>
          <a:xfrm xmlns:a="http://schemas.openxmlformats.org/drawingml/2006/main">
            <a:off x="1504950" y="30289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2F5FA"/>
                </a:solidFill>
                <a:latin typeface="Arial"/>
                <a:ea typeface="Arial"/>
                <a:cs typeface="Arial"/>
              </a:defRPr>
            </a:pPr>
            <a:r>
              <a:rPr sz="2325" b="1">
                <a:solidFill>
                  <a:srgbClr val="F2F5FA"/>
                </a:solidFill>
                <a:latin typeface="Arial"/>
                <a:ea typeface="Arial"/>
                <a:cs typeface="Arial"/>
              </a:rPr>
              <a:t>Camera và kết quả hiển thị</a:t>
            </a:r>
          </a:p>
        </p:txBody>
      </p:sp>
      <p:sp>
        <p:nvSpPr>
          <p:cNvPr id="10" name="">
            <a:extLst xmlns:a="http://schemas.openxmlformats.org/drawingml/2006/main">
              <a:ext uri="{FF2B5EF4-FFF2-40B4-BE49-F238E27FC236}">
                <a16:creationId xmlns:a16="http://schemas.microsoft.com/office/drawing/2014/main" id="{7DC4A71E-F7C3-472C-81A3-4C6E1AEA5FD5}"/>
              </a:ext>
            </a:extLst>
          </p:cNvPr>
          <p:cNvSpPr>
            <a:spLocks xmlns:a="http://schemas.openxmlformats.org/drawingml/2006/main" noGrp="1"/>
          </p:cNvSpPr>
          <p:nvPr/>
        </p:nvSpPr>
        <p:spPr>
          <a:xfrm xmlns:a="http://schemas.openxmlformats.org/drawingml/2006/main">
            <a:off x="1504950" y="349567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7C6D8"/>
                </a:solidFill>
                <a:latin typeface="Arial"/>
                <a:ea typeface="Arial"/>
                <a:cs typeface="Arial"/>
              </a:defRPr>
            </a:pPr>
            <a:r>
              <a:rPr sz="1950" b="0">
                <a:solidFill>
                  <a:srgbClr val="B7C6D8"/>
                </a:solidFill>
                <a:latin typeface="Arial"/>
                <a:ea typeface="Arial"/>
                <a:cs typeface="Arial"/>
              </a:rPr>
              <a:t>Em sửa nguồn camera, đổi sang YuNet và lọc ảnh chất lượng thấp.</a:t>
            </a:r>
          </a:p>
        </p:txBody>
      </p:sp>
      <p:sp>
        <p:nvSpPr>
          <p:cNvPr id="11" name="">
            <a:extLst xmlns:a="http://schemas.openxmlformats.org/drawingml/2006/main">
              <a:ext uri="{FF2B5EF4-FFF2-40B4-BE49-F238E27FC236}">
                <a16:creationId xmlns:a16="http://schemas.microsoft.com/office/drawing/2014/main" id="{914C8014-04CC-4121-9AA5-A9096217C076}"/>
              </a:ext>
            </a:extLst>
          </p:cNvPr>
          <p:cNvSpPr>
            <a:spLocks xmlns:a="http://schemas.openxmlformats.org/drawingml/2006/main" noGrp="1"/>
          </p:cNvSpPr>
          <p:nvPr/>
        </p:nvSpPr>
        <p:spPr>
          <a:xfrm xmlns:a="http://schemas.openxmlformats.org/drawingml/2006/main">
            <a:off x="609600" y="4095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8C7FF"/>
                </a:solidFill>
                <a:latin typeface="Arial"/>
                <a:ea typeface="Arial"/>
                <a:cs typeface="Arial"/>
              </a:defRPr>
            </a:pPr>
            <a:r>
              <a:rPr sz="2175" b="1">
                <a:solidFill>
                  <a:srgbClr val="78C7FF"/>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8546F801-41AB-4272-BD85-850F169119CA}"/>
              </a:ext>
            </a:extLst>
          </p:cNvPr>
          <p:cNvSpPr>
            <a:spLocks xmlns:a="http://schemas.openxmlformats.org/drawingml/2006/main" noGrp="1"/>
          </p:cNvSpPr>
          <p:nvPr/>
        </p:nvSpPr>
        <p:spPr>
          <a:xfrm xmlns:a="http://schemas.openxmlformats.org/drawingml/2006/main">
            <a:off x="1504950" y="40481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2F5FA"/>
                </a:solidFill>
                <a:latin typeface="Arial"/>
                <a:ea typeface="Arial"/>
                <a:cs typeface="Arial"/>
              </a:defRPr>
            </a:pPr>
            <a:r>
              <a:rPr sz="2325" b="1">
                <a:solidFill>
                  <a:srgbClr val="F2F5FA"/>
                </a:solidFill>
                <a:latin typeface="Arial"/>
                <a:ea typeface="Arial"/>
                <a:cs typeface="Arial"/>
              </a:rPr>
              <a:t>Model chống giả mạo</a:t>
            </a:r>
          </a:p>
        </p:txBody>
      </p:sp>
      <p:sp>
        <p:nvSpPr>
          <p:cNvPr id="13" name="">
            <a:extLst xmlns:a="http://schemas.openxmlformats.org/drawingml/2006/main">
              <a:ext uri="{FF2B5EF4-FFF2-40B4-BE49-F238E27FC236}">
                <a16:creationId xmlns:a16="http://schemas.microsoft.com/office/drawing/2014/main" id="{6A20C204-91F6-4979-8793-F7A0D83D7152}"/>
              </a:ext>
            </a:extLst>
          </p:cNvPr>
          <p:cNvSpPr>
            <a:spLocks xmlns:a="http://schemas.openxmlformats.org/drawingml/2006/main" noGrp="1"/>
          </p:cNvSpPr>
          <p:nvPr/>
        </p:nvSpPr>
        <p:spPr>
          <a:xfrm xmlns:a="http://schemas.openxmlformats.org/drawingml/2006/main">
            <a:off x="1504950" y="45148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7C6D8"/>
                </a:solidFill>
                <a:latin typeface="Arial"/>
                <a:ea typeface="Arial"/>
                <a:cs typeface="Arial"/>
              </a:defRPr>
            </a:pPr>
            <a:r>
              <a:rPr sz="1950" b="0">
                <a:solidFill>
                  <a:srgbClr val="B7C6D8"/>
                </a:solidFill>
                <a:latin typeface="Arial"/>
                <a:ea typeface="Arial"/>
                <a:cs typeface="Arial"/>
              </a:rPr>
              <a:t>Em chia dữ liệu theo video, huấn luyện lại và đánh giá tập test.</a:t>
            </a:r>
          </a:p>
        </p:txBody>
      </p:sp>
      <p:sp>
        <p:nvSpPr>
          <p:cNvPr id="14" name="">
            <a:extLst xmlns:a="http://schemas.openxmlformats.org/drawingml/2006/main">
              <a:ext uri="{FF2B5EF4-FFF2-40B4-BE49-F238E27FC236}">
                <a16:creationId xmlns:a16="http://schemas.microsoft.com/office/drawing/2014/main" id="{669EFB7C-C125-4BF3-8E29-34002392BA88}"/>
              </a:ext>
            </a:extLst>
          </p:cNvPr>
          <p:cNvSpPr>
            <a:spLocks xmlns:a="http://schemas.openxmlformats.org/drawingml/2006/main" noGrp="1"/>
          </p:cNvSpPr>
          <p:nvPr/>
        </p:nvSpPr>
        <p:spPr>
          <a:xfrm xmlns:a="http://schemas.openxmlformats.org/drawingml/2006/main">
            <a:off x="609600" y="51149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8C7FF"/>
                </a:solidFill>
                <a:latin typeface="Arial"/>
                <a:ea typeface="Arial"/>
                <a:cs typeface="Arial"/>
              </a:defRPr>
            </a:pPr>
            <a:r>
              <a:rPr sz="2175" b="1">
                <a:solidFill>
                  <a:srgbClr val="78C7FF"/>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B00E6D33-54A0-4046-927F-811E8DE380B0}"/>
              </a:ext>
            </a:extLst>
          </p:cNvPr>
          <p:cNvSpPr>
            <a:spLocks xmlns:a="http://schemas.openxmlformats.org/drawingml/2006/main" noGrp="1"/>
          </p:cNvSpPr>
          <p:nvPr/>
        </p:nvSpPr>
        <p:spPr>
          <a:xfrm xmlns:a="http://schemas.openxmlformats.org/drawingml/2006/main">
            <a:off x="1504950" y="50673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2F5FA"/>
                </a:solidFill>
                <a:latin typeface="Arial"/>
                <a:ea typeface="Arial"/>
                <a:cs typeface="Arial"/>
              </a:defRPr>
            </a:pPr>
            <a:r>
              <a:rPr sz="2325" b="1">
                <a:solidFill>
                  <a:srgbClr val="F2F5FA"/>
                </a:solidFill>
                <a:latin typeface="Arial"/>
                <a:ea typeface="Arial"/>
                <a:cs typeface="Arial"/>
              </a:rPr>
              <a:t>API để tích hợp vào dự án khác</a:t>
            </a:r>
          </a:p>
        </p:txBody>
      </p:sp>
      <p:sp>
        <p:nvSpPr>
          <p:cNvPr id="16" name="">
            <a:extLst xmlns:a="http://schemas.openxmlformats.org/drawingml/2006/main">
              <a:ext uri="{FF2B5EF4-FFF2-40B4-BE49-F238E27FC236}">
                <a16:creationId xmlns:a16="http://schemas.microsoft.com/office/drawing/2014/main" id="{70A2DBDE-C388-4827-84D2-853DF7C5BFF2}"/>
              </a:ext>
            </a:extLst>
          </p:cNvPr>
          <p:cNvSpPr>
            <a:spLocks xmlns:a="http://schemas.openxmlformats.org/drawingml/2006/main" noGrp="1"/>
          </p:cNvSpPr>
          <p:nvPr/>
        </p:nvSpPr>
        <p:spPr>
          <a:xfrm xmlns:a="http://schemas.openxmlformats.org/drawingml/2006/main">
            <a:off x="1504950" y="55340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7C6D8"/>
                </a:solidFill>
                <a:latin typeface="Arial"/>
                <a:ea typeface="Arial"/>
                <a:cs typeface="Arial"/>
              </a:defRPr>
            </a:pPr>
            <a:r>
              <a:rPr sz="1950" b="0">
                <a:solidFill>
                  <a:srgbClr val="B7C6D8"/>
                </a:solidFill>
                <a:latin typeface="Arial"/>
                <a:ea typeface="Arial"/>
                <a:cs typeface="Arial"/>
              </a:rPr>
              <a:t>Em xây dựng API, client Python và tài liệu hướng dẫn sử dụng.</a:t>
            </a:r>
          </a:p>
        </p:txBody>
      </p:sp>
    </p:spTree>
    <p:extLst>
      <p:ext uri="{BB962C8B-B14F-4D97-AF65-F5344CB8AC3E}">
        <p14:creationId xmlns:p14="http://schemas.microsoft.com/office/powerpoint/2010/main" val="1315245861"/>
      </p:ext>
    </p:extLst>
  </p:cSld>
</p:sld>
</file>

<file path=ppt/slides/slide2.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9210A2-8AD8-41B6-A859-7FA804F62476}"/>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Huấn luyện lại theo cách chia video</a:t>
            </a:r>
          </a:p>
        </p:txBody>
      </p:sp>
      <p:sp>
        <p:nvSpPr>
          <p:cNvPr id="2" name="">
            <a:extLst xmlns:a="http://schemas.openxmlformats.org/drawingml/2006/main">
              <a:ext uri="{FF2B5EF4-FFF2-40B4-BE49-F238E27FC236}">
                <a16:creationId xmlns:a16="http://schemas.microsoft.com/office/drawing/2014/main" id="{7B3A77DF-5EC6-4153-BE52-D0FF37FD9A91}"/>
              </a:ext>
            </a:extLst>
          </p:cNvPr>
          <p:cNvSpPr>
            <a:spLocks xmlns:a="http://schemas.openxmlformats.org/drawingml/2006/main" noGrp="1"/>
          </p:cNvSpPr>
          <p:nvPr/>
        </p:nvSpPr>
        <p:spPr>
          <a:xfrm xmlns:a="http://schemas.openxmlformats.org/drawingml/2006/main">
            <a:off x="609600" y="6343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FACE ANTI-SPOOFING</a:t>
            </a:r>
          </a:p>
        </p:txBody>
      </p:sp>
      <p:sp>
        <p:nvSpPr>
          <p:cNvPr id="3" name="">
            <a:extLst xmlns:a="http://schemas.openxmlformats.org/drawingml/2006/main">
              <a:ext uri="{FF2B5EF4-FFF2-40B4-BE49-F238E27FC236}">
                <a16:creationId xmlns:a16="http://schemas.microsoft.com/office/drawing/2014/main" id="{68940C4F-28A4-4AB9-B492-B57E694CAC22}"/>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69B1C588-0D5D-4EEF-9129-9C4DD2062C68}"/>
              </a:ext>
            </a:extLst>
          </p:cNvPr>
          <p:cNvSpPr>
            <a:spLocks xmlns:a="http://schemas.openxmlformats.org/drawingml/2006/main" noGrp="1"/>
          </p:cNvSpPr>
          <p:nvPr/>
        </p:nvSpPr>
        <p:spPr>
          <a:xfrm xmlns:a="http://schemas.openxmlformats.org/drawingml/2006/main">
            <a:off x="609600" y="13906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5FA"/>
                </a:solidFill>
                <a:latin typeface="Arial"/>
                <a:ea typeface="Arial"/>
                <a:cs typeface="Arial"/>
              </a:defRPr>
            </a:pPr>
            <a:r>
              <a:rPr sz="2250" b="1">
                <a:solidFill>
                  <a:srgbClr val="F2F5FA"/>
                </a:solidFill>
                <a:latin typeface="Arial"/>
                <a:ea typeface="Arial"/>
                <a:cs typeface="Arial"/>
              </a:rPr>
              <a:t>Ảnh từ cùng một video luôn nằm trong cùng một tập dữ liệu.</a:t>
            </a:r>
          </a:p>
        </p:txBody>
      </p:sp>
      <p:graphicFrame>
        <p:nvGraphicFramePr>
          <p:cNvPr id="13" name=""/>
          <p:cNvGraphicFramePr/>
          <p:nvPr/>
        </p:nvGraphicFramePr>
        <p:xfrm>
          <a:off xmlns:a="http://schemas.openxmlformats.org/drawingml/2006/main" x="609600" y="2390775"/>
          <a:ext xmlns:a="http://schemas.openxmlformats.org/drawingml/2006/main" cx="10972800" cy="2438400"/>
        </p:xfrm>
        <a:graphic xmlns:a="http://schemas.openxmlformats.org/drawingml/2006/main">
          <a:graphicData uri="http://schemas.openxmlformats.org/drawingml/2006/table">
            <a:tbl>
              <a:tblPr/>
              <a:tblGrid>
                <a:gridCol w="5524500"/>
                <a:gridCol w="2400300"/>
                <a:gridCol w="3048000"/>
              </a:tblGrid>
              <a:tr h="609600">
                <a:tc>
                  <a:txBody>
                    <a:bodyPr>
                      <a:noAutofit/>
                    </a:bodyPr>
                    <a:lstStyle/>
                    <a:p>
                      <a:r>
                        <a:rPr sz="2025" b="1">
                          <a:solidFill>
                            <a:srgbClr val="78C7FF"/>
                          </a:solidFill>
                          <a:latin typeface="Arial"/>
                          <a:ea typeface="Arial"/>
                          <a:cs typeface="Arial"/>
                        </a:rPr>
                        <a:t>Tập dữ liệu</a:t>
                      </a:r>
                    </a:p>
                  </a:txBody>
                  <a:tcPr marL="91440" marR="91440" marT="45720" marB="45720">
                    <a:solidFill>
                      <a:srgbClr val="223B55"/>
                    </a:solidFill>
                  </a:tcPr>
                </a:tc>
                <a:tc>
                  <a:txBody>
                    <a:bodyPr>
                      <a:noAutofit/>
                    </a:bodyPr>
                    <a:lstStyle/>
                    <a:p>
                      <a:r>
                        <a:rPr sz="2025" b="1">
                          <a:solidFill>
                            <a:srgbClr val="78C7FF"/>
                          </a:solidFill>
                          <a:latin typeface="Arial"/>
                          <a:ea typeface="Arial"/>
                          <a:cs typeface="Arial"/>
                        </a:rPr>
                        <a:t>Số video</a:t>
                      </a:r>
                    </a:p>
                  </a:txBody>
                  <a:tcPr marL="91440" marR="91440" marT="45720" marB="45720">
                    <a:solidFill>
                      <a:srgbClr val="223B55"/>
                    </a:solidFill>
                  </a:tcPr>
                </a:tc>
                <a:tc>
                  <a:txBody>
                    <a:bodyPr>
                      <a:noAutofit/>
                    </a:bodyPr>
                    <a:lstStyle/>
                    <a:p>
                      <a:r>
                        <a:rPr sz="2025" b="1">
                          <a:solidFill>
                            <a:srgbClr val="78C7FF"/>
                          </a:solidFill>
                          <a:latin typeface="Arial"/>
                          <a:ea typeface="Arial"/>
                          <a:cs typeface="Arial"/>
                        </a:rPr>
                        <a:t>Số ảnh</a:t>
                      </a:r>
                    </a:p>
                  </a:txBody>
                  <a:tcPr marL="91440" marR="91440" marT="45720" marB="45720">
                    <a:solidFill>
                      <a:srgbClr val="223B55"/>
                    </a:solidFill>
                  </a:tcPr>
                </a:tc>
              </a:tr>
              <a:tr h="609600">
                <a:tc>
                  <a:txBody>
                    <a:bodyPr>
                      <a:noAutofit/>
                    </a:bodyPr>
                    <a:lstStyle/>
                    <a:p>
                      <a:r>
                        <a:rPr sz="2025" b="0">
                          <a:solidFill>
                            <a:srgbClr val="F2F5FA"/>
                          </a:solidFill>
                          <a:latin typeface="Arial"/>
                          <a:ea typeface="Arial"/>
                          <a:cs typeface="Arial"/>
                        </a:rPr>
                        <a:t>Huấn luyện</a:t>
                      </a:r>
                    </a:p>
                  </a:txBody>
                  <a:tcPr marL="91440" marR="91440" marT="45720" marB="45720">
                    <a:solidFill>
                      <a:srgbClr val="101B2B"/>
                    </a:solidFill>
                  </a:tcPr>
                </a:tc>
                <a:tc>
                  <a:txBody>
                    <a:bodyPr>
                      <a:noAutofit/>
                    </a:bodyPr>
                    <a:lstStyle/>
                    <a:p>
                      <a:r>
                        <a:rPr sz="2025" b="0">
                          <a:solidFill>
                            <a:srgbClr val="F2F5FA"/>
                          </a:solidFill>
                          <a:latin typeface="Arial"/>
                          <a:ea typeface="Arial"/>
                          <a:cs typeface="Arial"/>
                        </a:rPr>
                        <a:t>23</a:t>
                      </a:r>
                    </a:p>
                  </a:txBody>
                  <a:tcPr marL="91440" marR="91440" marT="45720" marB="45720">
                    <a:solidFill>
                      <a:srgbClr val="101B2B"/>
                    </a:solidFill>
                  </a:tcPr>
                </a:tc>
                <a:tc>
                  <a:txBody>
                    <a:bodyPr>
                      <a:noAutofit/>
                    </a:bodyPr>
                    <a:lstStyle/>
                    <a:p>
                      <a:r>
                        <a:rPr sz="2025" b="0">
                          <a:solidFill>
                            <a:srgbClr val="F2F5FA"/>
                          </a:solidFill>
                          <a:latin typeface="Arial"/>
                          <a:ea typeface="Arial"/>
                          <a:cs typeface="Arial"/>
                        </a:rPr>
                        <a:t>18.153</a:t>
                      </a:r>
                    </a:p>
                  </a:txBody>
                  <a:tcPr marL="91440" marR="91440" marT="45720" marB="45720">
                    <a:solidFill>
                      <a:srgbClr val="101B2B"/>
                    </a:solidFill>
                  </a:tcPr>
                </a:tc>
              </a:tr>
              <a:tr h="609600">
                <a:tc>
                  <a:txBody>
                    <a:bodyPr>
                      <a:noAutofit/>
                    </a:bodyPr>
                    <a:lstStyle/>
                    <a:p>
                      <a:r>
                        <a:rPr sz="2025" b="0">
                          <a:solidFill>
                            <a:srgbClr val="F2F5FA"/>
                          </a:solidFill>
                          <a:latin typeface="Arial"/>
                          <a:ea typeface="Arial"/>
                          <a:cs typeface="Arial"/>
                        </a:rPr>
                        <a:t>Chọn model (validation)</a:t>
                      </a:r>
                    </a:p>
                  </a:txBody>
                  <a:tcPr marL="91440" marR="91440" marT="45720" marB="45720">
                    <a:solidFill>
                      <a:srgbClr val="101B2B"/>
                    </a:solidFill>
                  </a:tcPr>
                </a:tc>
                <a:tc>
                  <a:txBody>
                    <a:bodyPr>
                      <a:noAutofit/>
                    </a:bodyPr>
                    <a:lstStyle/>
                    <a:p>
                      <a:r>
                        <a:rPr sz="2025" b="0">
                          <a:solidFill>
                            <a:srgbClr val="F2F5FA"/>
                          </a:solidFill>
                          <a:latin typeface="Arial"/>
                          <a:ea typeface="Arial"/>
                          <a:cs typeface="Arial"/>
                        </a:rPr>
                        <a:t>5</a:t>
                      </a:r>
                    </a:p>
                  </a:txBody>
                  <a:tcPr marL="91440" marR="91440" marT="45720" marB="45720">
                    <a:solidFill>
                      <a:srgbClr val="101B2B"/>
                    </a:solidFill>
                  </a:tcPr>
                </a:tc>
                <a:tc>
                  <a:txBody>
                    <a:bodyPr>
                      <a:noAutofit/>
                    </a:bodyPr>
                    <a:lstStyle/>
                    <a:p>
                      <a:r>
                        <a:rPr sz="2025" b="0">
                          <a:solidFill>
                            <a:srgbClr val="F2F5FA"/>
                          </a:solidFill>
                          <a:latin typeface="Arial"/>
                          <a:ea typeface="Arial"/>
                          <a:cs typeface="Arial"/>
                        </a:rPr>
                        <a:t>2.721</a:t>
                      </a:r>
                    </a:p>
                  </a:txBody>
                  <a:tcPr marL="91440" marR="91440" marT="45720" marB="45720">
                    <a:solidFill>
                      <a:srgbClr val="101B2B"/>
                    </a:solidFill>
                  </a:tcPr>
                </a:tc>
              </a:tr>
              <a:tr h="609600">
                <a:tc>
                  <a:txBody>
                    <a:bodyPr>
                      <a:noAutofit/>
                    </a:bodyPr>
                    <a:lstStyle/>
                    <a:p>
                      <a:r>
                        <a:rPr sz="2025" b="0">
                          <a:solidFill>
                            <a:srgbClr val="F2F5FA"/>
                          </a:solidFill>
                          <a:latin typeface="Arial"/>
                          <a:ea typeface="Arial"/>
                          <a:cs typeface="Arial"/>
                        </a:rPr>
                        <a:t>Kiểm tra cuối (test)</a:t>
                      </a:r>
                    </a:p>
                  </a:txBody>
                  <a:tcPr marL="91440" marR="91440" marT="45720" marB="45720">
                    <a:solidFill>
                      <a:srgbClr val="101B2B"/>
                    </a:solidFill>
                  </a:tcPr>
                </a:tc>
                <a:tc>
                  <a:txBody>
                    <a:bodyPr>
                      <a:noAutofit/>
                    </a:bodyPr>
                    <a:lstStyle/>
                    <a:p>
                      <a:r>
                        <a:rPr sz="2025" b="0">
                          <a:solidFill>
                            <a:srgbClr val="F2F5FA"/>
                          </a:solidFill>
                          <a:latin typeface="Arial"/>
                          <a:ea typeface="Arial"/>
                          <a:cs typeface="Arial"/>
                        </a:rPr>
                        <a:t>5</a:t>
                      </a:r>
                    </a:p>
                  </a:txBody>
                  <a:tcPr marL="91440" marR="91440" marT="45720" marB="45720">
                    <a:solidFill>
                      <a:srgbClr val="101B2B"/>
                    </a:solidFill>
                  </a:tcPr>
                </a:tc>
                <a:tc>
                  <a:txBody>
                    <a:bodyPr>
                      <a:noAutofit/>
                    </a:bodyPr>
                    <a:lstStyle/>
                    <a:p>
                      <a:r>
                        <a:rPr sz="2025" b="0">
                          <a:solidFill>
                            <a:srgbClr val="F2F5FA"/>
                          </a:solidFill>
                          <a:latin typeface="Arial"/>
                          <a:ea typeface="Arial"/>
                          <a:cs typeface="Arial"/>
                        </a:rPr>
                        <a:t>3.347</a:t>
                      </a:r>
                    </a:p>
                  </a:txBody>
                  <a:tcPr marL="91440" marR="91440" marT="45720" marB="45720">
                    <a:solidFill>
                      <a:srgbClr val="101B2B"/>
                    </a:solidFill>
                  </a:tcPr>
                </a:tc>
              </a:tr>
            </a:tbl>
          </a:graphicData>
        </a:graphic>
      </p:graphicFrame>
      <p:sp>
        <p:nvSpPr>
          <p:cNvPr id="6" name="">
            <a:extLst xmlns:a="http://schemas.openxmlformats.org/drawingml/2006/main">
              <a:ext uri="{FF2B5EF4-FFF2-40B4-BE49-F238E27FC236}">
                <a16:creationId xmlns:a16="http://schemas.microsoft.com/office/drawing/2014/main" id="{10987621-7620-45AC-85DC-9B5ACAB78559}"/>
              </a:ext>
            </a:extLst>
          </p:cNvPr>
          <p:cNvSpPr>
            <a:spLocks xmlns:a="http://schemas.openxmlformats.org/drawingml/2006/main" noGrp="1"/>
          </p:cNvSpPr>
          <p:nvPr/>
        </p:nvSpPr>
        <p:spPr>
          <a:xfrm xmlns:a="http://schemas.openxmlformats.org/drawingml/2006/main">
            <a:off x="609600" y="51816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5D6AA"/>
                </a:solidFill>
                <a:latin typeface="Arial"/>
                <a:ea typeface="Arial"/>
                <a:cs typeface="Arial"/>
              </a:defRPr>
            </a:pPr>
            <a:r>
              <a:rPr sz="2550" b="1">
                <a:solidFill>
                  <a:srgbClr val="65D6AA"/>
                </a:solidFill>
                <a:latin typeface="Arial"/>
                <a:ea typeface="Arial"/>
                <a:cs typeface="Arial"/>
              </a:rPr>
              <a:t>19 vòng huấn luyện</a:t>
            </a:r>
          </a:p>
        </p:txBody>
      </p:sp>
      <p:sp>
        <p:nvSpPr>
          <p:cNvPr id="7" name="">
            <a:extLst xmlns:a="http://schemas.openxmlformats.org/drawingml/2006/main">
              <a:ext uri="{FF2B5EF4-FFF2-40B4-BE49-F238E27FC236}">
                <a16:creationId xmlns:a16="http://schemas.microsoft.com/office/drawing/2014/main" id="{90D4B9C3-BDC7-4AF5-8CF5-8AA33DD5E64F}"/>
              </a:ext>
            </a:extLst>
          </p:cNvPr>
          <p:cNvSpPr>
            <a:spLocks xmlns:a="http://schemas.openxmlformats.org/drawingml/2006/main" noGrp="1"/>
          </p:cNvSpPr>
          <p:nvPr/>
        </p:nvSpPr>
        <p:spPr>
          <a:xfrm xmlns:a="http://schemas.openxmlformats.org/drawingml/2006/main">
            <a:off x="6286500" y="51816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5D6AA"/>
                </a:solidFill>
                <a:latin typeface="Arial"/>
                <a:ea typeface="Arial"/>
                <a:cs typeface="Arial"/>
              </a:defRPr>
            </a:pPr>
            <a:r>
              <a:rPr sz="2550" b="1">
                <a:solidFill>
                  <a:srgbClr val="65D6AA"/>
                </a:solidFill>
                <a:latin typeface="Arial"/>
                <a:ea typeface="Arial"/>
                <a:cs typeface="Arial"/>
              </a:rPr>
              <a:t>Chọn model ở vòng 11</a:t>
            </a:r>
          </a:p>
        </p:txBody>
      </p:sp>
      <p:sp>
        <p:nvSpPr>
          <p:cNvPr id="8" name="">
            <a:extLst xmlns:a="http://schemas.openxmlformats.org/drawingml/2006/main">
              <a:ext uri="{FF2B5EF4-FFF2-40B4-BE49-F238E27FC236}">
                <a16:creationId xmlns:a16="http://schemas.microsoft.com/office/drawing/2014/main" id="{9CD0F105-464E-49AB-9F8A-E8401C8ABE9B}"/>
              </a:ext>
            </a:extLst>
          </p:cNvPr>
          <p:cNvSpPr>
            <a:spLocks xmlns:a="http://schemas.openxmlformats.org/drawingml/2006/main" noGrp="1"/>
          </p:cNvSpPr>
          <p:nvPr/>
        </p:nvSpPr>
        <p:spPr>
          <a:xfrm xmlns:a="http://schemas.openxmlformats.org/drawingml/2006/main">
            <a:off x="609600" y="57721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7C6D8"/>
                </a:solidFill>
                <a:latin typeface="Arial"/>
                <a:ea typeface="Arial"/>
                <a:cs typeface="Arial"/>
              </a:defRPr>
            </a:pPr>
            <a:r>
              <a:rPr sz="1800" b="0">
                <a:solidFill>
                  <a:srgbClr val="B7C6D8"/>
                </a:solidFill>
                <a:latin typeface="Arial"/>
                <a:ea typeface="Arial"/>
                <a:cs typeface="Arial"/>
              </a:rPr>
              <a:t>Cách chia này tránh lẫn ảnh cùng video. Người trong các tập vẫn có thể trùng.</a:t>
            </a:r>
          </a:p>
        </p:txBody>
      </p:sp>
    </p:spTree>
    <p:extLst>
      <p:ext uri="{BB962C8B-B14F-4D97-AF65-F5344CB8AC3E}">
        <p14:creationId xmlns:p14="http://schemas.microsoft.com/office/powerpoint/2010/main" val="2011334894"/>
      </p:ext>
    </p:extLst>
  </p:cSld>
</p:sld>
</file>

<file path=ppt/slides/slide3.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5DC4DE8-AC41-40E7-89D1-74FAF99A4312}"/>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Kết quả model và lỗi còn lại</a:t>
            </a:r>
          </a:p>
        </p:txBody>
      </p:sp>
      <p:sp>
        <p:nvSpPr>
          <p:cNvPr id="2" name="">
            <a:extLst xmlns:a="http://schemas.openxmlformats.org/drawingml/2006/main">
              <a:ext uri="{FF2B5EF4-FFF2-40B4-BE49-F238E27FC236}">
                <a16:creationId xmlns:a16="http://schemas.microsoft.com/office/drawing/2014/main" id="{96A8E65B-70C8-49ED-912E-53C9180D8301}"/>
              </a:ext>
            </a:extLst>
          </p:cNvPr>
          <p:cNvSpPr>
            <a:spLocks xmlns:a="http://schemas.openxmlformats.org/drawingml/2006/main" noGrp="1"/>
          </p:cNvSpPr>
          <p:nvPr/>
        </p:nvSpPr>
        <p:spPr>
          <a:xfrm xmlns:a="http://schemas.openxmlformats.org/drawingml/2006/main">
            <a:off x="609600" y="6343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FACE ANTI-SPOOFING</a:t>
            </a:r>
          </a:p>
        </p:txBody>
      </p:sp>
      <p:sp>
        <p:nvSpPr>
          <p:cNvPr id="3" name="">
            <a:extLst xmlns:a="http://schemas.openxmlformats.org/drawingml/2006/main">
              <a:ext uri="{FF2B5EF4-FFF2-40B4-BE49-F238E27FC236}">
                <a16:creationId xmlns:a16="http://schemas.microsoft.com/office/drawing/2014/main" id="{CE901A30-127F-4396-B40E-72EE3C235EC4}"/>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95E46750-EED7-4CD5-BBD6-12A66E646C72}"/>
              </a:ext>
            </a:extLst>
          </p:cNvPr>
          <p:cNvSpPr>
            <a:spLocks xmlns:a="http://schemas.openxmlformats.org/drawingml/2006/main" noGrp="1"/>
          </p:cNvSpPr>
          <p:nvPr/>
        </p:nvSpPr>
        <p:spPr>
          <a:xfrm xmlns:a="http://schemas.openxmlformats.org/drawingml/2006/main">
            <a:off x="609600" y="1685925"/>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65D6AA"/>
                </a:solidFill>
                <a:latin typeface="Arial"/>
                <a:ea typeface="Arial"/>
                <a:cs typeface="Arial"/>
              </a:defRPr>
            </a:pPr>
            <a:r>
              <a:rPr sz="5850" b="1">
                <a:solidFill>
                  <a:srgbClr val="65D6AA"/>
                </a:solidFill>
                <a:latin typeface="Arial"/>
                <a:ea typeface="Arial"/>
                <a:cs typeface="Arial"/>
              </a:rPr>
              <a:t>96,86%</a:t>
            </a:r>
          </a:p>
        </p:txBody>
      </p:sp>
      <p:sp>
        <p:nvSpPr>
          <p:cNvPr id="5" name="">
            <a:extLst xmlns:a="http://schemas.openxmlformats.org/drawingml/2006/main">
              <a:ext uri="{FF2B5EF4-FFF2-40B4-BE49-F238E27FC236}">
                <a16:creationId xmlns:a16="http://schemas.microsoft.com/office/drawing/2014/main" id="{F4D5917E-BD4B-4A1D-A1D6-7A2506C2D50D}"/>
              </a:ext>
            </a:extLst>
          </p:cNvPr>
          <p:cNvSpPr>
            <a:spLocks xmlns:a="http://schemas.openxmlformats.org/drawingml/2006/main" noGrp="1"/>
          </p:cNvSpPr>
          <p:nvPr/>
        </p:nvSpPr>
        <p:spPr>
          <a:xfrm xmlns:a="http://schemas.openxmlformats.org/drawingml/2006/main">
            <a:off x="609600" y="2914650"/>
            <a:ext cx="4762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Ảnh phân loại đúng</a:t>
            </a:r>
          </a:p>
        </p:txBody>
      </p:sp>
      <p:sp>
        <p:nvSpPr>
          <p:cNvPr id="6" name="">
            <a:extLst xmlns:a="http://schemas.openxmlformats.org/drawingml/2006/main">
              <a:ext uri="{FF2B5EF4-FFF2-40B4-BE49-F238E27FC236}">
                <a16:creationId xmlns:a16="http://schemas.microsoft.com/office/drawing/2014/main" id="{E3F3C0BE-57C9-45C1-A0A7-5E5AC1C215F4}"/>
              </a:ext>
            </a:extLst>
          </p:cNvPr>
          <p:cNvSpPr>
            <a:spLocks xmlns:a="http://schemas.openxmlformats.org/drawingml/2006/main" noGrp="1"/>
          </p:cNvSpPr>
          <p:nvPr/>
        </p:nvSpPr>
        <p:spPr>
          <a:xfrm xmlns:a="http://schemas.openxmlformats.org/drawingml/2006/main">
            <a:off x="609600" y="3476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7C6D8"/>
                </a:solidFill>
                <a:latin typeface="Arial"/>
                <a:ea typeface="Arial"/>
                <a:cs typeface="Arial"/>
              </a:defRPr>
            </a:pPr>
            <a:r>
              <a:rPr sz="2175" b="0">
                <a:solidFill>
                  <a:srgbClr val="B7C6D8"/>
                </a:solidFill>
                <a:latin typeface="Arial"/>
                <a:ea typeface="Arial"/>
                <a:cs typeface="Arial"/>
              </a:rPr>
              <a:t>Trên 3.347 ảnh cắt mặt</a:t>
            </a:r>
          </a:p>
          <a:p xmlns:a="http://schemas.openxmlformats.org/drawingml/2006/main">
            <a:pPr>
              <a:defRPr sz="2175" b="0">
                <a:solidFill>
                  <a:srgbClr val="B7C6D8"/>
                </a:solidFill>
                <a:latin typeface="Arial"/>
                <a:ea typeface="Arial"/>
                <a:cs typeface="Arial"/>
              </a:defRPr>
            </a:pPr>
            <a:r>
              <a:rPr sz="2175" b="0">
                <a:solidFill>
                  <a:srgbClr val="B7C6D8"/>
                </a:solidFill>
                <a:latin typeface="Arial"/>
                <a:ea typeface="Arial"/>
                <a:cs typeface="Arial"/>
              </a:rPr>
              <a:t>từ 5 video test giữ riêng.</a:t>
            </a:r>
          </a:p>
        </p:txBody>
      </p:sp>
      <p:sp>
        <p:nvSpPr>
          <p:cNvPr id="7" name="">
            <a:extLst xmlns:a="http://schemas.openxmlformats.org/drawingml/2006/main">
              <a:ext uri="{FF2B5EF4-FFF2-40B4-BE49-F238E27FC236}">
                <a16:creationId xmlns:a16="http://schemas.microsoft.com/office/drawing/2014/main" id="{8C6978E9-BFA9-4FA1-974E-7F8917B9F9AD}"/>
              </a:ext>
            </a:extLst>
          </p:cNvPr>
          <p:cNvSpPr>
            <a:spLocks xmlns:a="http://schemas.openxmlformats.org/drawingml/2006/main" noGrp="1"/>
          </p:cNvSpPr>
          <p:nvPr/>
        </p:nvSpPr>
        <p:spPr>
          <a:xfrm xmlns:a="http://schemas.openxmlformats.org/drawingml/2006/main">
            <a:off x="6200775" y="1666875"/>
            <a:ext cx="538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C477"/>
                </a:solidFill>
                <a:latin typeface="Arial"/>
                <a:ea typeface="Arial"/>
                <a:cs typeface="Arial"/>
              </a:defRPr>
            </a:pPr>
            <a:r>
              <a:rPr sz="2925" b="1">
                <a:solidFill>
                  <a:srgbClr val="FFC477"/>
                </a:solidFill>
                <a:latin typeface="Arial"/>
                <a:ea typeface="Arial"/>
                <a:cs typeface="Arial"/>
              </a:rPr>
              <a:t>100 / 1.969 ảnh giả</a:t>
            </a:r>
          </a:p>
        </p:txBody>
      </p:sp>
      <p:sp>
        <p:nvSpPr>
          <p:cNvPr id="8" name="">
            <a:extLst xmlns:a="http://schemas.openxmlformats.org/drawingml/2006/main">
              <a:ext uri="{FF2B5EF4-FFF2-40B4-BE49-F238E27FC236}">
                <a16:creationId xmlns:a16="http://schemas.microsoft.com/office/drawing/2014/main" id="{77F258B5-D383-4DDC-96F6-64E1095C8171}"/>
              </a:ext>
            </a:extLst>
          </p:cNvPr>
          <p:cNvSpPr>
            <a:spLocks xmlns:a="http://schemas.openxmlformats.org/drawingml/2006/main" noGrp="1"/>
          </p:cNvSpPr>
          <p:nvPr/>
        </p:nvSpPr>
        <p:spPr>
          <a:xfrm xmlns:a="http://schemas.openxmlformats.org/drawingml/2006/main">
            <a:off x="6200775" y="2343150"/>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2F5FA"/>
                </a:solidFill>
                <a:latin typeface="Arial"/>
                <a:ea typeface="Arial"/>
                <a:cs typeface="Arial"/>
              </a:defRPr>
            </a:pPr>
            <a:r>
              <a:rPr sz="2175" b="0">
                <a:solidFill>
                  <a:srgbClr val="F2F5FA"/>
                </a:solidFill>
                <a:latin typeface="Arial"/>
                <a:ea typeface="Arial"/>
                <a:cs typeface="Arial"/>
              </a:rPr>
              <a:t>Model nhận thành thật (5,08%).</a:t>
            </a:r>
          </a:p>
          <a:p xmlns:a="http://schemas.openxmlformats.org/drawingml/2006/main">
            <a:pPr>
              <a:defRPr sz="2175" b="0">
                <a:solidFill>
                  <a:srgbClr val="F2F5FA"/>
                </a:solidFill>
                <a:latin typeface="Arial"/>
                <a:ea typeface="Arial"/>
                <a:cs typeface="Arial"/>
              </a:defRPr>
            </a:pPr>
            <a:r>
              <a:rPr sz="2175" b="0">
                <a:solidFill>
                  <a:srgbClr val="F2F5FA"/>
                </a:solidFill>
                <a:latin typeface="Arial"/>
                <a:ea typeface="Arial"/>
                <a:cs typeface="Arial"/>
              </a:rPr>
              <a:t>Đây là lỗi cần ưu tiên giảm.</a:t>
            </a:r>
          </a:p>
        </p:txBody>
      </p:sp>
      <p:sp>
        <p:nvSpPr>
          <p:cNvPr id="9" name="">
            <a:extLst xmlns:a="http://schemas.openxmlformats.org/drawingml/2006/main">
              <a:ext uri="{FF2B5EF4-FFF2-40B4-BE49-F238E27FC236}">
                <a16:creationId xmlns:a16="http://schemas.microsoft.com/office/drawing/2014/main" id="{5A53F0CD-8E8F-4643-9DD3-FF86B026E328}"/>
              </a:ext>
            </a:extLst>
          </p:cNvPr>
          <p:cNvSpPr>
            <a:spLocks xmlns:a="http://schemas.openxmlformats.org/drawingml/2006/main" noGrp="1"/>
          </p:cNvSpPr>
          <p:nvPr/>
        </p:nvSpPr>
        <p:spPr>
          <a:xfrm xmlns:a="http://schemas.openxmlformats.org/drawingml/2006/main">
            <a:off x="6200775" y="3790950"/>
            <a:ext cx="538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8C7FF"/>
                </a:solidFill>
                <a:latin typeface="Arial"/>
                <a:ea typeface="Arial"/>
                <a:cs typeface="Arial"/>
              </a:defRPr>
            </a:pPr>
            <a:r>
              <a:rPr sz="2925" b="1">
                <a:solidFill>
                  <a:srgbClr val="78C7FF"/>
                </a:solidFill>
                <a:latin typeface="Arial"/>
                <a:ea typeface="Arial"/>
                <a:cs typeface="Arial"/>
              </a:rPr>
              <a:t>5 / 1.378 ảnh thật</a:t>
            </a:r>
          </a:p>
        </p:txBody>
      </p:sp>
      <p:sp>
        <p:nvSpPr>
          <p:cNvPr id="10" name="">
            <a:extLst xmlns:a="http://schemas.openxmlformats.org/drawingml/2006/main">
              <a:ext uri="{FF2B5EF4-FFF2-40B4-BE49-F238E27FC236}">
                <a16:creationId xmlns:a16="http://schemas.microsoft.com/office/drawing/2014/main" id="{5AA35223-38EB-447F-AEB5-5BC1D457A6E7}"/>
              </a:ext>
            </a:extLst>
          </p:cNvPr>
          <p:cNvSpPr>
            <a:spLocks xmlns:a="http://schemas.openxmlformats.org/drawingml/2006/main" noGrp="1"/>
          </p:cNvSpPr>
          <p:nvPr/>
        </p:nvSpPr>
        <p:spPr>
          <a:xfrm xmlns:a="http://schemas.openxmlformats.org/drawingml/2006/main">
            <a:off x="6200775" y="4467225"/>
            <a:ext cx="5381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7C6D8"/>
                </a:solidFill>
                <a:latin typeface="Arial"/>
                <a:ea typeface="Arial"/>
                <a:cs typeface="Arial"/>
              </a:defRPr>
            </a:pPr>
            <a:r>
              <a:rPr sz="2175" b="0">
                <a:solidFill>
                  <a:srgbClr val="B7C6D8"/>
                </a:solidFill>
                <a:latin typeface="Arial"/>
                <a:ea typeface="Arial"/>
                <a:cs typeface="Arial"/>
              </a:rPr>
              <a:t>Model nhận thành giả (0,36%).</a:t>
            </a:r>
          </a:p>
        </p:txBody>
      </p:sp>
      <p:sp>
        <p:nvSpPr>
          <p:cNvPr id="11" name="">
            <a:extLst xmlns:a="http://schemas.openxmlformats.org/drawingml/2006/main">
              <a:ext uri="{FF2B5EF4-FFF2-40B4-BE49-F238E27FC236}">
                <a16:creationId xmlns:a16="http://schemas.microsoft.com/office/drawing/2014/main" id="{B4200C02-444D-4BD2-B2C2-9E72E467A36B}"/>
              </a:ext>
            </a:extLst>
          </p:cNvPr>
          <p:cNvSpPr>
            <a:spLocks xmlns:a="http://schemas.openxmlformats.org/drawingml/2006/main" noGrp="1"/>
          </p:cNvSpPr>
          <p:nvPr/>
        </p:nvSpPr>
        <p:spPr>
          <a:xfrm xmlns:a="http://schemas.openxmlformats.org/drawingml/2006/main">
            <a:off x="609600" y="55054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5FA"/>
                </a:solidFill>
                <a:latin typeface="Arial"/>
                <a:ea typeface="Arial"/>
                <a:cs typeface="Arial"/>
              </a:defRPr>
            </a:pPr>
            <a:r>
              <a:rPr sz="1875" b="1">
                <a:solidFill>
                  <a:srgbClr val="F2F5FA"/>
                </a:solidFill>
                <a:latin typeface="Arial"/>
                <a:ea typeface="Arial"/>
                <a:cs typeface="Arial"/>
              </a:rPr>
              <a:t>Phạm vi: phân loại ảnh cắt mặt. Chưa đánh giá toàn bộ luồng camera/API</a:t>
            </a:r>
          </a:p>
          <a:p xmlns:a="http://schemas.openxmlformats.org/drawingml/2006/main">
            <a:pPr>
              <a:defRPr sz="1875" b="1">
                <a:solidFill>
                  <a:srgbClr val="F2F5FA"/>
                </a:solidFill>
                <a:latin typeface="Arial"/>
                <a:ea typeface="Arial"/>
                <a:cs typeface="Arial"/>
              </a:defRPr>
            </a:pPr>
            <a:r>
              <a:rPr sz="1875" b="1">
                <a:solidFill>
                  <a:srgbClr val="F2F5FA"/>
                </a:solidFill>
                <a:latin typeface="Arial"/>
                <a:ea typeface="Arial"/>
                <a:cs typeface="Arial"/>
              </a:rPr>
              <a:t>và chưa đủ bằng chứng kết luận đã hết overfit.</a:t>
            </a:r>
          </a:p>
        </p:txBody>
      </p:sp>
    </p:spTree>
    <p:extLst>
      <p:ext uri="{BB962C8B-B14F-4D97-AF65-F5344CB8AC3E}">
        <p14:creationId xmlns:p14="http://schemas.microsoft.com/office/powerpoint/2010/main" val="1121401590"/>
      </p:ext>
    </p:extLst>
  </p:cSld>
</p:sld>
</file>

<file path=ppt/slides/slide4.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CE669AC-FE33-4F36-93AB-3C151E3FC11A}"/>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API cho hệ thống nhận diện có sẵn</a:t>
            </a:r>
          </a:p>
        </p:txBody>
      </p:sp>
      <p:sp>
        <p:nvSpPr>
          <p:cNvPr id="2" name="">
            <a:extLst xmlns:a="http://schemas.openxmlformats.org/drawingml/2006/main">
              <a:ext uri="{FF2B5EF4-FFF2-40B4-BE49-F238E27FC236}">
                <a16:creationId xmlns:a16="http://schemas.microsoft.com/office/drawing/2014/main" id="{44B9C7C6-9ED5-4079-8107-74BD3761FCBD}"/>
              </a:ext>
            </a:extLst>
          </p:cNvPr>
          <p:cNvSpPr>
            <a:spLocks xmlns:a="http://schemas.openxmlformats.org/drawingml/2006/main" noGrp="1"/>
          </p:cNvSpPr>
          <p:nvPr/>
        </p:nvSpPr>
        <p:spPr>
          <a:xfrm xmlns:a="http://schemas.openxmlformats.org/drawingml/2006/main">
            <a:off x="609600" y="6343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FACE ANTI-SPOOFING</a:t>
            </a:r>
          </a:p>
        </p:txBody>
      </p:sp>
      <p:sp>
        <p:nvSpPr>
          <p:cNvPr id="3" name="">
            <a:extLst xmlns:a="http://schemas.openxmlformats.org/drawingml/2006/main">
              <a:ext uri="{FF2B5EF4-FFF2-40B4-BE49-F238E27FC236}">
                <a16:creationId xmlns:a16="http://schemas.microsoft.com/office/drawing/2014/main" id="{3C88FA2F-1B59-45B4-AE55-BA51CB5D1293}"/>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47D45E7F-14C0-4327-8126-62C8C2D812DF}"/>
              </a:ext>
            </a:extLst>
          </p:cNvPr>
          <p:cNvSpPr>
            <a:spLocks xmlns:a="http://schemas.openxmlformats.org/drawingml/2006/main" noGrp="1"/>
          </p:cNvSpPr>
          <p:nvPr/>
        </p:nvSpPr>
        <p:spPr>
          <a:xfrm xmlns:a="http://schemas.openxmlformats.org/drawingml/2006/main">
            <a:off x="609600" y="14097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78C7FF"/>
                </a:solidFill>
                <a:latin typeface="Arial"/>
                <a:ea typeface="Arial"/>
                <a:cs typeface="Arial"/>
              </a:defRPr>
            </a:pPr>
            <a:r>
              <a:rPr sz="2625" b="1">
                <a:solidFill>
                  <a:srgbClr val="78C7FF"/>
                </a:solidFill>
                <a:latin typeface="Arial"/>
                <a:ea typeface="Arial"/>
                <a:cs typeface="Arial"/>
              </a:rPr>
              <a:t>POST http://127.0.0.1:8000/v1/analyze</a:t>
            </a:r>
          </a:p>
        </p:txBody>
      </p:sp>
      <p:sp>
        <p:nvSpPr>
          <p:cNvPr id="5" name="">
            <a:extLst xmlns:a="http://schemas.openxmlformats.org/drawingml/2006/main">
              <a:ext uri="{FF2B5EF4-FFF2-40B4-BE49-F238E27FC236}">
                <a16:creationId xmlns:a16="http://schemas.microsoft.com/office/drawing/2014/main" id="{D71B613B-20E3-4ECB-ACDF-EF11DEFD240B}"/>
              </a:ext>
            </a:extLst>
          </p:cNvPr>
          <p:cNvSpPr>
            <a:spLocks xmlns:a="http://schemas.openxmlformats.org/drawingml/2006/main" noGrp="1"/>
          </p:cNvSpPr>
          <p:nvPr/>
        </p:nvSpPr>
        <p:spPr>
          <a:xfrm xmlns:a="http://schemas.openxmlformats.org/drawingml/2006/main">
            <a:off x="609600" y="20097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7C6D8"/>
                </a:solidFill>
                <a:latin typeface="Arial"/>
                <a:ea typeface="Arial"/>
                <a:cs typeface="Arial"/>
              </a:defRPr>
            </a:pPr>
            <a:r>
              <a:rPr sz="1875" b="0">
                <a:solidFill>
                  <a:srgbClr val="B7C6D8"/>
                </a:solidFill>
                <a:latin typeface="Arial"/>
                <a:ea typeface="Arial"/>
                <a:cs typeface="Arial"/>
              </a:rPr>
              <a:t>Địa chỉ dùng trên máy chạy dịch vụ. Mỗi lần gọi gửi một ảnh JPEG.</a:t>
            </a:r>
          </a:p>
        </p:txBody>
      </p:sp>
      <p:sp>
        <p:nvSpPr>
          <p:cNvPr id="6" name="">
            <a:extLst xmlns:a="http://schemas.openxmlformats.org/drawingml/2006/main">
              <a:ext uri="{FF2B5EF4-FFF2-40B4-BE49-F238E27FC236}">
                <a16:creationId xmlns:a16="http://schemas.microsoft.com/office/drawing/2014/main" id="{161FA64D-A2E0-4E5B-94CB-683477BADB31}"/>
              </a:ext>
            </a:extLst>
          </p:cNvPr>
          <p:cNvSpPr>
            <a:spLocks xmlns:a="http://schemas.openxmlformats.org/drawingml/2006/main" noGrp="1"/>
          </p:cNvSpPr>
          <p:nvPr/>
        </p:nvSpPr>
        <p:spPr>
          <a:xfrm xmlns:a="http://schemas.openxmlformats.org/drawingml/2006/main">
            <a:off x="609600" y="2771775"/>
            <a:ext cx="704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78C7FF"/>
                </a:solidFill>
                <a:latin typeface="Arial"/>
                <a:ea typeface="Arial"/>
                <a:cs typeface="Arial"/>
              </a:defRPr>
            </a:pPr>
            <a:r>
              <a:rPr sz="2400" b="1">
                <a:solidFill>
                  <a:srgbClr val="78C7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E4DC3F3-FB02-4117-B1D2-690630CA45C1}"/>
              </a:ext>
            </a:extLst>
          </p:cNvPr>
          <p:cNvSpPr>
            <a:spLocks xmlns:a="http://schemas.openxmlformats.org/drawingml/2006/main" noGrp="1"/>
          </p:cNvSpPr>
          <p:nvPr/>
        </p:nvSpPr>
        <p:spPr>
          <a:xfrm xmlns:a="http://schemas.openxmlformats.org/drawingml/2006/main">
            <a:off x="1504950" y="274320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Ứng dụng gửi ảnh từ camera</a:t>
            </a:r>
          </a:p>
        </p:txBody>
      </p:sp>
      <p:sp>
        <p:nvSpPr>
          <p:cNvPr id="8" name="">
            <a:extLst xmlns:a="http://schemas.openxmlformats.org/drawingml/2006/main">
              <a:ext uri="{FF2B5EF4-FFF2-40B4-BE49-F238E27FC236}">
                <a16:creationId xmlns:a16="http://schemas.microsoft.com/office/drawing/2014/main" id="{8A152429-DD23-43AC-AAAC-419645A2019D}"/>
              </a:ext>
            </a:extLst>
          </p:cNvPr>
          <p:cNvSpPr>
            <a:spLocks xmlns:a="http://schemas.openxmlformats.org/drawingml/2006/main" noGrp="1"/>
          </p:cNvSpPr>
          <p:nvPr/>
        </p:nvSpPr>
        <p:spPr>
          <a:xfrm xmlns:a="http://schemas.openxmlformats.org/drawingml/2006/main">
            <a:off x="1504950" y="32575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7C6D8"/>
                </a:solidFill>
                <a:latin typeface="Arial"/>
                <a:ea typeface="Arial"/>
                <a:cs typeface="Arial"/>
              </a:defRPr>
            </a:pPr>
            <a:r>
              <a:rPr sz="1950" b="0">
                <a:solidFill>
                  <a:srgbClr val="B7C6D8"/>
                </a:solidFill>
                <a:latin typeface="Arial"/>
                <a:ea typeface="Arial"/>
                <a:cs typeface="Arial"/>
              </a:rPr>
              <a:t>API tự tìm mặt, kiểm tra chất lượng và phân loại thật/giả.</a:t>
            </a:r>
          </a:p>
        </p:txBody>
      </p:sp>
      <p:sp>
        <p:nvSpPr>
          <p:cNvPr id="9" name="">
            <a:extLst xmlns:a="http://schemas.openxmlformats.org/drawingml/2006/main">
              <a:ext uri="{FF2B5EF4-FFF2-40B4-BE49-F238E27FC236}">
                <a16:creationId xmlns:a16="http://schemas.microsoft.com/office/drawing/2014/main" id="{2E132C8A-C03A-469E-969A-40640A6D5DD6}"/>
              </a:ext>
            </a:extLst>
          </p:cNvPr>
          <p:cNvSpPr>
            <a:spLocks xmlns:a="http://schemas.openxmlformats.org/drawingml/2006/main" noGrp="1"/>
          </p:cNvSpPr>
          <p:nvPr/>
        </p:nvSpPr>
        <p:spPr>
          <a:xfrm xmlns:a="http://schemas.openxmlformats.org/drawingml/2006/main">
            <a:off x="609600" y="3905250"/>
            <a:ext cx="704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78C7FF"/>
                </a:solidFill>
                <a:latin typeface="Arial"/>
                <a:ea typeface="Arial"/>
                <a:cs typeface="Arial"/>
              </a:defRPr>
            </a:pPr>
            <a:r>
              <a:rPr sz="2400" b="1">
                <a:solidFill>
                  <a:srgbClr val="78C7F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0B756342-E29B-4D8F-A70F-2A6E2AF45197}"/>
              </a:ext>
            </a:extLst>
          </p:cNvPr>
          <p:cNvSpPr>
            <a:spLocks xmlns:a="http://schemas.openxmlformats.org/drawingml/2006/main" noGrp="1"/>
          </p:cNvSpPr>
          <p:nvPr/>
        </p:nvSpPr>
        <p:spPr>
          <a:xfrm xmlns:a="http://schemas.openxmlformats.org/drawingml/2006/main">
            <a:off x="1504950" y="387667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API trả kết quả để ứng dụng xử lý</a:t>
            </a:r>
          </a:p>
        </p:txBody>
      </p:sp>
      <p:sp>
        <p:nvSpPr>
          <p:cNvPr id="11" name="">
            <a:extLst xmlns:a="http://schemas.openxmlformats.org/drawingml/2006/main">
              <a:ext uri="{FF2B5EF4-FFF2-40B4-BE49-F238E27FC236}">
                <a16:creationId xmlns:a16="http://schemas.microsoft.com/office/drawing/2014/main" id="{BC0DFA60-235D-497C-B4F0-7D9A6C384E59}"/>
              </a:ext>
            </a:extLst>
          </p:cNvPr>
          <p:cNvSpPr>
            <a:spLocks xmlns:a="http://schemas.openxmlformats.org/drawingml/2006/main" noGrp="1"/>
          </p:cNvSpPr>
          <p:nvPr/>
        </p:nvSpPr>
        <p:spPr>
          <a:xfrm xmlns:a="http://schemas.openxmlformats.org/drawingml/2006/main">
            <a:off x="1504950" y="439102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7C6D8"/>
                </a:solidFill>
                <a:latin typeface="Arial"/>
                <a:ea typeface="Arial"/>
                <a:cs typeface="Arial"/>
              </a:defRPr>
            </a:pPr>
            <a:r>
              <a:rPr sz="1950" b="0">
                <a:solidFill>
                  <a:srgbClr val="B7C6D8"/>
                </a:solidFill>
                <a:latin typeface="Arial"/>
                <a:ea typeface="Arial"/>
                <a:cs typeface="Arial"/>
              </a:rPr>
              <a:t>Trả trạng thái, điểm số và vị trí mặt. Ảnh không đạt cần chụp lại.</a:t>
            </a:r>
          </a:p>
        </p:txBody>
      </p:sp>
      <p:sp>
        <p:nvSpPr>
          <p:cNvPr id="12" name="">
            <a:extLst xmlns:a="http://schemas.openxmlformats.org/drawingml/2006/main">
              <a:ext uri="{FF2B5EF4-FFF2-40B4-BE49-F238E27FC236}">
                <a16:creationId xmlns:a16="http://schemas.microsoft.com/office/drawing/2014/main" id="{B958D1FB-A2FC-40C5-A264-FDBFD3525BD9}"/>
              </a:ext>
            </a:extLst>
          </p:cNvPr>
          <p:cNvSpPr>
            <a:spLocks xmlns:a="http://schemas.openxmlformats.org/drawingml/2006/main" noGrp="1"/>
          </p:cNvSpPr>
          <p:nvPr/>
        </p:nvSpPr>
        <p:spPr>
          <a:xfrm xmlns:a="http://schemas.openxmlformats.org/drawingml/2006/main">
            <a:off x="609600" y="5038725"/>
            <a:ext cx="704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78C7FF"/>
                </a:solidFill>
                <a:latin typeface="Arial"/>
                <a:ea typeface="Arial"/>
                <a:cs typeface="Arial"/>
              </a:defRPr>
            </a:pPr>
            <a:r>
              <a:rPr sz="2400" b="1">
                <a:solidFill>
                  <a:srgbClr val="78C7F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889D2325-491F-4BC3-81CD-3A46A910C020}"/>
              </a:ext>
            </a:extLst>
          </p:cNvPr>
          <p:cNvSpPr>
            <a:spLocks xmlns:a="http://schemas.openxmlformats.org/drawingml/2006/main" noGrp="1"/>
          </p:cNvSpPr>
          <p:nvPr/>
        </p:nvSpPr>
        <p:spPr>
          <a:xfrm xmlns:a="http://schemas.openxmlformats.org/drawingml/2006/main">
            <a:off x="1504950" y="50101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Hệ thống hiện có tiếp tục xác định người đó là ai</a:t>
            </a:r>
          </a:p>
        </p:txBody>
      </p:sp>
      <p:sp>
        <p:nvSpPr>
          <p:cNvPr id="14" name="">
            <a:extLst xmlns:a="http://schemas.openxmlformats.org/drawingml/2006/main">
              <a:ext uri="{FF2B5EF4-FFF2-40B4-BE49-F238E27FC236}">
                <a16:creationId xmlns:a16="http://schemas.microsoft.com/office/drawing/2014/main" id="{740519FB-8E8E-4986-BE25-53DD3E09DF44}"/>
              </a:ext>
            </a:extLst>
          </p:cNvPr>
          <p:cNvSpPr>
            <a:spLocks xmlns:a="http://schemas.openxmlformats.org/drawingml/2006/main" noGrp="1"/>
          </p:cNvSpPr>
          <p:nvPr/>
        </p:nvSpPr>
        <p:spPr>
          <a:xfrm xmlns:a="http://schemas.openxmlformats.org/drawingml/2006/main">
            <a:off x="1504950" y="552450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5D6AA"/>
                </a:solidFill>
                <a:latin typeface="Arial"/>
                <a:ea typeface="Arial"/>
                <a:cs typeface="Arial"/>
              </a:defRPr>
            </a:pPr>
            <a:r>
              <a:rPr sz="1950" b="0">
                <a:solidFill>
                  <a:srgbClr val="65D6AA"/>
                </a:solidFill>
                <a:latin typeface="Arial"/>
                <a:ea typeface="Arial"/>
                <a:cs typeface="Arial"/>
              </a:rPr>
              <a:t>Camera gửi nhiều khung hình qua API phiên để tổng hợp kết quả.</a:t>
            </a:r>
          </a:p>
        </p:txBody>
      </p:sp>
    </p:spTree>
    <p:extLst>
      <p:ext uri="{BB962C8B-B14F-4D97-AF65-F5344CB8AC3E}">
        <p14:creationId xmlns:p14="http://schemas.microsoft.com/office/powerpoint/2010/main" val="1549821137"/>
      </p:ext>
    </p:extLst>
  </p:cSld>
</p:sld>
</file>

<file path=ppt/slides/slide5.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DA3342-2C15-456D-ACF7-EBBEA3BF7C12}"/>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Kiểm thử chức năng và tốc độ API</a:t>
            </a:r>
          </a:p>
        </p:txBody>
      </p:sp>
      <p:sp>
        <p:nvSpPr>
          <p:cNvPr id="2" name="">
            <a:extLst xmlns:a="http://schemas.openxmlformats.org/drawingml/2006/main">
              <a:ext uri="{FF2B5EF4-FFF2-40B4-BE49-F238E27FC236}">
                <a16:creationId xmlns:a16="http://schemas.microsoft.com/office/drawing/2014/main" id="{EBA992ED-260A-46BE-8BBA-CD172BF3F773}"/>
              </a:ext>
            </a:extLst>
          </p:cNvPr>
          <p:cNvSpPr>
            <a:spLocks xmlns:a="http://schemas.openxmlformats.org/drawingml/2006/main" noGrp="1"/>
          </p:cNvSpPr>
          <p:nvPr/>
        </p:nvSpPr>
        <p:spPr>
          <a:xfrm xmlns:a="http://schemas.openxmlformats.org/drawingml/2006/main">
            <a:off x="609600" y="6343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FACE ANTI-SPOOFING</a:t>
            </a:r>
          </a:p>
        </p:txBody>
      </p:sp>
      <p:sp>
        <p:nvSpPr>
          <p:cNvPr id="3" name="">
            <a:extLst xmlns:a="http://schemas.openxmlformats.org/drawingml/2006/main">
              <a:ext uri="{FF2B5EF4-FFF2-40B4-BE49-F238E27FC236}">
                <a16:creationId xmlns:a16="http://schemas.microsoft.com/office/drawing/2014/main" id="{9E1C33DA-875F-450F-914F-CE877423911D}"/>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82703A1F-37AB-4230-B99D-A6CB5F25A69F}"/>
              </a:ext>
            </a:extLst>
          </p:cNvPr>
          <p:cNvSpPr>
            <a:spLocks xmlns:a="http://schemas.openxmlformats.org/drawingml/2006/main" noGrp="1"/>
          </p:cNvSpPr>
          <p:nvPr/>
        </p:nvSpPr>
        <p:spPr>
          <a:xfrm xmlns:a="http://schemas.openxmlformats.org/drawingml/2006/main">
            <a:off x="609600" y="1428750"/>
            <a:ext cx="304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65D6AA"/>
                </a:solidFill>
                <a:latin typeface="Arial"/>
                <a:ea typeface="Arial"/>
                <a:cs typeface="Arial"/>
              </a:defRPr>
            </a:pPr>
            <a:r>
              <a:rPr sz="4800" b="1">
                <a:solidFill>
                  <a:srgbClr val="65D6AA"/>
                </a:solidFill>
                <a:latin typeface="Arial"/>
                <a:ea typeface="Arial"/>
                <a:cs typeface="Arial"/>
              </a:rPr>
              <a:t>35/35</a:t>
            </a:r>
          </a:p>
        </p:txBody>
      </p:sp>
      <p:sp>
        <p:nvSpPr>
          <p:cNvPr id="5" name="">
            <a:extLst xmlns:a="http://schemas.openxmlformats.org/drawingml/2006/main">
              <a:ext uri="{FF2B5EF4-FFF2-40B4-BE49-F238E27FC236}">
                <a16:creationId xmlns:a16="http://schemas.microsoft.com/office/drawing/2014/main" id="{D35E8840-5188-41C1-8172-EA6152A74E80}"/>
              </a:ext>
            </a:extLst>
          </p:cNvPr>
          <p:cNvSpPr>
            <a:spLocks xmlns:a="http://schemas.openxmlformats.org/drawingml/2006/main" noGrp="1"/>
          </p:cNvSpPr>
          <p:nvPr/>
        </p:nvSpPr>
        <p:spPr>
          <a:xfrm xmlns:a="http://schemas.openxmlformats.org/drawingml/2006/main">
            <a:off x="4000500" y="1590675"/>
            <a:ext cx="733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5FA"/>
                </a:solidFill>
                <a:latin typeface="Arial"/>
                <a:ea typeface="Arial"/>
                <a:cs typeface="Arial"/>
              </a:defRPr>
            </a:pPr>
            <a:r>
              <a:rPr sz="2250" b="1">
                <a:solidFill>
                  <a:srgbClr val="F2F5FA"/>
                </a:solidFill>
                <a:latin typeface="Arial"/>
                <a:ea typeface="Arial"/>
                <a:cs typeface="Arial"/>
              </a:rPr>
              <a:t>Bài kiểm thử tự động đạt khi chạy lại ngày 26/09</a:t>
            </a:r>
          </a:p>
        </p:txBody>
      </p:sp>
      <p:sp>
        <p:nvSpPr>
          <p:cNvPr id="6" name="">
            <a:extLst xmlns:a="http://schemas.openxmlformats.org/drawingml/2006/main">
              <a:ext uri="{FF2B5EF4-FFF2-40B4-BE49-F238E27FC236}">
                <a16:creationId xmlns:a16="http://schemas.microsoft.com/office/drawing/2014/main" id="{5A7F6816-9A49-4E28-A8D9-A0B1F13890CB}"/>
              </a:ext>
            </a:extLst>
          </p:cNvPr>
          <p:cNvSpPr>
            <a:spLocks xmlns:a="http://schemas.openxmlformats.org/drawingml/2006/main" noGrp="1"/>
          </p:cNvSpPr>
          <p:nvPr/>
        </p:nvSpPr>
        <p:spPr>
          <a:xfrm xmlns:a="http://schemas.openxmlformats.org/drawingml/2006/main">
            <a:off x="4000500" y="2181225"/>
            <a:ext cx="7334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7C6D8"/>
                </a:solidFill>
                <a:latin typeface="Arial"/>
                <a:ea typeface="Arial"/>
                <a:cs typeface="Arial"/>
              </a:defRPr>
            </a:pPr>
            <a:r>
              <a:rPr sz="1800" b="0">
                <a:solidFill>
                  <a:srgbClr val="B7C6D8"/>
                </a:solidFill>
                <a:latin typeface="Arial"/>
                <a:ea typeface="Arial"/>
                <a:cs typeface="Arial"/>
              </a:rPr>
              <a:t>Kiểm tra API, client và logic xử lý. Độ chính xác model xem ở slide 3.</a:t>
            </a:r>
          </a:p>
        </p:txBody>
      </p:sp>
      <p:graphicFrame>
        <p:nvGraphicFramePr>
          <p:cNvPr id="16" name=""/>
          <p:cNvGraphicFramePr/>
          <p:nvPr/>
        </p:nvGraphicFramePr>
        <p:xfrm>
          <a:off xmlns:a="http://schemas.openxmlformats.org/drawingml/2006/main" x="609600" y="3181350"/>
          <a:ext xmlns:a="http://schemas.openxmlformats.org/drawingml/2006/main" cx="10972800" cy="1771650"/>
        </p:xfrm>
        <a:graphic xmlns:a="http://schemas.openxmlformats.org/drawingml/2006/main">
          <a:graphicData uri="http://schemas.openxmlformats.org/drawingml/2006/table">
            <a:tbl>
              <a:tblPr/>
              <a:tblGrid>
                <a:gridCol w="6667500"/>
                <a:gridCol w="4305300"/>
              </a:tblGrid>
              <a:tr h="590550">
                <a:tc>
                  <a:txBody>
                    <a:bodyPr>
                      <a:noAutofit/>
                    </a:bodyPr>
                    <a:lstStyle/>
                    <a:p>
                      <a:r>
                        <a:rPr sz="2025" b="1">
                          <a:solidFill>
                            <a:srgbClr val="78C7FF"/>
                          </a:solidFill>
                          <a:latin typeface="Arial"/>
                          <a:ea typeface="Arial"/>
                          <a:cs typeface="Arial"/>
                        </a:rPr>
                        <a:t>Cách gọi trên cùng máy</a:t>
                      </a:r>
                    </a:p>
                  </a:txBody>
                  <a:tcPr marL="91440" marR="91440" marT="45720" marB="45720">
                    <a:solidFill>
                      <a:srgbClr val="223B55"/>
                    </a:solidFill>
                  </a:tcPr>
                </a:tc>
                <a:tc>
                  <a:txBody>
                    <a:bodyPr>
                      <a:noAutofit/>
                    </a:bodyPr>
                    <a:lstStyle/>
                    <a:p>
                      <a:r>
                        <a:rPr sz="2025" b="1">
                          <a:solidFill>
                            <a:srgbClr val="78C7FF"/>
                          </a:solidFill>
                          <a:latin typeface="Arial"/>
                          <a:ea typeface="Arial"/>
                          <a:cs typeface="Arial"/>
                        </a:rPr>
                        <a:t>Thời gian trung vị / ảnh</a:t>
                      </a:r>
                    </a:p>
                  </a:txBody>
                  <a:tcPr marL="91440" marR="91440" marT="45720" marB="45720">
                    <a:solidFill>
                      <a:srgbClr val="223B55"/>
                    </a:solidFill>
                  </a:tcPr>
                </a:tc>
              </a:tr>
              <a:tr h="590550">
                <a:tc>
                  <a:txBody>
                    <a:bodyPr>
                      <a:noAutofit/>
                    </a:bodyPr>
                    <a:lstStyle/>
                    <a:p>
                      <a:r>
                        <a:rPr sz="2025" b="0">
                          <a:solidFill>
                            <a:srgbClr val="F2F5FA"/>
                          </a:solidFill>
                          <a:latin typeface="Arial"/>
                          <a:ea typeface="Arial"/>
                          <a:cs typeface="Arial"/>
                        </a:rPr>
                        <a:t>Gọi xử lý trực tiếp</a:t>
                      </a:r>
                    </a:p>
                  </a:txBody>
                  <a:tcPr marL="91440" marR="91440" marT="45720" marB="45720">
                    <a:solidFill>
                      <a:srgbClr val="101B2B"/>
                    </a:solidFill>
                  </a:tcPr>
                </a:tc>
                <a:tc>
                  <a:txBody>
                    <a:bodyPr>
                      <a:noAutofit/>
                    </a:bodyPr>
                    <a:lstStyle/>
                    <a:p>
                      <a:r>
                        <a:rPr sz="2025" b="0">
                          <a:solidFill>
                            <a:srgbClr val="F2F5FA"/>
                          </a:solidFill>
                          <a:latin typeface="Arial"/>
                          <a:ea typeface="Arial"/>
                          <a:cs typeface="Arial"/>
                        </a:rPr>
                        <a:t>49,14 ms</a:t>
                      </a:r>
                    </a:p>
                  </a:txBody>
                  <a:tcPr marL="91440" marR="91440" marT="45720" marB="45720">
                    <a:solidFill>
                      <a:srgbClr val="101B2B"/>
                    </a:solidFill>
                  </a:tcPr>
                </a:tc>
              </a:tr>
              <a:tr h="590550">
                <a:tc>
                  <a:txBody>
                    <a:bodyPr>
                      <a:noAutofit/>
                    </a:bodyPr>
                    <a:lstStyle/>
                    <a:p>
                      <a:r>
                        <a:rPr sz="2025" b="0">
                          <a:solidFill>
                            <a:srgbClr val="F2F5FA"/>
                          </a:solidFill>
                          <a:latin typeface="Arial"/>
                          <a:ea typeface="Arial"/>
                          <a:cs typeface="Arial"/>
                        </a:rPr>
                        <a:t>Gọi API qua localhost</a:t>
                      </a:r>
                    </a:p>
                  </a:txBody>
                  <a:tcPr marL="91440" marR="91440" marT="45720" marB="45720">
                    <a:solidFill>
                      <a:srgbClr val="101B2B"/>
                    </a:solidFill>
                  </a:tcPr>
                </a:tc>
                <a:tc>
                  <a:txBody>
                    <a:bodyPr>
                      <a:noAutofit/>
                    </a:bodyPr>
                    <a:lstStyle/>
                    <a:p>
                      <a:r>
                        <a:rPr sz="2025" b="0">
                          <a:solidFill>
                            <a:srgbClr val="F2F5FA"/>
                          </a:solidFill>
                          <a:latin typeface="Arial"/>
                          <a:ea typeface="Arial"/>
                          <a:cs typeface="Arial"/>
                        </a:rPr>
                        <a:t>55,85 ms</a:t>
                      </a:r>
                    </a:p>
                  </a:txBody>
                  <a:tcPr marL="91440" marR="91440" marT="45720" marB="45720">
                    <a:solidFill>
                      <a:srgbClr val="101B2B"/>
                    </a:solidFill>
                  </a:tcPr>
                </a:tc>
              </a:tr>
            </a:tbl>
          </a:graphicData>
        </a:graphic>
      </p:graphicFrame>
      <p:sp>
        <p:nvSpPr>
          <p:cNvPr id="8" name="">
            <a:extLst xmlns:a="http://schemas.openxmlformats.org/drawingml/2006/main">
              <a:ext uri="{FF2B5EF4-FFF2-40B4-BE49-F238E27FC236}">
                <a16:creationId xmlns:a16="http://schemas.microsoft.com/office/drawing/2014/main" id="{47604ED5-4A8E-4C86-9D34-BA4EECDF6390}"/>
              </a:ext>
            </a:extLst>
          </p:cNvPr>
          <p:cNvSpPr>
            <a:spLocks xmlns:a="http://schemas.openxmlformats.org/drawingml/2006/main" noGrp="1"/>
          </p:cNvSpPr>
          <p:nvPr/>
        </p:nvSpPr>
        <p:spPr>
          <a:xfrm xmlns:a="http://schemas.openxmlformats.org/drawingml/2006/main">
            <a:off x="609600" y="52482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5D6AA"/>
                </a:solidFill>
                <a:latin typeface="Arial"/>
                <a:ea typeface="Arial"/>
                <a:cs typeface="Arial"/>
              </a:defRPr>
            </a:pPr>
            <a:r>
              <a:rPr sz="2325" b="1">
                <a:solidFill>
                  <a:srgbClr val="65D6AA"/>
                </a:solidFill>
                <a:latin typeface="Arial"/>
                <a:ea typeface="Arial"/>
                <a:cs typeface="Arial"/>
              </a:rPr>
              <a:t>API thêm khoảng 6,70 ms mỗi lần gọi</a:t>
            </a:r>
          </a:p>
        </p:txBody>
      </p:sp>
      <p:sp>
        <p:nvSpPr>
          <p:cNvPr id="9" name="">
            <a:extLst xmlns:a="http://schemas.openxmlformats.org/drawingml/2006/main">
              <a:ext uri="{FF2B5EF4-FFF2-40B4-BE49-F238E27FC236}">
                <a16:creationId xmlns:a16="http://schemas.microsoft.com/office/drawing/2014/main" id="{747B8724-E830-4664-802D-C83AAE0B7342}"/>
              </a:ext>
            </a:extLst>
          </p:cNvPr>
          <p:cNvSpPr>
            <a:spLocks xmlns:a="http://schemas.openxmlformats.org/drawingml/2006/main" noGrp="1"/>
          </p:cNvSpPr>
          <p:nvPr/>
        </p:nvSpPr>
        <p:spPr>
          <a:xfrm xmlns:a="http://schemas.openxmlformats.org/drawingml/2006/main">
            <a:off x="609600" y="5734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7C6D8"/>
                </a:solidFill>
                <a:latin typeface="Arial"/>
                <a:ea typeface="Arial"/>
                <a:cs typeface="Arial"/>
              </a:defRPr>
            </a:pPr>
            <a:r>
              <a:rPr sz="1725" b="0">
                <a:solidFill>
                  <a:srgbClr val="B7C6D8"/>
                </a:solidFill>
                <a:latin typeface="Arial"/>
                <a:ea typeface="Arial"/>
                <a:cs typeface="Arial"/>
              </a:rPr>
              <a:t>Đo ngày 23/09: lặp một ảnh 30 lần, cùng model. Chưa đo camera liên tục,</a:t>
            </a:r>
          </a:p>
          <a:p xmlns:a="http://schemas.openxmlformats.org/drawingml/2006/main">
            <a:pPr>
              <a:defRPr sz="1725" b="0">
                <a:solidFill>
                  <a:srgbClr val="B7C6D8"/>
                </a:solidFill>
                <a:latin typeface="Arial"/>
                <a:ea typeface="Arial"/>
                <a:cs typeface="Arial"/>
              </a:defRPr>
            </a:pPr>
            <a:r>
              <a:rPr sz="1725" b="0">
                <a:solidFill>
                  <a:srgbClr val="B7C6D8"/>
                </a:solidFill>
                <a:latin typeface="Arial"/>
                <a:ea typeface="Arial"/>
                <a:cs typeface="Arial"/>
              </a:rPr>
              <a:t>đường truyền Internet hoặc nhiều người dùng cùng lúc.</a:t>
            </a:r>
          </a:p>
        </p:txBody>
      </p:sp>
    </p:spTree>
    <p:extLst>
      <p:ext uri="{BB962C8B-B14F-4D97-AF65-F5344CB8AC3E}">
        <p14:creationId xmlns:p14="http://schemas.microsoft.com/office/powerpoint/2010/main" val="555977342"/>
      </p:ext>
    </p:extLst>
  </p:cSld>
</p:sld>
</file>

<file path=ppt/slides/slide6.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6CDE0CF-3C6A-46BC-9904-7C848E66027E}"/>
              </a:ext>
            </a:extLst>
          </p:cNvPr>
          <p:cNvSpPr>
            <a:spLocks xmlns:a="http://schemas.openxmlformats.org/drawingml/2006/main" noGrp="1"/>
          </p:cNvSpPr>
          <p:nvPr/>
        </p:nvSpPr>
        <p:spPr>
          <a:xfrm xmlns:a="http://schemas.openxmlformats.org/drawingml/2006/main">
            <a:off x="609600" y="4572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2F5FA"/>
                </a:solidFill>
                <a:latin typeface="Arial"/>
                <a:ea typeface="Arial"/>
                <a:cs typeface="Arial"/>
              </a:defRPr>
            </a:pPr>
            <a:r>
              <a:rPr sz="3300" b="1">
                <a:solidFill>
                  <a:srgbClr val="F2F5FA"/>
                </a:solidFill>
                <a:latin typeface="Arial"/>
                <a:ea typeface="Arial"/>
                <a:cs typeface="Arial"/>
              </a:rPr>
              <a:t>Kết quả bàn giao và bước tiếp theo</a:t>
            </a:r>
          </a:p>
        </p:txBody>
      </p:sp>
      <p:sp>
        <p:nvSpPr>
          <p:cNvPr id="2" name="">
            <a:extLst xmlns:a="http://schemas.openxmlformats.org/drawingml/2006/main">
              <a:ext uri="{FF2B5EF4-FFF2-40B4-BE49-F238E27FC236}">
                <a16:creationId xmlns:a16="http://schemas.microsoft.com/office/drawing/2014/main" id="{2A46D0EA-0C09-44E4-9269-392E57AEC52E}"/>
              </a:ext>
            </a:extLst>
          </p:cNvPr>
          <p:cNvSpPr>
            <a:spLocks xmlns:a="http://schemas.openxmlformats.org/drawingml/2006/main" noGrp="1"/>
          </p:cNvSpPr>
          <p:nvPr/>
        </p:nvSpPr>
        <p:spPr>
          <a:xfrm xmlns:a="http://schemas.openxmlformats.org/drawingml/2006/main">
            <a:off x="609600" y="6343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7C6D8"/>
                </a:solidFill>
                <a:latin typeface="Arial"/>
                <a:ea typeface="Arial"/>
                <a:cs typeface="Arial"/>
              </a:defRPr>
            </a:pPr>
            <a:r>
              <a:rPr sz="1275" b="0">
                <a:solidFill>
                  <a:srgbClr val="B7C6D8"/>
                </a:solidFill>
                <a:latin typeface="Arial"/>
                <a:ea typeface="Arial"/>
                <a:cs typeface="Arial"/>
              </a:rPr>
              <a:t>FACE ANTI-SPOOFING</a:t>
            </a:r>
          </a:p>
        </p:txBody>
      </p:sp>
      <p:sp>
        <p:nvSpPr>
          <p:cNvPr id="3" name="">
            <a:extLst xmlns:a="http://schemas.openxmlformats.org/drawingml/2006/main">
              <a:ext uri="{FF2B5EF4-FFF2-40B4-BE49-F238E27FC236}">
                <a16:creationId xmlns:a16="http://schemas.microsoft.com/office/drawing/2014/main" id="{D13B26D1-9567-4ECC-BFA6-8C55B3A1F0A1}"/>
              </a:ext>
            </a:extLst>
          </p:cNvPr>
          <p:cNvSpPr>
            <a:spLocks xmlns:a="http://schemas.openxmlformats.org/drawingml/2006/main" noGrp="1"/>
          </p:cNvSpPr>
          <p:nvPr/>
        </p:nvSpPr>
        <p:spPr>
          <a:xfrm xmlns:a="http://schemas.openxmlformats.org/drawingml/2006/main">
            <a:off x="1114425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7C6D8"/>
                </a:solidFill>
                <a:latin typeface="Arial"/>
                <a:ea typeface="Arial"/>
                <a:cs typeface="Arial"/>
              </a:defRPr>
            </a:pPr>
            <a:r>
              <a:rPr sz="1350" b="0">
                <a:solidFill>
                  <a:srgbClr val="B7C6D8"/>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DF51F1B5-486C-4F78-A829-A046D8235FA5}"/>
              </a:ext>
            </a:extLst>
          </p:cNvPr>
          <p:cNvSpPr>
            <a:spLocks xmlns:a="http://schemas.openxmlformats.org/drawingml/2006/main" noGrp="1"/>
          </p:cNvSpPr>
          <p:nvPr/>
        </p:nvSpPr>
        <p:spPr>
          <a:xfrm xmlns:a="http://schemas.openxmlformats.org/drawingml/2006/main">
            <a:off x="609600" y="150495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5D6AA"/>
                </a:solidFill>
                <a:latin typeface="Arial"/>
                <a:ea typeface="Arial"/>
                <a:cs typeface="Arial"/>
              </a:defRPr>
            </a:pPr>
            <a:r>
              <a:rPr sz="2025" b="1">
                <a:solidFill>
                  <a:srgbClr val="65D6AA"/>
                </a:solidFill>
                <a:latin typeface="Arial"/>
                <a:ea typeface="Arial"/>
                <a:cs typeface="Arial"/>
              </a:rPr>
              <a:t>EM ĐÃ HOÀN THÀNH</a:t>
            </a:r>
          </a:p>
        </p:txBody>
      </p:sp>
      <p:sp>
        <p:nvSpPr>
          <p:cNvPr id="5" name="">
            <a:extLst xmlns:a="http://schemas.openxmlformats.org/drawingml/2006/main">
              <a:ext uri="{FF2B5EF4-FFF2-40B4-BE49-F238E27FC236}">
                <a16:creationId xmlns:a16="http://schemas.microsoft.com/office/drawing/2014/main" id="{195C8E4D-14B4-4A4A-A599-4875E3700BEF}"/>
              </a:ext>
            </a:extLst>
          </p:cNvPr>
          <p:cNvSpPr>
            <a:spLocks xmlns:a="http://schemas.openxmlformats.org/drawingml/2006/main" noGrp="1"/>
          </p:cNvSpPr>
          <p:nvPr/>
        </p:nvSpPr>
        <p:spPr>
          <a:xfrm xmlns:a="http://schemas.openxmlformats.org/drawingml/2006/main">
            <a:off x="609600" y="23050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Model đã huấn luyện lại</a:t>
            </a:r>
          </a:p>
        </p:txBody>
      </p:sp>
      <p:sp>
        <p:nvSpPr>
          <p:cNvPr id="6" name="">
            <a:extLst xmlns:a="http://schemas.openxmlformats.org/drawingml/2006/main">
              <a:ext uri="{FF2B5EF4-FFF2-40B4-BE49-F238E27FC236}">
                <a16:creationId xmlns:a16="http://schemas.microsoft.com/office/drawing/2014/main" id="{EF340036-8225-4AB3-A302-6B5C3FCDBA07}"/>
              </a:ext>
            </a:extLst>
          </p:cNvPr>
          <p:cNvSpPr>
            <a:spLocks xmlns:a="http://schemas.openxmlformats.org/drawingml/2006/main" noGrp="1"/>
          </p:cNvSpPr>
          <p:nvPr/>
        </p:nvSpPr>
        <p:spPr>
          <a:xfrm xmlns:a="http://schemas.openxmlformats.org/drawingml/2006/main">
            <a:off x="609600" y="2809875"/>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Có tập test giữ riêng và số liệu</a:t>
            </a:r>
          </a:p>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về lỗi nhận nhầm thật/giả.</a:t>
            </a:r>
          </a:p>
        </p:txBody>
      </p:sp>
      <p:sp>
        <p:nvSpPr>
          <p:cNvPr id="7" name="">
            <a:extLst xmlns:a="http://schemas.openxmlformats.org/drawingml/2006/main">
              <a:ext uri="{FF2B5EF4-FFF2-40B4-BE49-F238E27FC236}">
                <a16:creationId xmlns:a16="http://schemas.microsoft.com/office/drawing/2014/main" id="{8AB7AF94-874A-4136-8932-5344B6E96BA1}"/>
              </a:ext>
            </a:extLst>
          </p:cNvPr>
          <p:cNvSpPr>
            <a:spLocks xmlns:a="http://schemas.openxmlformats.org/drawingml/2006/main" noGrp="1"/>
          </p:cNvSpPr>
          <p:nvPr/>
        </p:nvSpPr>
        <p:spPr>
          <a:xfrm xmlns:a="http://schemas.openxmlformats.org/drawingml/2006/main">
            <a:off x="609600" y="412432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Bộ API để tích hợp</a:t>
            </a:r>
          </a:p>
        </p:txBody>
      </p:sp>
      <p:sp>
        <p:nvSpPr>
          <p:cNvPr id="8" name="">
            <a:extLst xmlns:a="http://schemas.openxmlformats.org/drawingml/2006/main">
              <a:ext uri="{FF2B5EF4-FFF2-40B4-BE49-F238E27FC236}">
                <a16:creationId xmlns:a16="http://schemas.microsoft.com/office/drawing/2014/main" id="{A575EF8A-F77D-4271-88E0-24E1E8836B26}"/>
              </a:ext>
            </a:extLst>
          </p:cNvPr>
          <p:cNvSpPr>
            <a:spLocks xmlns:a="http://schemas.openxmlformats.org/drawingml/2006/main" noGrp="1"/>
          </p:cNvSpPr>
          <p:nvPr/>
        </p:nvSpPr>
        <p:spPr>
          <a:xfrm xmlns:a="http://schemas.openxmlformats.org/drawingml/2006/main">
            <a:off x="609600" y="462915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Có client Python, mô tả OpenAPI</a:t>
            </a:r>
          </a:p>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và tài liệu hướng dẫn sử dụng.</a:t>
            </a:r>
          </a:p>
        </p:txBody>
      </p:sp>
      <p:sp>
        <p:nvSpPr>
          <p:cNvPr id="9" name="">
            <a:extLst xmlns:a="http://schemas.openxmlformats.org/drawingml/2006/main">
              <a:ext uri="{FF2B5EF4-FFF2-40B4-BE49-F238E27FC236}">
                <a16:creationId xmlns:a16="http://schemas.microsoft.com/office/drawing/2014/main" id="{08006B33-5602-4B91-AECF-7ACB126AD1DD}"/>
              </a:ext>
            </a:extLst>
          </p:cNvPr>
          <p:cNvSpPr>
            <a:spLocks xmlns:a="http://schemas.openxmlformats.org/drawingml/2006/main" noGrp="1"/>
          </p:cNvSpPr>
          <p:nvPr/>
        </p:nvSpPr>
        <p:spPr>
          <a:xfrm xmlns:a="http://schemas.openxmlformats.org/drawingml/2006/main">
            <a:off x="6372225" y="15049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8C7FF"/>
                </a:solidFill>
                <a:latin typeface="Arial"/>
                <a:ea typeface="Arial"/>
                <a:cs typeface="Arial"/>
              </a:defRPr>
            </a:pPr>
            <a:r>
              <a:rPr sz="2025" b="1">
                <a:solidFill>
                  <a:srgbClr val="78C7FF"/>
                </a:solidFill>
                <a:latin typeface="Arial"/>
                <a:ea typeface="Arial"/>
                <a:cs typeface="Arial"/>
              </a:rPr>
              <a:t>CÔNG VIỆC TIẾP THEO</a:t>
            </a:r>
          </a:p>
        </p:txBody>
      </p:sp>
      <p:sp>
        <p:nvSpPr>
          <p:cNvPr id="10" name="">
            <a:extLst xmlns:a="http://schemas.openxmlformats.org/drawingml/2006/main">
              <a:ext uri="{FF2B5EF4-FFF2-40B4-BE49-F238E27FC236}">
                <a16:creationId xmlns:a16="http://schemas.microsoft.com/office/drawing/2014/main" id="{9CFC6021-A897-4A6D-A8A4-5EB0921988E1}"/>
              </a:ext>
            </a:extLst>
          </p:cNvPr>
          <p:cNvSpPr>
            <a:spLocks xmlns:a="http://schemas.openxmlformats.org/drawingml/2006/main" noGrp="1"/>
          </p:cNvSpPr>
          <p:nvPr/>
        </p:nvSpPr>
        <p:spPr>
          <a:xfrm xmlns:a="http://schemas.openxmlformats.org/drawingml/2006/main">
            <a:off x="6372225" y="2305050"/>
            <a:ext cx="5210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Kiểm thử giả mạo thực tế</a:t>
            </a:r>
          </a:p>
        </p:txBody>
      </p:sp>
      <p:sp>
        <p:nvSpPr>
          <p:cNvPr id="11" name="">
            <a:extLst xmlns:a="http://schemas.openxmlformats.org/drawingml/2006/main">
              <a:ext uri="{FF2B5EF4-FFF2-40B4-BE49-F238E27FC236}">
                <a16:creationId xmlns:a16="http://schemas.microsoft.com/office/drawing/2014/main" id="{FF46D64A-4427-4BE4-9E34-E281E7F50339}"/>
              </a:ext>
            </a:extLst>
          </p:cNvPr>
          <p:cNvSpPr>
            <a:spLocks xmlns:a="http://schemas.openxmlformats.org/drawingml/2006/main" noGrp="1"/>
          </p:cNvSpPr>
          <p:nvPr/>
        </p:nvSpPr>
        <p:spPr>
          <a:xfrm xmlns:a="http://schemas.openxmlformats.org/drawingml/2006/main">
            <a:off x="6372225" y="2809875"/>
            <a:ext cx="52101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Thử trên người mới, camera khác,</a:t>
            </a:r>
          </a:p>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ảnh in và video phát lại.</a:t>
            </a:r>
          </a:p>
        </p:txBody>
      </p:sp>
      <p:sp>
        <p:nvSpPr>
          <p:cNvPr id="12" name="">
            <a:extLst xmlns:a="http://schemas.openxmlformats.org/drawingml/2006/main">
              <a:ext uri="{FF2B5EF4-FFF2-40B4-BE49-F238E27FC236}">
                <a16:creationId xmlns:a16="http://schemas.microsoft.com/office/drawing/2014/main" id="{D1C79C74-95D6-4A88-850F-B5E7062C56EE}"/>
              </a:ext>
            </a:extLst>
          </p:cNvPr>
          <p:cNvSpPr>
            <a:spLocks xmlns:a="http://schemas.openxmlformats.org/drawingml/2006/main" noGrp="1"/>
          </p:cNvSpPr>
          <p:nvPr/>
        </p:nvSpPr>
        <p:spPr>
          <a:xfrm xmlns:a="http://schemas.openxmlformats.org/drawingml/2006/main">
            <a:off x="6372225" y="4124325"/>
            <a:ext cx="5210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5FA"/>
                </a:solidFill>
                <a:latin typeface="Arial"/>
                <a:ea typeface="Arial"/>
                <a:cs typeface="Arial"/>
              </a:defRPr>
            </a:pPr>
            <a:r>
              <a:rPr sz="2400" b="1">
                <a:solidFill>
                  <a:srgbClr val="F2F5FA"/>
                </a:solidFill>
                <a:latin typeface="Arial"/>
                <a:ea typeface="Arial"/>
                <a:cs typeface="Arial"/>
              </a:rPr>
              <a:t>Triển khai máy chủ khi cần</a:t>
            </a:r>
          </a:p>
        </p:txBody>
      </p:sp>
      <p:sp>
        <p:nvSpPr>
          <p:cNvPr id="13" name="">
            <a:extLst xmlns:a="http://schemas.openxmlformats.org/drawingml/2006/main">
              <a:ext uri="{FF2B5EF4-FFF2-40B4-BE49-F238E27FC236}">
                <a16:creationId xmlns:a16="http://schemas.microsoft.com/office/drawing/2014/main" id="{91979868-932E-4889-A71E-70A095F7CB4D}"/>
              </a:ext>
            </a:extLst>
          </p:cNvPr>
          <p:cNvSpPr>
            <a:spLocks xmlns:a="http://schemas.openxmlformats.org/drawingml/2006/main" noGrp="1"/>
          </p:cNvSpPr>
          <p:nvPr/>
        </p:nvSpPr>
        <p:spPr>
          <a:xfrm xmlns:a="http://schemas.openxmlformats.org/drawingml/2006/main">
            <a:off x="6372225" y="4629150"/>
            <a:ext cx="52101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Cấu hình HTTPS và API key.</a:t>
            </a:r>
          </a:p>
          <a:p xmlns:a="http://schemas.openxmlformats.org/drawingml/2006/main">
            <a:pPr>
              <a:defRPr sz="2100" b="0">
                <a:solidFill>
                  <a:srgbClr val="B7C6D8"/>
                </a:solidFill>
                <a:latin typeface="Arial"/>
                <a:ea typeface="Arial"/>
                <a:cs typeface="Arial"/>
              </a:defRPr>
            </a:pPr>
            <a:r>
              <a:rPr sz="2100" b="0">
                <a:solidFill>
                  <a:srgbClr val="B7C6D8"/>
                </a:solidFill>
                <a:latin typeface="Arial"/>
                <a:ea typeface="Arial"/>
                <a:cs typeface="Arial"/>
              </a:rPr>
              <a:t>Đo tải trước khi cho nhiều bên dùng.</a:t>
            </a:r>
          </a:p>
        </p:txBody>
      </p:sp>
      <p:sp>
        <p:nvSpPr>
          <p:cNvPr id="14" name="">
            <a:extLst xmlns:a="http://schemas.openxmlformats.org/drawingml/2006/main">
              <a:ext uri="{FF2B5EF4-FFF2-40B4-BE49-F238E27FC236}">
                <a16:creationId xmlns:a16="http://schemas.microsoft.com/office/drawing/2014/main" id="{C9E1CE17-1307-4CFD-B22A-35D07A4B14FE}"/>
              </a:ext>
            </a:extLst>
          </p:cNvPr>
          <p:cNvSpPr>
            <a:spLocks xmlns:a="http://schemas.openxmlformats.org/drawingml/2006/main" noGrp="1"/>
          </p:cNvSpPr>
          <p:nvPr/>
        </p:nvSpPr>
        <p:spPr>
          <a:xfrm xmlns:a="http://schemas.openxmlformats.org/drawingml/2006/main">
            <a:off x="609600" y="58007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C477"/>
                </a:solidFill>
                <a:latin typeface="Arial"/>
                <a:ea typeface="Arial"/>
                <a:cs typeface="Arial"/>
              </a:defRPr>
            </a:pPr>
            <a:r>
              <a:rPr sz="2025" b="1">
                <a:solidFill>
                  <a:srgbClr val="FFC477"/>
                </a:solidFill>
                <a:latin typeface="Arial"/>
                <a:ea typeface="Arial"/>
                <a:cs typeface="Arial"/>
              </a:rPr>
              <a:t>Hiện tại: API đã chạy thử trên máy. Chưa triển khai API công khai.</a:t>
            </a:r>
          </a:p>
        </p:txBody>
      </p:sp>
    </p:spTree>
    <p:extLst>
      <p:ext uri="{BB962C8B-B14F-4D97-AF65-F5344CB8AC3E}">
        <p14:creationId xmlns:p14="http://schemas.microsoft.com/office/powerpoint/2010/main" val="20099213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2026-09-26T03:38:43.2350000Z</dcterms:created>
  <dcterms:modified xsi:type="dcterms:W3CDTF">2026-09-26T03:38:43.2350000Z</dcterms:modified>
</coreProperties>
</file>