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97c7c56aa14346" /><Relationship Type="http://schemas.openxmlformats.org/officeDocument/2006/relationships/extended-properties" Target="/docProps/app.xml" Id="R2975359df6d0437b" /><Relationship Type="http://schemas.openxmlformats.org/officeDocument/2006/relationships/officeDocument" Target="/ppt/presentation.xml" Id="R972b4683f3e94507" /></Relationships>
</file>

<file path=ppt/presentation.xml><?xml version="1.0" encoding="utf-8"?>
<p:presentation xmlns:p="http://schemas.openxmlformats.org/presentationml/2006/main">
  <p:sldMasterIdLst>
    <p:sldMasterId xmlns:r="http://schemas.openxmlformats.org/officeDocument/2006/relationships" id="2147483648" r:id="R33ee71c0ace84c40"/>
  </p:sldMasterIdLst>
  <p:notesMasterIdLst>
    <p:notesMasterId xmlns:r="http://schemas.openxmlformats.org/officeDocument/2006/relationships" r:id="R1f459d5992184105"/>
  </p:notesMasterIdLst>
  <p:sldIdLst>
    <p:sldId xmlns:r="http://schemas.openxmlformats.org/officeDocument/2006/relationships" id="256" r:id="Ref72aeff38f741ae"/>
    <p:sldId xmlns:r="http://schemas.openxmlformats.org/officeDocument/2006/relationships" id="257" r:id="R48dd47fca01546e8"/>
    <p:sldId xmlns:r="http://schemas.openxmlformats.org/officeDocument/2006/relationships" id="258" r:id="Rf96a526a265f45fd"/>
    <p:sldId xmlns:r="http://schemas.openxmlformats.org/officeDocument/2006/relationships" id="259" r:id="R0a3869eb9e96430a"/>
    <p:sldId xmlns:r="http://schemas.openxmlformats.org/officeDocument/2006/relationships" id="260" r:id="R6cf99e70606843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20e26136144afa" /><Relationship Type="http://schemas.openxmlformats.org/officeDocument/2006/relationships/slideMaster" Target="/ppt/slideMasters/slideMaster1.xml" Id="R33ee71c0ace84c40" /><Relationship Type="http://schemas.openxmlformats.org/officeDocument/2006/relationships/notesMaster" Target="/ppt/notesMasters/notesMaster1.xml" Id="R1f459d5992184105" /><Relationship Type="http://schemas.openxmlformats.org/officeDocument/2006/relationships/presProps" Target="/ppt/presProps.xml" Id="R600299ac39d54c66" /><Relationship Type="http://schemas.openxmlformats.org/officeDocument/2006/relationships/tableStyles" Target="/ppt/tableStyles.xml" Id="R9946381d71af45d7" /><Relationship Type="http://schemas.openxmlformats.org/officeDocument/2006/relationships/slide" Target="/ppt/slides/slide1.xml" Id="Ref72aeff38f741ae" /><Relationship Type="http://schemas.openxmlformats.org/officeDocument/2006/relationships/slide" Target="/ppt/slides/slide2.xml" Id="R48dd47fca01546e8" /><Relationship Type="http://schemas.openxmlformats.org/officeDocument/2006/relationships/slide" Target="/ppt/slides/slide3.xml" Id="Rf96a526a265f45fd" /><Relationship Type="http://schemas.openxmlformats.org/officeDocument/2006/relationships/slide" Target="/ppt/slides/slide4.xml" Id="R0a3869eb9e96430a" /><Relationship Type="http://schemas.openxmlformats.org/officeDocument/2006/relationships/slide" Target="/ppt/slides/slide5.xml" Id="R6cf99e70606843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7bec598e6e4e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9565aea07a47b0" /><Relationship Type="http://schemas.openxmlformats.org/officeDocument/2006/relationships/notesMaster" Target="/ppt/notesMasters/notesMaster1.xml" Id="Rb060fbabcf0441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2a9557c2444c75" /><Relationship Type="http://schemas.openxmlformats.org/officeDocument/2006/relationships/notesMaster" Target="/ppt/notesMasters/notesMaster1.xml" Id="R1961ee2cb64d43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dfd1aabb114e4f" /><Relationship Type="http://schemas.openxmlformats.org/officeDocument/2006/relationships/notesMaster" Target="/ppt/notesMasters/notesMaster1.xml" Id="Ref8509db443d45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7edd612a064a14" /><Relationship Type="http://schemas.openxmlformats.org/officeDocument/2006/relationships/notesMaster" Target="/ppt/notesMasters/notesMaster1.xml" Id="Rd01aecc3aaf744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fc85c3625c4fd2" /><Relationship Type="http://schemas.openxmlformats.org/officeDocument/2006/relationships/notesMaster" Target="/ppt/notesMasters/notesMaster1.xml" Id="R45faed8ea8c142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đợt gộp dữ liệu và sửa huấn luyện ngày 01/10. Trước là checkpoint model ngày 30/9 chưa gộp toàn bộ cache. Gộp lần đầu là outputs/merged-20261001 đã giảm chất lượng. Sau là model GN/LN chọn bằng validation và lưu riêng trong merged-corrected-20261001. Rà lại nhãn và số liệu xác nhận báo cáo giảm chất lượng trước đó đúng. Đã giữ các video replay khó, không đổi nhãn hoặc bỏ chúng vì model đoán sai. Các test đã được xem trong phát triển, chưa phải test cuối mới.</a:t>
            </a:r>
          </a:p>
          <a:p xmlns:a="http://schemas.openxmlformats.org/drawingml/2006/main">
            <a:r>
              <a:t/>
            </a:r>
          </a:p>
          <a:p xmlns:a="http://schemas.openxmlformats.org/drawingml/2006/main">
            <a:r>
              <a:t>Nguồn trong dự án:</a:t>
            </a:r>
          </a:p>
          <a:p xmlns:a="http://schemas.openxmlformats.org/drawingml/2006/main">
            <a:r>
              <a:t>C:/Users/ASUS/Downloads/Face_Anti_spoofing/outputs/merged-corrected-20261001/evaluation.json</a:t>
            </a:r>
          </a:p>
          <a:p xmlns:a="http://schemas.openxmlformats.org/drawingml/2006/main">
            <a:r>
              <a:t>C:/Users/ASUS/Downloads/Face_Anti_spoofing/outputs/merged-corrected-20261001/report.md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trước có 7.029 ảnh, chỉ 4.113 dùng train. Bộ gộp có 28.957 ảnh: train 20.404, validation 3.697, test 4.856. Cache gốc 24.221 giữ nguyên. Loại khỏi bộ gộp 189 ảnh cũ gồm 158 lóa và 31 thiếu nét, giữ 24.032; không xóa ảnh gốc. Lấy 5.138 khung ứng viên trên 56 video Drive, giữ 4.925, không giới hạn 100 khung/video. 415 ảnh YuNet của 5 video cũ là benchmark bổ sung khác pixel cache SSD 3.343 ảnh của cùng nguồn video trong test chung, không cộng vào 28.957. Gộp vẫn tách train/validation/test theo video. Người cũ có thể giao giữa tập, mã người nguồn mới dựa vào tên thư mục.</a:t>
            </a:r>
          </a:p>
          <a:p xmlns:a="http://schemas.openxmlformats.org/drawingml/2006/main">
            <a:r>
              <a:t/>
            </a:r>
          </a:p>
          <a:p xmlns:a="http://schemas.openxmlformats.org/drawingml/2006/main">
            <a:r>
              <a:t>Nguồn trong dự án:</a:t>
            </a:r>
          </a:p>
          <a:p xmlns:a="http://schemas.openxmlformats.org/drawingml/2006/main">
            <a:r>
              <a:t>C:/Users/ASUS/Downloads/Face_Anti_spoofing/dataset/retrain-20260930/manifest.json</a:t>
            </a:r>
          </a:p>
          <a:p xmlns:a="http://schemas.openxmlformats.org/drawingml/2006/main">
            <a:r>
              <a:t>C:/Users/ASUS/Downloads/Face_Anti_spoofing/dataset/merged-20261001/manifest.json</a:t>
            </a:r>
          </a:p>
          <a:p xmlns:a="http://schemas.openxmlformats.org/drawingml/2006/main">
            <a:r>
              <a:t>C:/Users/ASUS/Downloads/Face_Anti_spoofing/outputs/merged-corrected-20261001/evaluation.json</a:t>
            </a:r>
          </a:p>
          <a:p xmlns:a="http://schemas.openxmlformats.org/drawingml/2006/main">
            <a:r>
              <a:t>C:/Users/ASUS/Downloads/Face_Anti_spoofing/outputs/merged-corrected-20261001/report.md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Lần gộp đầu ảnh cũ chiếm 88,36% input, nhưng 54,77% tổng trọng số loss thuộc nguồn mới; trọng số ảnh chênh 52,75 lần. Đây là vấn đề trong phương pháp, chưa chứng minh BatchNorm là nguyên nhân duy nhất. Chỉ recalibrate BN giữ nguyên trainable weights làm validation kém hơn nên loại. Hai trial mới khởi tạo fresh seed42, một full warmup qua mọi 20.404 ảnh, rồi 638 batch/epoch, mỗi batch8 ảnh cho mỗi source/class cell. Trong từng cell đều lượt video và frame queues giữ qua epoch, không thêm sample weight. TrialBN chạy14/chọn2, weightedvalidationCE0,08422; trialGN/LN chạy20/chọn8, CE0,07089. Chọn minimum source/class/video validation CE trước khi chấm candidate test. 21 lượt tổng gồm warmup. Chosen epoch8 là balanced epoch, tổng9lượt tới checkpoint. GN thay5ConvBN, LN thayDenseBN. Loss fit tại checkpoint 0.032021522521972656; không so trực tiếp với loss clean trong slide4. Nguồn kỹ thuật: https://keras.io/api/layers/normalization_layers/batch_normalization/ và https://keras.io/api/layers/normalization_layers/group_normalization/.</a:t>
            </a:r>
          </a:p>
          <a:p xmlns:a="http://schemas.openxmlformats.org/drawingml/2006/main">
            <a:r>
              <a:t/>
            </a:r>
          </a:p>
          <a:p xmlns:a="http://schemas.openxmlformats.org/drawingml/2006/main">
            <a:r>
              <a:t>Nguồn trong dự án:</a:t>
            </a:r>
          </a:p>
          <a:p xmlns:a="http://schemas.openxmlformats.org/drawingml/2006/main">
            <a:r>
              <a:t>C:/Users/ASUS/Downloads/Face_Anti_spoofing/outputs/merged-corrected-20261001/training_summary.json</a:t>
            </a:r>
          </a:p>
          <a:p xmlns:a="http://schemas.openxmlformats.org/drawingml/2006/main">
            <a:r>
              <a:t>C:/Users/ASUS/Downloads/Face_Anti_spoofing/outputs/merged-corrected-20261001/selection.json</a:t>
            </a:r>
          </a:p>
          <a:p xmlns:a="http://schemas.openxmlformats.org/drawingml/2006/main">
            <a:r>
              <a:t>C:/Users/ASUS/Downloads/Face_Anti_spoofing/outputs/merged-investigation-20261001/independent_data_audit.json</a:t>
            </a:r>
          </a:p>
          <a:p xmlns:a="http://schemas.openxmlformats.org/drawingml/2006/main">
            <a:r>
              <a:t>C:/Users/ASUS/Downloads/Face_Anti_spoofing/outputs/merged-investigation-20261001/bn/diagnosis.json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P/R/F1 macro hai lớp fake/real, argmax mỗi ảnh cắt. Tất cả ba model chấm lại trên cùng bộ gộp, không lấy điểm test khác. Các loss là mean crossentropy ảnh gốc inference, không augmentation và không sample weight. Before chỉ train4.113 ảnh của bộ30/9, không phải20.404 của bộgộp. Before từng train nguồn4video đang ở validationold nên điểm valbefore không độc lập. Test fake2.704/real2.152: fake thành real trước213(7,88%), failed437(16,16%), after120(4,44%). Real thànhfake176(8,18%),54(2,51%),112(5,20%). ACER8,03/9,34/4,82. Các lỗi argmax không phải tỷ lệ API xác thực sai. Overall F1 tăng91,90→95,16 so before, không bảo đảm mọi nguồn cải thiện. Chưa chọn threshold theo test.</a:t>
            </a:r>
          </a:p>
          <a:p xmlns:a="http://schemas.openxmlformats.org/drawingml/2006/main">
            <a:r>
              <a:t/>
            </a:r>
          </a:p>
          <a:p xmlns:a="http://schemas.openxmlformats.org/drawingml/2006/main">
            <a:r>
              <a:t>Nguồn trong dự án:</a:t>
            </a:r>
          </a:p>
          <a:p xmlns:a="http://schemas.openxmlformats.org/drawingml/2006/main">
            <a:r>
              <a:t>C:/Users/ASUS/Downloads/Face_Anti_spoofing/outputs/merged-corrected-20261001/evaluation.json</a:t>
            </a:r>
          </a:p>
          <a:p xmlns:a="http://schemas.openxmlformats.org/drawingml/2006/main">
            <a:r>
              <a:t>C:/Users/ASUS/Downloads/Face_Anti_spoofing/outputs/merged-corrected-20261001/report.md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Nguồncũ3.343ảnh/5videoF189,02→94,66; nguồnDrive1.513ảnh/16videoF197,81→96,02, fake thànhreal4,47→7,98. Đây là crop argmax, cần đọc riêng với temporalAPI. Replay942samplesfirst12s16newvideos≤5fpsJPEGSDK: before741correct0wrong201nodecisioncoverage78,66%; failed622correct16wrong304nodecision67,73%; after714correct0wrong228nodecision75,80%. Chưa kết luận không tính đúng, không thể kết luận camera tốt hơn toàn diện. Cả before/after21video mean-argmax đềuđúng, bootstrap0..0 không chứng minh độ bất định bằng0. HTTP actual4JPEGhealth/analyze/session model/JPEGhashpassed. BenchmarkoneJPEG10repeats+5warmups medianHTTP40.61ms; direct37.84ms, statusuncertain10, latencyonlynotcameraFPS/accuracy. Testserver8001stopped, defaultnotactivated. Dữ liệu cũ có người trùng giữa các tập, Driveidentitysuppliedfolder, label-dependent recordingcodec/cropbias. Next thu dữ liệu người/thiết bị/ánh sáng mới, thật/giả cùng điều kiện. API external deployment và identity integration là kế hoạch chưa triển khai trong đợt này.</a:t>
            </a:r>
          </a:p>
          <a:p xmlns:a="http://schemas.openxmlformats.org/drawingml/2006/main">
            <a:r>
              <a:t/>
            </a:r>
          </a:p>
          <a:p xmlns:a="http://schemas.openxmlformats.org/drawingml/2006/main">
            <a:r>
              <a:t>Nguồn trong dự án:</a:t>
            </a:r>
          </a:p>
          <a:p xmlns:a="http://schemas.openxmlformats.org/drawingml/2006/main">
            <a:r>
              <a:t>C:/Users/ASUS/Downloads/Face_Anti_spoofing/outputs/merged-corrected-20261001/evaluation.json</a:t>
            </a:r>
          </a:p>
          <a:p xmlns:a="http://schemas.openxmlformats.org/drawingml/2006/main">
            <a:r>
              <a:t>C:/Users/ASUS/Downloads/Face_Anti_spoofing/outputs/merged-corrected-20261001/report.md</a:t>
            </a:r>
          </a:p>
          <a:p xmlns:a="http://schemas.openxmlformats.org/drawingml/2006/main">
            <a:r>
              <a:t>C:/Users/ASUS/Downloads/Face_Anti_spoofing/outputs/merged-corrected-20261001/continuous_runtime_comparison.json</a:t>
            </a:r>
          </a:p>
          <a:p xmlns:a="http://schemas.openxmlformats.org/drawingml/2006/main">
            <a:r>
              <a:t>C:/Users/ASUS/Downloads/Face_Anti_spoofing/outputs/merged-corrected-20261001/http_smoke.json</a:t>
            </a:r>
          </a:p>
          <a:p xmlns:a="http://schemas.openxmlformats.org/drawingml/2006/main">
            <a:r>
              <a:t>C:/Users/ASUS/Downloads/Face_Anti_spoofing/outputs/merged-corrected-20261001/http_benchmark.json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a9fa92b4864e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394db1bcc24da4" /><Relationship Type="http://schemas.openxmlformats.org/officeDocument/2006/relationships/slideLayout" Target="/ppt/slideLayouts/slideLayout1.xml" Id="Rd5206e48c04e4e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206e48c04e4e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5fc0958e524966" /><Relationship Type="http://schemas.openxmlformats.org/officeDocument/2006/relationships/notesSlide" Target="/ppt/notesSlides/notesSlide1.xml" Id="R0b67ceefd9df4e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655ac5d9564be7" /><Relationship Type="http://schemas.openxmlformats.org/officeDocument/2006/relationships/notesSlide" Target="/ppt/notesSlides/notesSlide2.xml" Id="R7b280e5cdd064c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8f68953c7f456a" /><Relationship Type="http://schemas.openxmlformats.org/officeDocument/2006/relationships/notesSlide" Target="/ppt/notesSlides/notesSlide3.xml" Id="Re6ac9a0f78a841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d273c746d64378" /><Relationship Type="http://schemas.openxmlformats.org/officeDocument/2006/relationships/notesSlide" Target="/ppt/notesSlides/notesSlide4.xml" Id="R4f1f4761f65a4c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db46f1c6be47c9" /><Relationship Type="http://schemas.openxmlformats.org/officeDocument/2006/relationships/notesSlide" Target="/ppt/notesSlides/notesSlide5.xml" Id="R93c044be46944423" /></Relationships>
</file>

<file path=ppt/slides/slide1.xml><?xml version="1.0" encoding="utf-8"?>
<p:sld xmlns:p="http://schemas.openxmlformats.org/presentationml/2006/main">
  <p:cSld>
    <p:bg>
      <p:bgPr>
        <a:solidFill xmlns:a="http://schemas.openxmlformats.org/drawingml/2006/main">
          <a:srgbClr val="0E1B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0DE5B5-8482-46E6-85A8-5E74BDB960DE}"/>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BC9DA"/>
                </a:solidFill>
                <a:latin typeface="Arial"/>
                <a:ea typeface="Arial"/>
                <a:cs typeface="Arial"/>
              </a:defRPr>
            </a:pPr>
            <a:r>
              <a:rPr sz="1350" b="0">
                <a:solidFill>
                  <a:srgbClr val="BBC9DA"/>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358171AD-A2FF-4E93-8701-0D525CE33EE7}"/>
              </a:ext>
            </a:extLst>
          </p:cNvPr>
          <p:cNvSpPr>
            <a:spLocks xmlns:a="http://schemas.openxmlformats.org/drawingml/2006/main" noGrp="1"/>
          </p:cNvSpPr>
          <p:nvPr/>
        </p:nvSpPr>
        <p:spPr>
          <a:xfrm xmlns:a="http://schemas.openxmlformats.org/drawingml/2006/main">
            <a:off x="609600" y="714375"/>
            <a:ext cx="109728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78C7FF"/>
                </a:solidFill>
                <a:latin typeface="Arial"/>
                <a:ea typeface="Arial"/>
                <a:cs typeface="Arial"/>
              </a:defRPr>
            </a:pPr>
            <a:r>
              <a:rPr sz="4200" b="1">
                <a:solidFill>
                  <a:srgbClr val="78C7FF"/>
                </a:solidFill>
                <a:latin typeface="Arial"/>
                <a:ea typeface="Arial"/>
                <a:cs typeface="Arial"/>
              </a:rPr>
              <a:t>Rà soát dự án và</a:t>
            </a:r>
          </a:p>
          <a:p xmlns:a="http://schemas.openxmlformats.org/drawingml/2006/main">
            <a:pPr algn="l">
              <a:defRPr sz="4200" b="1">
                <a:solidFill>
                  <a:srgbClr val="78C7FF"/>
                </a:solidFill>
                <a:latin typeface="Arial"/>
                <a:ea typeface="Arial"/>
                <a:cs typeface="Arial"/>
              </a:defRPr>
            </a:pPr>
            <a:r>
              <a:rPr sz="4200" b="1">
                <a:solidFill>
                  <a:srgbClr val="78C7FF"/>
                </a:solidFill>
                <a:latin typeface="Arial"/>
                <a:ea typeface="Arial"/>
                <a:cs typeface="Arial"/>
              </a:rPr>
              <a:t>huấn luyện lại model</a:t>
            </a:r>
          </a:p>
        </p:txBody>
      </p:sp>
      <p:sp>
        <p:nvSpPr>
          <p:cNvPr id="3" name="">
            <a:extLst xmlns:a="http://schemas.openxmlformats.org/drawingml/2006/main">
              <a:ext uri="{FF2B5EF4-FFF2-40B4-BE49-F238E27FC236}">
                <a16:creationId xmlns:a16="http://schemas.microsoft.com/office/drawing/2014/main" id="{86030C93-C486-44A6-A4DC-6135E1401049}"/>
              </a:ext>
            </a:extLst>
          </p:cNvPr>
          <p:cNvSpPr>
            <a:spLocks xmlns:a="http://schemas.openxmlformats.org/drawingml/2006/main" noGrp="1"/>
          </p:cNvSpPr>
          <p:nvPr/>
        </p:nvSpPr>
        <p:spPr>
          <a:xfrm xmlns:a="http://schemas.openxmlformats.org/drawingml/2006/main">
            <a:off x="609600" y="24765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BBC9DA"/>
                </a:solidFill>
                <a:latin typeface="Arial"/>
                <a:ea typeface="Arial"/>
                <a:cs typeface="Arial"/>
              </a:defRPr>
            </a:pPr>
            <a:r>
              <a:rPr sz="2250" b="0">
                <a:solidFill>
                  <a:srgbClr val="BBC9DA"/>
                </a:solidFill>
                <a:latin typeface="Arial"/>
                <a:ea typeface="Arial"/>
                <a:cs typeface="Arial"/>
              </a:rPr>
              <a:t>Báo cáo tiến độ Face Anti-Spoofing</a:t>
            </a:r>
          </a:p>
          <a:p xmlns:a="http://schemas.openxmlformats.org/drawingml/2006/main">
            <a:pPr algn="l">
              <a:defRPr sz="2250" b="0">
                <a:solidFill>
                  <a:srgbClr val="BBC9DA"/>
                </a:solidFill>
                <a:latin typeface="Arial"/>
                <a:ea typeface="Arial"/>
                <a:cs typeface="Arial"/>
              </a:defRPr>
            </a:pPr>
            <a:r>
              <a:rPr sz="2250" b="0">
                <a:solidFill>
                  <a:srgbClr val="BBC9DA"/>
                </a:solidFill>
                <a:latin typeface="Arial"/>
                <a:ea typeface="Arial"/>
                <a:cs typeface="Arial"/>
              </a:rPr>
              <a:t>01/10/2026</a:t>
            </a:r>
          </a:p>
        </p:txBody>
      </p:sp>
      <p:sp>
        <p:nvSpPr>
          <p:cNvPr id="4" name="">
            <a:extLst xmlns:a="http://schemas.openxmlformats.org/drawingml/2006/main">
              <a:ext uri="{FF2B5EF4-FFF2-40B4-BE49-F238E27FC236}">
                <a16:creationId xmlns:a16="http://schemas.microsoft.com/office/drawing/2014/main" id="{E43DC02F-DAF3-4A73-9B4E-1B4969679E5E}"/>
              </a:ext>
            </a:extLst>
          </p:cNvPr>
          <p:cNvSpPr>
            <a:spLocks xmlns:a="http://schemas.openxmlformats.org/drawingml/2006/main" noGrp="1"/>
          </p:cNvSpPr>
          <p:nvPr/>
        </p:nvSpPr>
        <p:spPr>
          <a:xfrm xmlns:a="http://schemas.openxmlformats.org/drawingml/2006/main">
            <a:off x="609600" y="3762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F2F5FA"/>
                </a:solidFill>
                <a:latin typeface="Arial"/>
                <a:ea typeface="Arial"/>
                <a:cs typeface="Arial"/>
              </a:defRPr>
            </a:pPr>
            <a:r>
              <a:rPr sz="2250" b="0">
                <a:solidFill>
                  <a:srgbClr val="F2F5FA"/>
                </a:solidFill>
                <a:latin typeface="Arial"/>
                <a:ea typeface="Arial"/>
                <a:cs typeface="Arial"/>
              </a:rPr>
              <a:t>Em đã kiểm tra nhãn, cách chia dữ liệu và các chỉ số.</a:t>
            </a:r>
          </a:p>
        </p:txBody>
      </p:sp>
      <p:sp>
        <p:nvSpPr>
          <p:cNvPr id="5" name="">
            <a:extLst xmlns:a="http://schemas.openxmlformats.org/drawingml/2006/main">
              <a:ext uri="{FF2B5EF4-FFF2-40B4-BE49-F238E27FC236}">
                <a16:creationId xmlns:a16="http://schemas.microsoft.com/office/drawing/2014/main" id="{B8E8E34D-EF83-4337-91D5-72DFE2C583A0}"/>
              </a:ext>
            </a:extLst>
          </p:cNvPr>
          <p:cNvSpPr>
            <a:spLocks xmlns:a="http://schemas.openxmlformats.org/drawingml/2006/main" noGrp="1"/>
          </p:cNvSpPr>
          <p:nvPr/>
        </p:nvSpPr>
        <p:spPr>
          <a:xfrm xmlns:a="http://schemas.openxmlformats.org/drawingml/2006/main">
            <a:off x="609600" y="43529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F2F5FA"/>
                </a:solidFill>
                <a:latin typeface="Arial"/>
                <a:ea typeface="Arial"/>
                <a:cs typeface="Arial"/>
              </a:defRPr>
            </a:pPr>
            <a:r>
              <a:rPr sz="2250" b="0">
                <a:solidFill>
                  <a:srgbClr val="F2F5FA"/>
                </a:solidFill>
                <a:latin typeface="Arial"/>
                <a:ea typeface="Arial"/>
                <a:cs typeface="Arial"/>
              </a:rPr>
              <a:t>Em đã sửa cách train và chạy thử model qua API local.</a:t>
            </a:r>
          </a:p>
        </p:txBody>
      </p:sp>
      <p:sp>
        <p:nvSpPr>
          <p:cNvPr id="6" name="">
            <a:extLst xmlns:a="http://schemas.openxmlformats.org/drawingml/2006/main">
              <a:ext uri="{FF2B5EF4-FFF2-40B4-BE49-F238E27FC236}">
                <a16:creationId xmlns:a16="http://schemas.microsoft.com/office/drawing/2014/main" id="{01F19ABC-D261-4848-ACCE-52E2ED4A4478}"/>
              </a:ext>
            </a:extLst>
          </p:cNvPr>
          <p:cNvSpPr>
            <a:spLocks xmlns:a="http://schemas.openxmlformats.org/drawingml/2006/main" noGrp="1"/>
          </p:cNvSpPr>
          <p:nvPr/>
        </p:nvSpPr>
        <p:spPr>
          <a:xfrm xmlns:a="http://schemas.openxmlformats.org/drawingml/2006/main">
            <a:off x="609600" y="541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65D6AA"/>
                </a:solidFill>
                <a:latin typeface="Arial"/>
                <a:ea typeface="Arial"/>
                <a:cs typeface="Arial"/>
              </a:defRPr>
            </a:pPr>
            <a:r>
              <a:rPr sz="2100" b="1">
                <a:solidFill>
                  <a:srgbClr val="65D6AA"/>
                </a:solidFill>
                <a:latin typeface="Arial"/>
                <a:ea typeface="Arial"/>
                <a:cs typeface="Arial"/>
              </a:rPr>
              <a:t>So sánh ba mốc: trước gộp, gộp lần đầu và sau sửa.</a:t>
            </a:r>
          </a:p>
        </p:txBody>
      </p:sp>
    </p:spTree>
    <p:extLst>
      <p:ext uri="{BB962C8B-B14F-4D97-AF65-F5344CB8AC3E}">
        <p14:creationId xmlns:p14="http://schemas.microsoft.com/office/powerpoint/2010/main" val="1261975696"/>
      </p:ext>
    </p:extLst>
  </p:cSld>
</p:sld>
</file>

<file path=ppt/slides/slide2.xml><?xml version="1.0" encoding="utf-8"?>
<p:sld xmlns:p="http://schemas.openxmlformats.org/presentationml/2006/main">
  <p:cSld>
    <p:bg>
      <p:bgPr>
        <a:solidFill xmlns:a="http://schemas.openxmlformats.org/drawingml/2006/main">
          <a:srgbClr val="0E1B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C73616-54CA-49F9-B731-9C2942310E65}"/>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2F5FA"/>
                </a:solidFill>
                <a:latin typeface="Arial"/>
                <a:ea typeface="Arial"/>
                <a:cs typeface="Arial"/>
              </a:defRPr>
            </a:pPr>
            <a:r>
              <a:rPr sz="3300" b="1">
                <a:solidFill>
                  <a:srgbClr val="F2F5FA"/>
                </a:solidFill>
                <a:latin typeface="Arial"/>
                <a:ea typeface="Arial"/>
                <a:cs typeface="Arial"/>
              </a:rPr>
              <a:t>Dữ liệu trước và sau gộp</a:t>
            </a:r>
          </a:p>
        </p:txBody>
      </p:sp>
      <p:sp>
        <p:nvSpPr>
          <p:cNvPr id="2" name="">
            <a:extLst xmlns:a="http://schemas.openxmlformats.org/drawingml/2006/main">
              <a:ext uri="{FF2B5EF4-FFF2-40B4-BE49-F238E27FC236}">
                <a16:creationId xmlns:a16="http://schemas.microsoft.com/office/drawing/2014/main" id="{6CABC37F-62DD-45EA-A79F-1286005E996E}"/>
              </a:ext>
            </a:extLst>
          </p:cNvPr>
          <p:cNvSpPr>
            <a:spLocks xmlns:a="http://schemas.openxmlformats.org/drawingml/2006/main" noGrp="1"/>
          </p:cNvSpPr>
          <p:nvPr/>
        </p:nvSpPr>
        <p:spPr>
          <a:xfrm xmlns:a="http://schemas.openxmlformats.org/drawingml/2006/main">
            <a:off x="609600" y="11239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78C7FF"/>
                </a:solidFill>
                <a:latin typeface="Arial"/>
                <a:ea typeface="Arial"/>
                <a:cs typeface="Arial"/>
              </a:defRPr>
            </a:pPr>
            <a:r>
              <a:rPr sz="1950" b="0">
                <a:solidFill>
                  <a:srgbClr val="78C7FF"/>
                </a:solidFill>
                <a:latin typeface="Arial"/>
                <a:ea typeface="Arial"/>
                <a:cs typeface="Arial"/>
              </a:rPr>
              <a:t>Bộ 30/9 chưa gộp toàn bộ ảnh cũ. Bộ 01/10 dùng cả hai nguồn.</a:t>
            </a:r>
          </a:p>
        </p:txBody>
      </p:sp>
      <p:sp>
        <p:nvSpPr>
          <p:cNvPr id="3" name="">
            <a:extLst xmlns:a="http://schemas.openxmlformats.org/drawingml/2006/main">
              <a:ext uri="{FF2B5EF4-FFF2-40B4-BE49-F238E27FC236}">
                <a16:creationId xmlns:a16="http://schemas.microsoft.com/office/drawing/2014/main" id="{6D1B3655-A3A4-4288-9CD0-D9AB5DC001CB}"/>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BC9DA"/>
                </a:solidFill>
                <a:latin typeface="Arial"/>
                <a:ea typeface="Arial"/>
                <a:cs typeface="Arial"/>
              </a:defRPr>
            </a:pPr>
            <a:r>
              <a:rPr sz="1350" b="0">
                <a:solidFill>
                  <a:srgbClr val="BBC9DA"/>
                </a:solidFill>
                <a:latin typeface="Arial"/>
                <a:ea typeface="Arial"/>
                <a:cs typeface="Arial"/>
              </a:rPr>
              <a:t>02</a:t>
            </a:r>
          </a:p>
        </p:txBody>
      </p:sp>
      <p:graphicFrame>
        <p:nvGraphicFramePr>
          <p:cNvPr id="11" name=""/>
          <p:cNvGraphicFramePr/>
          <p:nvPr/>
        </p:nvGraphicFramePr>
        <p:xfrm>
          <a:off xmlns:a="http://schemas.openxmlformats.org/drawingml/2006/main" x="609600" y="1704975"/>
          <a:ext xmlns:a="http://schemas.openxmlformats.org/drawingml/2006/main" cx="10972800" cy="2800350"/>
        </p:xfrm>
        <a:graphic xmlns:a="http://schemas.openxmlformats.org/drawingml/2006/main">
          <a:graphicData uri="http://schemas.openxmlformats.org/drawingml/2006/table">
            <a:tbl>
              <a:tblPr/>
              <a:tblGrid>
                <a:gridCol w="4267200"/>
                <a:gridCol w="3352800"/>
                <a:gridCol w="3352800"/>
              </a:tblGrid>
              <a:tr h="466725">
                <a:tc>
                  <a:txBody>
                    <a:bodyPr>
                      <a:noAutofit/>
                    </a:bodyPr>
                    <a:lstStyle/>
                    <a:p>
                      <a:pPr algn="l"/>
                      <a:r>
                        <a:rPr sz="2025" b="1">
                          <a:solidFill>
                            <a:srgbClr val="78C7FF"/>
                          </a:solidFill>
                          <a:latin typeface="Arial"/>
                          <a:ea typeface="Arial"/>
                          <a:cs typeface="Arial"/>
                        </a:rPr>
                        <a:t>Tập</a:t>
                      </a:r>
                    </a:p>
                  </a:txBody>
                  <a:tcPr marL="91440" marR="91440" marT="45720" marB="45720" anchor="ctr">
                    <a:solidFill>
                      <a:srgbClr val="213A54"/>
                    </a:solidFill>
                  </a:tcPr>
                </a:tc>
                <a:tc>
                  <a:txBody>
                    <a:bodyPr>
                      <a:noAutofit/>
                    </a:bodyPr>
                    <a:lstStyle/>
                    <a:p>
                      <a:pPr algn="l"/>
                      <a:r>
                        <a:rPr sz="2025" b="1">
                          <a:solidFill>
                            <a:srgbClr val="78C7FF"/>
                          </a:solidFill>
                          <a:latin typeface="Arial"/>
                          <a:ea typeface="Arial"/>
                          <a:cs typeface="Arial"/>
                        </a:rPr>
                        <a:t>Trước gộp 30/9</a:t>
                      </a:r>
                    </a:p>
                  </a:txBody>
                  <a:tcPr marL="91440" marR="91440" marT="45720" marB="45720" anchor="ctr">
                    <a:solidFill>
                      <a:srgbClr val="213A54"/>
                    </a:solidFill>
                  </a:tcPr>
                </a:tc>
                <a:tc>
                  <a:txBody>
                    <a:bodyPr>
                      <a:noAutofit/>
                    </a:bodyPr>
                    <a:lstStyle/>
                    <a:p>
                      <a:pPr algn="l"/>
                      <a:r>
                        <a:rPr sz="2025" b="1">
                          <a:solidFill>
                            <a:srgbClr val="78C7FF"/>
                          </a:solidFill>
                          <a:latin typeface="Arial"/>
                          <a:ea typeface="Arial"/>
                          <a:cs typeface="Arial"/>
                        </a:rPr>
                        <a:t>Bộ gộp 01/10</a:t>
                      </a:r>
                    </a:p>
                  </a:txBody>
                  <a:tcPr marL="91440" marR="91440" marT="45720" marB="45720" anchor="ctr">
                    <a:solidFill>
                      <a:srgbClr val="213A54"/>
                    </a:solidFill>
                  </a:tcPr>
                </a:tc>
              </a:tr>
              <a:tr h="466725">
                <a:tc>
                  <a:txBody>
                    <a:bodyPr>
                      <a:noAutofit/>
                    </a:bodyPr>
                    <a:lstStyle/>
                    <a:p>
                      <a:pPr algn="l"/>
                      <a:r>
                        <a:rPr sz="2025" b="0">
                          <a:solidFill>
                            <a:srgbClr val="F2F5FA"/>
                          </a:solidFill>
                          <a:latin typeface="Arial"/>
                          <a:ea typeface="Arial"/>
                          <a:cs typeface="Arial"/>
                        </a:rPr>
                        <a:t>Train</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4.113</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20.404</a:t>
                      </a:r>
                    </a:p>
                  </a:txBody>
                  <a:tcPr marL="91440" marR="91440" marT="45720" marB="45720" anchor="ctr">
                    <a:solidFill>
                      <a:srgbClr val="0E1B2C"/>
                    </a:solidFill>
                  </a:tcPr>
                </a:tc>
              </a:tr>
              <a:tr h="466725">
                <a:tc>
                  <a:txBody>
                    <a:bodyPr>
                      <a:noAutofit/>
                    </a:bodyPr>
                    <a:lstStyle/>
                    <a:p>
                      <a:pPr algn="l"/>
                      <a:r>
                        <a:rPr sz="2025" b="0">
                          <a:solidFill>
                            <a:srgbClr val="F2F5FA"/>
                          </a:solidFill>
                          <a:latin typeface="Arial"/>
                          <a:ea typeface="Arial"/>
                          <a:cs typeface="Arial"/>
                        </a:rPr>
                        <a:t>Validation</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1.028</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3.697</a:t>
                      </a:r>
                    </a:p>
                  </a:txBody>
                  <a:tcPr marL="91440" marR="91440" marT="45720" marB="45720" anchor="ctr">
                    <a:solidFill>
                      <a:srgbClr val="0E1B2C"/>
                    </a:solidFill>
                  </a:tcPr>
                </a:tc>
              </a:tr>
              <a:tr h="466725">
                <a:tc>
                  <a:txBody>
                    <a:bodyPr>
                      <a:noAutofit/>
                    </a:bodyPr>
                    <a:lstStyle/>
                    <a:p>
                      <a:pPr algn="l"/>
                      <a:r>
                        <a:rPr sz="2025" b="0">
                          <a:solidFill>
                            <a:srgbClr val="F2F5FA"/>
                          </a:solidFill>
                          <a:latin typeface="Arial"/>
                          <a:ea typeface="Arial"/>
                          <a:cs typeface="Arial"/>
                        </a:rPr>
                        <a:t>Test chính</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1.473</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4.856</a:t>
                      </a:r>
                    </a:p>
                  </a:txBody>
                  <a:tcPr marL="91440" marR="91440" marT="45720" marB="45720" anchor="ctr">
                    <a:solidFill>
                      <a:srgbClr val="0E1B2C"/>
                    </a:solidFill>
                  </a:tcPr>
                </a:tc>
              </a:tr>
              <a:tr h="466725">
                <a:tc>
                  <a:txBody>
                    <a:bodyPr>
                      <a:noAutofit/>
                    </a:bodyPr>
                    <a:lstStyle/>
                    <a:p>
                      <a:pPr algn="l"/>
                      <a:r>
                        <a:rPr sz="2025" b="0">
                          <a:solidFill>
                            <a:srgbClr val="F2F5FA"/>
                          </a:solidFill>
                          <a:latin typeface="Arial"/>
                          <a:ea typeface="Arial"/>
                          <a:cs typeface="Arial"/>
                        </a:rPr>
                        <a:t>Kiểm tra video cũ riêng</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415</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Trong test chung</a:t>
                      </a:r>
                    </a:p>
                  </a:txBody>
                  <a:tcPr marL="91440" marR="91440" marT="45720" marB="45720" anchor="ctr">
                    <a:solidFill>
                      <a:srgbClr val="0E1B2C"/>
                    </a:solidFill>
                  </a:tcPr>
                </a:tc>
              </a:tr>
              <a:tr h="466725">
                <a:tc>
                  <a:txBody>
                    <a:bodyPr>
                      <a:noAutofit/>
                    </a:bodyPr>
                    <a:lstStyle/>
                    <a:p>
                      <a:pPr algn="l"/>
                      <a:r>
                        <a:rPr sz="2025" b="1">
                          <a:solidFill>
                            <a:srgbClr val="65D6AA"/>
                          </a:solidFill>
                          <a:latin typeface="Arial"/>
                          <a:ea typeface="Arial"/>
                          <a:cs typeface="Arial"/>
                        </a:rPr>
                        <a:t>Tổng ảnh của bộ</a:t>
                      </a:r>
                    </a:p>
                  </a:txBody>
                  <a:tcPr marL="91440" marR="91440" marT="45720" marB="45720" anchor="ctr">
                    <a:solidFill>
                      <a:srgbClr val="0E1B2C"/>
                    </a:solidFill>
                  </a:tcPr>
                </a:tc>
                <a:tc>
                  <a:txBody>
                    <a:bodyPr>
                      <a:noAutofit/>
                    </a:bodyPr>
                    <a:lstStyle/>
                    <a:p>
                      <a:pPr algn="l"/>
                      <a:r>
                        <a:rPr sz="2025" b="1">
                          <a:solidFill>
                            <a:srgbClr val="65D6AA"/>
                          </a:solidFill>
                          <a:latin typeface="Arial"/>
                          <a:ea typeface="Arial"/>
                          <a:cs typeface="Arial"/>
                        </a:rPr>
                        <a:t>7.029</a:t>
                      </a:r>
                    </a:p>
                  </a:txBody>
                  <a:tcPr marL="91440" marR="91440" marT="45720" marB="45720" anchor="ctr">
                    <a:solidFill>
                      <a:srgbClr val="0E1B2C"/>
                    </a:solidFill>
                  </a:tcPr>
                </a:tc>
                <a:tc>
                  <a:txBody>
                    <a:bodyPr>
                      <a:noAutofit/>
                    </a:bodyPr>
                    <a:lstStyle/>
                    <a:p>
                      <a:pPr algn="l"/>
                      <a:r>
                        <a:rPr sz="2025" b="1">
                          <a:solidFill>
                            <a:srgbClr val="65D6AA"/>
                          </a:solidFill>
                          <a:latin typeface="Arial"/>
                          <a:ea typeface="Arial"/>
                          <a:cs typeface="Arial"/>
                        </a:rPr>
                        <a:t>28.957</a:t>
                      </a:r>
                    </a:p>
                  </a:txBody>
                  <a:tcPr marL="91440" marR="91440" marT="45720" marB="45720" anchor="ctr">
                    <a:solidFill>
                      <a:srgbClr val="0E1B2C"/>
                    </a:solidFill>
                  </a:tcPr>
                </a:tc>
              </a:tr>
            </a:tbl>
          </a:graphicData>
        </a:graphic>
      </p:graphicFrame>
      <p:sp>
        <p:nvSpPr>
          <p:cNvPr id="5" name="">
            <a:extLst xmlns:a="http://schemas.openxmlformats.org/drawingml/2006/main">
              <a:ext uri="{FF2B5EF4-FFF2-40B4-BE49-F238E27FC236}">
                <a16:creationId xmlns:a16="http://schemas.microsoft.com/office/drawing/2014/main" id="{201CF91F-E92F-4812-9074-AD4BA3DB3D9D}"/>
              </a:ext>
            </a:extLst>
          </p:cNvPr>
          <p:cNvSpPr>
            <a:spLocks xmlns:a="http://schemas.openxmlformats.org/drawingml/2006/main" noGrp="1"/>
          </p:cNvSpPr>
          <p:nvPr/>
        </p:nvSpPr>
        <p:spPr>
          <a:xfrm xmlns:a="http://schemas.openxmlformats.org/drawingml/2006/main">
            <a:off x="609600" y="4914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65D6AA"/>
                </a:solidFill>
                <a:latin typeface="Arial"/>
                <a:ea typeface="Arial"/>
                <a:cs typeface="Arial"/>
              </a:defRPr>
            </a:pPr>
            <a:r>
              <a:rPr sz="2250" b="1">
                <a:solidFill>
                  <a:srgbClr val="65D6AA"/>
                </a:solidFill>
                <a:latin typeface="Arial"/>
                <a:ea typeface="Arial"/>
                <a:cs typeface="Arial"/>
              </a:rPr>
              <a:t>24.221 ảnh cũ gốc vẫn giữ nguyên.</a:t>
            </a:r>
          </a:p>
        </p:txBody>
      </p:sp>
      <p:sp>
        <p:nvSpPr>
          <p:cNvPr id="6" name="">
            <a:extLst xmlns:a="http://schemas.openxmlformats.org/drawingml/2006/main">
              <a:ext uri="{FF2B5EF4-FFF2-40B4-BE49-F238E27FC236}">
                <a16:creationId xmlns:a16="http://schemas.microsoft.com/office/drawing/2014/main" id="{B1FD7B89-95D6-41DC-9D13-23FCB0DEC6E6}"/>
              </a:ext>
            </a:extLst>
          </p:cNvPr>
          <p:cNvSpPr>
            <a:spLocks xmlns:a="http://schemas.openxmlformats.org/drawingml/2006/main" noGrp="1"/>
          </p:cNvSpPr>
          <p:nvPr/>
        </p:nvSpPr>
        <p:spPr>
          <a:xfrm xmlns:a="http://schemas.openxmlformats.org/drawingml/2006/main">
            <a:off x="609600" y="53816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2F5FA"/>
                </a:solidFill>
                <a:latin typeface="Arial"/>
                <a:ea typeface="Arial"/>
                <a:cs typeface="Arial"/>
              </a:defRPr>
            </a:pPr>
            <a:r>
              <a:rPr sz="2025" b="0">
                <a:solidFill>
                  <a:srgbClr val="F2F5FA"/>
                </a:solidFill>
                <a:latin typeface="Arial"/>
                <a:ea typeface="Arial"/>
                <a:cs typeface="Arial"/>
              </a:rPr>
              <a:t>Bộ gộp giữ 24.032 ảnh cũ và 4.925 ảnh từ 56 video mới.</a:t>
            </a:r>
          </a:p>
        </p:txBody>
      </p:sp>
      <p:sp>
        <p:nvSpPr>
          <p:cNvPr id="7" name="">
            <a:extLst xmlns:a="http://schemas.openxmlformats.org/drawingml/2006/main">
              <a:ext uri="{FF2B5EF4-FFF2-40B4-BE49-F238E27FC236}">
                <a16:creationId xmlns:a16="http://schemas.microsoft.com/office/drawing/2014/main" id="{F9051635-599C-47EB-993B-5F4B55D28625}"/>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BC9DA"/>
                </a:solidFill>
                <a:latin typeface="Arial"/>
                <a:ea typeface="Arial"/>
                <a:cs typeface="Arial"/>
              </a:defRPr>
            </a:pPr>
            <a:r>
              <a:rPr sz="1800" b="0">
                <a:solidFill>
                  <a:srgbClr val="BBC9DA"/>
                </a:solidFill>
                <a:latin typeface="Arial"/>
                <a:ea typeface="Arial"/>
                <a:cs typeface="Arial"/>
              </a:rPr>
              <a:t>415 ảnh cũ được chấm bổ sung để đối chiếu, không cộng vào tổng bộ gộp.</a:t>
            </a:r>
          </a:p>
        </p:txBody>
      </p:sp>
    </p:spTree>
    <p:extLst>
      <p:ext uri="{BB962C8B-B14F-4D97-AF65-F5344CB8AC3E}">
        <p14:creationId xmlns:p14="http://schemas.microsoft.com/office/powerpoint/2010/main" val="1343539716"/>
      </p:ext>
    </p:extLst>
  </p:cSld>
</p:sld>
</file>

<file path=ppt/slides/slide3.xml><?xml version="1.0" encoding="utf-8"?>
<p:sld xmlns:p="http://schemas.openxmlformats.org/presentationml/2006/main">
  <p:cSld>
    <p:bg>
      <p:bgPr>
        <a:solidFill xmlns:a="http://schemas.openxmlformats.org/drawingml/2006/main">
          <a:srgbClr val="0E1B2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F0AFD3-FEFC-427F-8481-88C992CA54D5}"/>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2F5FA"/>
                </a:solidFill>
                <a:latin typeface="Arial"/>
                <a:ea typeface="Arial"/>
                <a:cs typeface="Arial"/>
              </a:defRPr>
            </a:pPr>
            <a:r>
              <a:rPr sz="3300" b="1">
                <a:solidFill>
                  <a:srgbClr val="F2F5FA"/>
                </a:solidFill>
                <a:latin typeface="Arial"/>
                <a:ea typeface="Arial"/>
                <a:cs typeface="Arial"/>
              </a:rPr>
              <a:t>Cách huấn luyện đã sửa</a:t>
            </a:r>
          </a:p>
        </p:txBody>
      </p:sp>
      <p:sp>
        <p:nvSpPr>
          <p:cNvPr id="2" name="">
            <a:extLst xmlns:a="http://schemas.openxmlformats.org/drawingml/2006/main">
              <a:ext uri="{FF2B5EF4-FFF2-40B4-BE49-F238E27FC236}">
                <a16:creationId xmlns:a16="http://schemas.microsoft.com/office/drawing/2014/main" id="{F67AC7E1-7235-4BF3-8FE0-8E4DAB730003}"/>
              </a:ext>
            </a:extLst>
          </p:cNvPr>
          <p:cNvSpPr>
            <a:spLocks xmlns:a="http://schemas.openxmlformats.org/drawingml/2006/main" noGrp="1"/>
          </p:cNvSpPr>
          <p:nvPr/>
        </p:nvSpPr>
        <p:spPr>
          <a:xfrm xmlns:a="http://schemas.openxmlformats.org/drawingml/2006/main">
            <a:off x="609600" y="11239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78C7FF"/>
                </a:solidFill>
                <a:latin typeface="Arial"/>
                <a:ea typeface="Arial"/>
                <a:cs typeface="Arial"/>
              </a:defRPr>
            </a:pPr>
            <a:r>
              <a:rPr sz="1950" b="0">
                <a:solidFill>
                  <a:srgbClr val="78C7FF"/>
                </a:solidFill>
                <a:latin typeface="Arial"/>
                <a:ea typeface="Arial"/>
                <a:cs typeface="Arial"/>
              </a:rPr>
              <a:t>Lần gộp đầu phân bổ ảnh trong batch và trọng số loss lệch nhau.</a:t>
            </a:r>
          </a:p>
        </p:txBody>
      </p:sp>
      <p:sp>
        <p:nvSpPr>
          <p:cNvPr id="3" name="">
            <a:extLst xmlns:a="http://schemas.openxmlformats.org/drawingml/2006/main">
              <a:ext uri="{FF2B5EF4-FFF2-40B4-BE49-F238E27FC236}">
                <a16:creationId xmlns:a16="http://schemas.microsoft.com/office/drawing/2014/main" id="{95546AE9-C065-42A6-9EB6-8926011772F7}"/>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BC9DA"/>
                </a:solidFill>
                <a:latin typeface="Arial"/>
                <a:ea typeface="Arial"/>
                <a:cs typeface="Arial"/>
              </a:defRPr>
            </a:pPr>
            <a:r>
              <a:rPr sz="1350" b="0">
                <a:solidFill>
                  <a:srgbClr val="BBC9DA"/>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44AF6F5B-9B9D-41AA-8AA6-681D2BF253FC}"/>
              </a:ext>
            </a:extLst>
          </p:cNvPr>
          <p:cNvSpPr>
            <a:spLocks xmlns:a="http://schemas.openxmlformats.org/drawingml/2006/main" noGrp="1"/>
          </p:cNvSpPr>
          <p:nvPr/>
        </p:nvSpPr>
        <p:spPr>
          <a:xfrm xmlns:a="http://schemas.openxmlformats.org/drawingml/2006/main">
            <a:off x="609600" y="1809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2F5FA"/>
                </a:solidFill>
                <a:latin typeface="Arial"/>
                <a:ea typeface="Arial"/>
                <a:cs typeface="Arial"/>
              </a:defRPr>
            </a:pPr>
            <a:r>
              <a:rPr sz="2250" b="1">
                <a:solidFill>
                  <a:srgbClr val="F2F5FA"/>
                </a:solidFill>
                <a:latin typeface="Arial"/>
                <a:ea typeface="Arial"/>
                <a:cs typeface="Arial"/>
              </a:rPr>
              <a:t>Batch 32 ảnh: lấy đều 4 nhóm cũ/mới và thật/giả.</a:t>
            </a:r>
          </a:p>
        </p:txBody>
      </p:sp>
      <p:sp>
        <p:nvSpPr>
          <p:cNvPr id="5" name="">
            <a:extLst xmlns:a="http://schemas.openxmlformats.org/drawingml/2006/main">
              <a:ext uri="{FF2B5EF4-FFF2-40B4-BE49-F238E27FC236}">
                <a16:creationId xmlns:a16="http://schemas.microsoft.com/office/drawing/2014/main" id="{1A137116-130A-434D-AC71-DC283AC634A3}"/>
              </a:ext>
            </a:extLst>
          </p:cNvPr>
          <p:cNvSpPr>
            <a:spLocks xmlns:a="http://schemas.openxmlformats.org/drawingml/2006/main" noGrp="1"/>
          </p:cNvSpPr>
          <p:nvPr/>
        </p:nvSpPr>
        <p:spPr>
          <a:xfrm xmlns:a="http://schemas.openxmlformats.org/drawingml/2006/main">
            <a:off x="609600" y="23622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BBC9DA"/>
                </a:solidFill>
                <a:latin typeface="Arial"/>
                <a:ea typeface="Arial"/>
                <a:cs typeface="Arial"/>
              </a:defRPr>
            </a:pPr>
            <a:r>
              <a:rPr sz="2100" b="0">
                <a:solidFill>
                  <a:srgbClr val="BBC9DA"/>
                </a:solidFill>
                <a:latin typeface="Arial"/>
                <a:ea typeface="Arial"/>
                <a:cs typeface="Arial"/>
              </a:rPr>
              <a:t>Mỗi nhóm có 8 ảnh. Em lấy lượt đều theo video.</a:t>
            </a:r>
          </a:p>
        </p:txBody>
      </p:sp>
      <p:sp>
        <p:nvSpPr>
          <p:cNvPr id="6" name="">
            <a:extLst xmlns:a="http://schemas.openxmlformats.org/drawingml/2006/main">
              <a:ext uri="{FF2B5EF4-FFF2-40B4-BE49-F238E27FC236}">
                <a16:creationId xmlns:a16="http://schemas.microsoft.com/office/drawing/2014/main" id="{B23135BB-AF48-4C32-8B70-6147DA1F9CC2}"/>
              </a:ext>
            </a:extLst>
          </p:cNvPr>
          <p:cNvSpPr>
            <a:spLocks xmlns:a="http://schemas.openxmlformats.org/drawingml/2006/main" noGrp="1"/>
          </p:cNvSpPr>
          <p:nvPr/>
        </p:nvSpPr>
        <p:spPr>
          <a:xfrm xmlns:a="http://schemas.openxmlformats.org/drawingml/2006/main">
            <a:off x="609600" y="29146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2F5FA"/>
                </a:solidFill>
                <a:latin typeface="Arial"/>
                <a:ea typeface="Arial"/>
                <a:cs typeface="Arial"/>
              </a:defRPr>
            </a:pPr>
            <a:r>
              <a:rPr sz="2250" b="1">
                <a:solidFill>
                  <a:srgbClr val="F2F5FA"/>
                </a:solidFill>
                <a:latin typeface="Arial"/>
                <a:ea typeface="Arial"/>
                <a:cs typeface="Arial"/>
              </a:rPr>
              <a:t>Model chọn dùng GroupNorm và LayerNorm.</a:t>
            </a:r>
          </a:p>
        </p:txBody>
      </p:sp>
      <p:graphicFrame>
        <p:nvGraphicFramePr>
          <p:cNvPr id="15" name=""/>
          <p:cNvGraphicFramePr/>
          <p:nvPr/>
        </p:nvGraphicFramePr>
        <p:xfrm>
          <a:off xmlns:a="http://schemas.openxmlformats.org/drawingml/2006/main" x="609600" y="3657600"/>
          <a:ext xmlns:a="http://schemas.openxmlformats.org/drawingml/2006/main" cx="10972800" cy="1828800"/>
        </p:xfrm>
        <a:graphic xmlns:a="http://schemas.openxmlformats.org/drawingml/2006/main">
          <a:graphicData uri="http://schemas.openxmlformats.org/drawingml/2006/table">
            <a:tbl>
              <a:tblPr/>
              <a:tblGrid>
                <a:gridCol w="4267200"/>
                <a:gridCol w="3352800"/>
                <a:gridCol w="3352800"/>
              </a:tblGrid>
              <a:tr h="457200">
                <a:tc>
                  <a:txBody>
                    <a:bodyPr>
                      <a:noAutofit/>
                    </a:bodyPr>
                    <a:lstStyle/>
                    <a:p>
                      <a:pPr algn="l"/>
                      <a:r>
                        <a:rPr sz="2025" b="1">
                          <a:solidFill>
                            <a:srgbClr val="78C7FF"/>
                          </a:solidFill>
                          <a:latin typeface="Arial"/>
                          <a:ea typeface="Arial"/>
                          <a:cs typeface="Arial"/>
                        </a:rPr>
                        <a:t>Mốc model</a:t>
                      </a:r>
                    </a:p>
                  </a:txBody>
                  <a:tcPr marL="91440" marR="91440" marT="45720" marB="45720" anchor="ctr">
                    <a:solidFill>
                      <a:srgbClr val="213A54"/>
                    </a:solidFill>
                  </a:tcPr>
                </a:tc>
                <a:tc>
                  <a:txBody>
                    <a:bodyPr>
                      <a:noAutofit/>
                    </a:bodyPr>
                    <a:lstStyle/>
                    <a:p>
                      <a:pPr algn="l"/>
                      <a:r>
                        <a:rPr sz="2025" b="1">
                          <a:solidFill>
                            <a:srgbClr val="78C7FF"/>
                          </a:solidFill>
                          <a:latin typeface="Arial"/>
                          <a:ea typeface="Arial"/>
                          <a:cs typeface="Arial"/>
                        </a:rPr>
                        <a:t>Epoch đã chạy</a:t>
                      </a:r>
                    </a:p>
                  </a:txBody>
                  <a:tcPr marL="91440" marR="91440" marT="45720" marB="45720" anchor="ctr">
                    <a:solidFill>
                      <a:srgbClr val="213A54"/>
                    </a:solidFill>
                  </a:tcPr>
                </a:tc>
                <a:tc>
                  <a:txBody>
                    <a:bodyPr>
                      <a:noAutofit/>
                    </a:bodyPr>
                    <a:lstStyle/>
                    <a:p>
                      <a:pPr algn="l"/>
                      <a:r>
                        <a:rPr sz="2025" b="1">
                          <a:solidFill>
                            <a:srgbClr val="78C7FF"/>
                          </a:solidFill>
                          <a:latin typeface="Arial"/>
                          <a:ea typeface="Arial"/>
                          <a:cs typeface="Arial"/>
                        </a:rPr>
                        <a:t>Checkpoint</a:t>
                      </a:r>
                    </a:p>
                  </a:txBody>
                  <a:tcPr marL="91440" marR="91440" marT="45720" marB="45720" anchor="ctr">
                    <a:solidFill>
                      <a:srgbClr val="213A54"/>
                    </a:solidFill>
                  </a:tcPr>
                </a:tc>
              </a:tr>
              <a:tr h="457200">
                <a:tc>
                  <a:txBody>
                    <a:bodyPr>
                      <a:noAutofit/>
                    </a:bodyPr>
                    <a:lstStyle/>
                    <a:p>
                      <a:pPr algn="l"/>
                      <a:r>
                        <a:rPr sz="2025" b="0">
                          <a:solidFill>
                            <a:srgbClr val="F2F5FA"/>
                          </a:solidFill>
                          <a:latin typeface="Arial"/>
                          <a:ea typeface="Arial"/>
                          <a:cs typeface="Arial"/>
                        </a:rPr>
                        <a:t>Trước gộp</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19</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11</a:t>
                      </a:r>
                    </a:p>
                  </a:txBody>
                  <a:tcPr marL="91440" marR="91440" marT="45720" marB="45720" anchor="ctr">
                    <a:solidFill>
                      <a:srgbClr val="0E1B2C"/>
                    </a:solidFill>
                  </a:tcPr>
                </a:tc>
              </a:tr>
              <a:tr h="457200">
                <a:tc>
                  <a:txBody>
                    <a:bodyPr>
                      <a:noAutofit/>
                    </a:bodyPr>
                    <a:lstStyle/>
                    <a:p>
                      <a:pPr algn="l"/>
                      <a:r>
                        <a:rPr sz="2025" b="0">
                          <a:solidFill>
                            <a:srgbClr val="F2F5FA"/>
                          </a:solidFill>
                          <a:latin typeface="Arial"/>
                          <a:ea typeface="Arial"/>
                          <a:cs typeface="Arial"/>
                        </a:rPr>
                        <a:t>Gộp lần đầu</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12</a:t>
                      </a:r>
                    </a:p>
                  </a:txBody>
                  <a:tcPr marL="91440" marR="91440" marT="45720" marB="45720" anchor="ctr">
                    <a:solidFill>
                      <a:srgbClr val="0E1B2C"/>
                    </a:solidFill>
                  </a:tcPr>
                </a:tc>
                <a:tc>
                  <a:txBody>
                    <a:bodyPr>
                      <a:noAutofit/>
                    </a:bodyPr>
                    <a:lstStyle/>
                    <a:p>
                      <a:pPr algn="l"/>
                      <a:r>
                        <a:rPr sz="2025" b="0">
                          <a:solidFill>
                            <a:srgbClr val="F2F5FA"/>
                          </a:solidFill>
                          <a:latin typeface="Arial"/>
                          <a:ea typeface="Arial"/>
                          <a:cs typeface="Arial"/>
                        </a:rPr>
                        <a:t>4</a:t>
                      </a:r>
                    </a:p>
                  </a:txBody>
                  <a:tcPr marL="91440" marR="91440" marT="45720" marB="45720" anchor="ctr">
                    <a:solidFill>
                      <a:srgbClr val="0E1B2C"/>
                    </a:solidFill>
                  </a:tcPr>
                </a:tc>
              </a:tr>
              <a:tr h="457200">
                <a:tc>
                  <a:txBody>
                    <a:bodyPr>
                      <a:noAutofit/>
                    </a:bodyPr>
                    <a:lstStyle/>
                    <a:p>
                      <a:pPr algn="l"/>
                      <a:r>
                        <a:rPr sz="2025" b="1">
                          <a:solidFill>
                            <a:srgbClr val="65D6AA"/>
                          </a:solidFill>
                          <a:latin typeface="Arial"/>
                          <a:ea typeface="Arial"/>
                          <a:cs typeface="Arial"/>
                        </a:rPr>
                        <a:t>Sau sửa</a:t>
                      </a:r>
                    </a:p>
                  </a:txBody>
                  <a:tcPr marL="91440" marR="91440" marT="45720" marB="45720" anchor="ctr">
                    <a:solidFill>
                      <a:srgbClr val="0E1B2C"/>
                    </a:solidFill>
                  </a:tcPr>
                </a:tc>
                <a:tc>
                  <a:txBody>
                    <a:bodyPr>
                      <a:noAutofit/>
                    </a:bodyPr>
                    <a:lstStyle/>
                    <a:p>
                      <a:pPr algn="l"/>
                      <a:r>
                        <a:rPr sz="2025" b="1">
                          <a:solidFill>
                            <a:srgbClr val="65D6AA"/>
                          </a:solidFill>
                          <a:latin typeface="Arial"/>
                          <a:ea typeface="Arial"/>
                          <a:cs typeface="Arial"/>
                        </a:rPr>
                        <a:t>1 warmup + 20</a:t>
                      </a:r>
                    </a:p>
                  </a:txBody>
                  <a:tcPr marL="91440" marR="91440" marT="45720" marB="45720" anchor="ctr">
                    <a:solidFill>
                      <a:srgbClr val="0E1B2C"/>
                    </a:solidFill>
                  </a:tcPr>
                </a:tc>
                <a:tc>
                  <a:txBody>
                    <a:bodyPr>
                      <a:noAutofit/>
                    </a:bodyPr>
                    <a:lstStyle/>
                    <a:p>
                      <a:pPr algn="l"/>
                      <a:r>
                        <a:rPr sz="2025" b="1">
                          <a:solidFill>
                            <a:srgbClr val="65D6AA"/>
                          </a:solidFill>
                          <a:latin typeface="Arial"/>
                          <a:ea typeface="Arial"/>
                          <a:cs typeface="Arial"/>
                        </a:rPr>
                        <a:t>8 (cân bằng)</a:t>
                      </a:r>
                    </a:p>
                  </a:txBody>
                  <a:tcPr marL="91440" marR="91440" marT="45720" marB="45720" anchor="ctr">
                    <a:solidFill>
                      <a:srgbClr val="0E1B2C"/>
                    </a:solidFill>
                  </a:tcPr>
                </a:tc>
              </a:tr>
            </a:tbl>
          </a:graphicData>
        </a:graphic>
      </p:graphicFrame>
      <p:sp>
        <p:nvSpPr>
          <p:cNvPr id="8" name="">
            <a:extLst xmlns:a="http://schemas.openxmlformats.org/drawingml/2006/main">
              <a:ext uri="{FF2B5EF4-FFF2-40B4-BE49-F238E27FC236}">
                <a16:creationId xmlns:a16="http://schemas.microsoft.com/office/drawing/2014/main" id="{648C024C-5B22-4CD4-A4D6-E137EA729255}"/>
              </a:ext>
            </a:extLst>
          </p:cNvPr>
          <p:cNvSpPr>
            <a:spLocks xmlns:a="http://schemas.openxmlformats.org/drawingml/2006/main" noGrp="1"/>
          </p:cNvSpPr>
          <p:nvPr/>
        </p:nvSpPr>
        <p:spPr>
          <a:xfrm xmlns:a="http://schemas.openxmlformats.org/drawingml/2006/main">
            <a:off x="609600" y="572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65D6AA"/>
                </a:solidFill>
                <a:latin typeface="Arial"/>
                <a:ea typeface="Arial"/>
                <a:cs typeface="Arial"/>
              </a:defRPr>
            </a:pPr>
            <a:r>
              <a:rPr sz="2025" b="1">
                <a:solidFill>
                  <a:srgbClr val="65D6AA"/>
                </a:solidFill>
                <a:latin typeface="Arial"/>
                <a:ea typeface="Arial"/>
                <a:cs typeface="Arial"/>
              </a:rPr>
              <a:t>Em chọn checkpoint bằng validation, sau đó mới chấm test.</a:t>
            </a:r>
          </a:p>
        </p:txBody>
      </p:sp>
    </p:spTree>
    <p:extLst>
      <p:ext uri="{BB962C8B-B14F-4D97-AF65-F5344CB8AC3E}">
        <p14:creationId xmlns:p14="http://schemas.microsoft.com/office/powerpoint/2010/main" val="656228216"/>
      </p:ext>
    </p:extLst>
  </p:cSld>
</p:sld>
</file>

<file path=ppt/slides/slide4.xml><?xml version="1.0" encoding="utf-8"?>
<p:sld xmlns:p="http://schemas.openxmlformats.org/presentationml/2006/main">
  <p:cSld>
    <p:bg>
      <p:bgPr>
        <a:solidFill xmlns:a="http://schemas.openxmlformats.org/drawingml/2006/main">
          <a:srgbClr val="0E1B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C029ED-8DFB-4B31-8977-41E979ED406A}"/>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2F5FA"/>
                </a:solidFill>
                <a:latin typeface="Arial"/>
                <a:ea typeface="Arial"/>
                <a:cs typeface="Arial"/>
              </a:defRPr>
            </a:pPr>
            <a:r>
              <a:rPr sz="3300" b="1">
                <a:solidFill>
                  <a:srgbClr val="F2F5FA"/>
                </a:solidFill>
                <a:latin typeface="Arial"/>
                <a:ea typeface="Arial"/>
                <a:cs typeface="Arial"/>
              </a:rPr>
              <a:t>Kết quả trên cùng dữ liệu</a:t>
            </a:r>
          </a:p>
        </p:txBody>
      </p:sp>
      <p:sp>
        <p:nvSpPr>
          <p:cNvPr id="2" name="">
            <a:extLst xmlns:a="http://schemas.openxmlformats.org/drawingml/2006/main">
              <a:ext uri="{FF2B5EF4-FFF2-40B4-BE49-F238E27FC236}">
                <a16:creationId xmlns:a16="http://schemas.microsoft.com/office/drawing/2014/main" id="{A19B0CD7-088D-43ED-8E34-97274709A7BE}"/>
              </a:ext>
            </a:extLst>
          </p:cNvPr>
          <p:cNvSpPr>
            <a:spLocks xmlns:a="http://schemas.openxmlformats.org/drawingml/2006/main" noGrp="1"/>
          </p:cNvSpPr>
          <p:nvPr/>
        </p:nvSpPr>
        <p:spPr>
          <a:xfrm xmlns:a="http://schemas.openxmlformats.org/drawingml/2006/main">
            <a:off x="609600" y="11239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78C7FF"/>
                </a:solidFill>
                <a:latin typeface="Arial"/>
                <a:ea typeface="Arial"/>
                <a:cs typeface="Arial"/>
              </a:defRPr>
            </a:pPr>
            <a:r>
              <a:rPr sz="1950" b="0">
                <a:solidFill>
                  <a:srgbClr val="78C7FF"/>
                </a:solidFill>
                <a:latin typeface="Arial"/>
                <a:ea typeface="Arial"/>
                <a:cs typeface="Arial"/>
              </a:rPr>
              <a:t>Precision, recall và F1 cùng chấm trên 4.856 ảnh test.</a:t>
            </a:r>
          </a:p>
        </p:txBody>
      </p:sp>
      <p:sp>
        <p:nvSpPr>
          <p:cNvPr id="3" name="">
            <a:extLst xmlns:a="http://schemas.openxmlformats.org/drawingml/2006/main">
              <a:ext uri="{FF2B5EF4-FFF2-40B4-BE49-F238E27FC236}">
                <a16:creationId xmlns:a16="http://schemas.microsoft.com/office/drawing/2014/main" id="{093064CA-0C5F-4CCD-92E6-83696C79F644}"/>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BC9DA"/>
                </a:solidFill>
                <a:latin typeface="Arial"/>
                <a:ea typeface="Arial"/>
                <a:cs typeface="Arial"/>
              </a:defRPr>
            </a:pPr>
            <a:r>
              <a:rPr sz="1350" b="0">
                <a:solidFill>
                  <a:srgbClr val="BBC9DA"/>
                </a:solidFill>
                <a:latin typeface="Arial"/>
                <a:ea typeface="Arial"/>
                <a:cs typeface="Arial"/>
              </a:rPr>
              <a:t>04</a:t>
            </a:r>
          </a:p>
        </p:txBody>
      </p:sp>
      <p:graphicFrame>
        <p:nvGraphicFramePr>
          <p:cNvPr id="10" name=""/>
          <p:cNvGraphicFramePr/>
          <p:nvPr/>
        </p:nvGraphicFramePr>
        <p:xfrm>
          <a:off xmlns:a="http://schemas.openxmlformats.org/drawingml/2006/main" x="609600" y="1676400"/>
          <a:ext xmlns:a="http://schemas.openxmlformats.org/drawingml/2006/main" cx="10972800" cy="3505200"/>
        </p:xfrm>
        <a:graphic xmlns:a="http://schemas.openxmlformats.org/drawingml/2006/main">
          <a:graphicData uri="http://schemas.openxmlformats.org/drawingml/2006/table">
            <a:tbl>
              <a:tblPr/>
              <a:tblGrid>
                <a:gridCol w="3200400"/>
                <a:gridCol w="2590800"/>
                <a:gridCol w="2590800"/>
                <a:gridCol w="2590800"/>
              </a:tblGrid>
              <a:tr h="438150">
                <a:tc>
                  <a:txBody>
                    <a:bodyPr>
                      <a:noAutofit/>
                    </a:bodyPr>
                    <a:lstStyle/>
                    <a:p>
                      <a:pPr algn="l"/>
                      <a:r>
                        <a:rPr sz="1950" b="1">
                          <a:solidFill>
                            <a:srgbClr val="78C7FF"/>
                          </a:solidFill>
                          <a:latin typeface="Arial"/>
                          <a:ea typeface="Arial"/>
                          <a:cs typeface="Arial"/>
                        </a:rPr>
                        <a:t>Chỉ số</a:t>
                      </a:r>
                    </a:p>
                  </a:txBody>
                  <a:tcPr marL="91440" marR="91440" marT="45720" marB="45720" anchor="ctr">
                    <a:solidFill>
                      <a:srgbClr val="213A54"/>
                    </a:solidFill>
                  </a:tcPr>
                </a:tc>
                <a:tc>
                  <a:txBody>
                    <a:bodyPr>
                      <a:noAutofit/>
                    </a:bodyPr>
                    <a:lstStyle/>
                    <a:p>
                      <a:pPr algn="l"/>
                      <a:r>
                        <a:rPr sz="1950" b="1">
                          <a:solidFill>
                            <a:srgbClr val="78C7FF"/>
                          </a:solidFill>
                          <a:latin typeface="Arial"/>
                          <a:ea typeface="Arial"/>
                          <a:cs typeface="Arial"/>
                        </a:rPr>
                        <a:t>Trước gộp</a:t>
                      </a:r>
                    </a:p>
                  </a:txBody>
                  <a:tcPr marL="91440" marR="91440" marT="45720" marB="45720" anchor="ctr">
                    <a:solidFill>
                      <a:srgbClr val="213A54"/>
                    </a:solidFill>
                  </a:tcPr>
                </a:tc>
                <a:tc>
                  <a:txBody>
                    <a:bodyPr>
                      <a:noAutofit/>
                    </a:bodyPr>
                    <a:lstStyle/>
                    <a:p>
                      <a:pPr algn="l"/>
                      <a:r>
                        <a:rPr sz="1950" b="1">
                          <a:solidFill>
                            <a:srgbClr val="78C7FF"/>
                          </a:solidFill>
                          <a:latin typeface="Arial"/>
                          <a:ea typeface="Arial"/>
                          <a:cs typeface="Arial"/>
                        </a:rPr>
                        <a:t>Gộp lần đầu</a:t>
                      </a:r>
                    </a:p>
                  </a:txBody>
                  <a:tcPr marL="91440" marR="91440" marT="45720" marB="45720" anchor="ctr">
                    <a:solidFill>
                      <a:srgbClr val="213A54"/>
                    </a:solidFill>
                  </a:tcPr>
                </a:tc>
                <a:tc>
                  <a:txBody>
                    <a:bodyPr>
                      <a:noAutofit/>
                    </a:bodyPr>
                    <a:lstStyle/>
                    <a:p>
                      <a:pPr algn="l"/>
                      <a:r>
                        <a:rPr sz="1950" b="1">
                          <a:solidFill>
                            <a:srgbClr val="78C7FF"/>
                          </a:solidFill>
                          <a:latin typeface="Arial"/>
                          <a:ea typeface="Arial"/>
                          <a:cs typeface="Arial"/>
                        </a:rPr>
                        <a:t>Sau sửa</a:t>
                      </a:r>
                    </a:p>
                  </a:txBody>
                  <a:tcPr marL="91440" marR="91440" marT="45720" marB="45720" anchor="ctr">
                    <a:solidFill>
                      <a:srgbClr val="213A54"/>
                    </a:solidFill>
                  </a:tcPr>
                </a:tc>
              </a:tr>
              <a:tr h="438150">
                <a:tc>
                  <a:txBody>
                    <a:bodyPr>
                      <a:noAutofit/>
                    </a:bodyPr>
                    <a:lstStyle/>
                    <a:p>
                      <a:pPr algn="l"/>
                      <a:r>
                        <a:rPr sz="1950" b="0">
                          <a:solidFill>
                            <a:srgbClr val="F2F5FA"/>
                          </a:solidFill>
                          <a:latin typeface="Arial"/>
                          <a:ea typeface="Arial"/>
                          <a:cs typeface="Arial"/>
                        </a:rPr>
                        <a:t>Precision macro</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91,84%</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90,22%</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95,15%</a:t>
                      </a:r>
                    </a:p>
                  </a:txBody>
                  <a:tcPr marL="91440" marR="91440" marT="45720" marB="45720" anchor="ctr">
                    <a:solidFill>
                      <a:srgbClr val="0E1B2C"/>
                    </a:solidFill>
                  </a:tcPr>
                </a:tc>
              </a:tr>
              <a:tr h="438150">
                <a:tc>
                  <a:txBody>
                    <a:bodyPr>
                      <a:noAutofit/>
                    </a:bodyPr>
                    <a:lstStyle/>
                    <a:p>
                      <a:pPr algn="l"/>
                      <a:r>
                        <a:rPr sz="1950" b="0">
                          <a:solidFill>
                            <a:srgbClr val="F2F5FA"/>
                          </a:solidFill>
                          <a:latin typeface="Arial"/>
                          <a:ea typeface="Arial"/>
                          <a:cs typeface="Arial"/>
                        </a:rPr>
                        <a:t>Recall macro</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91,97%</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90,66%</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95,18%</a:t>
                      </a:r>
                    </a:p>
                  </a:txBody>
                  <a:tcPr marL="91440" marR="91440" marT="45720" marB="45720" anchor="ctr">
                    <a:solidFill>
                      <a:srgbClr val="0E1B2C"/>
                    </a:solidFill>
                  </a:tcPr>
                </a:tc>
              </a:tr>
              <a:tr h="438150">
                <a:tc>
                  <a:txBody>
                    <a:bodyPr>
                      <a:noAutofit/>
                    </a:bodyPr>
                    <a:lstStyle/>
                    <a:p>
                      <a:pPr algn="l"/>
                      <a:r>
                        <a:rPr sz="1950" b="1">
                          <a:solidFill>
                            <a:srgbClr val="65D6AA"/>
                          </a:solidFill>
                          <a:latin typeface="Arial"/>
                          <a:ea typeface="Arial"/>
                          <a:cs typeface="Arial"/>
                        </a:rPr>
                        <a:t>F1 macro</a:t>
                      </a:r>
                    </a:p>
                  </a:txBody>
                  <a:tcPr marL="91440" marR="91440" marT="45720" marB="45720" anchor="ctr">
                    <a:solidFill>
                      <a:srgbClr val="0E1B2C"/>
                    </a:solidFill>
                  </a:tcPr>
                </a:tc>
                <a:tc>
                  <a:txBody>
                    <a:bodyPr>
                      <a:noAutofit/>
                    </a:bodyPr>
                    <a:lstStyle/>
                    <a:p>
                      <a:pPr algn="l"/>
                      <a:r>
                        <a:rPr sz="1950" b="1">
                          <a:solidFill>
                            <a:srgbClr val="65D6AA"/>
                          </a:solidFill>
                          <a:latin typeface="Arial"/>
                          <a:ea typeface="Arial"/>
                          <a:cs typeface="Arial"/>
                        </a:rPr>
                        <a:t>91,90%</a:t>
                      </a:r>
                    </a:p>
                  </a:txBody>
                  <a:tcPr marL="91440" marR="91440" marT="45720" marB="45720" anchor="ctr">
                    <a:solidFill>
                      <a:srgbClr val="0E1B2C"/>
                    </a:solidFill>
                  </a:tcPr>
                </a:tc>
                <a:tc>
                  <a:txBody>
                    <a:bodyPr>
                      <a:noAutofit/>
                    </a:bodyPr>
                    <a:lstStyle/>
                    <a:p>
                      <a:pPr algn="l"/>
                      <a:r>
                        <a:rPr sz="1950" b="1">
                          <a:solidFill>
                            <a:srgbClr val="65D6AA"/>
                          </a:solidFill>
                          <a:latin typeface="Arial"/>
                          <a:ea typeface="Arial"/>
                          <a:cs typeface="Arial"/>
                        </a:rPr>
                        <a:t>89,88%</a:t>
                      </a:r>
                    </a:p>
                  </a:txBody>
                  <a:tcPr marL="91440" marR="91440" marT="45720" marB="45720" anchor="ctr">
                    <a:solidFill>
                      <a:srgbClr val="0E1B2C"/>
                    </a:solidFill>
                  </a:tcPr>
                </a:tc>
                <a:tc>
                  <a:txBody>
                    <a:bodyPr>
                      <a:noAutofit/>
                    </a:bodyPr>
                    <a:lstStyle/>
                    <a:p>
                      <a:pPr algn="l"/>
                      <a:r>
                        <a:rPr sz="1950" b="1">
                          <a:solidFill>
                            <a:srgbClr val="65D6AA"/>
                          </a:solidFill>
                          <a:latin typeface="Arial"/>
                          <a:ea typeface="Arial"/>
                          <a:cs typeface="Arial"/>
                        </a:rPr>
                        <a:t>95,16%</a:t>
                      </a:r>
                    </a:p>
                  </a:txBody>
                  <a:tcPr marL="91440" marR="91440" marT="45720" marB="45720" anchor="ctr">
                    <a:solidFill>
                      <a:srgbClr val="0E1B2C"/>
                    </a:solidFill>
                  </a:tcPr>
                </a:tc>
              </a:tr>
              <a:tr h="438150">
                <a:tc>
                  <a:txBody>
                    <a:bodyPr>
                      <a:noAutofit/>
                    </a:bodyPr>
                    <a:lstStyle/>
                    <a:p>
                      <a:pPr algn="l"/>
                      <a:r>
                        <a:rPr sz="1950" b="0">
                          <a:solidFill>
                            <a:srgbClr val="F2F5FA"/>
                          </a:solidFill>
                          <a:latin typeface="Arial"/>
                          <a:ea typeface="Arial"/>
                          <a:cs typeface="Arial"/>
                        </a:rPr>
                        <a:t>Ảnh giả thành thật</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213</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437</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120</a:t>
                      </a:r>
                    </a:p>
                  </a:txBody>
                  <a:tcPr marL="91440" marR="91440" marT="45720" marB="45720" anchor="ctr">
                    <a:solidFill>
                      <a:srgbClr val="0E1B2C"/>
                    </a:solidFill>
                  </a:tcPr>
                </a:tc>
              </a:tr>
              <a:tr h="438150">
                <a:tc>
                  <a:txBody>
                    <a:bodyPr>
                      <a:noAutofit/>
                    </a:bodyPr>
                    <a:lstStyle/>
                    <a:p>
                      <a:pPr algn="l"/>
                      <a:r>
                        <a:rPr sz="1950" b="0">
                          <a:solidFill>
                            <a:srgbClr val="F2F5FA"/>
                          </a:solidFill>
                          <a:latin typeface="Arial"/>
                          <a:ea typeface="Arial"/>
                          <a:cs typeface="Arial"/>
                        </a:rPr>
                        <a:t>Loss train</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0,13608</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0,16342</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0,01308</a:t>
                      </a:r>
                    </a:p>
                  </a:txBody>
                  <a:tcPr marL="91440" marR="91440" marT="45720" marB="45720" anchor="ctr">
                    <a:solidFill>
                      <a:srgbClr val="0E1B2C"/>
                    </a:solidFill>
                  </a:tcPr>
                </a:tc>
              </a:tr>
              <a:tr h="438150">
                <a:tc>
                  <a:txBody>
                    <a:bodyPr>
                      <a:noAutofit/>
                    </a:bodyPr>
                    <a:lstStyle/>
                    <a:p>
                      <a:pPr algn="l"/>
                      <a:r>
                        <a:rPr sz="1950" b="0">
                          <a:solidFill>
                            <a:srgbClr val="F2F5FA"/>
                          </a:solidFill>
                          <a:latin typeface="Arial"/>
                          <a:ea typeface="Arial"/>
                          <a:cs typeface="Arial"/>
                        </a:rPr>
                        <a:t>Loss validation</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0,06483</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0,15745</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0,09608</a:t>
                      </a:r>
                    </a:p>
                  </a:txBody>
                  <a:tcPr marL="91440" marR="91440" marT="45720" marB="45720" anchor="ctr">
                    <a:solidFill>
                      <a:srgbClr val="0E1B2C"/>
                    </a:solidFill>
                  </a:tcPr>
                </a:tc>
              </a:tr>
              <a:tr h="438150">
                <a:tc>
                  <a:txBody>
                    <a:bodyPr>
                      <a:noAutofit/>
                    </a:bodyPr>
                    <a:lstStyle/>
                    <a:p>
                      <a:pPr algn="l"/>
                      <a:r>
                        <a:rPr sz="1950" b="0">
                          <a:solidFill>
                            <a:srgbClr val="F2F5FA"/>
                          </a:solidFill>
                          <a:latin typeface="Arial"/>
                          <a:ea typeface="Arial"/>
                          <a:cs typeface="Arial"/>
                        </a:rPr>
                        <a:t>Loss test</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0,17489</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0,28634</a:t>
                      </a:r>
                    </a:p>
                  </a:txBody>
                  <a:tcPr marL="91440" marR="91440" marT="45720" marB="45720" anchor="ctr">
                    <a:solidFill>
                      <a:srgbClr val="0E1B2C"/>
                    </a:solidFill>
                  </a:tcPr>
                </a:tc>
                <a:tc>
                  <a:txBody>
                    <a:bodyPr>
                      <a:noAutofit/>
                    </a:bodyPr>
                    <a:lstStyle/>
                    <a:p>
                      <a:pPr algn="l"/>
                      <a:r>
                        <a:rPr sz="1950" b="0">
                          <a:solidFill>
                            <a:srgbClr val="F2F5FA"/>
                          </a:solidFill>
                          <a:latin typeface="Arial"/>
                          <a:ea typeface="Arial"/>
                          <a:cs typeface="Arial"/>
                        </a:rPr>
                        <a:t>0,12433</a:t>
                      </a:r>
                    </a:p>
                  </a:txBody>
                  <a:tcPr marL="91440" marR="91440" marT="45720" marB="45720" anchor="ctr">
                    <a:solidFill>
                      <a:srgbClr val="0E1B2C"/>
                    </a:solidFill>
                  </a:tcPr>
                </a:tc>
              </a:tr>
            </a:tbl>
          </a:graphicData>
        </a:graphic>
      </p:graphicFrame>
      <p:sp>
        <p:nvSpPr>
          <p:cNvPr id="5" name="">
            <a:extLst xmlns:a="http://schemas.openxmlformats.org/drawingml/2006/main">
              <a:ext uri="{FF2B5EF4-FFF2-40B4-BE49-F238E27FC236}">
                <a16:creationId xmlns:a16="http://schemas.microsoft.com/office/drawing/2014/main" id="{068657E5-9CD3-4768-AA1D-4DE6B1DA8CC6}"/>
              </a:ext>
            </a:extLst>
          </p:cNvPr>
          <p:cNvSpPr>
            <a:spLocks xmlns:a="http://schemas.openxmlformats.org/drawingml/2006/main" noGrp="1"/>
          </p:cNvSpPr>
          <p:nvPr/>
        </p:nvSpPr>
        <p:spPr>
          <a:xfrm xmlns:a="http://schemas.openxmlformats.org/drawingml/2006/main">
            <a:off x="609600" y="54006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BBC9DA"/>
                </a:solidFill>
                <a:latin typeface="Arial"/>
                <a:ea typeface="Arial"/>
                <a:cs typeface="Arial"/>
              </a:defRPr>
            </a:pPr>
            <a:r>
              <a:rPr sz="1800" b="0">
                <a:solidFill>
                  <a:srgbClr val="BBC9DA"/>
                </a:solidFill>
                <a:latin typeface="Arial"/>
                <a:ea typeface="Arial"/>
                <a:cs typeface="Arial"/>
              </a:rPr>
              <a:t>Loss đánh giá ảnh gốc trên cùng tập. Train 20.404, validation 3.697 ảnh.</a:t>
            </a:r>
          </a:p>
        </p:txBody>
      </p:sp>
      <p:sp>
        <p:nvSpPr>
          <p:cNvPr id="6" name="">
            <a:extLst xmlns:a="http://schemas.openxmlformats.org/drawingml/2006/main">
              <a:ext uri="{FF2B5EF4-FFF2-40B4-BE49-F238E27FC236}">
                <a16:creationId xmlns:a16="http://schemas.microsoft.com/office/drawing/2014/main" id="{AEA3AA06-04A0-464C-B73B-A22A59796DC3}"/>
              </a:ext>
            </a:extLst>
          </p:cNvPr>
          <p:cNvSpPr>
            <a:spLocks xmlns:a="http://schemas.openxmlformats.org/drawingml/2006/main" noGrp="1"/>
          </p:cNvSpPr>
          <p:nvPr/>
        </p:nvSpPr>
        <p:spPr>
          <a:xfrm xmlns:a="http://schemas.openxmlformats.org/drawingml/2006/main">
            <a:off x="609600" y="58197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FFCB79"/>
                </a:solidFill>
                <a:latin typeface="Arial"/>
                <a:ea typeface="Arial"/>
                <a:cs typeface="Arial"/>
              </a:defRPr>
            </a:pPr>
            <a:r>
              <a:rPr sz="1800" b="0">
                <a:solidFill>
                  <a:srgbClr val="FFCB79"/>
                </a:solidFill>
                <a:latin typeface="Arial"/>
                <a:ea typeface="Arial"/>
                <a:cs typeface="Arial"/>
              </a:rPr>
              <a:t>Validation trước đã từng dùng một phần nguồn để train.</a:t>
            </a:r>
          </a:p>
          <a:p xmlns:a="http://schemas.openxmlformats.org/drawingml/2006/main">
            <a:pPr algn="l">
              <a:defRPr sz="1800" b="0">
                <a:solidFill>
                  <a:srgbClr val="FFCB79"/>
                </a:solidFill>
                <a:latin typeface="Arial"/>
                <a:ea typeface="Arial"/>
                <a:cs typeface="Arial"/>
              </a:defRPr>
            </a:pPr>
            <a:r>
              <a:rPr sz="1800" b="0">
                <a:solidFill>
                  <a:srgbClr val="FFCB79"/>
                </a:solidFill>
                <a:latin typeface="Arial"/>
                <a:ea typeface="Arial"/>
                <a:cs typeface="Arial"/>
              </a:rPr>
              <a:t>Test này phục vụ phát triển và đã được xem trước.</a:t>
            </a:r>
          </a:p>
        </p:txBody>
      </p:sp>
    </p:spTree>
    <p:extLst>
      <p:ext uri="{BB962C8B-B14F-4D97-AF65-F5344CB8AC3E}">
        <p14:creationId xmlns:p14="http://schemas.microsoft.com/office/powerpoint/2010/main" val="1497039195"/>
      </p:ext>
    </p:extLst>
  </p:cSld>
</p:sld>
</file>

<file path=ppt/slides/slide5.xml><?xml version="1.0" encoding="utf-8"?>
<p:sld xmlns:p="http://schemas.openxmlformats.org/presentationml/2006/main">
  <p:cSld>
    <p:bg>
      <p:bgPr>
        <a:solidFill xmlns:a="http://schemas.openxmlformats.org/drawingml/2006/main">
          <a:srgbClr val="0E1B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98FFD5-7206-4F87-8C88-A22AAC24ED6F}"/>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2F5FA"/>
                </a:solidFill>
                <a:latin typeface="Arial"/>
                <a:ea typeface="Arial"/>
                <a:cs typeface="Arial"/>
              </a:defRPr>
            </a:pPr>
            <a:r>
              <a:rPr sz="3300" b="1">
                <a:solidFill>
                  <a:srgbClr val="F2F5FA"/>
                </a:solidFill>
                <a:latin typeface="Arial"/>
                <a:ea typeface="Arial"/>
                <a:cs typeface="Arial"/>
              </a:rPr>
              <a:t>Kết luận và bước tiếp theo</a:t>
            </a:r>
          </a:p>
        </p:txBody>
      </p:sp>
      <p:sp>
        <p:nvSpPr>
          <p:cNvPr id="2" name="">
            <a:extLst xmlns:a="http://schemas.openxmlformats.org/drawingml/2006/main">
              <a:ext uri="{FF2B5EF4-FFF2-40B4-BE49-F238E27FC236}">
                <a16:creationId xmlns:a16="http://schemas.microsoft.com/office/drawing/2014/main" id="{047A4168-61FD-418B-B179-4434B2A1EBD8}"/>
              </a:ext>
            </a:extLst>
          </p:cNvPr>
          <p:cNvSpPr>
            <a:spLocks xmlns:a="http://schemas.openxmlformats.org/drawingml/2006/main" noGrp="1"/>
          </p:cNvSpPr>
          <p:nvPr/>
        </p:nvSpPr>
        <p:spPr>
          <a:xfrm xmlns:a="http://schemas.openxmlformats.org/drawingml/2006/main">
            <a:off x="609600" y="11239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78C7FF"/>
                </a:solidFill>
                <a:latin typeface="Arial"/>
                <a:ea typeface="Arial"/>
                <a:cs typeface="Arial"/>
              </a:defRPr>
            </a:pPr>
            <a:r>
              <a:rPr sz="1950" b="0">
                <a:solidFill>
                  <a:srgbClr val="78C7FF"/>
                </a:solidFill>
                <a:latin typeface="Arial"/>
                <a:ea typeface="Arial"/>
                <a:cs typeface="Arial"/>
              </a:rPr>
              <a:t>Test chung tốt hơn. Video mới vẫn cần cải thiện.</a:t>
            </a:r>
          </a:p>
        </p:txBody>
      </p:sp>
      <p:sp>
        <p:nvSpPr>
          <p:cNvPr id="3" name="">
            <a:extLst xmlns:a="http://schemas.openxmlformats.org/drawingml/2006/main">
              <a:ext uri="{FF2B5EF4-FFF2-40B4-BE49-F238E27FC236}">
                <a16:creationId xmlns:a16="http://schemas.microsoft.com/office/drawing/2014/main" id="{92DDA4FC-617C-4C3A-8C1A-588F15EC3057}"/>
              </a:ext>
            </a:extLst>
          </p:cNvPr>
          <p:cNvSpPr>
            <a:spLocks xmlns:a="http://schemas.openxmlformats.org/drawingml/2006/main" noGrp="1"/>
          </p:cNvSpPr>
          <p:nvPr/>
        </p:nvSpPr>
        <p:spPr>
          <a:xfrm xmlns:a="http://schemas.openxmlformats.org/drawingml/2006/main">
            <a:off x="1123950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BBC9DA"/>
                </a:solidFill>
                <a:latin typeface="Arial"/>
                <a:ea typeface="Arial"/>
                <a:cs typeface="Arial"/>
              </a:defRPr>
            </a:pPr>
            <a:r>
              <a:rPr sz="1350" b="0">
                <a:solidFill>
                  <a:srgbClr val="BBC9DA"/>
                </a:solidFill>
                <a:latin typeface="Arial"/>
                <a:ea typeface="Arial"/>
                <a:cs typeface="Arial"/>
              </a:rPr>
              <a:t>05</a:t>
            </a:r>
          </a:p>
        </p:txBody>
      </p:sp>
      <p:graphicFrame>
        <p:nvGraphicFramePr>
          <p:cNvPr id="11" name=""/>
          <p:cNvGraphicFramePr/>
          <p:nvPr/>
        </p:nvGraphicFramePr>
        <p:xfrm>
          <a:off xmlns:a="http://schemas.openxmlformats.org/drawingml/2006/main" x="609600" y="1685925"/>
          <a:ext xmlns:a="http://schemas.openxmlformats.org/drawingml/2006/main" cx="10972800" cy="2867025"/>
        </p:xfrm>
        <a:graphic xmlns:a="http://schemas.openxmlformats.org/drawingml/2006/main">
          <a:graphicData uri="http://schemas.openxmlformats.org/drawingml/2006/table">
            <a:tbl>
              <a:tblPr/>
              <a:tblGrid>
                <a:gridCol w="5486400"/>
                <a:gridCol w="2743200"/>
                <a:gridCol w="2743200"/>
              </a:tblGrid>
              <a:tr h="409575">
                <a:tc>
                  <a:txBody>
                    <a:bodyPr>
                      <a:noAutofit/>
                    </a:bodyPr>
                    <a:lstStyle/>
                    <a:p>
                      <a:pPr algn="l"/>
                      <a:r>
                        <a:rPr sz="1875" b="1">
                          <a:solidFill>
                            <a:srgbClr val="78C7FF"/>
                          </a:solidFill>
                          <a:latin typeface="Arial"/>
                          <a:ea typeface="Arial"/>
                          <a:cs typeface="Arial"/>
                        </a:rPr>
                        <a:t>Kết quả riêng</a:t>
                      </a:r>
                    </a:p>
                  </a:txBody>
                  <a:tcPr marL="91440" marR="91440" marT="45720" marB="45720" anchor="ctr">
                    <a:solidFill>
                      <a:srgbClr val="213A54"/>
                    </a:solidFill>
                  </a:tcPr>
                </a:tc>
                <a:tc>
                  <a:txBody>
                    <a:bodyPr>
                      <a:noAutofit/>
                    </a:bodyPr>
                    <a:lstStyle/>
                    <a:p>
                      <a:pPr algn="l"/>
                      <a:r>
                        <a:rPr sz="1875" b="1">
                          <a:solidFill>
                            <a:srgbClr val="78C7FF"/>
                          </a:solidFill>
                          <a:latin typeface="Arial"/>
                          <a:ea typeface="Arial"/>
                          <a:cs typeface="Arial"/>
                        </a:rPr>
                        <a:t>Trước gộp</a:t>
                      </a:r>
                    </a:p>
                  </a:txBody>
                  <a:tcPr marL="91440" marR="91440" marT="45720" marB="45720" anchor="ctr">
                    <a:solidFill>
                      <a:srgbClr val="213A54"/>
                    </a:solidFill>
                  </a:tcPr>
                </a:tc>
                <a:tc>
                  <a:txBody>
                    <a:bodyPr>
                      <a:noAutofit/>
                    </a:bodyPr>
                    <a:lstStyle/>
                    <a:p>
                      <a:pPr algn="l"/>
                      <a:r>
                        <a:rPr sz="1875" b="1">
                          <a:solidFill>
                            <a:srgbClr val="78C7FF"/>
                          </a:solidFill>
                          <a:latin typeface="Arial"/>
                          <a:ea typeface="Arial"/>
                          <a:cs typeface="Arial"/>
                        </a:rPr>
                        <a:t>Sau sửa</a:t>
                      </a:r>
                    </a:p>
                  </a:txBody>
                  <a:tcPr marL="91440" marR="91440" marT="45720" marB="45720" anchor="ctr">
                    <a:solidFill>
                      <a:srgbClr val="213A54"/>
                    </a:solidFill>
                  </a:tcPr>
                </a:tc>
              </a:tr>
              <a:tr h="409575">
                <a:tc>
                  <a:txBody>
                    <a:bodyPr>
                      <a:noAutofit/>
                    </a:bodyPr>
                    <a:lstStyle/>
                    <a:p>
                      <a:pPr algn="l"/>
                      <a:r>
                        <a:rPr sz="1875" b="0">
                          <a:solidFill>
                            <a:srgbClr val="F2F5FA"/>
                          </a:solidFill>
                          <a:latin typeface="Arial"/>
                          <a:ea typeface="Arial"/>
                          <a:cs typeface="Arial"/>
                        </a:rPr>
                        <a:t>F1 ảnh cũ</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89,02%</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94,66%</a:t>
                      </a:r>
                    </a:p>
                  </a:txBody>
                  <a:tcPr marL="91440" marR="91440" marT="45720" marB="45720" anchor="ctr">
                    <a:solidFill>
                      <a:srgbClr val="0E1B2C"/>
                    </a:solidFill>
                  </a:tcPr>
                </a:tc>
              </a:tr>
              <a:tr h="409575">
                <a:tc>
                  <a:txBody>
                    <a:bodyPr>
                      <a:noAutofit/>
                    </a:bodyPr>
                    <a:lstStyle/>
                    <a:p>
                      <a:pPr algn="l"/>
                      <a:r>
                        <a:rPr sz="1875" b="0">
                          <a:solidFill>
                            <a:srgbClr val="F2F5FA"/>
                          </a:solidFill>
                          <a:latin typeface="Arial"/>
                          <a:ea typeface="Arial"/>
                          <a:cs typeface="Arial"/>
                        </a:rPr>
                        <a:t>F1 video mới</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97,81%</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96,02%</a:t>
                      </a:r>
                    </a:p>
                  </a:txBody>
                  <a:tcPr marL="91440" marR="91440" marT="45720" marB="45720" anchor="ctr">
                    <a:solidFill>
                      <a:srgbClr val="0E1B2C"/>
                    </a:solidFill>
                  </a:tcPr>
                </a:tc>
              </a:tr>
              <a:tr h="409575">
                <a:tc>
                  <a:txBody>
                    <a:bodyPr>
                      <a:noAutofit/>
                    </a:bodyPr>
                    <a:lstStyle/>
                    <a:p>
                      <a:pPr algn="l"/>
                      <a:r>
                        <a:rPr sz="1875" b="0">
                          <a:solidFill>
                            <a:srgbClr val="F2F5FA"/>
                          </a:solidFill>
                          <a:latin typeface="Arial"/>
                          <a:ea typeface="Arial"/>
                          <a:cs typeface="Arial"/>
                        </a:rPr>
                        <a:t>Giả thành thật (Drive)</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4,47%</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7,98%</a:t>
                      </a:r>
                    </a:p>
                  </a:txBody>
                  <a:tcPr marL="91440" marR="91440" marT="45720" marB="45720" anchor="ctr">
                    <a:solidFill>
                      <a:srgbClr val="0E1B2C"/>
                    </a:solidFill>
                  </a:tcPr>
                </a:tc>
              </a:tr>
              <a:tr h="409575">
                <a:tc>
                  <a:txBody>
                    <a:bodyPr>
                      <a:noAutofit/>
                    </a:bodyPr>
                    <a:lstStyle/>
                    <a:p>
                      <a:pPr algn="l"/>
                      <a:r>
                        <a:rPr sz="1875" b="0">
                          <a:solidFill>
                            <a:srgbClr val="F2F5FA"/>
                          </a:solidFill>
                          <a:latin typeface="Arial"/>
                          <a:ea typeface="Arial"/>
                          <a:cs typeface="Arial"/>
                        </a:rPr>
                        <a:t>Replay: đúng / 942</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741</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714</a:t>
                      </a:r>
                    </a:p>
                  </a:txBody>
                  <a:tcPr marL="91440" marR="91440" marT="45720" marB="45720" anchor="ctr">
                    <a:solidFill>
                      <a:srgbClr val="0E1B2C"/>
                    </a:solidFill>
                  </a:tcPr>
                </a:tc>
              </a:tr>
              <a:tr h="409575">
                <a:tc>
                  <a:txBody>
                    <a:bodyPr>
                      <a:noAutofit/>
                    </a:bodyPr>
                    <a:lstStyle/>
                    <a:p>
                      <a:pPr algn="l"/>
                      <a:r>
                        <a:rPr sz="1875" b="0">
                          <a:solidFill>
                            <a:srgbClr val="F2F5FA"/>
                          </a:solidFill>
                          <a:latin typeface="Arial"/>
                          <a:ea typeface="Arial"/>
                          <a:cs typeface="Arial"/>
                        </a:rPr>
                        <a:t>Replay: sai</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0</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0</a:t>
                      </a:r>
                    </a:p>
                  </a:txBody>
                  <a:tcPr marL="91440" marR="91440" marT="45720" marB="45720" anchor="ctr">
                    <a:solidFill>
                      <a:srgbClr val="0E1B2C"/>
                    </a:solidFill>
                  </a:tcPr>
                </a:tc>
              </a:tr>
              <a:tr h="409575">
                <a:tc>
                  <a:txBody>
                    <a:bodyPr>
                      <a:noAutofit/>
                    </a:bodyPr>
                    <a:lstStyle/>
                    <a:p>
                      <a:pPr algn="l"/>
                      <a:r>
                        <a:rPr sz="1875" b="0">
                          <a:solidFill>
                            <a:srgbClr val="F2F5FA"/>
                          </a:solidFill>
                          <a:latin typeface="Arial"/>
                          <a:ea typeface="Arial"/>
                          <a:cs typeface="Arial"/>
                        </a:rPr>
                        <a:t>Replay: chưa kết luận</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201</a:t>
                      </a:r>
                    </a:p>
                  </a:txBody>
                  <a:tcPr marL="91440" marR="91440" marT="45720" marB="45720" anchor="ctr">
                    <a:solidFill>
                      <a:srgbClr val="0E1B2C"/>
                    </a:solidFill>
                  </a:tcPr>
                </a:tc>
                <a:tc>
                  <a:txBody>
                    <a:bodyPr>
                      <a:noAutofit/>
                    </a:bodyPr>
                    <a:lstStyle/>
                    <a:p>
                      <a:pPr algn="l"/>
                      <a:r>
                        <a:rPr sz="1875" b="0">
                          <a:solidFill>
                            <a:srgbClr val="F2F5FA"/>
                          </a:solidFill>
                          <a:latin typeface="Arial"/>
                          <a:ea typeface="Arial"/>
                          <a:cs typeface="Arial"/>
                        </a:rPr>
                        <a:t>228</a:t>
                      </a:r>
                    </a:p>
                  </a:txBody>
                  <a:tcPr marL="91440" marR="91440" marT="45720" marB="45720" anchor="ctr">
                    <a:solidFill>
                      <a:srgbClr val="0E1B2C"/>
                    </a:solidFill>
                  </a:tcPr>
                </a:tc>
              </a:tr>
            </a:tbl>
          </a:graphicData>
        </a:graphic>
      </p:graphicFrame>
      <p:sp>
        <p:nvSpPr>
          <p:cNvPr id="5" name="">
            <a:extLst xmlns:a="http://schemas.openxmlformats.org/drawingml/2006/main">
              <a:ext uri="{FF2B5EF4-FFF2-40B4-BE49-F238E27FC236}">
                <a16:creationId xmlns:a16="http://schemas.microsoft.com/office/drawing/2014/main" id="{CA5A20F0-1EAD-49EC-8DDA-EB601FAD34C6}"/>
              </a:ext>
            </a:extLst>
          </p:cNvPr>
          <p:cNvSpPr>
            <a:spLocks xmlns:a="http://schemas.openxmlformats.org/drawingml/2006/main" noGrp="1"/>
          </p:cNvSpPr>
          <p:nvPr/>
        </p:nvSpPr>
        <p:spPr>
          <a:xfrm xmlns:a="http://schemas.openxmlformats.org/drawingml/2006/main">
            <a:off x="609600" y="4810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F2F5FA"/>
                </a:solidFill>
                <a:latin typeface="Arial"/>
                <a:ea typeface="Arial"/>
                <a:cs typeface="Arial"/>
              </a:defRPr>
            </a:pPr>
            <a:r>
              <a:rPr sz="1875" b="0">
                <a:solidFill>
                  <a:srgbClr val="F2F5FA"/>
                </a:solidFill>
                <a:latin typeface="Arial"/>
                <a:ea typeface="Arial"/>
                <a:cs typeface="Arial"/>
              </a:rPr>
              <a:t>API local: em đã gọi HTTP thật và kiểm tra session nhiều khung.</a:t>
            </a:r>
          </a:p>
        </p:txBody>
      </p:sp>
      <p:sp>
        <p:nvSpPr>
          <p:cNvPr id="6" name="">
            <a:extLst xmlns:a="http://schemas.openxmlformats.org/drawingml/2006/main">
              <a:ext uri="{FF2B5EF4-FFF2-40B4-BE49-F238E27FC236}">
                <a16:creationId xmlns:a16="http://schemas.microsoft.com/office/drawing/2014/main" id="{DF906CD0-6823-40B9-A48C-95ADFE8CE071}"/>
              </a:ext>
            </a:extLst>
          </p:cNvPr>
          <p:cNvSpPr>
            <a:spLocks xmlns:a="http://schemas.openxmlformats.org/drawingml/2006/main" noGrp="1"/>
          </p:cNvSpPr>
          <p:nvPr/>
        </p:nvSpPr>
        <p:spPr>
          <a:xfrm xmlns:a="http://schemas.openxmlformats.org/drawingml/2006/main">
            <a:off x="609600" y="52292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FFCB79"/>
                </a:solidFill>
                <a:latin typeface="Arial"/>
                <a:ea typeface="Arial"/>
                <a:cs typeface="Arial"/>
              </a:defRPr>
            </a:pPr>
            <a:r>
              <a:rPr sz="1875" b="0">
                <a:solidFill>
                  <a:srgbClr val="FFCB79"/>
                </a:solidFill>
                <a:latin typeface="Arial"/>
                <a:ea typeface="Arial"/>
                <a:cs typeface="Arial"/>
              </a:rPr>
              <a:t>Em lưu riêng bản mới để kiểm thử thêm trước khi thay model mặc định.</a:t>
            </a:r>
          </a:p>
        </p:txBody>
      </p:sp>
      <p:sp>
        <p:nvSpPr>
          <p:cNvPr id="7" name="">
            <a:extLst xmlns:a="http://schemas.openxmlformats.org/drawingml/2006/main">
              <a:ext uri="{FF2B5EF4-FFF2-40B4-BE49-F238E27FC236}">
                <a16:creationId xmlns:a16="http://schemas.microsoft.com/office/drawing/2014/main" id="{7F9E5B50-A076-4C07-937E-D28352CD5C42}"/>
              </a:ext>
            </a:extLst>
          </p:cNvPr>
          <p:cNvSpPr>
            <a:spLocks xmlns:a="http://schemas.openxmlformats.org/drawingml/2006/main" noGrp="1"/>
          </p:cNvSpPr>
          <p:nvPr/>
        </p:nvSpPr>
        <p:spPr>
          <a:xfrm xmlns:a="http://schemas.openxmlformats.org/drawingml/2006/main">
            <a:off x="609600" y="57054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65D6AA"/>
                </a:solidFill>
                <a:latin typeface="Arial"/>
                <a:ea typeface="Arial"/>
                <a:cs typeface="Arial"/>
              </a:defRPr>
            </a:pPr>
            <a:r>
              <a:rPr sz="1875" b="1">
                <a:solidFill>
                  <a:srgbClr val="65D6AA"/>
                </a:solidFill>
                <a:latin typeface="Arial"/>
                <a:ea typeface="Arial"/>
                <a:cs typeface="Arial"/>
              </a:rPr>
              <a:t>Tiếp theo: thêm người và thiết bị test mới. Đưa API ra ngoài local</a:t>
            </a:r>
          </a:p>
          <a:p xmlns:a="http://schemas.openxmlformats.org/drawingml/2006/main">
            <a:pPr algn="l">
              <a:defRPr sz="1875" b="1">
                <a:solidFill>
                  <a:srgbClr val="65D6AA"/>
                </a:solidFill>
                <a:latin typeface="Arial"/>
                <a:ea typeface="Arial"/>
                <a:cs typeface="Arial"/>
              </a:defRPr>
            </a:pPr>
            <a:r>
              <a:rPr sz="1875" b="1">
                <a:solidFill>
                  <a:srgbClr val="65D6AA"/>
                </a:solidFill>
                <a:latin typeface="Arial"/>
                <a:ea typeface="Arial"/>
                <a:cs typeface="Arial"/>
              </a:rPr>
              <a:t>và tích hợp với ứng dụng nhận diện danh tính.</a:t>
            </a:r>
          </a:p>
        </p:txBody>
      </p:sp>
    </p:spTree>
    <p:extLst>
      <p:ext uri="{BB962C8B-B14F-4D97-AF65-F5344CB8AC3E}">
        <p14:creationId xmlns:p14="http://schemas.microsoft.com/office/powerpoint/2010/main" val="8628732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2026-10-01T08:05:06.6070000Z</dcterms:created>
  <dcterms:modified xsi:type="dcterms:W3CDTF">2026-10-01T08:05:06.6070000Z</dcterms:modified>
</coreProperties>
</file>