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0571d96ffb4fc9" /><Relationship Type="http://schemas.openxmlformats.org/officeDocument/2006/relationships/extended-properties" Target="/docProps/app.xml" Id="R387f106d59d34abe" /><Relationship Type="http://schemas.openxmlformats.org/officeDocument/2006/relationships/officeDocument" Target="/ppt/presentation.xml" Id="Re90d2c2a8a5d43f0" /></Relationships>
</file>

<file path=ppt/presentation.xml><?xml version="1.0" encoding="utf-8"?>
<p:presentation xmlns:p="http://schemas.openxmlformats.org/presentationml/2006/main">
  <p:sldMasterIdLst>
    <p:sldMasterId xmlns:r="http://schemas.openxmlformats.org/officeDocument/2006/relationships" id="2147483648" r:id="Raf70c33d2f3843e6"/>
  </p:sldMasterIdLst>
  <p:notesMasterIdLst>
    <p:notesMasterId xmlns:r="http://schemas.openxmlformats.org/officeDocument/2006/relationships" r:id="R4a39f12ea55546f1"/>
  </p:notesMasterIdLst>
  <p:sldIdLst>
    <p:sldId xmlns:r="http://schemas.openxmlformats.org/officeDocument/2006/relationships" id="256" r:id="R3eff0542356241c8"/>
    <p:sldId xmlns:r="http://schemas.openxmlformats.org/officeDocument/2006/relationships" id="257" r:id="R139b3221f0134ba1"/>
    <p:sldId xmlns:r="http://schemas.openxmlformats.org/officeDocument/2006/relationships" id="258" r:id="R004e33696df64233"/>
    <p:sldId xmlns:r="http://schemas.openxmlformats.org/officeDocument/2006/relationships" id="259" r:id="R21973b24ebbd4db5"/>
    <p:sldId xmlns:r="http://schemas.openxmlformats.org/officeDocument/2006/relationships" id="260" r:id="Rb69a7bcd9a624a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6ba857c41249dc" /><Relationship Type="http://schemas.openxmlformats.org/officeDocument/2006/relationships/slideMaster" Target="/ppt/slideMasters/slideMaster1.xml" Id="Raf70c33d2f3843e6" /><Relationship Type="http://schemas.openxmlformats.org/officeDocument/2006/relationships/notesMaster" Target="/ppt/notesMasters/notesMaster1.xml" Id="R4a39f12ea55546f1" /><Relationship Type="http://schemas.openxmlformats.org/officeDocument/2006/relationships/presProps" Target="/ppt/presProps.xml" Id="R752da14e29aa4b85" /><Relationship Type="http://schemas.openxmlformats.org/officeDocument/2006/relationships/tableStyles" Target="/ppt/tableStyles.xml" Id="R2dd4e022fdc94d6c" /><Relationship Type="http://schemas.openxmlformats.org/officeDocument/2006/relationships/slide" Target="/ppt/slides/slide1.xml" Id="R3eff0542356241c8" /><Relationship Type="http://schemas.openxmlformats.org/officeDocument/2006/relationships/slide" Target="/ppt/slides/slide2.xml" Id="R139b3221f0134ba1" /><Relationship Type="http://schemas.openxmlformats.org/officeDocument/2006/relationships/slide" Target="/ppt/slides/slide3.xml" Id="R004e33696df64233" /><Relationship Type="http://schemas.openxmlformats.org/officeDocument/2006/relationships/slide" Target="/ppt/slides/slide4.xml" Id="R21973b24ebbd4db5" /><Relationship Type="http://schemas.openxmlformats.org/officeDocument/2006/relationships/slide" Target="/ppt/slides/slide5.xml" Id="Rb69a7bcd9a624a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611e0d1a3044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08711d01864733" /><Relationship Type="http://schemas.openxmlformats.org/officeDocument/2006/relationships/notesMaster" Target="/ppt/notesMasters/notesMaster1.xml" Id="R99db4cc79a8747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8ae2a7c9074529" /><Relationship Type="http://schemas.openxmlformats.org/officeDocument/2006/relationships/notesMaster" Target="/ppt/notesMasters/notesMaster1.xml" Id="R1848c28b104348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36b2ecbcab4179" /><Relationship Type="http://schemas.openxmlformats.org/officeDocument/2006/relationships/notesMaster" Target="/ppt/notesMasters/notesMaster1.xml" Id="R358d2fc569f144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d887a29e114e2f" /><Relationship Type="http://schemas.openxmlformats.org/officeDocument/2006/relationships/notesMaster" Target="/ppt/notesMasters/notesMaster1.xml" Id="R365035ddbff242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d23aa0935c4481" /><Relationship Type="http://schemas.openxmlformats.org/officeDocument/2006/relationships/notesMaster" Target="/ppt/notesMasters/notesMaster1.xml" Id="R53b6cfd9cd0444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Tuần này em tập trung vào hai phần chính: hoàn thiện API chạy local và huấn luyện lại model với dữ liệu đã cải thiện. Phần API đã chạy thử trên máy. Phần huấn luyện có tập test giữ riêng để đánh giá. Đây là báo cáo ngắn về công việc đã thực hiện; kế hoạch triển khai bên ngoài và tích hợp kết quả nhóm được trình bày ở hai slide cuối. Nguồn: yêu cầu cập nhật của người dùng; docs/API.md; outputs/retrain-20260915/evaluation.json.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sử dụng Pipeline chung với chương trình camera, hỗ trợ ảnh đơn và phiên nhiều khung hình. Em đã chạy thử cục bộ, kiểm tra hợp đồng request/response và có phép đo tốc độ localhost. Các trạng thái chưa kết luận không được coi là real. Local nghĩa là dịch vụ hiện chạy trên máy, chưa có địa chỉ công khai cho người khác sử dụng. Không khẳng định tiến trình đang bật tại thời điểm người xem mở slide. Nguồn: api_app.py, docs/API.md, outputs/api-benchmark-20260923.json.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dữ liệu tốt hơn trong nội dung tổng hợp được diễn đạt bằng thay đổi cụ thể đã xác minh: tổ chức lại dữ liệu và chia theo video, sau đó thực sự huấn luyện lại. Không suy rằng chỉ thay cách chia dữ liệu sẽ tự nâng độ chính xác hoặc giải quyết hoàn toàn overfit. Tập giữ riêng theo video chưa bảo đảm tách theo người. Kết quả huấn luyện lại lưu tại outputs/retrain-20260915, API chọn model đó khi truyền rõ đường dẫn model và labels. Không khẳng định model MobileNetV3 hay dữ liệu của thành viên đã được ghép vào API hiện tại. Nguồn: train_liveness.py, outputs/retrain-20260915/split.json, evaluation.json, 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kế hoạch cho tuần sau, chưa phải công việc đã triển khai. Em sẽ lựa chọn môi trường máy chủ phù hợp, cấu hình địa chỉ truy cập, HTTPS và cơ chế API key, sau đó kiểm tra từ thiết bị khác. Cần đo lại độ trễ và khả năng phục vụ trên cấu hình thực tế. API chạy trên máy chủ sẽ vẫn cần máy chủ hoạt động, nhưng không cần giữ máy cá nhân của em bật. Nguồn: kế hoạch người dùng yêu cầu; docs/API.md phần dùng từ máy khác.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Tuần sau em sẽ tổng hợp các kết quả nghiên cứu, dữ liệu và ứng dụng của nhóm, kiểm tra tính phù hợp rồi tích hợp vào dự án. Ứng dụng nhận diện danh tính và API chống giả mạo cần xử lý cùng ảnh, cùng vùng mặt để tránh ghép sai kết quả. Sau khi tích hợp sẽ kiểm thử luồng hoàn chỉnh với người thật, ảnh in và video phát lại. Slide không nêu tên hay trình bày riêng công việc của ba thành viên theo yêu cầu mới của người dùng. Nguồn: yêu cầu người dùng, ba báo cáo đã cung cấp, 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e6b3b8d71542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a01dc5d0be44da" /><Relationship Type="http://schemas.openxmlformats.org/officeDocument/2006/relationships/slideLayout" Target="/ppt/slideLayouts/slideLayout1.xml" Id="R9d52e1179b344f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2e1179b344f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1b3f9b79804b13" /><Relationship Type="http://schemas.openxmlformats.org/officeDocument/2006/relationships/notesSlide" Target="/ppt/notesSlides/notesSlide1.xml" Id="Rfe438b3ae8f148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0a079e14514626" /><Relationship Type="http://schemas.openxmlformats.org/officeDocument/2006/relationships/notesSlide" Target="/ppt/notesSlides/notesSlide2.xml" Id="R0cc5023a753e4b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b7e9233b334c70" /><Relationship Type="http://schemas.openxmlformats.org/officeDocument/2006/relationships/notesSlide" Target="/ppt/notesSlides/notesSlide3.xml" Id="R09e5d05eb6ed4b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40f5196d37456d" /><Relationship Type="http://schemas.openxmlformats.org/officeDocument/2006/relationships/notesSlide" Target="/ppt/notesSlides/notesSlide4.xml" Id="Rbc6541e839fa49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3f9119edae4e89" /><Relationship Type="http://schemas.openxmlformats.org/officeDocument/2006/relationships/notesSlide" Target="/ppt/notesSlides/notesSlide5.xml" Id="R89afd0e0ee5a49e0" /></Relationships>
</file>

<file path=ppt/slides/slide1.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FDBFE3-8D7D-42B7-A446-1D1323CE55CC}"/>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Kết quả công việc trong tuần</a:t>
            </a:r>
          </a:p>
        </p:txBody>
      </p:sp>
      <p:sp>
        <p:nvSpPr>
          <p:cNvPr id="2" name="">
            <a:extLst xmlns:a="http://schemas.openxmlformats.org/drawingml/2006/main">
              <a:ext uri="{FF2B5EF4-FFF2-40B4-BE49-F238E27FC236}">
                <a16:creationId xmlns:a16="http://schemas.microsoft.com/office/drawing/2014/main" id="{39B717C1-E089-408A-A26B-F69C5A0CE18A}"/>
              </a:ext>
            </a:extLst>
          </p:cNvPr>
          <p:cNvSpPr>
            <a:spLocks xmlns:a="http://schemas.openxmlformats.org/drawingml/2006/main" noGrp="1"/>
          </p:cNvSpPr>
          <p:nvPr/>
        </p:nvSpPr>
        <p:spPr>
          <a:xfrm xmlns:a="http://schemas.openxmlformats.org/drawingml/2006/main">
            <a:off x="609600" y="1381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API CHỐNG GIẢ MẠO KHUÔN MẶT</a:t>
            </a:r>
          </a:p>
        </p:txBody>
      </p:sp>
      <p:sp>
        <p:nvSpPr>
          <p:cNvPr id="3" name="">
            <a:extLst xmlns:a="http://schemas.openxmlformats.org/drawingml/2006/main">
              <a:ext uri="{FF2B5EF4-FFF2-40B4-BE49-F238E27FC236}">
                <a16:creationId xmlns:a16="http://schemas.microsoft.com/office/drawing/2014/main" id="{B5C6A1D9-ED54-4C76-A4A7-9D42D82C2CF5}"/>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CÔNG VIỆC TUẦN 2</a:t>
            </a:r>
          </a:p>
        </p:txBody>
      </p:sp>
      <p:sp>
        <p:nvSpPr>
          <p:cNvPr id="4" name="">
            <a:extLst xmlns:a="http://schemas.openxmlformats.org/drawingml/2006/main">
              <a:ext uri="{FF2B5EF4-FFF2-40B4-BE49-F238E27FC236}">
                <a16:creationId xmlns:a16="http://schemas.microsoft.com/office/drawing/2014/main" id="{2B723CBB-7E0D-4E25-8042-0E34E658877A}"/>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655BEB4-F4B6-42EB-897D-B1E380474C8B}"/>
              </a:ext>
            </a:extLst>
          </p:cNvPr>
          <p:cNvSpPr>
            <a:spLocks xmlns:a="http://schemas.openxmlformats.org/drawingml/2006/main" noGrp="1"/>
          </p:cNvSpPr>
          <p:nvPr/>
        </p:nvSpPr>
        <p:spPr>
          <a:xfrm xmlns:a="http://schemas.openxmlformats.org/drawingml/2006/main">
            <a:off x="609600" y="2238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F5FA"/>
                </a:solidFill>
                <a:latin typeface="Arial"/>
                <a:ea typeface="Arial"/>
                <a:cs typeface="Arial"/>
              </a:defRPr>
            </a:pPr>
            <a:r>
              <a:rPr sz="2550" b="1">
                <a:solidFill>
                  <a:srgbClr val="F2F5FA"/>
                </a:solidFill>
                <a:latin typeface="Arial"/>
                <a:ea typeface="Arial"/>
                <a:cs typeface="Arial"/>
              </a:rPr>
              <a:t>Đã xây dựng API local và chạy thử thành công</a:t>
            </a:r>
          </a:p>
        </p:txBody>
      </p:sp>
      <p:sp>
        <p:nvSpPr>
          <p:cNvPr id="6" name="">
            <a:extLst xmlns:a="http://schemas.openxmlformats.org/drawingml/2006/main">
              <a:ext uri="{FF2B5EF4-FFF2-40B4-BE49-F238E27FC236}">
                <a16:creationId xmlns:a16="http://schemas.microsoft.com/office/drawing/2014/main" id="{55019ED2-5F6E-4979-917C-3BDAD4234D9E}"/>
              </a:ext>
            </a:extLst>
          </p:cNvPr>
          <p:cNvSpPr>
            <a:spLocks xmlns:a="http://schemas.openxmlformats.org/drawingml/2006/main" noGrp="1"/>
          </p:cNvSpPr>
          <p:nvPr/>
        </p:nvSpPr>
        <p:spPr>
          <a:xfrm xmlns:a="http://schemas.openxmlformats.org/drawingml/2006/main">
            <a:off x="609600" y="28670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Em đã tạo API chạy trên máy, nhận ảnh và trả kết quả thật/giả.</a:t>
            </a:r>
          </a:p>
        </p:txBody>
      </p:sp>
      <p:sp>
        <p:nvSpPr>
          <p:cNvPr id="7" name="">
            <a:extLst xmlns:a="http://schemas.openxmlformats.org/drawingml/2006/main">
              <a:ext uri="{FF2B5EF4-FFF2-40B4-BE49-F238E27FC236}">
                <a16:creationId xmlns:a16="http://schemas.microsoft.com/office/drawing/2014/main" id="{72E4BCCB-9E89-4958-B9D4-4A2AC6EA74A2}"/>
              </a:ext>
            </a:extLst>
          </p:cNvPr>
          <p:cNvSpPr>
            <a:spLocks xmlns:a="http://schemas.openxmlformats.org/drawingml/2006/main" noGrp="1"/>
          </p:cNvSpPr>
          <p:nvPr/>
        </p:nvSpPr>
        <p:spPr>
          <a:xfrm xmlns:a="http://schemas.openxmlformats.org/drawingml/2006/main">
            <a:off x="609600" y="4038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F5FA"/>
                </a:solidFill>
                <a:latin typeface="Arial"/>
                <a:ea typeface="Arial"/>
                <a:cs typeface="Arial"/>
              </a:defRPr>
            </a:pPr>
            <a:r>
              <a:rPr sz="2550" b="1">
                <a:solidFill>
                  <a:srgbClr val="F2F5FA"/>
                </a:solidFill>
                <a:latin typeface="Arial"/>
                <a:ea typeface="Arial"/>
                <a:cs typeface="Arial"/>
              </a:rPr>
              <a:t>Đã huấn luyện lại model</a:t>
            </a:r>
          </a:p>
        </p:txBody>
      </p:sp>
      <p:sp>
        <p:nvSpPr>
          <p:cNvPr id="8" name="">
            <a:extLst xmlns:a="http://schemas.openxmlformats.org/drawingml/2006/main">
              <a:ext uri="{FF2B5EF4-FFF2-40B4-BE49-F238E27FC236}">
                <a16:creationId xmlns:a16="http://schemas.microsoft.com/office/drawing/2014/main" id="{777084DD-88B4-4291-90FF-4B5E4112E7FE}"/>
              </a:ext>
            </a:extLst>
          </p:cNvPr>
          <p:cNvSpPr>
            <a:spLocks xmlns:a="http://schemas.openxmlformats.org/drawingml/2006/main" noGrp="1"/>
          </p:cNvSpPr>
          <p:nvPr/>
        </p:nvSpPr>
        <p:spPr>
          <a:xfrm xmlns:a="http://schemas.openxmlformats.org/drawingml/2006/main">
            <a:off x="609600" y="46672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Em đã train lại với bộ dữ liệu được cải thiện</a:t>
            </a:r>
          </a:p>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và kiểm tra kết quả trên tập test riêng.</a:t>
            </a:r>
          </a:p>
        </p:txBody>
      </p:sp>
    </p:spTree>
    <p:extLst>
      <p:ext uri="{BB962C8B-B14F-4D97-AF65-F5344CB8AC3E}">
        <p14:creationId xmlns:p14="http://schemas.microsoft.com/office/powerpoint/2010/main" val="1237250468"/>
      </p:ext>
    </p:extLst>
  </p:cSld>
</p:sld>
</file>

<file path=ppt/slides/slide2.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4AA913-5ECC-4067-B203-EFD23427F40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API local đã hoạt động</a:t>
            </a:r>
          </a:p>
        </p:txBody>
      </p:sp>
      <p:sp>
        <p:nvSpPr>
          <p:cNvPr id="2" name="">
            <a:extLst xmlns:a="http://schemas.openxmlformats.org/drawingml/2006/main">
              <a:ext uri="{FF2B5EF4-FFF2-40B4-BE49-F238E27FC236}">
                <a16:creationId xmlns:a16="http://schemas.microsoft.com/office/drawing/2014/main" id="{B0F84678-DCF2-46BC-B37E-FD7BA2978265}"/>
              </a:ext>
            </a:extLst>
          </p:cNvPr>
          <p:cNvSpPr>
            <a:spLocks xmlns:a="http://schemas.openxmlformats.org/drawingml/2006/main" noGrp="1"/>
          </p:cNvSpPr>
          <p:nvPr/>
        </p:nvSpPr>
        <p:spPr>
          <a:xfrm xmlns:a="http://schemas.openxmlformats.org/drawingml/2006/main">
            <a:off x="609600" y="1381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KẾT QUẢ ĐÃ THỰC HIỆN</a:t>
            </a:r>
          </a:p>
        </p:txBody>
      </p:sp>
      <p:sp>
        <p:nvSpPr>
          <p:cNvPr id="3" name="">
            <a:extLst xmlns:a="http://schemas.openxmlformats.org/drawingml/2006/main">
              <a:ext uri="{FF2B5EF4-FFF2-40B4-BE49-F238E27FC236}">
                <a16:creationId xmlns:a16="http://schemas.microsoft.com/office/drawing/2014/main" id="{E44D7454-1216-40CB-AC49-816FD28B24C7}"/>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CÔNG VIỆC TUẦN 2</a:t>
            </a:r>
          </a:p>
        </p:txBody>
      </p:sp>
      <p:sp>
        <p:nvSpPr>
          <p:cNvPr id="4" name="">
            <a:extLst xmlns:a="http://schemas.openxmlformats.org/drawingml/2006/main">
              <a:ext uri="{FF2B5EF4-FFF2-40B4-BE49-F238E27FC236}">
                <a16:creationId xmlns:a16="http://schemas.microsoft.com/office/drawing/2014/main" id="{3AC0C62E-A1CB-43D2-8005-D295B9B1B2D0}"/>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B009623-9A8F-4BCC-B494-B4EB65915CD3}"/>
              </a:ext>
            </a:extLst>
          </p:cNvPr>
          <p:cNvSpPr>
            <a:spLocks xmlns:a="http://schemas.openxmlformats.org/drawingml/2006/main" noGrp="1"/>
          </p:cNvSpPr>
          <p:nvPr/>
        </p:nvSpPr>
        <p:spPr>
          <a:xfrm xmlns:a="http://schemas.openxmlformats.org/drawingml/2006/main">
            <a:off x="609600" y="2171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F5FA"/>
                </a:solidFill>
                <a:latin typeface="Arial"/>
                <a:ea typeface="Arial"/>
                <a:cs typeface="Arial"/>
              </a:defRPr>
            </a:pPr>
            <a:r>
              <a:rPr sz="2550" b="1">
                <a:solidFill>
                  <a:srgbClr val="F2F5FA"/>
                </a:solidFill>
                <a:latin typeface="Arial"/>
                <a:ea typeface="Arial"/>
                <a:cs typeface="Arial"/>
              </a:rPr>
              <a:t>Nhận ảnh và trả kết quả phân tích</a:t>
            </a:r>
          </a:p>
        </p:txBody>
      </p:sp>
      <p:sp>
        <p:nvSpPr>
          <p:cNvPr id="6" name="">
            <a:extLst xmlns:a="http://schemas.openxmlformats.org/drawingml/2006/main">
              <a:ext uri="{FF2B5EF4-FFF2-40B4-BE49-F238E27FC236}">
                <a16:creationId xmlns:a16="http://schemas.microsoft.com/office/drawing/2014/main" id="{E5A4D2E4-ABA1-44D7-9ABE-9C614A80F833}"/>
              </a:ext>
            </a:extLst>
          </p:cNvPr>
          <p:cNvSpPr>
            <a:spLocks xmlns:a="http://schemas.openxmlformats.org/drawingml/2006/main" noGrp="1"/>
          </p:cNvSpPr>
          <p:nvPr/>
        </p:nvSpPr>
        <p:spPr>
          <a:xfrm xmlns:a="http://schemas.openxmlformats.org/drawingml/2006/main">
            <a:off x="609600" y="2800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Ứng dụng gửi ảnh khuôn mặt đến API.</a:t>
            </a:r>
          </a:p>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API trả kết quả thật/giả hoặc yêu cầu điều chỉnh ảnh.</a:t>
            </a:r>
          </a:p>
        </p:txBody>
      </p:sp>
      <p:sp>
        <p:nvSpPr>
          <p:cNvPr id="7" name="">
            <a:extLst xmlns:a="http://schemas.openxmlformats.org/drawingml/2006/main">
              <a:ext uri="{FF2B5EF4-FFF2-40B4-BE49-F238E27FC236}">
                <a16:creationId xmlns:a16="http://schemas.microsoft.com/office/drawing/2014/main" id="{74C0C1BB-B8CB-4731-A4A4-729ED5FB6976}"/>
              </a:ext>
            </a:extLst>
          </p:cNvPr>
          <p:cNvSpPr>
            <a:spLocks xmlns:a="http://schemas.openxmlformats.org/drawingml/2006/main" noGrp="1"/>
          </p:cNvSpPr>
          <p:nvPr/>
        </p:nvSpPr>
        <p:spPr>
          <a:xfrm xmlns:a="http://schemas.openxmlformats.org/drawingml/2006/main">
            <a:off x="609600" y="4076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F5FA"/>
                </a:solidFill>
                <a:latin typeface="Arial"/>
                <a:ea typeface="Arial"/>
                <a:cs typeface="Arial"/>
              </a:defRPr>
            </a:pPr>
            <a:r>
              <a:rPr sz="2550" b="1">
                <a:solidFill>
                  <a:srgbClr val="F2F5FA"/>
                </a:solidFill>
                <a:latin typeface="Arial"/>
                <a:ea typeface="Arial"/>
                <a:cs typeface="Arial"/>
              </a:rPr>
              <a:t>Đã chạy thử trên máy</a:t>
            </a:r>
          </a:p>
        </p:txBody>
      </p:sp>
      <p:sp>
        <p:nvSpPr>
          <p:cNvPr id="8" name="">
            <a:extLst xmlns:a="http://schemas.openxmlformats.org/drawingml/2006/main">
              <a:ext uri="{FF2B5EF4-FFF2-40B4-BE49-F238E27FC236}">
                <a16:creationId xmlns:a16="http://schemas.microsoft.com/office/drawing/2014/main" id="{08A45B1A-F057-4911-8DEE-C8979B3F9970}"/>
              </a:ext>
            </a:extLst>
          </p:cNvPr>
          <p:cNvSpPr>
            <a:spLocks xmlns:a="http://schemas.openxmlformats.org/drawingml/2006/main" noGrp="1"/>
          </p:cNvSpPr>
          <p:nvPr/>
        </p:nvSpPr>
        <p:spPr>
          <a:xfrm xmlns:a="http://schemas.openxmlformats.org/drawingml/2006/main">
            <a:off x="609600" y="4705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Em đã kiểm tra việc gửi ảnh, nhận phản hồi</a:t>
            </a:r>
          </a:p>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và sử dụng kết quả để phục vụ tích hợp.</a:t>
            </a:r>
          </a:p>
        </p:txBody>
      </p:sp>
      <p:sp>
        <p:nvSpPr>
          <p:cNvPr id="9" name="">
            <a:extLst xmlns:a="http://schemas.openxmlformats.org/drawingml/2006/main">
              <a:ext uri="{FF2B5EF4-FFF2-40B4-BE49-F238E27FC236}">
                <a16:creationId xmlns:a16="http://schemas.microsoft.com/office/drawing/2014/main" id="{6E3067DF-B28D-43F4-9B8F-E09A462562B5}"/>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5D6AA"/>
                </a:solidFill>
                <a:latin typeface="Arial"/>
                <a:ea typeface="Arial"/>
                <a:cs typeface="Arial"/>
              </a:defRPr>
            </a:pPr>
            <a:r>
              <a:rPr sz="1950" b="1">
                <a:solidFill>
                  <a:srgbClr val="65D6AA"/>
                </a:solidFill>
                <a:latin typeface="Arial"/>
                <a:ea typeface="Arial"/>
                <a:cs typeface="Arial"/>
              </a:rPr>
              <a:t>Phạm vi hiện tại: chạy local, chưa cung cấp API ra bên ngoài.</a:t>
            </a:r>
          </a:p>
        </p:txBody>
      </p:sp>
    </p:spTree>
    <p:extLst>
      <p:ext uri="{BB962C8B-B14F-4D97-AF65-F5344CB8AC3E}">
        <p14:creationId xmlns:p14="http://schemas.microsoft.com/office/powerpoint/2010/main" val="356112217"/>
      </p:ext>
    </p:extLst>
  </p:cSld>
</p:sld>
</file>

<file path=ppt/slides/slide3.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BCDF82F-D147-4F2A-ACF4-E14BB962F46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Huấn luyện lại model</a:t>
            </a:r>
          </a:p>
        </p:txBody>
      </p:sp>
      <p:sp>
        <p:nvSpPr>
          <p:cNvPr id="2" name="">
            <a:extLst xmlns:a="http://schemas.openxmlformats.org/drawingml/2006/main">
              <a:ext uri="{FF2B5EF4-FFF2-40B4-BE49-F238E27FC236}">
                <a16:creationId xmlns:a16="http://schemas.microsoft.com/office/drawing/2014/main" id="{401735C2-005E-4ECC-ADA4-440FC0441A9D}"/>
              </a:ext>
            </a:extLst>
          </p:cNvPr>
          <p:cNvSpPr>
            <a:spLocks xmlns:a="http://schemas.openxmlformats.org/drawingml/2006/main" noGrp="1"/>
          </p:cNvSpPr>
          <p:nvPr/>
        </p:nvSpPr>
        <p:spPr>
          <a:xfrm xmlns:a="http://schemas.openxmlformats.org/drawingml/2006/main">
            <a:off x="609600" y="1381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CẢI THIỆN DỮ LIỆU VÀ ĐÁNH GIÁ</a:t>
            </a:r>
          </a:p>
        </p:txBody>
      </p:sp>
      <p:sp>
        <p:nvSpPr>
          <p:cNvPr id="3" name="">
            <a:extLst xmlns:a="http://schemas.openxmlformats.org/drawingml/2006/main">
              <a:ext uri="{FF2B5EF4-FFF2-40B4-BE49-F238E27FC236}">
                <a16:creationId xmlns:a16="http://schemas.microsoft.com/office/drawing/2014/main" id="{A732F539-E0A5-4BD7-BEF6-05E5F557CCAA}"/>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CÔNG VIỆC TUẦN 2</a:t>
            </a:r>
          </a:p>
        </p:txBody>
      </p:sp>
      <p:sp>
        <p:nvSpPr>
          <p:cNvPr id="4" name="">
            <a:extLst xmlns:a="http://schemas.openxmlformats.org/drawingml/2006/main">
              <a:ext uri="{FF2B5EF4-FFF2-40B4-BE49-F238E27FC236}">
                <a16:creationId xmlns:a16="http://schemas.microsoft.com/office/drawing/2014/main" id="{8127CADA-1806-4C6D-BC87-A9272367D234}"/>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3B9DB10-5434-4DA8-AA88-D7251145D2C4}"/>
              </a:ext>
            </a:extLst>
          </p:cNvPr>
          <p:cNvSpPr>
            <a:spLocks xmlns:a="http://schemas.openxmlformats.org/drawingml/2006/main" noGrp="1"/>
          </p:cNvSpPr>
          <p:nvPr/>
        </p:nvSpPr>
        <p:spPr>
          <a:xfrm xmlns:a="http://schemas.openxmlformats.org/drawingml/2006/main">
            <a:off x="609600" y="2171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F5FA"/>
                </a:solidFill>
                <a:latin typeface="Arial"/>
                <a:ea typeface="Arial"/>
                <a:cs typeface="Arial"/>
              </a:defRPr>
            </a:pPr>
            <a:r>
              <a:rPr sz="2550" b="1">
                <a:solidFill>
                  <a:srgbClr val="F2F5FA"/>
                </a:solidFill>
                <a:latin typeface="Arial"/>
                <a:ea typeface="Arial"/>
                <a:cs typeface="Arial"/>
              </a:rPr>
              <a:t>Tổ chức lại dữ liệu huấn luyện</a:t>
            </a:r>
          </a:p>
        </p:txBody>
      </p:sp>
      <p:sp>
        <p:nvSpPr>
          <p:cNvPr id="6" name="">
            <a:extLst xmlns:a="http://schemas.openxmlformats.org/drawingml/2006/main">
              <a:ext uri="{FF2B5EF4-FFF2-40B4-BE49-F238E27FC236}">
                <a16:creationId xmlns:a16="http://schemas.microsoft.com/office/drawing/2014/main" id="{AA379670-0387-4CE9-B82E-2670C9066959}"/>
              </a:ext>
            </a:extLst>
          </p:cNvPr>
          <p:cNvSpPr>
            <a:spLocks xmlns:a="http://schemas.openxmlformats.org/drawingml/2006/main" noGrp="1"/>
          </p:cNvSpPr>
          <p:nvPr/>
        </p:nvSpPr>
        <p:spPr>
          <a:xfrm xmlns:a="http://schemas.openxmlformats.org/drawingml/2006/main">
            <a:off x="609600" y="2800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Em chia dữ liệu theo video để tránh lẫn</a:t>
            </a:r>
          </a:p>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các ảnh gần giống nhau giữa các tập.</a:t>
            </a:r>
          </a:p>
        </p:txBody>
      </p:sp>
      <p:sp>
        <p:nvSpPr>
          <p:cNvPr id="7" name="">
            <a:extLst xmlns:a="http://schemas.openxmlformats.org/drawingml/2006/main">
              <a:ext uri="{FF2B5EF4-FFF2-40B4-BE49-F238E27FC236}">
                <a16:creationId xmlns:a16="http://schemas.microsoft.com/office/drawing/2014/main" id="{7B47D83E-E5D0-42D9-B709-F10CA465073A}"/>
              </a:ext>
            </a:extLst>
          </p:cNvPr>
          <p:cNvSpPr>
            <a:spLocks xmlns:a="http://schemas.openxmlformats.org/drawingml/2006/main" noGrp="1"/>
          </p:cNvSpPr>
          <p:nvPr/>
        </p:nvSpPr>
        <p:spPr>
          <a:xfrm xmlns:a="http://schemas.openxmlformats.org/drawingml/2006/main">
            <a:off x="609600" y="4076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F5FA"/>
                </a:solidFill>
                <a:latin typeface="Arial"/>
                <a:ea typeface="Arial"/>
                <a:cs typeface="Arial"/>
              </a:defRPr>
            </a:pPr>
            <a:r>
              <a:rPr sz="2550" b="1">
                <a:solidFill>
                  <a:srgbClr val="F2F5FA"/>
                </a:solidFill>
                <a:latin typeface="Arial"/>
                <a:ea typeface="Arial"/>
                <a:cs typeface="Arial"/>
              </a:rPr>
              <a:t>Train lại và kiểm tra kết quả</a:t>
            </a:r>
          </a:p>
        </p:txBody>
      </p:sp>
      <p:sp>
        <p:nvSpPr>
          <p:cNvPr id="8" name="">
            <a:extLst xmlns:a="http://schemas.openxmlformats.org/drawingml/2006/main">
              <a:ext uri="{FF2B5EF4-FFF2-40B4-BE49-F238E27FC236}">
                <a16:creationId xmlns:a16="http://schemas.microsoft.com/office/drawing/2014/main" id="{6BD3DF82-AB4F-41B0-A26F-F1650D30527C}"/>
              </a:ext>
            </a:extLst>
          </p:cNvPr>
          <p:cNvSpPr>
            <a:spLocks xmlns:a="http://schemas.openxmlformats.org/drawingml/2006/main" noGrp="1"/>
          </p:cNvSpPr>
          <p:nvPr/>
        </p:nvSpPr>
        <p:spPr>
          <a:xfrm xmlns:a="http://schemas.openxmlformats.org/drawingml/2006/main">
            <a:off x="609600" y="4705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Em đã hoàn thành huấn luyện lại, chọn model</a:t>
            </a:r>
          </a:p>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và đánh giá trên tập test giữ riêng.</a:t>
            </a:r>
          </a:p>
        </p:txBody>
      </p:sp>
      <p:sp>
        <p:nvSpPr>
          <p:cNvPr id="9" name="">
            <a:extLst xmlns:a="http://schemas.openxmlformats.org/drawingml/2006/main">
              <a:ext uri="{FF2B5EF4-FFF2-40B4-BE49-F238E27FC236}">
                <a16:creationId xmlns:a16="http://schemas.microsoft.com/office/drawing/2014/main" id="{3B68CDDA-C3BE-48F3-BC73-6BA32D928DE4}"/>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5D6AA"/>
                </a:solidFill>
                <a:latin typeface="Arial"/>
                <a:ea typeface="Arial"/>
                <a:cs typeface="Arial"/>
              </a:defRPr>
            </a:pPr>
            <a:r>
              <a:rPr sz="1950" b="1">
                <a:solidFill>
                  <a:srgbClr val="65D6AA"/>
                </a:solidFill>
                <a:latin typeface="Arial"/>
                <a:ea typeface="Arial"/>
                <a:cs typeface="Arial"/>
              </a:rPr>
              <a:t>Tiếp tục kiểm thử với người mới và các tình huống giả mạo thực tế.</a:t>
            </a:r>
          </a:p>
        </p:txBody>
      </p:sp>
    </p:spTree>
    <p:extLst>
      <p:ext uri="{BB962C8B-B14F-4D97-AF65-F5344CB8AC3E}">
        <p14:creationId xmlns:p14="http://schemas.microsoft.com/office/powerpoint/2010/main" val="1846962788"/>
      </p:ext>
    </p:extLst>
  </p:cSld>
</p:sld>
</file>

<file path=ppt/slides/slide4.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23B87A-C03A-4AF1-87C5-BB49A1040D4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Tuần sau: đưa API ra bên ngoài</a:t>
            </a:r>
          </a:p>
        </p:txBody>
      </p:sp>
      <p:sp>
        <p:nvSpPr>
          <p:cNvPr id="2" name="">
            <a:extLst xmlns:a="http://schemas.openxmlformats.org/drawingml/2006/main">
              <a:ext uri="{FF2B5EF4-FFF2-40B4-BE49-F238E27FC236}">
                <a16:creationId xmlns:a16="http://schemas.microsoft.com/office/drawing/2014/main" id="{3F335457-B9A5-42B4-B7A9-8E352F4F81E2}"/>
              </a:ext>
            </a:extLst>
          </p:cNvPr>
          <p:cNvSpPr>
            <a:spLocks xmlns:a="http://schemas.openxmlformats.org/drawingml/2006/main" noGrp="1"/>
          </p:cNvSpPr>
          <p:nvPr/>
        </p:nvSpPr>
        <p:spPr>
          <a:xfrm xmlns:a="http://schemas.openxmlformats.org/drawingml/2006/main">
            <a:off x="609600" y="1381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KẾ HOẠCH TRIỂN KHAI</a:t>
            </a:r>
          </a:p>
        </p:txBody>
      </p:sp>
      <p:sp>
        <p:nvSpPr>
          <p:cNvPr id="3" name="">
            <a:extLst xmlns:a="http://schemas.openxmlformats.org/drawingml/2006/main">
              <a:ext uri="{FF2B5EF4-FFF2-40B4-BE49-F238E27FC236}">
                <a16:creationId xmlns:a16="http://schemas.microsoft.com/office/drawing/2014/main" id="{F399E8DA-B7AA-40B2-80D1-DCF3E29FDEB5}"/>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CÔNG VIỆC TUẦN 2</a:t>
            </a:r>
          </a:p>
        </p:txBody>
      </p:sp>
      <p:sp>
        <p:nvSpPr>
          <p:cNvPr id="4" name="">
            <a:extLst xmlns:a="http://schemas.openxmlformats.org/drawingml/2006/main">
              <a:ext uri="{FF2B5EF4-FFF2-40B4-BE49-F238E27FC236}">
                <a16:creationId xmlns:a16="http://schemas.microsoft.com/office/drawing/2014/main" id="{4490714F-D367-4715-87B6-DE3B60413175}"/>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B874B50-EB21-4FCD-A8A8-0C3D52A26264}"/>
              </a:ext>
            </a:extLst>
          </p:cNvPr>
          <p:cNvSpPr>
            <a:spLocks xmlns:a="http://schemas.openxmlformats.org/drawingml/2006/main" noGrp="1"/>
          </p:cNvSpPr>
          <p:nvPr/>
        </p:nvSpPr>
        <p:spPr>
          <a:xfrm xmlns:a="http://schemas.openxmlformats.org/drawingml/2006/main">
            <a:off x="609600" y="2171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F5FA"/>
                </a:solidFill>
                <a:latin typeface="Arial"/>
                <a:ea typeface="Arial"/>
                <a:cs typeface="Arial"/>
              </a:defRPr>
            </a:pPr>
            <a:r>
              <a:rPr sz="2550" b="1">
                <a:solidFill>
                  <a:srgbClr val="F2F5FA"/>
                </a:solidFill>
                <a:latin typeface="Arial"/>
                <a:ea typeface="Arial"/>
                <a:cs typeface="Arial"/>
              </a:rPr>
              <a:t>Triển khai API lên máy chủ</a:t>
            </a:r>
          </a:p>
        </p:txBody>
      </p:sp>
      <p:sp>
        <p:nvSpPr>
          <p:cNvPr id="6" name="">
            <a:extLst xmlns:a="http://schemas.openxmlformats.org/drawingml/2006/main">
              <a:ext uri="{FF2B5EF4-FFF2-40B4-BE49-F238E27FC236}">
                <a16:creationId xmlns:a16="http://schemas.microsoft.com/office/drawing/2014/main" id="{4D5B0CA9-205F-4CB9-B892-0C1E6CEC1707}"/>
              </a:ext>
            </a:extLst>
          </p:cNvPr>
          <p:cNvSpPr>
            <a:spLocks xmlns:a="http://schemas.openxmlformats.org/drawingml/2006/main" noGrp="1"/>
          </p:cNvSpPr>
          <p:nvPr/>
        </p:nvSpPr>
        <p:spPr>
          <a:xfrm xmlns:a="http://schemas.openxmlformats.org/drawingml/2006/main">
            <a:off x="609600" y="2800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Tạo địa chỉ truy cập để các ứng dụng khác</a:t>
            </a:r>
          </a:p>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có thể gọi API qua mạng.</a:t>
            </a:r>
          </a:p>
        </p:txBody>
      </p:sp>
      <p:sp>
        <p:nvSpPr>
          <p:cNvPr id="7" name="">
            <a:extLst xmlns:a="http://schemas.openxmlformats.org/drawingml/2006/main">
              <a:ext uri="{FF2B5EF4-FFF2-40B4-BE49-F238E27FC236}">
                <a16:creationId xmlns:a16="http://schemas.microsoft.com/office/drawing/2014/main" id="{E854F1C0-5712-461F-AA9E-BF53CB38C902}"/>
              </a:ext>
            </a:extLst>
          </p:cNvPr>
          <p:cNvSpPr>
            <a:spLocks xmlns:a="http://schemas.openxmlformats.org/drawingml/2006/main" noGrp="1"/>
          </p:cNvSpPr>
          <p:nvPr/>
        </p:nvSpPr>
        <p:spPr>
          <a:xfrm xmlns:a="http://schemas.openxmlformats.org/drawingml/2006/main">
            <a:off x="609600" y="4076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F5FA"/>
                </a:solidFill>
                <a:latin typeface="Arial"/>
                <a:ea typeface="Arial"/>
                <a:cs typeface="Arial"/>
              </a:defRPr>
            </a:pPr>
            <a:r>
              <a:rPr sz="2550" b="1">
                <a:solidFill>
                  <a:srgbClr val="F2F5FA"/>
                </a:solidFill>
                <a:latin typeface="Arial"/>
                <a:ea typeface="Arial"/>
                <a:cs typeface="Arial"/>
              </a:rPr>
              <a:t>Kiểm thử từ một máy khác</a:t>
            </a:r>
          </a:p>
        </p:txBody>
      </p:sp>
      <p:sp>
        <p:nvSpPr>
          <p:cNvPr id="8" name="">
            <a:extLst xmlns:a="http://schemas.openxmlformats.org/drawingml/2006/main">
              <a:ext uri="{FF2B5EF4-FFF2-40B4-BE49-F238E27FC236}">
                <a16:creationId xmlns:a16="http://schemas.microsoft.com/office/drawing/2014/main" id="{B4706E04-0351-4CD3-86C7-3BDB863AAA83}"/>
              </a:ext>
            </a:extLst>
          </p:cNvPr>
          <p:cNvSpPr>
            <a:spLocks xmlns:a="http://schemas.openxmlformats.org/drawingml/2006/main" noGrp="1"/>
          </p:cNvSpPr>
          <p:nvPr/>
        </p:nvSpPr>
        <p:spPr>
          <a:xfrm xmlns:a="http://schemas.openxmlformats.org/drawingml/2006/main">
            <a:off x="609600" y="4705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Cấu hình HTTPS và API key.</a:t>
            </a:r>
          </a:p>
          <a:p xmlns:a="http://schemas.openxmlformats.org/drawingml/2006/main">
            <a:pPr>
              <a:defRPr sz="2250" b="0">
                <a:solidFill>
                  <a:srgbClr val="B7C6D8"/>
                </a:solidFill>
                <a:latin typeface="Arial"/>
                <a:ea typeface="Arial"/>
                <a:cs typeface="Arial"/>
              </a:defRPr>
            </a:pPr>
            <a:r>
              <a:rPr sz="2250" b="0">
                <a:solidFill>
                  <a:srgbClr val="B7C6D8"/>
                </a:solidFill>
                <a:latin typeface="Arial"/>
                <a:ea typeface="Arial"/>
                <a:cs typeface="Arial"/>
              </a:rPr>
              <a:t>Kiểm tra kết nối, tốc độ và khả năng hoạt động ổn định.</a:t>
            </a:r>
          </a:p>
        </p:txBody>
      </p:sp>
      <p:sp>
        <p:nvSpPr>
          <p:cNvPr id="9" name="">
            <a:extLst xmlns:a="http://schemas.openxmlformats.org/drawingml/2006/main">
              <a:ext uri="{FF2B5EF4-FFF2-40B4-BE49-F238E27FC236}">
                <a16:creationId xmlns:a16="http://schemas.microsoft.com/office/drawing/2014/main" id="{D37D004E-DBDB-4677-A609-07072465C8B7}"/>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5D6AA"/>
                </a:solidFill>
                <a:latin typeface="Arial"/>
                <a:ea typeface="Arial"/>
                <a:cs typeface="Arial"/>
              </a:defRPr>
            </a:pPr>
            <a:r>
              <a:rPr sz="1950" b="1">
                <a:solidFill>
                  <a:srgbClr val="65D6AA"/>
                </a:solidFill>
                <a:latin typeface="Arial"/>
                <a:ea typeface="Arial"/>
                <a:cs typeface="Arial"/>
              </a:rPr>
              <a:t>Mục tiêu: sử dụng API mà không phụ thuộc vào máy cá nhân.</a:t>
            </a:r>
          </a:p>
        </p:txBody>
      </p:sp>
    </p:spTree>
    <p:extLst>
      <p:ext uri="{BB962C8B-B14F-4D97-AF65-F5344CB8AC3E}">
        <p14:creationId xmlns:p14="http://schemas.microsoft.com/office/powerpoint/2010/main" val="579255219"/>
      </p:ext>
    </p:extLst>
  </p:cSld>
</p:sld>
</file>

<file path=ppt/slides/slide5.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102501-811E-4D35-809E-60DA2D060BC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Tuần sau: tích hợp kết quả của nhóm</a:t>
            </a:r>
          </a:p>
        </p:txBody>
      </p:sp>
      <p:sp>
        <p:nvSpPr>
          <p:cNvPr id="2" name="">
            <a:extLst xmlns:a="http://schemas.openxmlformats.org/drawingml/2006/main">
              <a:ext uri="{FF2B5EF4-FFF2-40B4-BE49-F238E27FC236}">
                <a16:creationId xmlns:a16="http://schemas.microsoft.com/office/drawing/2014/main" id="{B6BFF598-4A43-42C7-8A41-812EEE72BC94}"/>
              </a:ext>
            </a:extLst>
          </p:cNvPr>
          <p:cNvSpPr>
            <a:spLocks xmlns:a="http://schemas.openxmlformats.org/drawingml/2006/main" noGrp="1"/>
          </p:cNvSpPr>
          <p:nvPr/>
        </p:nvSpPr>
        <p:spPr>
          <a:xfrm xmlns:a="http://schemas.openxmlformats.org/drawingml/2006/main">
            <a:off x="609600" y="1381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HOÀN THIỆN LUỒNG NHẬN DIỆN</a:t>
            </a:r>
          </a:p>
        </p:txBody>
      </p:sp>
      <p:sp>
        <p:nvSpPr>
          <p:cNvPr id="3" name="">
            <a:extLst xmlns:a="http://schemas.openxmlformats.org/drawingml/2006/main">
              <a:ext uri="{FF2B5EF4-FFF2-40B4-BE49-F238E27FC236}">
                <a16:creationId xmlns:a16="http://schemas.microsoft.com/office/drawing/2014/main" id="{9D7560FD-16A4-4E7E-8B37-A8A33C66447A}"/>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CÔNG VIỆC TUẦN 2</a:t>
            </a:r>
          </a:p>
        </p:txBody>
      </p:sp>
      <p:sp>
        <p:nvSpPr>
          <p:cNvPr id="4" name="">
            <a:extLst xmlns:a="http://schemas.openxmlformats.org/drawingml/2006/main">
              <a:ext uri="{FF2B5EF4-FFF2-40B4-BE49-F238E27FC236}">
                <a16:creationId xmlns:a16="http://schemas.microsoft.com/office/drawing/2014/main" id="{280A586F-A2D8-476A-92B7-47302BD478BA}"/>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9E2B851-05B5-4C59-9E02-AAD911A2A17B}"/>
              </a:ext>
            </a:extLst>
          </p:cNvPr>
          <p:cNvSpPr>
            <a:spLocks xmlns:a="http://schemas.openxmlformats.org/drawingml/2006/main" noGrp="1"/>
          </p:cNvSpPr>
          <p:nvPr/>
        </p:nvSpPr>
        <p:spPr>
          <a:xfrm xmlns:a="http://schemas.openxmlformats.org/drawingml/2006/main">
            <a:off x="609600" y="23526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2F5FA"/>
                </a:solidFill>
                <a:latin typeface="Arial"/>
                <a:ea typeface="Arial"/>
                <a:cs typeface="Arial"/>
              </a:defRPr>
            </a:pPr>
            <a:r>
              <a:rPr sz="2475" b="1">
                <a:solidFill>
                  <a:srgbClr val="F2F5FA"/>
                </a:solidFill>
                <a:latin typeface="Arial"/>
                <a:ea typeface="Arial"/>
                <a:cs typeface="Arial"/>
              </a:rPr>
              <a:t>1. Tổng hợp dữ liệu và hướng nghiên cứu phù hợp</a:t>
            </a:r>
          </a:p>
        </p:txBody>
      </p:sp>
      <p:sp>
        <p:nvSpPr>
          <p:cNvPr id="6" name="">
            <a:extLst xmlns:a="http://schemas.openxmlformats.org/drawingml/2006/main">
              <a:ext uri="{FF2B5EF4-FFF2-40B4-BE49-F238E27FC236}">
                <a16:creationId xmlns:a16="http://schemas.microsoft.com/office/drawing/2014/main" id="{96D89461-264F-4A5E-BAE8-DDE1211FDBD9}"/>
              </a:ext>
            </a:extLst>
          </p:cNvPr>
          <p:cNvSpPr>
            <a:spLocks xmlns:a="http://schemas.openxmlformats.org/drawingml/2006/main" noGrp="1"/>
          </p:cNvSpPr>
          <p:nvPr/>
        </p:nvSpPr>
        <p:spPr>
          <a:xfrm xmlns:a="http://schemas.openxmlformats.org/drawingml/2006/main">
            <a:off x="609600" y="2933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7C6D8"/>
                </a:solidFill>
                <a:latin typeface="Arial"/>
                <a:ea typeface="Arial"/>
                <a:cs typeface="Arial"/>
              </a:defRPr>
            </a:pPr>
            <a:r>
              <a:rPr sz="2175" b="0">
                <a:solidFill>
                  <a:srgbClr val="B7C6D8"/>
                </a:solidFill>
                <a:latin typeface="Arial"/>
                <a:ea typeface="Arial"/>
                <a:cs typeface="Arial"/>
              </a:rPr>
              <a:t>Rà soát kết quả của các bạn để chọn phần đưa vào dự án.</a:t>
            </a:r>
          </a:p>
        </p:txBody>
      </p:sp>
      <p:sp>
        <p:nvSpPr>
          <p:cNvPr id="7" name="">
            <a:extLst xmlns:a="http://schemas.openxmlformats.org/drawingml/2006/main">
              <a:ext uri="{FF2B5EF4-FFF2-40B4-BE49-F238E27FC236}">
                <a16:creationId xmlns:a16="http://schemas.microsoft.com/office/drawing/2014/main" id="{8AA9794C-480E-4AD9-ADF0-AB979D679878}"/>
              </a:ext>
            </a:extLst>
          </p:cNvPr>
          <p:cNvSpPr>
            <a:spLocks xmlns:a="http://schemas.openxmlformats.org/drawingml/2006/main" noGrp="1"/>
          </p:cNvSpPr>
          <p:nvPr/>
        </p:nvSpPr>
        <p:spPr>
          <a:xfrm xmlns:a="http://schemas.openxmlformats.org/drawingml/2006/main">
            <a:off x="609600" y="3924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2F5FA"/>
                </a:solidFill>
                <a:latin typeface="Arial"/>
                <a:ea typeface="Arial"/>
                <a:cs typeface="Arial"/>
              </a:defRPr>
            </a:pPr>
            <a:r>
              <a:rPr sz="2475" b="1">
                <a:solidFill>
                  <a:srgbClr val="F2F5FA"/>
                </a:solidFill>
                <a:latin typeface="Arial"/>
                <a:ea typeface="Arial"/>
                <a:cs typeface="Arial"/>
              </a:rPr>
              <a:t>2. Nối API với ứng dụng nhận diện khuôn mặt</a:t>
            </a:r>
          </a:p>
        </p:txBody>
      </p:sp>
      <p:sp>
        <p:nvSpPr>
          <p:cNvPr id="8" name="">
            <a:extLst xmlns:a="http://schemas.openxmlformats.org/drawingml/2006/main">
              <a:ext uri="{FF2B5EF4-FFF2-40B4-BE49-F238E27FC236}">
                <a16:creationId xmlns:a16="http://schemas.microsoft.com/office/drawing/2014/main" id="{9F4F76BB-BF31-426C-BA02-C904CFFABA40}"/>
              </a:ext>
            </a:extLst>
          </p:cNvPr>
          <p:cNvSpPr>
            <a:spLocks xmlns:a="http://schemas.openxmlformats.org/drawingml/2006/main" noGrp="1"/>
          </p:cNvSpPr>
          <p:nvPr/>
        </p:nvSpPr>
        <p:spPr>
          <a:xfrm xmlns:a="http://schemas.openxmlformats.org/drawingml/2006/main">
            <a:off x="609600" y="45053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7C6D8"/>
                </a:solidFill>
                <a:latin typeface="Arial"/>
                <a:ea typeface="Arial"/>
                <a:cs typeface="Arial"/>
              </a:defRPr>
            </a:pPr>
            <a:r>
              <a:rPr sz="2175" b="0">
                <a:solidFill>
                  <a:srgbClr val="B7C6D8"/>
                </a:solidFill>
                <a:latin typeface="Arial"/>
                <a:ea typeface="Arial"/>
                <a:cs typeface="Arial"/>
              </a:rPr>
              <a:t>Kết hợp kiểm tra thật/giả với xác định danh tính người dùng.</a:t>
            </a:r>
          </a:p>
        </p:txBody>
      </p:sp>
      <p:sp>
        <p:nvSpPr>
          <p:cNvPr id="9" name="">
            <a:extLst xmlns:a="http://schemas.openxmlformats.org/drawingml/2006/main">
              <a:ext uri="{FF2B5EF4-FFF2-40B4-BE49-F238E27FC236}">
                <a16:creationId xmlns:a16="http://schemas.microsoft.com/office/drawing/2014/main" id="{A4599327-2267-46C3-9247-65970897111D}"/>
              </a:ext>
            </a:extLst>
          </p:cNvPr>
          <p:cNvSpPr>
            <a:spLocks xmlns:a="http://schemas.openxmlformats.org/drawingml/2006/main" noGrp="1"/>
          </p:cNvSpPr>
          <p:nvPr/>
        </p:nvSpPr>
        <p:spPr>
          <a:xfrm xmlns:a="http://schemas.openxmlformats.org/drawingml/2006/main">
            <a:off x="609600" y="56292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5D6AA"/>
                </a:solidFill>
                <a:latin typeface="Arial"/>
                <a:ea typeface="Arial"/>
                <a:cs typeface="Arial"/>
              </a:defRPr>
            </a:pPr>
            <a:r>
              <a:rPr sz="2250" b="1">
                <a:solidFill>
                  <a:srgbClr val="65D6AA"/>
                </a:solidFill>
                <a:latin typeface="Arial"/>
                <a:ea typeface="Arial"/>
                <a:cs typeface="Arial"/>
              </a:rPr>
              <a:t>Sau tích hợp: test toàn bộ luồng bằng camera thực tế.</a:t>
            </a:r>
          </a:p>
        </p:txBody>
      </p:sp>
    </p:spTree>
    <p:extLst>
      <p:ext uri="{BB962C8B-B14F-4D97-AF65-F5344CB8AC3E}">
        <p14:creationId xmlns:p14="http://schemas.microsoft.com/office/powerpoint/2010/main" val="119954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2026-09-26T15:58:29.1030000Z</dcterms:created>
  <dcterms:modified xsi:type="dcterms:W3CDTF">2026-09-26T15:58:29.1030000Z</dcterms:modified>
</coreProperties>
</file>