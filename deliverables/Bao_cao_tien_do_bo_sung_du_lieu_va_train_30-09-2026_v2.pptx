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d2e1f2dfb64bb7" /><Relationship Type="http://schemas.openxmlformats.org/officeDocument/2006/relationships/extended-properties" Target="/docProps/app.xml" Id="R33b2134d5ecd4b84" /><Relationship Type="http://schemas.openxmlformats.org/officeDocument/2006/relationships/officeDocument" Target="/ppt/presentation.xml" Id="R0401540ad6e84f4f" /></Relationships>
</file>

<file path=ppt/presentation.xml><?xml version="1.0" encoding="utf-8"?>
<p:presentation xmlns:p="http://schemas.openxmlformats.org/presentationml/2006/main">
  <p:sldMasterIdLst>
    <p:sldMasterId xmlns:r="http://schemas.openxmlformats.org/officeDocument/2006/relationships" id="2147483648" r:id="R1698ae2847a04cf7"/>
  </p:sldMasterIdLst>
  <p:notesMasterIdLst>
    <p:notesMasterId xmlns:r="http://schemas.openxmlformats.org/officeDocument/2006/relationships" r:id="Rc3e222f826ec4d13"/>
  </p:notesMasterIdLst>
  <p:sldIdLst>
    <p:sldId xmlns:r="http://schemas.openxmlformats.org/officeDocument/2006/relationships" id="256" r:id="Refe42299ce8f46ec"/>
    <p:sldId xmlns:r="http://schemas.openxmlformats.org/officeDocument/2006/relationships" id="257" r:id="Re62769c627da4d95"/>
    <p:sldId xmlns:r="http://schemas.openxmlformats.org/officeDocument/2006/relationships" id="258" r:id="Rdf3f374208b340a9"/>
    <p:sldId xmlns:r="http://schemas.openxmlformats.org/officeDocument/2006/relationships" id="259" r:id="Rd1b6d60827b74090"/>
    <p:sldId xmlns:r="http://schemas.openxmlformats.org/officeDocument/2006/relationships" id="260" r:id="R0493438082d040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59d51fec5a4094" /><Relationship Type="http://schemas.openxmlformats.org/officeDocument/2006/relationships/slideMaster" Target="/ppt/slideMasters/slideMaster1.xml" Id="R1698ae2847a04cf7" /><Relationship Type="http://schemas.openxmlformats.org/officeDocument/2006/relationships/notesMaster" Target="/ppt/notesMasters/notesMaster1.xml" Id="Rc3e222f826ec4d13" /><Relationship Type="http://schemas.openxmlformats.org/officeDocument/2006/relationships/presProps" Target="/ppt/presProps.xml" Id="Rb7208d1b6fe048d4" /><Relationship Type="http://schemas.openxmlformats.org/officeDocument/2006/relationships/tableStyles" Target="/ppt/tableStyles.xml" Id="R416ef781ee104eea" /><Relationship Type="http://schemas.openxmlformats.org/officeDocument/2006/relationships/slide" Target="/ppt/slides/slide1.xml" Id="Refe42299ce8f46ec" /><Relationship Type="http://schemas.openxmlformats.org/officeDocument/2006/relationships/slide" Target="/ppt/slides/slide2.xml" Id="Re62769c627da4d95" /><Relationship Type="http://schemas.openxmlformats.org/officeDocument/2006/relationships/slide" Target="/ppt/slides/slide3.xml" Id="Rdf3f374208b340a9" /><Relationship Type="http://schemas.openxmlformats.org/officeDocument/2006/relationships/slide" Target="/ppt/slides/slide4.xml" Id="Rd1b6d60827b74090" /><Relationship Type="http://schemas.openxmlformats.org/officeDocument/2006/relationships/slide" Target="/ppt/slides/slide5.xml" Id="R0493438082d040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ce3c811a3946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cad86f52274f08" /><Relationship Type="http://schemas.openxmlformats.org/officeDocument/2006/relationships/notesMaster" Target="/ppt/notesMasters/notesMaster1.xml" Id="Re79bba3f4cc640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bf7cc3f38a48f3" /><Relationship Type="http://schemas.openxmlformats.org/officeDocument/2006/relationships/notesMaster" Target="/ppt/notesMasters/notesMaster1.xml" Id="Recf73b5fd94a45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98b443b7b04662" /><Relationship Type="http://schemas.openxmlformats.org/officeDocument/2006/relationships/notesMaster" Target="/ppt/notesMasters/notesMaster1.xml" Id="R67cebab6f5344d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a437ebfd754583" /><Relationship Type="http://schemas.openxmlformats.org/officeDocument/2006/relationships/notesMaster" Target="/ppt/notesMasters/notesMaster1.xml" Id="Raa9453324e0e40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5f963df67e4d5e" /><Relationship Type="http://schemas.openxmlformats.org/officeDocument/2006/relationships/notesMaster" Target="/ppt/notesMasters/notesMaster1.xml" Id="R9a7511f0ceb14b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Đợt công việc này chỉ tổng hợp yêu cầu bổ sung video mới và huấn luyện lại vừa hoàn thành. Em tải 56 video gồm 30 thật và 26 giả, khoảng 1,58 GB. Em cập nhật nhãn thư mục A MOV thành Fake sau khi người dùng chuyển thư mục trên Drive. Em kiểm tra kích thước và SHA256, trích ảnh bằng pipeline hiện tại, train lại và đánh giá trước/sau. Model mới đã nạp qua các endpoint API bằng Flask test client trong tiến trình nội bộ. Phép thử này chưa đo tốc độ mạng hay camera trực tiếp.</a:t>
            </a:r>
          </a:p>
          <a:p xmlns:a="http://schemas.openxmlformats.org/drawingml/2006/main">
            <a:r>
              <a:t>Nguồn: outputs/retrain-20260930/evaluation.json; continuous_runtime_comparison.json; dataset/retrain-20260930/manifest.json;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có 7.029 ảnh hợp lệ trên tổng 84 video của bốn tập, trong đó chỉ 4.113 ảnh thuộc train. Validation gồm B và Thu, test mới gồm Nga và Phúc. Mã người dựa vào tên thư mục/tên video do nhóm cung cấp, chưa xác minh độc lập rằng mọi tên khác nhau là những người khác nhau. Năm video test cũ giữ riêng để kiểm tra hồi quy theo video, có người trùng với train. Em trích mặt bằng YuNet và bộ lọc chất lượng của API, tối đa 100 khung/video cách nhau ít nhất 0,2 giây. Train từ đầu với LivenessNet 32x32 BGR /255, Adam 0,0001, batch 32, seed 42, tối đa 50 epoch. Mỗi lớp có tổng trọng số bằng nhau và mỗi video có trọng số bằng nhau trong cùng lớp. Dừng sớm sau 8 epoch không cải thiện validation loss. Hai lần train cũ/mới đều chạy 19 epoch và chọn epoch 11, đây là kết quả thực tế của hai lần chạy.</a:t>
            </a:r>
          </a:p>
          <a:p xmlns:a="http://schemas.openxmlformats.org/drawingml/2006/main">
            <a:r>
              <a:t>Nguồn: outputs/retrain-20260930/evaluation.json; continuous_runtime_comparison.json; dataset/retrain-20260930/manifest.json;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là bản ngày 15/9/2026, SHA256 2c681bb5647db86783ca16a85c125ee73150812be9414bcb85635453dbba159e. Model mới là checkpoint epoch 11 của ngày 30/9. Các loss trong bảng là cross-entropy tính lại khi suy luận trên cùng dữ liệu không augmentation, không phải so trực tiếp hai loss train lịch sử ở các bộ dữ liệu khác nhau. Loss train có augmentation tại checkpoint mới là 0,13709. Các P/R/F1 trong slide lấy macro bình quân hai lớp. Tập test mới có 720 ảnh giả và 753 ảnh thật, CNN chọn nhãn theo điểm lớn nhất chưa áp dụng ngưỡng 0,8 và temporal. Ảnh giả bị nhầm thành thật giảm từ 380 xuống 33, ảnh thật bị nhầm thành giả là 0 ở cả hai model. Vì vậy đây là chất lượng phân loại ảnh mặt hợp lệ, cần đọc riêng kết quả luồng API ở slide tiếp theo.</a:t>
            </a:r>
          </a:p>
          <a:p xmlns:a="http://schemas.openxmlformats.org/drawingml/2006/main">
            <a:r>
              <a:t>Nguồn: outputs/retrain-20260930/evaluation.json; continuous_runtime_comparison.json; dataset/retrain-20260930/manifest.json;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cố định 12 giây đầu mỗi video test, lấy tối đa 5 khung/giây. Tổng số mẫu thực tế là 942 do bước khung nguyên theo FPS nguồn. Em dùng hàm JPEG của SDK với cạnh tối đa 960, chất lượng 90, decode một lần rồi đưa cùng pixels vào hai Pipeline. YuNet, quality và TemporalDecision chạy lại, lịch sử độc lập cho từng clip và model. Trước: 484 đúng, 173 sai, 285 chưa kết luận. Sau: 741 đúng, 0 sai, 201 chưa kết luận. Coverage tăng từ 69,75% lên 78,66%. Không diễn đạt rằng API chính xác 100%, vì 201 khung vẫn chưa kết luận và đây là phát lại offline trên hai mã người. Trên 415 ảnh mặt của 5 video hồi quy cũ, accuracy giảm từ 93,01% xuống 82,65%. Giả bị nhận thành thật tăng từ 27/261 lên 35/261, thật bị nhận thành giả tăng từ 2/154 lên 37/154. Các người ở tập hồi quy có thể trùng train nên tập này chỉ kiểm tra hồi quy theo video.</a:t>
            </a:r>
          </a:p>
          <a:p xmlns:a="http://schemas.openxmlformats.org/drawingml/2006/main">
            <a:r>
              <a:t>Nguồn: outputs/retrain-20260930/evaluation.json; continuous_runtime_comparison.json; dataset/retrain-20260930/manifest.json;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hoàn thành lần train và kiểm tra này, nhưng chưa thể kết luận chất lượng tốt hơn đồng đều. Em giữ bản mới riêng vì kiểm tra hồi quy cũ đã giảm. Lần thử tiếp theo nên có cả điều kiện quay cũ và mới trong validation, chọn model theo validation rồi đánh giá trên một test độc lập mới. Không train nhiều lần rồi chọn model theo test đã xem. Dữ liệu thật mới dùng H.264/MP4 và dữ liệu giả dùng HEVC/MOV, có khác thiết bị/độ phân giải và cách quay nên model có thể học đặc điểm cách thu dữ liệu. Chuyển cùng JPEG không tự loại bỏ sai lệch nguồn. Test chỉ có hai mã người nên cần thêm người độc lập và kiểu tấn công thực tế. Điểm softmax cao không chứng minh hết overfit. Phép kiểm tra API nội bộ với model H5 mới đã thành công, nhưng vẫn cần kiểm thử camera và tốc độ mạng trước khi thay model đang sử dụng.</a:t>
            </a:r>
          </a:p>
          <a:p xmlns:a="http://schemas.openxmlformats.org/drawingml/2006/main">
            <a:r>
              <a:t>Nguồn: outputs/retrain-20260930/evaluation.json; continuous_runtime_comparison.json; dataset/retrain-20260930/manifest.json;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f2c734e8f443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a9d7ca3ea34a4d" /><Relationship Type="http://schemas.openxmlformats.org/officeDocument/2006/relationships/slideLayout" Target="/ppt/slideLayouts/slideLayout1.xml" Id="Rff9f34bdbcb947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9f34bdbcb947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543b4fa3a84dac" /><Relationship Type="http://schemas.openxmlformats.org/officeDocument/2006/relationships/notesSlide" Target="/ppt/notesSlides/notesSlide1.xml" Id="R14c5b6bb49cf47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010f7c46574a2d" /><Relationship Type="http://schemas.openxmlformats.org/officeDocument/2006/relationships/notesSlide" Target="/ppt/notesSlides/notesSlide2.xml" Id="Reb0b50bb19404c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953420e3e648d0" /><Relationship Type="http://schemas.openxmlformats.org/officeDocument/2006/relationships/notesSlide" Target="/ppt/notesSlides/notesSlide3.xml" Id="R25cedad77f234b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e2cb643fc7485e" /><Relationship Type="http://schemas.openxmlformats.org/officeDocument/2006/relationships/notesSlide" Target="/ppt/notesSlides/notesSlide4.xml" Id="R746c699b959044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d644e28bdf40e6" /><Relationship Type="http://schemas.openxmlformats.org/officeDocument/2006/relationships/notesSlide" Target="/ppt/notesSlides/notesSlide5.xml" Id="R7d28aff2d64840ef"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EFFD3F-8C60-4522-A1F5-A5B11B32DA40}"/>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Báo cáo tiến độ</a:t>
            </a:r>
          </a:p>
        </p:txBody>
      </p:sp>
      <p:sp>
        <p:nvSpPr>
          <p:cNvPr id="2" name="">
            <a:extLst xmlns:a="http://schemas.openxmlformats.org/drawingml/2006/main">
              <a:ext uri="{FF2B5EF4-FFF2-40B4-BE49-F238E27FC236}">
                <a16:creationId xmlns:a16="http://schemas.microsoft.com/office/drawing/2014/main" id="{96C93A4C-D6B0-41F0-9007-67B99AC96936}"/>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9DA"/>
                </a:solidFill>
                <a:latin typeface="Arial"/>
                <a:ea typeface="Arial"/>
                <a:cs typeface="Arial"/>
              </a:defRPr>
            </a:pPr>
            <a:r>
              <a:rPr sz="1500" b="0">
                <a:solidFill>
                  <a:srgbClr val="BBC9D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2A73F56-059F-48DD-9D34-887535D4715C}"/>
              </a:ext>
            </a:extLst>
          </p:cNvPr>
          <p:cNvSpPr>
            <a:spLocks xmlns:a="http://schemas.openxmlformats.org/drawingml/2006/main" noGrp="1"/>
          </p:cNvSpPr>
          <p:nvPr/>
        </p:nvSpPr>
        <p:spPr>
          <a:xfrm xmlns:a="http://schemas.openxmlformats.org/drawingml/2006/main">
            <a:off x="609600" y="13620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78C7FF"/>
                </a:solidFill>
                <a:latin typeface="Arial"/>
                <a:ea typeface="Arial"/>
                <a:cs typeface="Arial"/>
              </a:defRPr>
            </a:pPr>
            <a:r>
              <a:rPr sz="4050" b="1">
                <a:solidFill>
                  <a:srgbClr val="78C7FF"/>
                </a:solidFill>
                <a:latin typeface="Arial"/>
                <a:ea typeface="Arial"/>
                <a:cs typeface="Arial"/>
              </a:rPr>
              <a:t>Bổ sung dữ liệu và</a:t>
            </a:r>
          </a:p>
          <a:p xmlns:a="http://schemas.openxmlformats.org/drawingml/2006/main">
            <a:pPr>
              <a:defRPr sz="4050" b="1">
                <a:solidFill>
                  <a:srgbClr val="78C7FF"/>
                </a:solidFill>
                <a:latin typeface="Arial"/>
                <a:ea typeface="Arial"/>
                <a:cs typeface="Arial"/>
              </a:defRPr>
            </a:pPr>
            <a:r>
              <a:rPr sz="4050" b="1">
                <a:solidFill>
                  <a:srgbClr val="78C7FF"/>
                </a:solidFill>
                <a:latin typeface="Arial"/>
                <a:ea typeface="Arial"/>
                <a:cs typeface="Arial"/>
              </a:rPr>
              <a:t>huấn luyện lại model</a:t>
            </a:r>
          </a:p>
        </p:txBody>
      </p:sp>
      <p:sp>
        <p:nvSpPr>
          <p:cNvPr id="4" name="">
            <a:extLst xmlns:a="http://schemas.openxmlformats.org/drawingml/2006/main">
              <a:ext uri="{FF2B5EF4-FFF2-40B4-BE49-F238E27FC236}">
                <a16:creationId xmlns:a16="http://schemas.microsoft.com/office/drawing/2014/main" id="{5106C207-5997-49AE-8035-4D5D80BDCC93}"/>
              </a:ext>
            </a:extLst>
          </p:cNvPr>
          <p:cNvSpPr>
            <a:spLocks xmlns:a="http://schemas.openxmlformats.org/drawingml/2006/main" noGrp="1"/>
          </p:cNvSpPr>
          <p:nvPr/>
        </p:nvSpPr>
        <p:spPr>
          <a:xfrm xmlns:a="http://schemas.openxmlformats.org/drawingml/2006/main">
            <a:off x="609600" y="2781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9DA"/>
                </a:solidFill>
                <a:latin typeface="Arial"/>
                <a:ea typeface="Arial"/>
                <a:cs typeface="Arial"/>
              </a:defRPr>
            </a:pPr>
            <a:r>
              <a:rPr sz="2025" b="0">
                <a:solidFill>
                  <a:srgbClr val="BBC9DA"/>
                </a:solidFill>
                <a:latin typeface="Arial"/>
                <a:ea typeface="Arial"/>
                <a:cs typeface="Arial"/>
              </a:rPr>
              <a:t>Dự án chống giả mạo khuôn mặt · 30/09/2026</a:t>
            </a:r>
          </a:p>
        </p:txBody>
      </p:sp>
      <p:sp>
        <p:nvSpPr>
          <p:cNvPr id="5" name="">
            <a:extLst xmlns:a="http://schemas.openxmlformats.org/drawingml/2006/main">
              <a:ext uri="{FF2B5EF4-FFF2-40B4-BE49-F238E27FC236}">
                <a16:creationId xmlns:a16="http://schemas.microsoft.com/office/drawing/2014/main" id="{7CEE926D-FCD5-4420-B6A0-34A124EA072E}"/>
              </a:ext>
            </a:extLst>
          </p:cNvPr>
          <p:cNvSpPr>
            <a:spLocks xmlns:a="http://schemas.openxmlformats.org/drawingml/2006/main" noGrp="1"/>
          </p:cNvSpPr>
          <p:nvPr/>
        </p:nvSpPr>
        <p:spPr>
          <a:xfrm xmlns:a="http://schemas.openxmlformats.org/drawingml/2006/main">
            <a:off x="609600" y="3781425"/>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75" b="0">
                <a:solidFill>
                  <a:srgbClr val="BBC9DA"/>
                </a:solidFill>
                <a:latin typeface="Arial"/>
                <a:ea typeface="Arial"/>
                <a:cs typeface="Arial"/>
              </a:defRPr>
            </a:pPr>
            <a:r>
              <a:rPr sz="2175" b="0">
                <a:solidFill>
                  <a:srgbClr val="BBC9DA"/>
                </a:solidFill>
                <a:latin typeface="Arial"/>
                <a:ea typeface="Arial"/>
                <a:cs typeface="Arial"/>
              </a:rPr>
              <a:t>Em đã tải đủ 56 video mới từ Google Drive.</a:t>
            </a:r>
          </a:p>
          <a:p xmlns:a="http://schemas.openxmlformats.org/drawingml/2006/main">
            <a:pPr marL="228600" indent="-114300">
              <a:spcAft>
                <a:spcPts val="1200"/>
              </a:spcAft>
              <a:buChar char="•"/>
              <a:defRPr sz="2175" b="0">
                <a:solidFill>
                  <a:srgbClr val="BBC9DA"/>
                </a:solidFill>
                <a:latin typeface="Arial"/>
                <a:ea typeface="Arial"/>
                <a:cs typeface="Arial"/>
              </a:defRPr>
            </a:pPr>
            <a:r>
              <a:rPr sz="2175" b="0">
                <a:solidFill>
                  <a:srgbClr val="BBC9DA"/>
                </a:solidFill>
                <a:latin typeface="Arial"/>
                <a:ea typeface="Arial"/>
                <a:cs typeface="Arial"/>
              </a:rPr>
              <a:t>Em đã rà nhãn, lọc ảnh mặt và tổ chức lại dữ liệu.</a:t>
            </a:r>
          </a:p>
          <a:p xmlns:a="http://schemas.openxmlformats.org/drawingml/2006/main">
            <a:pPr marL="228600" indent="-114300">
              <a:spcAft>
                <a:spcPts val="1200"/>
              </a:spcAft>
              <a:buChar char="•"/>
              <a:defRPr sz="2175" b="0">
                <a:solidFill>
                  <a:srgbClr val="BBC9DA"/>
                </a:solidFill>
                <a:latin typeface="Arial"/>
                <a:ea typeface="Arial"/>
                <a:cs typeface="Arial"/>
              </a:defRPr>
            </a:pPr>
            <a:r>
              <a:rPr sz="2175" b="0">
                <a:solidFill>
                  <a:srgbClr val="BBC9DA"/>
                </a:solidFill>
                <a:latin typeface="Arial"/>
                <a:ea typeface="Arial"/>
                <a:cs typeface="Arial"/>
              </a:rPr>
              <a:t>Em đã train lại, so sánh kết quả và kiểm tra model với API.</a:t>
            </a:r>
          </a:p>
        </p:txBody>
      </p:sp>
    </p:spTree>
    <p:extLst>
      <p:ext uri="{BB962C8B-B14F-4D97-AF65-F5344CB8AC3E}">
        <p14:creationId xmlns:p14="http://schemas.microsoft.com/office/powerpoint/2010/main" val="1247525229"/>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3D5636-49A5-4DA1-A167-A41888A26363}"/>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Dữ liệu và cách huấn luyện</a:t>
            </a:r>
          </a:p>
        </p:txBody>
      </p:sp>
      <p:sp>
        <p:nvSpPr>
          <p:cNvPr id="2" name="">
            <a:extLst xmlns:a="http://schemas.openxmlformats.org/drawingml/2006/main">
              <a:ext uri="{FF2B5EF4-FFF2-40B4-BE49-F238E27FC236}">
                <a16:creationId xmlns:a16="http://schemas.microsoft.com/office/drawing/2014/main" id="{159BBAB1-0B5A-4E3C-8E65-C2826D3B7FF1}"/>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9DA"/>
                </a:solidFill>
                <a:latin typeface="Arial"/>
                <a:ea typeface="Arial"/>
                <a:cs typeface="Arial"/>
              </a:defRPr>
            </a:pPr>
            <a:r>
              <a:rPr sz="1500" b="0">
                <a:solidFill>
                  <a:srgbClr val="BBC9D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AC77E2-F446-4B3D-94F7-E56F3C3D065F}"/>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78C7FF"/>
                </a:solidFill>
                <a:latin typeface="Arial"/>
                <a:ea typeface="Arial"/>
                <a:cs typeface="Arial"/>
              </a:defRPr>
            </a:pPr>
            <a:r>
              <a:rPr sz="1950" b="0">
                <a:solidFill>
                  <a:srgbClr val="78C7FF"/>
                </a:solidFill>
                <a:latin typeface="Arial"/>
                <a:ea typeface="Arial"/>
                <a:cs typeface="Arial"/>
              </a:rPr>
              <a:t>56 video mới và 28 video cũ có mã người rõ ràng</a:t>
            </a:r>
          </a:p>
        </p:txBody>
      </p:sp>
      <p:graphicFrame>
        <p:nvGraphicFramePr>
          <p:cNvPr id="12" name=""/>
          <p:cNvGraphicFramePr/>
          <p:nvPr/>
        </p:nvGraphicFramePr>
        <p:xfrm>
          <a:off xmlns:a="http://schemas.openxmlformats.org/drawingml/2006/main" x="609600" y="1828800"/>
          <a:ext xmlns:a="http://schemas.openxmlformats.org/drawingml/2006/main" cx="6819900" cy="3200400"/>
        </p:xfrm>
        <a:graphic xmlns:a="http://schemas.openxmlformats.org/drawingml/2006/main">
          <a:graphicData uri="http://schemas.openxmlformats.org/drawingml/2006/table">
            <a:tbl>
              <a:tblPr firstRow="1" bandRow="0"/>
              <a:tblGrid>
                <a:gridCol w="3238500"/>
                <a:gridCol w="1485900"/>
                <a:gridCol w="2095500"/>
              </a:tblGrid>
              <a:tr h="533400">
                <a:tc>
                  <a:txBody>
                    <a:bodyPr>
                      <a:noAutofit/>
                    </a:bodyPr>
                    <a:lstStyle/>
                    <a:p>
                      <a:r>
                        <a:rPr sz="1950" b="1">
                          <a:solidFill>
                            <a:srgbClr val="78C7FF"/>
                          </a:solidFill>
                          <a:latin typeface="Arial"/>
                          <a:ea typeface="Arial"/>
                          <a:cs typeface="Arial"/>
                        </a:rPr>
                        <a:t>Tập</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Video</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Ảnh</a:t>
                      </a:r>
                    </a:p>
                  </a:txBody>
                  <a:tcPr marL="152400" marR="114300" marT="38100" marB="38100" anchor="ctr">
                    <a:solidFill>
                      <a:srgbClr val="203A54"/>
                    </a:solidFill>
                  </a:tcPr>
                </a:tc>
              </a:tr>
              <a:tr h="533400">
                <a:tc>
                  <a:txBody>
                    <a:bodyPr>
                      <a:noAutofit/>
                    </a:bodyPr>
                    <a:lstStyle/>
                    <a:p>
                      <a:r>
                        <a:rPr sz="1950" b="0">
                          <a:solidFill>
                            <a:srgbClr val="F2F5FA"/>
                          </a:solidFill>
                          <a:latin typeface="Arial"/>
                          <a:ea typeface="Arial"/>
                          <a:cs typeface="Arial"/>
                        </a:rPr>
                        <a:t>Train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51</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4.113</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Validation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12</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1.028</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Test mới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16</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1.473</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Video cũ</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415</a:t>
                      </a:r>
                    </a:p>
                  </a:txBody>
                  <a:tcPr marL="152400" marR="114300" marT="38100" marB="38100" anchor="ctr">
                    <a:solidFill>
                      <a:srgbClr val="101B2B"/>
                    </a:solidFill>
                  </a:tcPr>
                </a:tc>
              </a:tr>
              <a:tr h="533400">
                <a:tc>
                  <a:txBody>
                    <a:bodyPr>
                      <a:noAutofit/>
                    </a:bodyPr>
                    <a:lstStyle/>
                    <a:p>
                      <a:r>
                        <a:rPr sz="1950" b="1">
                          <a:solidFill>
                            <a:srgbClr val="65D6AA"/>
                          </a:solidFill>
                          <a:latin typeface="Arial"/>
                          <a:ea typeface="Arial"/>
                          <a:cs typeface="Arial"/>
                        </a:rPr>
                        <a:t>Tổng</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84</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7.029</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D9C5D58C-D96E-492C-8797-C25E0107250A}"/>
              </a:ext>
            </a:extLst>
          </p:cNvPr>
          <p:cNvSpPr>
            <a:spLocks xmlns:a="http://schemas.openxmlformats.org/drawingml/2006/main" noGrp="1"/>
          </p:cNvSpPr>
          <p:nvPr/>
        </p:nvSpPr>
        <p:spPr>
          <a:xfrm xmlns:a="http://schemas.openxmlformats.org/drawingml/2006/main">
            <a:off x="8001000" y="184785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65D6AA"/>
                </a:solidFill>
                <a:latin typeface="Arial"/>
                <a:ea typeface="Arial"/>
                <a:cs typeface="Arial"/>
              </a:defRPr>
            </a:pPr>
            <a:r>
              <a:rPr sz="3600" b="1">
                <a:solidFill>
                  <a:srgbClr val="65D6AA"/>
                </a:solidFill>
                <a:latin typeface="Arial"/>
                <a:ea typeface="Arial"/>
                <a:cs typeface="Arial"/>
              </a:rPr>
              <a:t>19 epoch</a:t>
            </a:r>
          </a:p>
        </p:txBody>
      </p:sp>
      <p:sp>
        <p:nvSpPr>
          <p:cNvPr id="6" name="">
            <a:extLst xmlns:a="http://schemas.openxmlformats.org/drawingml/2006/main">
              <a:ext uri="{FF2B5EF4-FFF2-40B4-BE49-F238E27FC236}">
                <a16:creationId xmlns:a16="http://schemas.microsoft.com/office/drawing/2014/main" id="{1BF01439-DC22-4F5C-9756-887AC5A0B6C5}"/>
              </a:ext>
            </a:extLst>
          </p:cNvPr>
          <p:cNvSpPr>
            <a:spLocks xmlns:a="http://schemas.openxmlformats.org/drawingml/2006/main" noGrp="1"/>
          </p:cNvSpPr>
          <p:nvPr/>
        </p:nvSpPr>
        <p:spPr>
          <a:xfrm xmlns:a="http://schemas.openxmlformats.org/drawingml/2006/main">
            <a:off x="8001000" y="2686050"/>
            <a:ext cx="3581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2F5FA"/>
                </a:solidFill>
                <a:latin typeface="Arial"/>
                <a:ea typeface="Arial"/>
                <a:cs typeface="Arial"/>
              </a:defRPr>
            </a:pPr>
            <a:r>
              <a:rPr sz="2175" b="1">
                <a:solidFill>
                  <a:srgbClr val="F2F5FA"/>
                </a:solidFill>
                <a:latin typeface="Arial"/>
                <a:ea typeface="Arial"/>
                <a:cs typeface="Arial"/>
              </a:rPr>
              <a:t>Chọn model ở epoch 11</a:t>
            </a:r>
          </a:p>
        </p:txBody>
      </p:sp>
      <p:sp>
        <p:nvSpPr>
          <p:cNvPr id="7" name="">
            <a:extLst xmlns:a="http://schemas.openxmlformats.org/drawingml/2006/main">
              <a:ext uri="{FF2B5EF4-FFF2-40B4-BE49-F238E27FC236}">
                <a16:creationId xmlns:a16="http://schemas.microsoft.com/office/drawing/2014/main" id="{EAC4A576-CE56-4DDF-AE13-EA928E7E3604}"/>
              </a:ext>
            </a:extLst>
          </p:cNvPr>
          <p:cNvSpPr>
            <a:spLocks xmlns:a="http://schemas.openxmlformats.org/drawingml/2006/main" noGrp="1"/>
          </p:cNvSpPr>
          <p:nvPr/>
        </p:nvSpPr>
        <p:spPr>
          <a:xfrm xmlns:a="http://schemas.openxmlformats.org/drawingml/2006/main">
            <a:off x="8001000" y="3762375"/>
            <a:ext cx="3581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9DA"/>
                </a:solidFill>
                <a:latin typeface="Arial"/>
                <a:ea typeface="Arial"/>
                <a:cs typeface="Arial"/>
              </a:defRPr>
            </a:pPr>
            <a:r>
              <a:rPr sz="2025" b="0">
                <a:solidFill>
                  <a:srgbClr val="BBC9DA"/>
                </a:solidFill>
                <a:latin typeface="Arial"/>
                <a:ea typeface="Arial"/>
                <a:cs typeface="Arial"/>
              </a:rPr>
              <a:t>Chỉ 4.113 ảnh vào train.</a:t>
            </a:r>
          </a:p>
          <a:p xmlns:a="http://schemas.openxmlformats.org/drawingml/2006/main">
            <a:pPr>
              <a:defRPr sz="2025" b="0">
                <a:solidFill>
                  <a:srgbClr val="BBC9DA"/>
                </a:solidFill>
                <a:latin typeface="Arial"/>
                <a:ea typeface="Arial"/>
                <a:cs typeface="Arial"/>
              </a:defRPr>
            </a:pPr>
            <a:r>
              <a:rPr sz="2025" b="0">
                <a:solidFill>
                  <a:srgbClr val="BBC9DA"/>
                </a:solidFill>
                <a:latin typeface="Arial"/>
                <a:ea typeface="Arial"/>
                <a:cs typeface="Arial"/>
              </a:rPr>
              <a:t>Chọn theo validation loss</a:t>
            </a:r>
          </a:p>
          <a:p xmlns:a="http://schemas.openxmlformats.org/drawingml/2006/main">
            <a:pPr>
              <a:defRPr sz="2025" b="0">
                <a:solidFill>
                  <a:srgbClr val="BBC9DA"/>
                </a:solidFill>
                <a:latin typeface="Arial"/>
                <a:ea typeface="Arial"/>
                <a:cs typeface="Arial"/>
              </a:defRPr>
            </a:pPr>
            <a:r>
              <a:rPr sz="2025" b="0">
                <a:solidFill>
                  <a:srgbClr val="BBC9DA"/>
                </a:solidFill>
                <a:latin typeface="Arial"/>
                <a:ea typeface="Arial"/>
                <a:cs typeface="Arial"/>
              </a:rPr>
              <a:t>và dừng sớm.</a:t>
            </a:r>
          </a:p>
        </p:txBody>
      </p:sp>
      <p:sp>
        <p:nvSpPr>
          <p:cNvPr id="8" name="">
            <a:extLst xmlns:a="http://schemas.openxmlformats.org/drawingml/2006/main">
              <a:ext uri="{FF2B5EF4-FFF2-40B4-BE49-F238E27FC236}">
                <a16:creationId xmlns:a16="http://schemas.microsoft.com/office/drawing/2014/main" id="{94C459B6-3ACB-4485-A83D-3D5AE288BDCD}"/>
              </a:ext>
            </a:extLst>
          </p:cNvPr>
          <p:cNvSpPr>
            <a:spLocks xmlns:a="http://schemas.openxmlformats.org/drawingml/2006/main" noGrp="1"/>
          </p:cNvSpPr>
          <p:nvPr/>
        </p:nvSpPr>
        <p:spPr>
          <a:xfrm xmlns:a="http://schemas.openxmlformats.org/drawingml/2006/main">
            <a:off x="609600" y="5657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C9DA"/>
                </a:solidFill>
                <a:latin typeface="Arial"/>
                <a:ea typeface="Arial"/>
                <a:cs typeface="Arial"/>
              </a:defRPr>
            </a:pPr>
            <a:r>
              <a:rPr sz="1875" b="0">
                <a:solidFill>
                  <a:srgbClr val="BBC9DA"/>
                </a:solidFill>
                <a:latin typeface="Arial"/>
                <a:ea typeface="Arial"/>
                <a:cs typeface="Arial"/>
              </a:rPr>
              <a:t>Em tách train, validation và test mới theo mã người trong thư mục.</a:t>
            </a:r>
          </a:p>
          <a:p xmlns:a="http://schemas.openxmlformats.org/drawingml/2006/main">
            <a:pPr>
              <a:defRPr sz="1875" b="0">
                <a:solidFill>
                  <a:srgbClr val="BBC9DA"/>
                </a:solidFill>
                <a:latin typeface="Arial"/>
                <a:ea typeface="Arial"/>
                <a:cs typeface="Arial"/>
              </a:defRPr>
            </a:pPr>
            <a:r>
              <a:rPr sz="1875" b="0">
                <a:solidFill>
                  <a:srgbClr val="BBC9DA"/>
                </a:solidFill>
                <a:latin typeface="Arial"/>
                <a:ea typeface="Arial"/>
                <a:cs typeface="Arial"/>
              </a:rPr>
              <a:t>Em loại 6 video cũ chưa xác định được nhóm người.</a:t>
            </a:r>
          </a:p>
        </p:txBody>
      </p:sp>
    </p:spTree>
    <p:extLst>
      <p:ext uri="{BB962C8B-B14F-4D97-AF65-F5344CB8AC3E}">
        <p14:creationId xmlns:p14="http://schemas.microsoft.com/office/powerpoint/2010/main" val="171552217"/>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09F00D-EF38-4DCC-800A-70E0A3BE678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Kết quả trước và sau huấn luyện</a:t>
            </a:r>
          </a:p>
        </p:txBody>
      </p:sp>
      <p:sp>
        <p:nvSpPr>
          <p:cNvPr id="2" name="">
            <a:extLst xmlns:a="http://schemas.openxmlformats.org/drawingml/2006/main">
              <a:ext uri="{FF2B5EF4-FFF2-40B4-BE49-F238E27FC236}">
                <a16:creationId xmlns:a16="http://schemas.microsoft.com/office/drawing/2014/main" id="{322A32DC-1E91-4A81-9B73-B4FDA8C5DBEA}"/>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9DA"/>
                </a:solidFill>
                <a:latin typeface="Arial"/>
                <a:ea typeface="Arial"/>
                <a:cs typeface="Arial"/>
              </a:defRPr>
            </a:pPr>
            <a:r>
              <a:rPr sz="1500" b="0">
                <a:solidFill>
                  <a:srgbClr val="BBC9D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FEE5C20-6E45-4A9E-B178-1E4971B44949}"/>
              </a:ext>
            </a:extLst>
          </p:cNvPr>
          <p:cNvSpPr>
            <a:spLocks xmlns:a="http://schemas.openxmlformats.org/drawingml/2006/main" noGrp="1"/>
          </p:cNvSpPr>
          <p:nvPr/>
        </p:nvSpPr>
        <p:spPr>
          <a:xfrm xmlns:a="http://schemas.openxmlformats.org/drawingml/2006/main">
            <a:off x="609600" y="11620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78C7FF"/>
                </a:solidFill>
                <a:latin typeface="Arial"/>
                <a:ea typeface="Arial"/>
                <a:cs typeface="Arial"/>
              </a:defRPr>
            </a:pPr>
            <a:r>
              <a:rPr sz="1950" b="0">
                <a:solidFill>
                  <a:srgbClr val="78C7FF"/>
                </a:solidFill>
                <a:latin typeface="Arial"/>
                <a:ea typeface="Arial"/>
                <a:cs typeface="Arial"/>
              </a:rPr>
              <a:t>Cùng tập test mới: 1.473 ảnh từ 16 video, gồm 2 mã người</a:t>
            </a:r>
          </a:p>
        </p:txBody>
      </p:sp>
      <p:graphicFrame>
        <p:nvGraphicFramePr>
          <p:cNvPr id="10" name=""/>
          <p:cNvGraphicFramePr/>
          <p:nvPr/>
        </p:nvGraphicFramePr>
        <p:xfrm>
          <a:off xmlns:a="http://schemas.openxmlformats.org/drawingml/2006/main" x="609600" y="1685925"/>
          <a:ext xmlns:a="http://schemas.openxmlformats.org/drawingml/2006/main" cx="10972800" cy="3962400"/>
        </p:xfrm>
        <a:graphic xmlns:a="http://schemas.openxmlformats.org/drawingml/2006/main">
          <a:graphicData uri="http://schemas.openxmlformats.org/drawingml/2006/table">
            <a:tbl>
              <a:tblPr firstRow="1" bandRow="0"/>
              <a:tblGrid>
                <a:gridCol w="4953000"/>
                <a:gridCol w="3009900"/>
                <a:gridCol w="3009900"/>
              </a:tblGrid>
              <a:tr h="495300">
                <a:tc>
                  <a:txBody>
                    <a:bodyPr>
                      <a:noAutofit/>
                    </a:bodyPr>
                    <a:lstStyle/>
                    <a:p>
                      <a:r>
                        <a:rPr sz="1950" b="1">
                          <a:solidFill>
                            <a:srgbClr val="78C7FF"/>
                          </a:solidFill>
                          <a:latin typeface="Arial"/>
                          <a:ea typeface="Arial"/>
                          <a:cs typeface="Arial"/>
                        </a:rPr>
                        <a:t>Chỉ số</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Model cũ</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Model mới</a:t>
                      </a:r>
                    </a:p>
                  </a:txBody>
                  <a:tcPr marL="152400" marR="114300" marT="38100" marB="38100" anchor="ctr">
                    <a:solidFill>
                      <a:srgbClr val="203A54"/>
                    </a:solidFill>
                  </a:tcPr>
                </a:tc>
              </a:tr>
              <a:tr h="495300">
                <a:tc>
                  <a:txBody>
                    <a:bodyPr>
                      <a:noAutofit/>
                    </a:bodyPr>
                    <a:lstStyle/>
                    <a:p>
                      <a:r>
                        <a:rPr sz="1950" b="0">
                          <a:solidFill>
                            <a:srgbClr val="F2F5FA"/>
                          </a:solidFill>
                          <a:latin typeface="Arial"/>
                          <a:ea typeface="Arial"/>
                          <a:cs typeface="Arial"/>
                        </a:rPr>
                        <a:t>Precision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83,23%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97,90%</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Recall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73,61%</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97,71%</a:t>
                      </a:r>
                    </a:p>
                  </a:txBody>
                  <a:tcPr marL="152400" marR="114300" marT="38100" marB="38100" anchor="ctr">
                    <a:solidFill>
                      <a:srgbClr val="101B2B"/>
                    </a:solidFill>
                  </a:tcPr>
                </a:tc>
              </a:tr>
              <a:tr h="495300">
                <a:tc>
                  <a:txBody>
                    <a:bodyPr>
                      <a:noAutofit/>
                    </a:bodyPr>
                    <a:lstStyle/>
                    <a:p>
                      <a:r>
                        <a:rPr sz="1950" b="1">
                          <a:solidFill>
                            <a:srgbClr val="65D6AA"/>
                          </a:solidFill>
                          <a:latin typeface="Arial"/>
                          <a:ea typeface="Arial"/>
                          <a:cs typeface="Arial"/>
                        </a:rPr>
                        <a:t>F1 macro</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72,00%</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97,76%</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Accuracy test</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74,20%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97,76%</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train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0,76877</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0,04635</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validation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3,49280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0,02771</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test</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1,16455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0,05610</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435317D4-77DF-4BBE-927E-722DDD1AC57C}"/>
              </a:ext>
            </a:extLst>
          </p:cNvPr>
          <p:cNvSpPr>
            <a:spLocks xmlns:a="http://schemas.openxmlformats.org/drawingml/2006/main" noGrp="1"/>
          </p:cNvSpPr>
          <p:nvPr/>
        </p:nvSpPr>
        <p:spPr>
          <a:xfrm xmlns:a="http://schemas.openxmlformats.org/drawingml/2006/main">
            <a:off x="609600" y="57816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5D6AA"/>
                </a:solidFill>
                <a:latin typeface="Arial"/>
                <a:ea typeface="Arial"/>
                <a:cs typeface="Arial"/>
              </a:defRPr>
            </a:pPr>
            <a:r>
              <a:rPr sz="2025" b="1">
                <a:solidFill>
                  <a:srgbClr val="65D6AA"/>
                </a:solidFill>
                <a:latin typeface="Arial"/>
                <a:ea typeface="Arial"/>
                <a:cs typeface="Arial"/>
              </a:rPr>
              <a:t>Ảnh giả bị nhận thành thật: trước 380/720, sau 33/720</a:t>
            </a:r>
          </a:p>
        </p:txBody>
      </p:sp>
      <p:sp>
        <p:nvSpPr>
          <p:cNvPr id="6" name="">
            <a:extLst xmlns:a="http://schemas.openxmlformats.org/drawingml/2006/main">
              <a:ext uri="{FF2B5EF4-FFF2-40B4-BE49-F238E27FC236}">
                <a16:creationId xmlns:a16="http://schemas.microsoft.com/office/drawing/2014/main" id="{D8AFAA26-2C33-414C-BD05-7211650FE0BA}"/>
              </a:ext>
            </a:extLst>
          </p:cNvPr>
          <p:cNvSpPr>
            <a:spLocks xmlns:a="http://schemas.openxmlformats.org/drawingml/2006/main" noGrp="1"/>
          </p:cNvSpPr>
          <p:nvPr/>
        </p:nvSpPr>
        <p:spPr>
          <a:xfrm xmlns:a="http://schemas.openxmlformats.org/drawingml/2006/main">
            <a:off x="609600" y="62293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9DA"/>
                </a:solidFill>
                <a:latin typeface="Arial"/>
                <a:ea typeface="Arial"/>
                <a:cs typeface="Arial"/>
              </a:defRPr>
            </a:pPr>
            <a:r>
              <a:rPr sz="1800" b="0">
                <a:solidFill>
                  <a:srgbClr val="BBC9DA"/>
                </a:solidFill>
                <a:latin typeface="Arial"/>
                <a:ea typeface="Arial"/>
                <a:cs typeface="Arial"/>
              </a:rPr>
              <a:t>Macro là trung bình hai lớp. Loss tính lại trên cùng ảnh gốc.</a:t>
            </a:r>
          </a:p>
        </p:txBody>
      </p:sp>
    </p:spTree>
    <p:extLst>
      <p:ext uri="{BB962C8B-B14F-4D97-AF65-F5344CB8AC3E}">
        <p14:creationId xmlns:p14="http://schemas.microsoft.com/office/powerpoint/2010/main" val="1315604507"/>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3A75DE-14A8-4CDD-8758-7138E5D9D3A9}"/>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Kiểm tra luồng API và dữ liệu cũ</a:t>
            </a:r>
          </a:p>
        </p:txBody>
      </p:sp>
      <p:sp>
        <p:nvSpPr>
          <p:cNvPr id="2" name="">
            <a:extLst xmlns:a="http://schemas.openxmlformats.org/drawingml/2006/main">
              <a:ext uri="{FF2B5EF4-FFF2-40B4-BE49-F238E27FC236}">
                <a16:creationId xmlns:a16="http://schemas.microsoft.com/office/drawing/2014/main" id="{448C59BE-CE0C-4453-847B-0ED7971F9B2D}"/>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9DA"/>
                </a:solidFill>
                <a:latin typeface="Arial"/>
                <a:ea typeface="Arial"/>
                <a:cs typeface="Arial"/>
              </a:defRPr>
            </a:pPr>
            <a:r>
              <a:rPr sz="1500" b="0">
                <a:solidFill>
                  <a:srgbClr val="BBC9D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6979EED-F1A9-4AF7-8368-767E1B0B0A25}"/>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78C7FF"/>
                </a:solidFill>
                <a:latin typeface="Arial"/>
                <a:ea typeface="Arial"/>
                <a:cs typeface="Arial"/>
              </a:defRPr>
            </a:pPr>
            <a:r>
              <a:rPr sz="1950" b="0">
                <a:solidFill>
                  <a:srgbClr val="78C7FF"/>
                </a:solidFill>
                <a:latin typeface="Arial"/>
                <a:ea typeface="Arial"/>
                <a:cs typeface="Arial"/>
              </a:rPr>
              <a:t>Phát lại 942 khung của 16 video test mới</a:t>
            </a:r>
          </a:p>
        </p:txBody>
      </p:sp>
      <p:graphicFrame>
        <p:nvGraphicFramePr>
          <p:cNvPr id="13" name=""/>
          <p:cNvGraphicFramePr/>
          <p:nvPr/>
        </p:nvGraphicFramePr>
        <p:xfrm>
          <a:off xmlns:a="http://schemas.openxmlformats.org/drawingml/2006/main" x="609600" y="1819275"/>
          <a:ext xmlns:a="http://schemas.openxmlformats.org/drawingml/2006/main" cx="6819900" cy="2362200"/>
        </p:xfrm>
        <a:graphic xmlns:a="http://schemas.openxmlformats.org/drawingml/2006/main">
          <a:graphicData uri="http://schemas.openxmlformats.org/drawingml/2006/table">
            <a:tbl>
              <a:tblPr firstRow="1" bandRow="0"/>
              <a:tblGrid>
                <a:gridCol w="3848100"/>
                <a:gridCol w="1485900"/>
                <a:gridCol w="1485900"/>
              </a:tblGrid>
              <a:tr h="590550">
                <a:tc>
                  <a:txBody>
                    <a:bodyPr>
                      <a:noAutofit/>
                    </a:bodyPr>
                    <a:lstStyle/>
                    <a:p>
                      <a:r>
                        <a:rPr sz="1950" b="1">
                          <a:solidFill>
                            <a:srgbClr val="78C7FF"/>
                          </a:solidFill>
                          <a:latin typeface="Arial"/>
                          <a:ea typeface="Arial"/>
                          <a:cs typeface="Arial"/>
                        </a:rPr>
                        <a:t>Kết quả</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90550">
                <a:tc>
                  <a:txBody>
                    <a:bodyPr>
                      <a:noAutofit/>
                    </a:bodyPr>
                    <a:lstStyle/>
                    <a:p>
                      <a:r>
                        <a:rPr sz="1950" b="0">
                          <a:solidFill>
                            <a:srgbClr val="F2F5FA"/>
                          </a:solidFill>
                          <a:latin typeface="Arial"/>
                          <a:ea typeface="Arial"/>
                          <a:cs typeface="Arial"/>
                        </a:rPr>
                        <a:t>Kết luận đúng</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484</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741</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Kết luận sai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173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Chưa kết luận / bị loại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285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201</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A93DDA40-5AD9-4900-96CE-38B49EE0EC3B}"/>
              </a:ext>
            </a:extLst>
          </p:cNvPr>
          <p:cNvSpPr>
            <a:spLocks xmlns:a="http://schemas.openxmlformats.org/drawingml/2006/main" noGrp="1"/>
          </p:cNvSpPr>
          <p:nvPr/>
        </p:nvSpPr>
        <p:spPr>
          <a:xfrm xmlns:a="http://schemas.openxmlformats.org/drawingml/2006/main">
            <a:off x="8001000" y="1828800"/>
            <a:ext cx="3581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5FA"/>
                </a:solidFill>
                <a:latin typeface="Arial"/>
                <a:ea typeface="Arial"/>
                <a:cs typeface="Arial"/>
              </a:defRPr>
            </a:pPr>
            <a:r>
              <a:rPr sz="2250" b="1">
                <a:solidFill>
                  <a:srgbClr val="F2F5FA"/>
                </a:solidFill>
                <a:latin typeface="Arial"/>
                <a:ea typeface="Arial"/>
                <a:cs typeface="Arial"/>
              </a:rPr>
              <a:t>Accuracy trên</a:t>
            </a:r>
          </a:p>
          <a:p xmlns:a="http://schemas.openxmlformats.org/drawingml/2006/main">
            <a:pPr>
              <a:defRPr sz="2250" b="1">
                <a:solidFill>
                  <a:srgbClr val="F2F5FA"/>
                </a:solidFill>
                <a:latin typeface="Arial"/>
                <a:ea typeface="Arial"/>
                <a:cs typeface="Arial"/>
              </a:defRPr>
            </a:pPr>
            <a:r>
              <a:rPr sz="2250" b="1">
                <a:solidFill>
                  <a:srgbClr val="F2F5FA"/>
                </a:solidFill>
                <a:latin typeface="Arial"/>
                <a:ea typeface="Arial"/>
                <a:cs typeface="Arial"/>
              </a:rPr>
              <a:t>5 video cũ</a:t>
            </a:r>
          </a:p>
        </p:txBody>
      </p:sp>
      <p:sp>
        <p:nvSpPr>
          <p:cNvPr id="6" name="">
            <a:extLst xmlns:a="http://schemas.openxmlformats.org/drawingml/2006/main">
              <a:ext uri="{FF2B5EF4-FFF2-40B4-BE49-F238E27FC236}">
                <a16:creationId xmlns:a16="http://schemas.microsoft.com/office/drawing/2014/main" id="{6DA84AEE-F36C-4D98-A8A9-46536ACB2C1D}"/>
              </a:ext>
            </a:extLst>
          </p:cNvPr>
          <p:cNvSpPr>
            <a:spLocks xmlns:a="http://schemas.openxmlformats.org/drawingml/2006/main" noGrp="1"/>
          </p:cNvSpPr>
          <p:nvPr/>
        </p:nvSpPr>
        <p:spPr>
          <a:xfrm xmlns:a="http://schemas.openxmlformats.org/drawingml/2006/main">
            <a:off x="8001000" y="293370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BC9DA"/>
                </a:solidFill>
                <a:latin typeface="Arial"/>
                <a:ea typeface="Arial"/>
                <a:cs typeface="Arial"/>
              </a:defRPr>
            </a:pPr>
            <a:r>
              <a:rPr sz="2325" b="0">
                <a:solidFill>
                  <a:srgbClr val="BBC9DA"/>
                </a:solidFill>
                <a:latin typeface="Arial"/>
                <a:ea typeface="Arial"/>
                <a:cs typeface="Arial"/>
              </a:rPr>
              <a:t>Trước: 93,01%</a:t>
            </a:r>
          </a:p>
        </p:txBody>
      </p:sp>
      <p:sp>
        <p:nvSpPr>
          <p:cNvPr id="7" name="">
            <a:extLst xmlns:a="http://schemas.openxmlformats.org/drawingml/2006/main">
              <a:ext uri="{FF2B5EF4-FFF2-40B4-BE49-F238E27FC236}">
                <a16:creationId xmlns:a16="http://schemas.microsoft.com/office/drawing/2014/main" id="{8DF64980-4CB8-44C9-87B9-2421851589B1}"/>
              </a:ext>
            </a:extLst>
          </p:cNvPr>
          <p:cNvSpPr>
            <a:spLocks xmlns:a="http://schemas.openxmlformats.org/drawingml/2006/main" noGrp="1"/>
          </p:cNvSpPr>
          <p:nvPr/>
        </p:nvSpPr>
        <p:spPr>
          <a:xfrm xmlns:a="http://schemas.openxmlformats.org/drawingml/2006/main">
            <a:off x="8001000" y="354330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CB79"/>
                </a:solidFill>
                <a:latin typeface="Arial"/>
                <a:ea typeface="Arial"/>
                <a:cs typeface="Arial"/>
              </a:defRPr>
            </a:pPr>
            <a:r>
              <a:rPr sz="3225" b="1">
                <a:solidFill>
                  <a:srgbClr val="FFCB79"/>
                </a:solidFill>
                <a:latin typeface="Arial"/>
                <a:ea typeface="Arial"/>
                <a:cs typeface="Arial"/>
              </a:rPr>
              <a:t>Sau: 82,65%</a:t>
            </a:r>
          </a:p>
        </p:txBody>
      </p:sp>
      <p:sp>
        <p:nvSpPr>
          <p:cNvPr id="8" name="">
            <a:extLst xmlns:a="http://schemas.openxmlformats.org/drawingml/2006/main">
              <a:ext uri="{FF2B5EF4-FFF2-40B4-BE49-F238E27FC236}">
                <a16:creationId xmlns:a16="http://schemas.microsoft.com/office/drawing/2014/main" id="{CB430666-7C4F-4197-90F5-B88050C58014}"/>
              </a:ext>
            </a:extLst>
          </p:cNvPr>
          <p:cNvSpPr>
            <a:spLocks xmlns:a="http://schemas.openxmlformats.org/drawingml/2006/main" noGrp="1"/>
          </p:cNvSpPr>
          <p:nvPr/>
        </p:nvSpPr>
        <p:spPr>
          <a:xfrm xmlns:a="http://schemas.openxmlformats.org/drawingml/2006/main">
            <a:off x="609600" y="4524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Luồng giống API cải thiện trên video mới.</a:t>
            </a:r>
          </a:p>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Accuracy trên video cũ giảm sau lần train này.</a:t>
            </a:r>
          </a:p>
        </p:txBody>
      </p:sp>
      <p:sp>
        <p:nvSpPr>
          <p:cNvPr id="9" name="">
            <a:extLst xmlns:a="http://schemas.openxmlformats.org/drawingml/2006/main">
              <a:ext uri="{FF2B5EF4-FFF2-40B4-BE49-F238E27FC236}">
                <a16:creationId xmlns:a16="http://schemas.microsoft.com/office/drawing/2014/main" id="{C51D9F85-5E65-4190-9645-384983FAE691}"/>
              </a:ext>
            </a:extLst>
          </p:cNvPr>
          <p:cNvSpPr>
            <a:spLocks xmlns:a="http://schemas.openxmlformats.org/drawingml/2006/main" noGrp="1"/>
          </p:cNvSpPr>
          <p:nvPr/>
        </p:nvSpPr>
        <p:spPr>
          <a:xfrm xmlns:a="http://schemas.openxmlformats.org/drawingml/2006/main">
            <a:off x="609600" y="57340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9DA"/>
                </a:solidFill>
                <a:latin typeface="Arial"/>
                <a:ea typeface="Arial"/>
                <a:cs typeface="Arial"/>
              </a:defRPr>
            </a:pPr>
            <a:r>
              <a:rPr sz="1800" b="0">
                <a:solidFill>
                  <a:srgbClr val="BBC9DA"/>
                </a:solidFill>
                <a:latin typeface="Arial"/>
                <a:ea typeface="Arial"/>
                <a:cs typeface="Arial"/>
              </a:rPr>
              <a:t>Phát lại offline qua JPEG và pipeline, chưa đo tốc độ HTTP/camera.</a:t>
            </a:r>
          </a:p>
          <a:p xmlns:a="http://schemas.openxmlformats.org/drawingml/2006/main">
            <a:pPr>
              <a:defRPr sz="1800" b="0">
                <a:solidFill>
                  <a:srgbClr val="BBC9DA"/>
                </a:solidFill>
                <a:latin typeface="Arial"/>
                <a:ea typeface="Arial"/>
                <a:cs typeface="Arial"/>
              </a:defRPr>
            </a:pPr>
            <a:r>
              <a:rPr sz="1800" b="0">
                <a:solidFill>
                  <a:srgbClr val="BBC9DA"/>
                </a:solidFill>
                <a:latin typeface="Arial"/>
                <a:ea typeface="Arial"/>
                <a:cs typeface="Arial"/>
              </a:rPr>
              <a:t>201 khung chưa kết luận hoặc bị loại không được tính là đúng.</a:t>
            </a:r>
          </a:p>
        </p:txBody>
      </p:sp>
    </p:spTree>
    <p:extLst>
      <p:ext uri="{BB962C8B-B14F-4D97-AF65-F5344CB8AC3E}">
        <p14:creationId xmlns:p14="http://schemas.microsoft.com/office/powerpoint/2010/main" val="505298868"/>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534EDD-1EAA-4DEF-BB4C-99A5468C6E4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Kết luận và bước tiếp theo</a:t>
            </a:r>
          </a:p>
        </p:txBody>
      </p:sp>
      <p:sp>
        <p:nvSpPr>
          <p:cNvPr id="2" name="">
            <a:extLst xmlns:a="http://schemas.openxmlformats.org/drawingml/2006/main">
              <a:ext uri="{FF2B5EF4-FFF2-40B4-BE49-F238E27FC236}">
                <a16:creationId xmlns:a16="http://schemas.microsoft.com/office/drawing/2014/main" id="{40C31FB9-1AFD-4651-8F65-BCBA4DCA304F}"/>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9DA"/>
                </a:solidFill>
                <a:latin typeface="Arial"/>
                <a:ea typeface="Arial"/>
                <a:cs typeface="Arial"/>
              </a:defRPr>
            </a:pPr>
            <a:r>
              <a:rPr sz="1500" b="0">
                <a:solidFill>
                  <a:srgbClr val="BBC9D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9F24D11-DB31-45F8-A198-CE657F80A1E0}"/>
              </a:ext>
            </a:extLst>
          </p:cNvPr>
          <p:cNvSpPr>
            <a:spLocks xmlns:a="http://schemas.openxmlformats.org/drawingml/2006/main" noGrp="1"/>
          </p:cNvSpPr>
          <p:nvPr/>
        </p:nvSpPr>
        <p:spPr>
          <a:xfrm xmlns:a="http://schemas.openxmlformats.org/drawingml/2006/main">
            <a:off x="609600" y="1314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65D6AA"/>
                </a:solidFill>
                <a:latin typeface="Arial"/>
                <a:ea typeface="Arial"/>
                <a:cs typeface="Arial"/>
              </a:defRPr>
            </a:pPr>
            <a:r>
              <a:rPr sz="2625" b="1">
                <a:solidFill>
                  <a:srgbClr val="65D6AA"/>
                </a:solidFill>
                <a:latin typeface="Arial"/>
                <a:ea typeface="Arial"/>
                <a:cs typeface="Arial"/>
              </a:rPr>
              <a:t>Model cải thiện rõ trên dữ liệu mới.</a:t>
            </a:r>
          </a:p>
          <a:p xmlns:a="http://schemas.openxmlformats.org/drawingml/2006/main">
            <a:pPr>
              <a:defRPr sz="2625" b="1">
                <a:solidFill>
                  <a:srgbClr val="65D6AA"/>
                </a:solidFill>
                <a:latin typeface="Arial"/>
                <a:ea typeface="Arial"/>
                <a:cs typeface="Arial"/>
              </a:defRPr>
            </a:pPr>
            <a:r>
              <a:rPr sz="2625" b="1">
                <a:solidFill>
                  <a:srgbClr val="65D6AA"/>
                </a:solidFill>
                <a:latin typeface="Arial"/>
                <a:ea typeface="Arial"/>
                <a:cs typeface="Arial"/>
              </a:rPr>
              <a:t>Cần khắc phục suy giảm trên dữ liệu cũ.</a:t>
            </a:r>
          </a:p>
        </p:txBody>
      </p:sp>
      <p:sp>
        <p:nvSpPr>
          <p:cNvPr id="4" name="">
            <a:extLst xmlns:a="http://schemas.openxmlformats.org/drawingml/2006/main">
              <a:ext uri="{FF2B5EF4-FFF2-40B4-BE49-F238E27FC236}">
                <a16:creationId xmlns:a16="http://schemas.microsoft.com/office/drawing/2014/main" id="{1F57CCEF-CBCD-4175-A8FD-71E7EDEFF63C}"/>
              </a:ext>
            </a:extLst>
          </p:cNvPr>
          <p:cNvSpPr>
            <a:spLocks xmlns:a="http://schemas.openxmlformats.org/drawingml/2006/main" noGrp="1"/>
          </p:cNvSpPr>
          <p:nvPr/>
        </p:nvSpPr>
        <p:spPr>
          <a:xfrm xmlns:a="http://schemas.openxmlformats.org/drawingml/2006/main">
            <a:off x="609600" y="2686050"/>
            <a:ext cx="1097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00" b="0">
                <a:solidFill>
                  <a:srgbClr val="BBC9DA"/>
                </a:solidFill>
                <a:latin typeface="Arial"/>
                <a:ea typeface="Arial"/>
                <a:cs typeface="Arial"/>
              </a:defRPr>
            </a:pPr>
            <a:r>
              <a:rPr sz="2100" b="0">
                <a:solidFill>
                  <a:srgbClr val="BBC9DA"/>
                </a:solidFill>
                <a:latin typeface="Arial"/>
                <a:ea typeface="Arial"/>
                <a:cs typeface="Arial"/>
              </a:rPr>
              <a:t>Em giữ model mới làm bản ứng viên, chưa thay model API hiện tại.</a:t>
            </a:r>
          </a:p>
          <a:p xmlns:a="http://schemas.openxmlformats.org/drawingml/2006/main">
            <a:pPr marL="228600" indent="-114300">
              <a:spcAft>
                <a:spcPts val="1200"/>
              </a:spcAft>
              <a:buChar char="•"/>
              <a:defRPr sz="2100" b="0">
                <a:solidFill>
                  <a:srgbClr val="BBC9DA"/>
                </a:solidFill>
                <a:latin typeface="Arial"/>
                <a:ea typeface="Arial"/>
                <a:cs typeface="Arial"/>
              </a:defRPr>
            </a:pPr>
            <a:r>
              <a:rPr sz="2100" b="0">
                <a:solidFill>
                  <a:srgbClr val="BBC9DA"/>
                </a:solidFill>
                <a:latin typeface="Arial"/>
                <a:ea typeface="Arial"/>
                <a:cs typeface="Arial"/>
              </a:rPr>
              <a:t>Bổ sung điều kiện quay cũ vào validation và dùng test độc lập mới.</a:t>
            </a:r>
          </a:p>
          <a:p xmlns:a="http://schemas.openxmlformats.org/drawingml/2006/main">
            <a:pPr marL="228600" indent="-114300">
              <a:spcAft>
                <a:spcPts val="1200"/>
              </a:spcAft>
              <a:buChar char="•"/>
              <a:defRPr sz="2100" b="0">
                <a:solidFill>
                  <a:srgbClr val="BBC9DA"/>
                </a:solidFill>
                <a:latin typeface="Arial"/>
                <a:ea typeface="Arial"/>
                <a:cs typeface="Arial"/>
              </a:defRPr>
            </a:pPr>
            <a:r>
              <a:rPr sz="2100" b="0">
                <a:solidFill>
                  <a:srgbClr val="BBC9DA"/>
                </a:solidFill>
                <a:latin typeface="Arial"/>
                <a:ea typeface="Arial"/>
                <a:cs typeface="Arial"/>
              </a:rPr>
              <a:t>Thu thật và giả bằng cùng thiết bị, ghi rõ kiểu giả mạo.</a:t>
            </a:r>
          </a:p>
          <a:p xmlns:a="http://schemas.openxmlformats.org/drawingml/2006/main">
            <a:pPr marL="228600" indent="-114300">
              <a:spcAft>
                <a:spcPts val="1200"/>
              </a:spcAft>
              <a:buChar char="•"/>
              <a:defRPr sz="2100" b="0">
                <a:solidFill>
                  <a:srgbClr val="BBC9DA"/>
                </a:solidFill>
                <a:latin typeface="Arial"/>
                <a:ea typeface="Arial"/>
                <a:cs typeface="Arial"/>
              </a:defRPr>
            </a:pPr>
            <a:r>
              <a:rPr sz="2100" b="0">
                <a:solidFill>
                  <a:srgbClr val="BBC9DA"/>
                </a:solidFill>
                <a:latin typeface="Arial"/>
                <a:ea typeface="Arial"/>
                <a:cs typeface="Arial"/>
              </a:rPr>
              <a:t>Thêm người test độc lập và thử toàn bộ luồng camera qua API.</a:t>
            </a:r>
          </a:p>
        </p:txBody>
      </p:sp>
      <p:sp>
        <p:nvSpPr>
          <p:cNvPr id="5" name="">
            <a:extLst xmlns:a="http://schemas.openxmlformats.org/drawingml/2006/main">
              <a:ext uri="{FF2B5EF4-FFF2-40B4-BE49-F238E27FC236}">
                <a16:creationId xmlns:a16="http://schemas.microsoft.com/office/drawing/2014/main" id="{74452499-98E2-4830-A0D3-D870DF4FE67A}"/>
              </a:ext>
            </a:extLst>
          </p:cNvPr>
          <p:cNvSpPr>
            <a:spLocks xmlns:a="http://schemas.openxmlformats.org/drawingml/2006/main" noGrp="1"/>
          </p:cNvSpPr>
          <p:nvPr/>
        </p:nvSpPr>
        <p:spPr>
          <a:xfrm xmlns:a="http://schemas.openxmlformats.org/drawingml/2006/main">
            <a:off x="609600" y="575310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CB79"/>
                </a:solidFill>
                <a:latin typeface="Arial"/>
                <a:ea typeface="Arial"/>
                <a:cs typeface="Arial"/>
              </a:defRPr>
            </a:pPr>
            <a:r>
              <a:rPr sz="1875" b="0">
                <a:solidFill>
                  <a:srgbClr val="FFCB79"/>
                </a:solidFill>
                <a:latin typeface="Arial"/>
                <a:ea typeface="Arial"/>
                <a:cs typeface="Arial"/>
              </a:rPr>
              <a:t>Giới hạn: test mới chỉ có 2 mã người.</a:t>
            </a:r>
          </a:p>
          <a:p xmlns:a="http://schemas.openxmlformats.org/drawingml/2006/main">
            <a:pPr>
              <a:defRPr sz="1875" b="0">
                <a:solidFill>
                  <a:srgbClr val="FFCB79"/>
                </a:solidFill>
                <a:latin typeface="Arial"/>
                <a:ea typeface="Arial"/>
                <a:cs typeface="Arial"/>
              </a:defRPr>
            </a:pPr>
            <a:r>
              <a:rPr sz="1875" b="0">
                <a:solidFill>
                  <a:srgbClr val="FFCB79"/>
                </a:solidFill>
                <a:latin typeface="Arial"/>
                <a:ea typeface="Arial"/>
                <a:cs typeface="Arial"/>
              </a:rPr>
              <a:t>Video thật và giả còn khác cách quay, codec và định dạng.</a:t>
            </a:r>
          </a:p>
        </p:txBody>
      </p:sp>
    </p:spTree>
    <p:extLst>
      <p:ext uri="{BB962C8B-B14F-4D97-AF65-F5344CB8AC3E}">
        <p14:creationId xmlns:p14="http://schemas.microsoft.com/office/powerpoint/2010/main" val="563067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2026-09-30T11:58:35.6300000Z</dcterms:created>
  <dcterms:modified xsi:type="dcterms:W3CDTF">2026-09-30T11:58:35.6300000Z</dcterms:modified>
</coreProperties>
</file>